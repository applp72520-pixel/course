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5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87" r:id="rId9"/>
    <p:sldId id="288" r:id="rId10"/>
    <p:sldId id="286" r:id="rId11"/>
    <p:sldId id="282" r:id="rId12"/>
    <p:sldId id="268" r:id="rId13"/>
    <p:sldId id="269" r:id="rId14"/>
    <p:sldId id="285" r:id="rId15"/>
    <p:sldId id="274" r:id="rId16"/>
    <p:sldId id="275" r:id="rId17"/>
    <p:sldId id="283" r:id="rId18"/>
    <p:sldId id="284" r:id="rId19"/>
    <p:sldId id="289" r:id="rId20"/>
    <p:sldId id="290" r:id="rId21"/>
    <p:sldId id="277" r:id="rId22"/>
    <p:sldId id="278" r:id="rId23"/>
    <p:sldId id="279" r:id="rId24"/>
    <p:sldId id="280" r:id="rId25"/>
    <p:sldId id="281" r:id="rId26"/>
  </p:sldIdLst>
  <p:sldSz cx="9144000" cy="5143500" type="screen16x9"/>
  <p:notesSz cx="6858000" cy="9144000"/>
  <p:embeddedFontLst>
    <p:embeddedFont>
      <p:font typeface="Adobe 繁黑體 Std B" panose="020B0700000000000000" pitchFamily="34" charset="-128"/>
      <p:bold r:id="rId28"/>
    </p:embeddedFont>
    <p:embeddedFont>
      <p:font typeface="Tw Cen MT" panose="020B0602020104020603" pitchFamily="34" charset="0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78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895b6b46be_0_10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895b6b46be_0_10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95b6b46be_0_1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895b6b46be_0_13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95b6b46be_0_1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95b6b46be_0_1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95b6b46be_0_13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895b6b46be_0_13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95b6b46be_0_1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895b6b46be_0_1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95b6b46be_0_1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895b6b46be_0_13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95b6b46be_0_1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895b6b46be_0_13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96717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95b6b46be_0_1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895b6b46be_0_13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79676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95b6b46be_0_1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895b6b46be_0_13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00871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95b6b46be_0_1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895b6b46be_0_13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83298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95b6b46be_0_14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895b6b46be_0_14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95b6b46be_0_1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895b6b46be_0_14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95b6b46be_0_1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895b6b46be_0_14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90915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895b6b46be_0_15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895b6b46be_0_15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895b6b46be_0_14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895b6b46be_0_14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895b6b46be_0_14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895b6b46be_0_14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42253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895b6b46be_0_14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895b6b46be_0_14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20256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895b6b46be_0_14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895b6b46be_0_14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07594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895b6b46be_0_14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895b6b46be_0_14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00802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95b6b46be_0_15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895b6b46be_0_15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895b6b46be_0_15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895b6b46be_0_15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895b6b46be_0_15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895b6b46be_0_15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895b6b46be_0_15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895b6b46be_0_15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895b6b46be_0_15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895b6b46be_0_15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975589"/>
            <a:ext cx="6517482" cy="188191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2914651"/>
            <a:ext cx="6517482" cy="1028699"/>
          </a:xfrm>
        </p:spPr>
        <p:txBody>
          <a:bodyPr>
            <a:normAutofit/>
          </a:bodyPr>
          <a:lstStyle>
            <a:lvl1pPr marL="0" indent="0" algn="ctr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/>
              <a:t>   </a:t>
            </a:r>
            <a:fld id="{00000000-1234-1234-1234-123412341234}" type="slidenum">
              <a:rPr lang="zh-TW" smtClean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9695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1775320"/>
            <a:ext cx="7772870" cy="256808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/>
              <a:t>   </a:t>
            </a:r>
            <a:fld id="{00000000-1234-1234-1234-123412341234}" type="slidenum">
              <a:rPr lang="zh-TW" smtClean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6272838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21423"/>
            <a:ext cx="7763814" cy="2052614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743093"/>
            <a:ext cx="7763814" cy="1026137"/>
          </a:xfr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/>
              <a:t>   </a:t>
            </a:r>
            <a:fld id="{00000000-1234-1234-1234-123412341234}" type="slidenum">
              <a:rPr lang="zh-TW" smtClean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281407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463888"/>
            <a:ext cx="7773338" cy="119713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1775320"/>
            <a:ext cx="3829520" cy="256808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1775320"/>
            <a:ext cx="3829050" cy="256808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/>
              <a:t>   </a:t>
            </a:r>
            <a:fld id="{00000000-1234-1234-1234-123412341234}" type="slidenum">
              <a:rPr lang="zh-TW" smtClean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9775084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463888"/>
            <a:ext cx="7773338" cy="119713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1778263"/>
            <a:ext cx="3655106" cy="509996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9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2288260"/>
            <a:ext cx="3829520" cy="205514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1778263"/>
            <a:ext cx="3661353" cy="509996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9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2288260"/>
            <a:ext cx="3829051" cy="205514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/>
              <a:t>   </a:t>
            </a:r>
            <a:fld id="{00000000-1234-1234-1234-123412341234}" type="slidenum">
              <a:rPr lang="zh-TW" smtClean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495705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/>
              <a:t>   </a:t>
            </a:r>
            <a:fld id="{00000000-1234-1234-1234-123412341234}" type="slidenum">
              <a:rPr lang="zh-TW" smtClean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0625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/>
              <a:t>   </a:t>
            </a:r>
            <a:fld id="{00000000-1234-1234-1234-123412341234}" type="slidenum">
              <a:rPr lang="zh-TW" smtClean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293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2951766" cy="1517439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457201"/>
            <a:ext cx="4650122" cy="388619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1974639"/>
            <a:ext cx="2951767" cy="2368761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/>
              <a:t>   </a:t>
            </a:r>
            <a:fld id="{00000000-1234-1234-1234-123412341234}" type="slidenum">
              <a:rPr lang="zh-TW" smtClean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651564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4451227" cy="1517441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68602" y="457201"/>
            <a:ext cx="2441519" cy="38862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1974639"/>
            <a:ext cx="4451212" cy="2368760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/>
              <a:t>   </a:t>
            </a:r>
            <a:fld id="{00000000-1234-1234-1234-123412341234}" type="slidenum">
              <a:rPr lang="zh-TW" smtClean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31621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3217030"/>
            <a:ext cx="7773324" cy="60870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523696"/>
            <a:ext cx="7366899" cy="2410602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831546"/>
            <a:ext cx="7773339" cy="511854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/>
              <a:t>   </a:t>
            </a:r>
            <a:fld id="{00000000-1234-1234-1234-123412341234}" type="slidenum">
              <a:rPr lang="zh-TW" smtClean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9091067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7773339" cy="2570434"/>
          </a:xfrm>
        </p:spPr>
        <p:txBody>
          <a:bodyPr anchor="ctr"/>
          <a:lstStyle>
            <a:lvl1pPr algn="ctr"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153616"/>
            <a:ext cx="7773339" cy="1189785"/>
          </a:xfrm>
        </p:spPr>
        <p:txBody>
          <a:bodyPr anchor="ctr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/>
              <a:t>   </a:t>
            </a:r>
            <a:fld id="{00000000-1234-1234-1234-123412341234}" type="slidenum">
              <a:rPr lang="zh-TW" smtClean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289035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24467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707524"/>
            <a:ext cx="6564224" cy="4460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279597"/>
            <a:ext cx="7773339" cy="106579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/>
              <a:t>   </a:t>
            </a:r>
            <a:fld id="{00000000-1234-1234-1234-123412341234}" type="slidenum">
              <a:rPr lang="zh-TW" smtClean="0"/>
              <a:t>‹#›</a:t>
            </a:fld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1116" y="565625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18169" y="22451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0118514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1604041"/>
            <a:ext cx="7773339" cy="1883876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496751"/>
            <a:ext cx="7773339" cy="855483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/>
              <a:t>   </a:t>
            </a:r>
            <a:fld id="{00000000-1234-1234-1234-123412341234}" type="slidenum">
              <a:rPr lang="zh-TW" smtClean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432197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7773339" cy="120382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1775320"/>
            <a:ext cx="2474232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207517"/>
            <a:ext cx="2474232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1775320"/>
            <a:ext cx="246864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207517"/>
            <a:ext cx="2477513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1775320"/>
            <a:ext cx="24786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207517"/>
            <a:ext cx="2478696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/>
              <a:t>   </a:t>
            </a:r>
            <a:fld id="{00000000-1234-1234-1234-123412341234}" type="slidenum">
              <a:rPr lang="zh-TW" smtClean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3363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458079"/>
            <a:ext cx="7773339" cy="120294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3153615"/>
            <a:ext cx="2472307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1775320"/>
            <a:ext cx="2472307" cy="1143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3585811"/>
            <a:ext cx="2472307" cy="75758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3153615"/>
            <a:ext cx="247637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1775320"/>
            <a:ext cx="2477514" cy="1143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3585811"/>
            <a:ext cx="2477514" cy="75758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3153615"/>
            <a:ext cx="247551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1775320"/>
            <a:ext cx="2478696" cy="1143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3585809"/>
            <a:ext cx="2478790" cy="757591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/>
              <a:t>   </a:t>
            </a:r>
            <a:fld id="{00000000-1234-1234-1234-123412341234}" type="slidenum">
              <a:rPr lang="zh-TW" smtClean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8808648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1775320"/>
            <a:ext cx="7773339" cy="256808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/>
              <a:t>   </a:t>
            </a:r>
            <a:fld id="{00000000-1234-1234-1234-123412341234}" type="slidenum">
              <a:rPr lang="zh-TW" smtClean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3301721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57201"/>
            <a:ext cx="1914995" cy="38861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457201"/>
            <a:ext cx="5744043" cy="3886199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/>
              <a:t>   </a:t>
            </a:r>
            <a:fld id="{00000000-1234-1234-1234-123412341234}" type="slidenum">
              <a:rPr lang="zh-TW" smtClean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795013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463888"/>
            <a:ext cx="7773338" cy="1197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1775320"/>
            <a:ext cx="7773339" cy="2568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4412457"/>
            <a:ext cx="500466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4412457"/>
            <a:ext cx="57316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/>
              <a:t>   </a:t>
            </a:r>
            <a:fld id="{00000000-1234-1234-1234-123412341234}" type="slidenum">
              <a:rPr lang="zh-TW" smtClean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5806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hf sldNum="0" hdr="0" ftr="0" dt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27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tx1"/>
        </a:buClr>
        <a:buFont typeface="Arial" panose="020B0604020202020204" pitchFamily="34" charset="0"/>
        <a:buChar char="•"/>
        <a:defRPr sz="15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3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2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824000" y="904725"/>
            <a:ext cx="8105700" cy="1872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4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使用權杖分類自動識別使用者產生內容中的客戶需求</a:t>
            </a:r>
            <a:br>
              <a:rPr lang="en-US" altLang="zh-TW" sz="24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</a:br>
            <a:r>
              <a:rPr lang="en-US" altLang="zh-TW" sz="2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Automatically identifying customer needs in user-generated content using</a:t>
            </a:r>
            <a:br>
              <a:rPr lang="en-US" altLang="zh-TW" sz="24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</a:br>
            <a:r>
              <a:rPr lang="en-US" altLang="zh-TW" sz="2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token classification</a:t>
            </a:r>
            <a:endParaRPr sz="2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1098300" y="2768848"/>
            <a:ext cx="7412100" cy="91889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2000" dirty="0">
                <a:solidFill>
                  <a:srgbClr val="000000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cs typeface="Arial"/>
                <a:sym typeface="Arial"/>
              </a:rPr>
              <a:t>論文出處:Decision Support Systems,1</a:t>
            </a:r>
            <a:r>
              <a:rPr lang="en-US" altLang="zh-TW" sz="2000" dirty="0">
                <a:solidFill>
                  <a:srgbClr val="000000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cs typeface="Arial"/>
                <a:sym typeface="Arial"/>
              </a:rPr>
              <a:t>78</a:t>
            </a:r>
            <a:r>
              <a:rPr lang="zh-TW" sz="2000" dirty="0">
                <a:solidFill>
                  <a:srgbClr val="000000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cs typeface="Arial"/>
                <a:sym typeface="Arial"/>
              </a:rPr>
              <a:t>,2024年</a:t>
            </a:r>
            <a:endParaRPr sz="2000" dirty="0">
              <a:solidFill>
                <a:srgbClr val="000000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cs typeface="Arial"/>
              <a:sym typeface="Arial"/>
            </a:endParaRPr>
          </a:p>
          <a:p>
            <a:pPr marL="0" lvl="0" indent="0" algn="ctr" rtl="0"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000" dirty="0">
              <a:solidFill>
                <a:srgbClr val="000000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cs typeface="Arial"/>
              <a:sym typeface="Arial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3139100" y="3779325"/>
            <a:ext cx="3475500" cy="9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Nunito"/>
                <a:sym typeface="Nunito"/>
              </a:rPr>
              <a:t>     報告人:陳先正</a:t>
            </a:r>
            <a:endParaRPr sz="24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>
            <a:spLocks noGrp="1"/>
          </p:cNvSpPr>
          <p:nvPr>
            <p:ph type="ctrTitle"/>
          </p:nvPr>
        </p:nvSpPr>
        <p:spPr>
          <a:xfrm>
            <a:off x="3780250" y="0"/>
            <a:ext cx="20037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目錄</a:t>
            </a:r>
            <a:endParaRPr sz="265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  <p:sp>
        <p:nvSpPr>
          <p:cNvPr id="96" name="Google Shape;96;p14"/>
          <p:cNvSpPr txBox="1">
            <a:spLocks noGrp="1"/>
          </p:cNvSpPr>
          <p:nvPr>
            <p:ph type="subTitle" idx="1"/>
          </p:nvPr>
        </p:nvSpPr>
        <p:spPr>
          <a:xfrm>
            <a:off x="630300" y="1239300"/>
            <a:ext cx="6991200" cy="335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19100" algn="l" rtl="0">
              <a:spcBef>
                <a:spcPts val="560"/>
              </a:spcBef>
              <a:spcAft>
                <a:spcPts val="0"/>
              </a:spcAft>
              <a:buSzPts val="3000"/>
              <a:buChar char="●"/>
            </a:pPr>
            <a:r>
              <a:rPr lang="zh-TW" sz="30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前言</a:t>
            </a:r>
            <a:endParaRPr sz="3000" dirty="0">
              <a:solidFill>
                <a:schemeClr val="tx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zh-TW" sz="30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系統架構</a:t>
            </a:r>
            <a:endParaRPr sz="3000" dirty="0">
              <a:solidFill>
                <a:schemeClr val="tx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zh-TW" sz="30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實驗</a:t>
            </a:r>
            <a:endParaRPr sz="3000" dirty="0">
              <a:solidFill>
                <a:schemeClr val="tx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zh-TW" sz="30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結果</a:t>
            </a:r>
            <a:r>
              <a:rPr lang="en-US" altLang="zh-TW" sz="30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&amp;</a:t>
            </a:r>
            <a:r>
              <a:rPr lang="zh-TW" altLang="en-US" sz="30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建議</a:t>
            </a:r>
            <a:endParaRPr sz="3000" dirty="0">
              <a:solidFill>
                <a:schemeClr val="tx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zh-TW" sz="30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結論</a:t>
            </a:r>
            <a:endParaRPr sz="3000" dirty="0">
              <a:solidFill>
                <a:schemeClr val="tx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sz="30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>
            <a:spLocks noGrp="1"/>
          </p:cNvSpPr>
          <p:nvPr>
            <p:ph type="ctrTitle"/>
          </p:nvPr>
        </p:nvSpPr>
        <p:spPr>
          <a:xfrm>
            <a:off x="3853125" y="1977525"/>
            <a:ext cx="19707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8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前言</a:t>
            </a:r>
            <a:endParaRPr sz="48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>
            <a:spLocks noGrp="1"/>
          </p:cNvSpPr>
          <p:nvPr>
            <p:ph type="ctrTitle"/>
          </p:nvPr>
        </p:nvSpPr>
        <p:spPr>
          <a:xfrm>
            <a:off x="3780250" y="0"/>
            <a:ext cx="20037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前言</a:t>
            </a:r>
            <a:endParaRPr sz="2650"/>
          </a:p>
        </p:txBody>
      </p:sp>
      <p:sp>
        <p:nvSpPr>
          <p:cNvPr id="107" name="Google Shape;107;p16"/>
          <p:cNvSpPr txBox="1">
            <a:spLocks noGrp="1"/>
          </p:cNvSpPr>
          <p:nvPr>
            <p:ph type="subTitle" idx="1"/>
          </p:nvPr>
        </p:nvSpPr>
        <p:spPr>
          <a:xfrm>
            <a:off x="507900" y="918900"/>
            <a:ext cx="8309400" cy="335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TW" altLang="en-US" sz="1400" b="0" i="0" dirty="0">
                <a:solidFill>
                  <a:srgbClr val="000000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    用戶生成內容（</a:t>
            </a:r>
            <a:r>
              <a:rPr lang="en-US" altLang="zh-TW" sz="1400" b="0" i="0" dirty="0">
                <a:solidFill>
                  <a:srgbClr val="000000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UGC</a:t>
            </a:r>
            <a:r>
              <a:rPr lang="zh-TW" altLang="en-US" sz="1400" b="0" i="0" dirty="0">
                <a:solidFill>
                  <a:srgbClr val="000000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）中蘊含豐富的顧客需求資訊，對於產品設計與市場策略具有重要價值。然而，龐大的內容量造成人工萃取困難，且傳統方法多需大量手動分析   。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TW" altLang="en-US" sz="1400" b="0" i="0" dirty="0">
                <a:solidFill>
                  <a:srgbClr val="000000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    既有的需求挖掘研究多以二元分類處理，僅能判斷內容是否帶有需求，難以辨識需求的詳細內容與潛在需求，限制了其實用性  。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TW" altLang="en-US" sz="1400" b="0" i="0" dirty="0">
                <a:solidFill>
                  <a:srgbClr val="000000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   自然語言處理技術（如詞彙分類、情感分析）在自動化萃取需求方面展現潛力，但傳統方法或缺乏足夠的精準度或自動化程度  。 因此，本研究旨在透過轉向「詞元分類」的新方法，提升識別需求的精確度與資料利用效率，以支援更具洞察力的決策支持系統。</a:t>
            </a:r>
          </a:p>
          <a:p>
            <a:pPr marL="342900" lvl="0" indent="-342900" algn="just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>
            <a:spLocks noGrp="1"/>
          </p:cNvSpPr>
          <p:nvPr>
            <p:ph type="ctrTitle"/>
          </p:nvPr>
        </p:nvSpPr>
        <p:spPr>
          <a:xfrm>
            <a:off x="3780250" y="0"/>
            <a:ext cx="20037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前言</a:t>
            </a:r>
            <a:endParaRPr sz="2650"/>
          </a:p>
        </p:txBody>
      </p:sp>
      <p:sp>
        <p:nvSpPr>
          <p:cNvPr id="113" name="Google Shape;113;p17"/>
          <p:cNvSpPr txBox="1">
            <a:spLocks noGrp="1"/>
          </p:cNvSpPr>
          <p:nvPr>
            <p:ph type="subTitle" idx="1"/>
          </p:nvPr>
        </p:nvSpPr>
        <p:spPr>
          <a:xfrm>
            <a:off x="515100" y="893250"/>
            <a:ext cx="8309400" cy="41611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研究問題:</a:t>
            </a: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altLang="en-US" sz="14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   如何在不需要大量人工審查的情況下，自動且有效地從使用者生成內容中提取出具體的、可操作的特定客戶需求？</a:t>
            </a:r>
            <a:endParaRPr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14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研究動機:</a:t>
            </a: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0" lvl="0" indent="0" algn="just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altLang="en-US" sz="1400" b="0" i="0" dirty="0">
                <a:solidFill>
                  <a:srgbClr val="000000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      目前的需求挖掘方法主要以二元分類來識別用戶生成內容中的需求，導致無法提取具體且詳細的顧客需求資訊，這限制了其在產品開發和創新上的應用潛力。為了解決這一問題，本文試圖將需求挖掘從宏觀的分類方法轉變為微觀的詞元分類，能夠更精確地識別出具體的需求組成部分（屬性和特徵），從而提升需求提取的效率與準確度。</a:t>
            </a: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lang="en-US" altLang="zh-TW"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sz="1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>
            <a:spLocks noGrp="1"/>
          </p:cNvSpPr>
          <p:nvPr>
            <p:ph type="ctrTitle"/>
          </p:nvPr>
        </p:nvSpPr>
        <p:spPr>
          <a:xfrm>
            <a:off x="3253850" y="1977500"/>
            <a:ext cx="27297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800"/>
              <a:t>系統架構</a:t>
            </a:r>
            <a:endParaRPr sz="4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ctrTitle"/>
          </p:nvPr>
        </p:nvSpPr>
        <p:spPr>
          <a:xfrm>
            <a:off x="3470650" y="0"/>
            <a:ext cx="23832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系統架構</a:t>
            </a:r>
            <a:endParaRPr sz="26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7D724C-53CB-41D2-B73D-F4622D50C9A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23356" y="918900"/>
            <a:ext cx="769728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1.</a:t>
            </a:r>
            <a:r>
              <a:rPr kumimoji="0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文本分類 </a:t>
            </a:r>
            <a:r>
              <a:rPr kumimoji="0" lang="en-US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(Text Classification) </a:t>
            </a:r>
            <a:r>
              <a:rPr kumimoji="0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：</a:t>
            </a:r>
            <a:endParaRPr kumimoji="0" lang="en-US" altLang="zh-TW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TW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模型對整個文本（例如評論或句子）做出單一預測</a:t>
            </a:r>
            <a:endParaRPr kumimoji="0" lang="en-US" altLang="zh-TW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TW" altLang="en-US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在</a:t>
            </a:r>
            <a:r>
              <a:rPr lang="zh-TW" altLang="en-US" sz="1200" b="0" i="0" dirty="0">
                <a:solidFill>
                  <a:srgbClr val="000000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需求挖掘</a:t>
            </a:r>
            <a:r>
              <a:rPr lang="zh-TW" altLang="en-US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的舊方法中，這意味著模型只判斷整個使用者生成內容（</a:t>
            </a:r>
            <a:r>
              <a:rPr lang="en-US" altLang="zh-TW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UGC</a:t>
            </a:r>
            <a:r>
              <a:rPr lang="zh-TW" altLang="en-US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）是否包含需求</a:t>
            </a:r>
            <a:endParaRPr lang="en-US" altLang="zh-TW" sz="1200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zh-TW" sz="1200" u="none" strike="noStrike" cap="none" normalizeH="0" baseline="0" dirty="0">
              <a:ln>
                <a:noFill/>
              </a:ln>
              <a:solidFill>
                <a:srgbClr val="131314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zh-TW" sz="1200" u="none" strike="noStrike" cap="none" normalizeH="0" baseline="0" dirty="0">
              <a:ln>
                <a:noFill/>
              </a:ln>
              <a:solidFill>
                <a:srgbClr val="131314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TW" sz="1200" i="0" cap="none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2.</a:t>
            </a: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詞元分類 </a:t>
            </a:r>
            <a:r>
              <a:rPr lang="en-US" altLang="zh-TW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(Token Classification)</a:t>
            </a: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：</a:t>
            </a:r>
            <a:endParaRPr lang="en-US" altLang="zh-TW" sz="1200" b="1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模型對文本中的**每個詞元（</a:t>
            </a:r>
            <a:r>
              <a:rPr lang="en-US" altLang="zh-TW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token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）**做出預測，而不是對整個文本做出單一預測</a:t>
            </a:r>
            <a:endParaRPr lang="en-US" altLang="zh-TW" sz="1200" b="1" dirty="0">
              <a:solidFill>
                <a:srgbClr val="131314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這允許在</a:t>
            </a: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微觀層級（</a:t>
            </a:r>
            <a:r>
              <a:rPr lang="en-US" altLang="zh-TW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micro-level</a:t>
            </a: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）提取描述特定客戶需求的準確詞語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（或詞序列）</a:t>
            </a:r>
            <a:endParaRPr lang="en-US" altLang="zh-TW" sz="1200" b="1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本研究的應用是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將詞元分類應用於提取抽象概念</a:t>
            </a:r>
            <a:r>
              <a:rPr lang="en-US" altLang="zh-TW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——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客戶需求的組成部分，即</a:t>
            </a: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屬性（</a:t>
            </a:r>
            <a:r>
              <a:rPr lang="en-US" altLang="zh-TW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Attributes</a:t>
            </a: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）特性（</a:t>
            </a:r>
            <a:r>
              <a:rPr lang="en-US" altLang="zh-TW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Characteristics</a:t>
            </a: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）</a:t>
            </a:r>
            <a:endParaRPr kumimoji="0" lang="zh-TW" altLang="zh-TW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89109CE-F6D9-4795-80E5-418836F1B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356" y="2937078"/>
            <a:ext cx="6340249" cy="20410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ctrTitle"/>
          </p:nvPr>
        </p:nvSpPr>
        <p:spPr>
          <a:xfrm>
            <a:off x="3470650" y="0"/>
            <a:ext cx="23832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系統架構</a:t>
            </a:r>
            <a:endParaRPr sz="26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7D724C-53CB-41D2-B73D-F4622D50C9A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23356" y="602040"/>
            <a:ext cx="769728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方法論框架</a:t>
            </a:r>
            <a:r>
              <a:rPr lang="en-US" altLang="zh-TW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DSR </a:t>
            </a: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的主要目標是系統化地開發 具有實用性和學術貢獻的成品（</a:t>
            </a:r>
            <a:r>
              <a:rPr lang="en-US" altLang="zh-TW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artifact</a:t>
            </a: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），以解決現有方法中的限制</a:t>
            </a:r>
            <a:endParaRPr lang="en-US" altLang="zh-TW" sz="1200" b="1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結構化步驟：</a:t>
            </a:r>
            <a:endParaRPr lang="en-US" altLang="zh-TW" sz="1200" b="1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sz="1200" b="1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問題的清晰理解 </a:t>
            </a:r>
            <a:r>
              <a:rPr lang="en-US" altLang="zh-TW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(Develop a clear understanding of the problem)</a:t>
            </a: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：</a:t>
            </a:r>
            <a:endParaRPr lang="en-US" altLang="zh-TW" sz="1200" b="1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透過</a:t>
            </a: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深入的文獻分析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和</a:t>
            </a: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與利害關係人的訪談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來收集見解，從而清晰地界定研究問題。</a:t>
            </a:r>
            <a:endParaRPr lang="en-US" altLang="zh-TW" sz="1200" b="0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在本研究中，問題是現有的</a:t>
            </a:r>
            <a:r>
              <a:rPr lang="zh-TW" altLang="en-US" sz="1200" b="0" i="0" dirty="0">
                <a:solidFill>
                  <a:srgbClr val="000000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需求挖掘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方法</a:t>
            </a: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無法提取具體的客戶需求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，需要人工分析。</a:t>
            </a:r>
            <a:endParaRPr lang="en-US" altLang="zh-TW" sz="1200" b="0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zh-TW" sz="1200" dirty="0">
              <a:solidFill>
                <a:srgbClr val="131314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開發初步解決方案 </a:t>
            </a:r>
            <a:r>
              <a:rPr lang="en-US" altLang="zh-TW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(Develop initial solutions)</a:t>
            </a: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：</a:t>
            </a:r>
            <a:endParaRPr lang="en-US" altLang="zh-TW" sz="1200" b="1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根據對問題的理解和廣泛的文獻回顧來設計解決方案</a:t>
            </a:r>
            <a:endParaRPr lang="en-US" altLang="zh-TW" sz="1200" b="0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研究人員將這些解決方案轉化為</a:t>
            </a: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成品功能（</a:t>
            </a:r>
            <a:r>
              <a:rPr lang="en-US" altLang="zh-TW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artifact features</a:t>
            </a: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）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，旨在直接解決現有問題</a:t>
            </a:r>
            <a:endParaRPr lang="en-US" altLang="zh-TW" sz="1200" dirty="0">
              <a:solidFill>
                <a:srgbClr val="131314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本研究的解決方案是將</a:t>
            </a:r>
            <a:r>
              <a:rPr lang="zh-TW" altLang="en-US" sz="1200" b="0" i="0" dirty="0">
                <a:solidFill>
                  <a:srgbClr val="000000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需求挖掘</a:t>
            </a: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重新概念化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為</a:t>
            </a: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詞元分類任務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（</a:t>
            </a:r>
            <a:r>
              <a:rPr lang="en-US" altLang="zh-TW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Token Classification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），以提取需求的具體組成部分（屬性與特性）</a:t>
            </a:r>
            <a:endParaRPr lang="en-US" altLang="zh-TW" sz="1200" b="0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zh-TW" sz="1200" b="0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評估與討論成品 </a:t>
            </a:r>
            <a:r>
              <a:rPr lang="en-US" altLang="zh-TW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(Evaluate and discuss the artifact)</a:t>
            </a: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：</a:t>
            </a:r>
            <a:endParaRPr lang="en-US" altLang="zh-TW" sz="1200" dirty="0">
              <a:solidFill>
                <a:srgbClr val="131314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根據</a:t>
            </a: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合適的效能指標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來評估和量化成品的表現。</a:t>
            </a:r>
            <a:endParaRPr lang="en-US" altLang="zh-TW" sz="1200" b="1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sz="1200" b="1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73DF812-083E-4EA0-A579-C46132D50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4400" y="2882481"/>
            <a:ext cx="4269600" cy="2261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585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ctrTitle"/>
          </p:nvPr>
        </p:nvSpPr>
        <p:spPr>
          <a:xfrm>
            <a:off x="3470650" y="0"/>
            <a:ext cx="23832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系統架構</a:t>
            </a:r>
            <a:endParaRPr sz="26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7D724C-53CB-41D2-B73D-F4622D50C9A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21113" y="771257"/>
            <a:ext cx="7697287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en-US" sz="1200" b="0" i="0" u="none" strike="noStrike" cap="none" normalizeH="0" baseline="0" dirty="0">
                <a:ln>
                  <a:noFill/>
                </a:ln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    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本研究遵循設計科學研究 (Design Science Research, DSR) 方法</a:t>
            </a:r>
            <a:r>
              <a:rPr kumimoji="0" lang="zh-TW" altLang="en-US" sz="1200" b="0" i="0" u="none" strike="noStrike" cap="none" normalizeH="0" baseline="0" dirty="0">
                <a:ln>
                  <a:noFill/>
                </a:ln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，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產物的設計旨在解決現有 Needmining 方法中缺乏自動提取特定客戶需求的限制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</a:t>
            </a:r>
            <a:r>
              <a:rPr kumimoji="0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。</a:t>
            </a:r>
            <a:endParaRPr kumimoji="0" lang="en-US" altLang="zh-TW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sz="1200" cap="none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1200" b="1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客戶需求的構成</a:t>
            </a:r>
            <a:r>
              <a:rPr lang="en-US" altLang="zh-TW" sz="1200" b="1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:</a:t>
            </a:r>
            <a:endParaRPr lang="en-US" altLang="zh-TW" sz="1200" b="1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120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產物必須能夠提取</a:t>
            </a:r>
            <a:r>
              <a:rPr lang="zh-TW" altLang="en-US" sz="1200" b="1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屬性</a:t>
            </a:r>
            <a:r>
              <a:rPr lang="en-US" altLang="zh-TW" sz="1200" b="1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-</a:t>
            </a:r>
            <a:r>
              <a:rPr lang="zh-TW" altLang="en-US" sz="1200" b="1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特性組合</a:t>
            </a:r>
            <a:r>
              <a:rPr lang="zh-TW" altLang="en-US" sz="120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</a:t>
            </a:r>
            <a:r>
              <a:rPr lang="en-US" altLang="zh-TW" sz="120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(attribute-characteristic combinations)</a:t>
            </a:r>
            <a:r>
              <a:rPr lang="zh-TW" altLang="en-US" sz="120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。</a:t>
            </a:r>
            <a:endParaRPr lang="en-US" altLang="zh-TW" sz="120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sz="120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屬性：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通常描述產品的特徵</a:t>
            </a:r>
            <a:endParaRPr lang="en-US" altLang="zh-TW" sz="1200" b="0" i="0" dirty="0">
              <a:solidFill>
                <a:srgbClr val="131314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特性：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描述該特徵應如何實施</a:t>
            </a:r>
            <a:endParaRPr lang="en-US" altLang="zh-TW" sz="120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舉例：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在「保護殼仍然不能無線充電」的評論中，「保護殼 </a:t>
            </a:r>
            <a:r>
              <a:rPr lang="en-US" altLang="zh-TW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(case)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」是</a:t>
            </a: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屬性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，「無線充電 </a:t>
            </a:r>
            <a:r>
              <a:rPr lang="en-US" altLang="zh-TW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(charged wirelessly)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」是</a:t>
            </a: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特性</a:t>
            </a:r>
            <a:r>
              <a:rPr lang="zh-TW" altLang="en-US" sz="1200" b="1" i="0" dirty="0">
                <a:solidFill>
                  <a:srgbClr val="131314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。</a:t>
            </a:r>
            <a:endParaRPr lang="en-US" altLang="zh-TW" sz="1200" b="1" dirty="0">
              <a:solidFill>
                <a:srgbClr val="131314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zh-TW" sz="1200" b="1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zh-TW" sz="120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zh-TW" sz="1200" b="0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zh-TW" altLang="en-US" sz="120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zh-TW" sz="1200" b="1" i="0" dirty="0">
              <a:solidFill>
                <a:srgbClr val="131314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zh-TW" sz="1200" b="1" i="0" dirty="0">
              <a:solidFill>
                <a:srgbClr val="131314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zh-TW" sz="120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zh-TW" sz="120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40199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ctrTitle"/>
          </p:nvPr>
        </p:nvSpPr>
        <p:spPr>
          <a:xfrm>
            <a:off x="3470650" y="0"/>
            <a:ext cx="23832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系統架構</a:t>
            </a:r>
            <a:endParaRPr sz="26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7D724C-53CB-41D2-B73D-F4622D50C9A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89913" y="831854"/>
            <a:ext cx="769728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TW" altLang="en-US" sz="1200" b="1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產物的五個步驟 </a:t>
            </a:r>
            <a:r>
              <a:rPr lang="en-US" altLang="zh-TW" sz="1200" b="1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: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TW" altLang="en-US" sz="120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該產物由五個步驟組成，如圖所示，旨在自動識別和組織客戶需求。</a:t>
            </a:r>
            <a:endParaRPr lang="en-US" altLang="zh-TW" sz="120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zh-TW" sz="120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zh-TW" sz="1200" b="0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zh-TW" altLang="en-US" sz="120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zh-TW" sz="1200" b="1" i="0" dirty="0">
              <a:solidFill>
                <a:srgbClr val="131314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zh-TW" sz="1200" b="1" i="0" dirty="0">
              <a:solidFill>
                <a:srgbClr val="131314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zh-TW" sz="120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zh-TW" sz="120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28D7E95-3134-4C85-889C-656BF33862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913" y="1513349"/>
            <a:ext cx="6425669" cy="3630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236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ctrTitle"/>
          </p:nvPr>
        </p:nvSpPr>
        <p:spPr>
          <a:xfrm>
            <a:off x="3470650" y="0"/>
            <a:ext cx="23832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系統架構</a:t>
            </a:r>
            <a:endParaRPr sz="26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7D724C-53CB-41D2-B73D-F4622D50C9A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15356" y="699710"/>
            <a:ext cx="7913287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TW" sz="1200" dirty="0">
                <a:solidFill>
                  <a:srgbClr val="131314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1.</a:t>
            </a: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內容取樣 </a:t>
            </a:r>
            <a:r>
              <a:rPr lang="en-US" altLang="zh-TW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(Content Sampling)</a:t>
            </a: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：</a:t>
            </a:r>
            <a:endParaRPr lang="en-US" altLang="zh-TW" sz="1200" b="1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TW" altLang="en-US" sz="1200" dirty="0">
                <a:solidFill>
                  <a:srgbClr val="131314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  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產品經理可以從各種平台（如線上商店評論、部落格文章、轉錄影片評論）中取樣 </a:t>
            </a:r>
            <a:r>
              <a:rPr lang="en-US" altLang="zh-TW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UGC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。</a:t>
            </a:r>
            <a:endParaRPr lang="en-US" altLang="zh-TW" sz="1200" b="0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zh-TW" sz="1200" b="0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TW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2.</a:t>
            </a: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句子標記化 </a:t>
            </a:r>
            <a:r>
              <a:rPr lang="en-US" altLang="zh-TW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(Sentence Tokenization)</a:t>
            </a: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：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</a:t>
            </a:r>
            <a:endParaRPr lang="en-US" altLang="zh-TW" sz="1200" b="0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  首先將非結構化的文本數據（如產品評論）轉換為機器可解釋的格式。我們使用自然語言工具包 </a:t>
            </a:r>
            <a:r>
              <a:rPr lang="en-US" altLang="zh-TW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(NLTK) 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將每篇評論拆分成單個句子，這有助於後續的細粒度分析（例如情感分析）。</a:t>
            </a:r>
            <a:endParaRPr lang="en-US" altLang="zh-TW" sz="1200" b="0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zh-TW" sz="1200" b="0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algn="just" defTabSz="914400">
              <a:lnSpc>
                <a:spcPct val="100000"/>
              </a:lnSpc>
              <a:buClrTx/>
            </a:pP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3. </a:t>
            </a:r>
            <a:r>
              <a:rPr kumimoji="0" lang="zh-TW" altLang="zh-TW" sz="1200" b="1" i="0" u="none" strike="noStrike" cap="none" normalizeH="0" baseline="0" dirty="0">
                <a:ln>
                  <a:noFill/>
                </a:ln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標記嵌入 (Token Embedding)：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</a:t>
            </a:r>
            <a:endParaRPr kumimoji="0" lang="en-US" altLang="zh-TW" sz="1200" b="0" i="0" u="none" strike="noStrike" cap="none" normalizeH="0" baseline="0" dirty="0">
              <a:ln>
                <a:noFill/>
              </a:ln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algn="just" defTabSz="914400">
              <a:lnSpc>
                <a:spcPct val="100000"/>
              </a:lnSpc>
              <a:buClrTx/>
            </a:pPr>
            <a:r>
              <a:rPr kumimoji="0" lang="zh-TW" altLang="en-US" sz="1200" b="0" i="0" u="none" strike="noStrike" cap="none" normalizeH="0" baseline="0" dirty="0">
                <a:ln>
                  <a:noFill/>
                </a:ln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  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將評論句子轉換為標記 (tokens)。我們採用 </a:t>
            </a:r>
            <a:r>
              <a:rPr kumimoji="0" lang="zh-TW" altLang="zh-TW" sz="1200" i="0" u="none" strike="noStrike" cap="none" normalizeH="0" baseline="0" dirty="0">
                <a:ln>
                  <a:noFill/>
                </a:ln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Byte-Pair Encoding (BPE) 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策略，將詞語進一步拆分為子詞，然後生成上下文表示的實值向量空間中的嵌入 (embeddings)。我們測試了多種預訓練的 Transformer 模型，包括 BERT、RoBERTa、XLNet、ALBERT 和 DistilBERT</a:t>
            </a:r>
            <a:r>
              <a:rPr kumimoji="0" lang="zh-TW" altLang="zh-TW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</a:t>
            </a:r>
            <a:r>
              <a:rPr kumimoji="0" lang="zh-TW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。</a:t>
            </a:r>
            <a:endParaRPr kumimoji="0" lang="en-US" altLang="zh-TW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algn="just" defTabSz="914400">
              <a:lnSpc>
                <a:spcPct val="100000"/>
              </a:lnSpc>
              <a:buClrTx/>
            </a:pPr>
            <a:endParaRPr kumimoji="0" lang="en-US" altLang="zh-TW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TW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4.</a:t>
            </a: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標記分類 </a:t>
            </a:r>
            <a:r>
              <a:rPr lang="en-US" altLang="zh-TW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(Token Classification)</a:t>
            </a: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：</a:t>
            </a:r>
            <a:r>
              <a:rPr lang="en-US" altLang="zh-TW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TW" altLang="en-US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方法：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將子詞標記通過平均池化層生成詞嵌入，然後輸入到一個三層全連接神經網絡進行最終預測</a:t>
            </a:r>
            <a:r>
              <a:rPr lang="zh-TW" altLang="en-US" sz="1200" dirty="0">
                <a:solidFill>
                  <a:srgbClr val="131314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。</a:t>
            </a:r>
            <a:endParaRPr lang="en-US" altLang="zh-TW" sz="1200" dirty="0">
              <a:solidFill>
                <a:srgbClr val="131314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TW" altLang="en-US" sz="1200" dirty="0">
                <a:solidFill>
                  <a:srgbClr val="131314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目標： 分類器必須僅在客戶明確討論屬性</a:t>
            </a:r>
            <a:r>
              <a:rPr lang="en-US" altLang="zh-TW" sz="1200" dirty="0">
                <a:solidFill>
                  <a:srgbClr val="131314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/</a:t>
            </a:r>
            <a:r>
              <a:rPr lang="zh-TW" altLang="en-US" sz="1200" dirty="0">
                <a:solidFill>
                  <a:srgbClr val="131314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特性並給予量化價值時，才檢測產品屬性和特性。這是採用基於 </a:t>
            </a:r>
            <a:r>
              <a:rPr lang="en-US" altLang="zh-TW" sz="1200" dirty="0">
                <a:solidFill>
                  <a:srgbClr val="131314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Transformer </a:t>
            </a:r>
            <a:r>
              <a:rPr lang="zh-TW" altLang="en-US" sz="1200" dirty="0">
                <a:solidFill>
                  <a:srgbClr val="131314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的上下文標記嵌入和神經網絡的組合的關鍵，以確定標記在什麼上下文下應被分類。</a:t>
            </a:r>
            <a:endParaRPr lang="en-US" altLang="zh-TW" sz="1200" dirty="0">
              <a:solidFill>
                <a:srgbClr val="131314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zh-TW" sz="1200" dirty="0">
              <a:solidFill>
                <a:srgbClr val="131314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TW" sz="1200" dirty="0">
                <a:solidFill>
                  <a:srgbClr val="131314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5.</a:t>
            </a:r>
            <a:r>
              <a:rPr lang="zh-TW" altLang="en-US" sz="1200" b="1" dirty="0">
                <a:solidFill>
                  <a:srgbClr val="131314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需求提取 </a:t>
            </a:r>
            <a:r>
              <a:rPr lang="en-US" altLang="zh-TW" sz="1200" b="1" dirty="0">
                <a:solidFill>
                  <a:srgbClr val="131314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(Need Extraction)</a:t>
            </a:r>
            <a:r>
              <a:rPr lang="zh-TW" altLang="en-US" sz="1200" b="1" dirty="0">
                <a:solidFill>
                  <a:srgbClr val="131314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：</a:t>
            </a:r>
            <a:endParaRPr lang="en-US" altLang="zh-TW" sz="1200" b="1" dirty="0">
              <a:solidFill>
                <a:srgbClr val="131314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TW" altLang="en-US" sz="1200" b="1" dirty="0">
                <a:solidFill>
                  <a:srgbClr val="131314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   </a:t>
            </a:r>
            <a:r>
              <a:rPr lang="zh-TW" altLang="en-US" sz="1200" dirty="0">
                <a:solidFill>
                  <a:srgbClr val="131314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在將預測的屬性和特性組織起來，提供客戶需求的快速概覽。</a:t>
            </a:r>
            <a:endParaRPr lang="en-US" altLang="zh-TW" sz="1200" dirty="0">
              <a:solidFill>
                <a:srgbClr val="131314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TW" altLang="en-US" sz="1200" dirty="0">
                <a:solidFill>
                  <a:srgbClr val="131314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輸出組織： 創建每個屬性的提及頻率概覽，以識別客戶討論最多的內容。</a:t>
            </a:r>
            <a:endParaRPr lang="en-US" altLang="zh-TW" sz="1200" dirty="0">
              <a:solidFill>
                <a:srgbClr val="131314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TW" altLang="en-US" sz="1200" dirty="0">
                <a:solidFill>
                  <a:srgbClr val="131314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組合： 將每個屬性與出現在同一句子中的所有特性結合起來，生成與每個屬性相關的特性概覽。</a:t>
            </a:r>
            <a:endParaRPr lang="en-US" altLang="zh-TW" sz="1200" dirty="0">
              <a:solidFill>
                <a:srgbClr val="131314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zh-TW" altLang="en-US" sz="1200" dirty="0">
                <a:solidFill>
                  <a:srgbClr val="131314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輔助資訊： 額外提供包含每個已識別的屬性</a:t>
            </a:r>
            <a:r>
              <a:rPr lang="en-US" altLang="zh-TW" sz="1200" dirty="0">
                <a:solidFill>
                  <a:srgbClr val="131314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-</a:t>
            </a:r>
            <a:r>
              <a:rPr lang="zh-TW" altLang="en-US" sz="1200" dirty="0">
                <a:solidFill>
                  <a:srgbClr val="131314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特性組合的完整句子列表，供決策者快速瞭解消費者討論特定需求的背景。</a:t>
            </a:r>
            <a:endParaRPr lang="en-US" altLang="zh-TW" sz="1200" dirty="0">
              <a:solidFill>
                <a:srgbClr val="131314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51502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>
            <a:spLocks noGrp="1"/>
          </p:cNvSpPr>
          <p:nvPr>
            <p:ph type="ctrTitle"/>
          </p:nvPr>
        </p:nvSpPr>
        <p:spPr>
          <a:xfrm>
            <a:off x="3473575" y="1977500"/>
            <a:ext cx="17910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800"/>
              <a:t>實驗</a:t>
            </a:r>
            <a:endParaRPr sz="4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>
            <a:spLocks noGrp="1"/>
          </p:cNvSpPr>
          <p:nvPr>
            <p:ph type="ctrTitle"/>
          </p:nvPr>
        </p:nvSpPr>
        <p:spPr>
          <a:xfrm>
            <a:off x="3470650" y="0"/>
            <a:ext cx="23832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實驗</a:t>
            </a:r>
            <a:endParaRPr sz="2650"/>
          </a:p>
        </p:txBody>
      </p:sp>
      <p:sp>
        <p:nvSpPr>
          <p:cNvPr id="166" name="Google Shape;166;p26"/>
          <p:cNvSpPr txBox="1">
            <a:spLocks noGrp="1"/>
          </p:cNvSpPr>
          <p:nvPr>
            <p:ph type="subTitle" idx="1"/>
          </p:nvPr>
        </p:nvSpPr>
        <p:spPr>
          <a:xfrm>
            <a:off x="640275" y="918900"/>
            <a:ext cx="8309400" cy="3677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31314"/>
                </a:solidFill>
                <a:highlight>
                  <a:srgbClr val="FFFFFF"/>
                </a:highlight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訓練與數據集</a:t>
            </a:r>
            <a:r>
              <a:rPr lang="en-US" altLang="zh-TW" sz="1200" b="1" dirty="0">
                <a:solidFill>
                  <a:srgbClr val="131314"/>
                </a:solidFill>
                <a:highlight>
                  <a:srgbClr val="FFFFFF"/>
                </a:highlight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:</a:t>
            </a:r>
          </a:p>
          <a:p>
            <a:pPr marL="285750" lvl="0" indent="-285750" algn="just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數據來源：根據與領域專家的協商，選定亞馬遜上第二代 </a:t>
            </a:r>
            <a:r>
              <a:rPr lang="en-US" altLang="zh-TW" sz="1200" dirty="0">
                <a:solidFill>
                  <a:srgbClr val="131314"/>
                </a:solidFill>
                <a:highlight>
                  <a:srgbClr val="FFFFFF"/>
                </a:highlight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Apple </a:t>
            </a:r>
            <a:r>
              <a:rPr lang="en-US" altLang="zh-TW" sz="1200" dirty="0" err="1">
                <a:solidFill>
                  <a:srgbClr val="131314"/>
                </a:solidFill>
                <a:highlight>
                  <a:srgbClr val="FFFFFF"/>
                </a:highlight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AirPods</a:t>
            </a:r>
            <a:r>
              <a:rPr lang="en-US" altLang="zh-TW" sz="1200" dirty="0">
                <a:solidFill>
                  <a:srgbClr val="131314"/>
                </a:solidFill>
                <a:highlight>
                  <a:srgbClr val="FFFFFF"/>
                </a:highlight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</a:t>
            </a: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的產品評論作為訓練和測試的產品</a:t>
            </a:r>
            <a:endParaRPr lang="en-US" altLang="zh-TW" sz="1200" dirty="0">
              <a:solidFill>
                <a:srgbClr val="131314"/>
              </a:solidFill>
              <a:highlight>
                <a:srgbClr val="FFFFFF"/>
              </a:highlight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285750" lvl="0" indent="-285750" algn="just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數據集規模： 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爬取了 </a:t>
            </a:r>
            <a:r>
              <a:rPr lang="en-US" altLang="zh-TW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1036 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篇最近的產品評論，共包含 </a:t>
            </a:r>
            <a:r>
              <a:rPr lang="en-US" altLang="zh-TW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3059 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個句子。</a:t>
            </a:r>
            <a:endParaRPr lang="en-US" altLang="zh-TW" sz="1200" b="0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285750" lvl="0" indent="-285750" algn="just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標註： 學生工作人員根據論文對客戶需求的理解（分解為屬性與特性）進行標註。</a:t>
            </a:r>
            <a:endParaRPr lang="en-US" altLang="zh-TW" sz="1200" b="0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285750" lvl="0" indent="-285750" algn="just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圖中顯示了屬性和特徵的分佈，有</a:t>
            </a:r>
            <a:r>
              <a:rPr lang="en-US" altLang="zh-TW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1438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個句子包含至少一個註釋</a:t>
            </a:r>
            <a:r>
              <a:rPr lang="en-US" altLang="zh-TW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,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而</a:t>
            </a:r>
            <a:r>
              <a:rPr lang="en-US" altLang="zh-TW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1621 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個句子沒有註釋。雖然 需要句子和不需要句子是平衡的</a:t>
            </a:r>
            <a:r>
              <a:rPr lang="en-US" altLang="zh-TW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,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但數據中總體上特徵多於屬性。</a:t>
            </a:r>
            <a:endParaRPr lang="en-US" altLang="zh-TW" sz="1200" b="0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lvl="0" algn="just" rtl="0">
              <a:spcBef>
                <a:spcPts val="560"/>
              </a:spcBef>
              <a:spcAft>
                <a:spcPts val="0"/>
              </a:spcAft>
            </a:pPr>
            <a:endParaRPr lang="en-US" altLang="zh-TW" sz="1200" dirty="0">
              <a:solidFill>
                <a:srgbClr val="131314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E2CA808-97E9-4550-B894-F775F8536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8304" y="3384000"/>
            <a:ext cx="5955696" cy="1759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>
            <a:spLocks noGrp="1"/>
          </p:cNvSpPr>
          <p:nvPr>
            <p:ph type="ctrTitle"/>
          </p:nvPr>
        </p:nvSpPr>
        <p:spPr>
          <a:xfrm>
            <a:off x="3470650" y="0"/>
            <a:ext cx="23832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實驗</a:t>
            </a:r>
            <a:endParaRPr sz="2650"/>
          </a:p>
        </p:txBody>
      </p:sp>
      <p:sp>
        <p:nvSpPr>
          <p:cNvPr id="166" name="Google Shape;166;p26"/>
          <p:cNvSpPr txBox="1">
            <a:spLocks noGrp="1"/>
          </p:cNvSpPr>
          <p:nvPr>
            <p:ph type="subTitle" idx="1"/>
          </p:nvPr>
        </p:nvSpPr>
        <p:spPr>
          <a:xfrm>
            <a:off x="640275" y="918900"/>
            <a:ext cx="8309400" cy="3677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just" rtl="0">
              <a:spcBef>
                <a:spcPts val="560"/>
              </a:spcBef>
              <a:spcAft>
                <a:spcPts val="0"/>
              </a:spcAft>
            </a:pP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模型評估與結果</a:t>
            </a:r>
            <a:r>
              <a:rPr lang="en-US" altLang="zh-TW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:</a:t>
            </a:r>
          </a:p>
          <a:p>
            <a:pPr marL="171450" lvl="0" indent="-171450" algn="just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評估方法： 採用 </a:t>
            </a:r>
            <a:r>
              <a:rPr lang="en-US" altLang="zh-TW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$k$ </a:t>
            </a:r>
            <a:r>
              <a:rPr lang="zh-TW" altLang="en-US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折交叉驗證 </a:t>
            </a:r>
            <a:r>
              <a:rPr lang="en-US" altLang="zh-TW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($k=5$)</a:t>
            </a:r>
            <a:r>
              <a:rPr lang="zh-TW" altLang="en-US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。</a:t>
            </a:r>
            <a:endParaRPr lang="en-US" altLang="zh-TW" sz="1200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71450" lvl="0" indent="-171450" algn="just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評估指標： 使用精確度 </a:t>
            </a:r>
            <a:r>
              <a:rPr lang="en-US" altLang="zh-TW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(Precision)</a:t>
            </a:r>
            <a:r>
              <a:rPr lang="zh-TW" altLang="en-US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、召回率 </a:t>
            </a:r>
            <a:r>
              <a:rPr lang="en-US" altLang="zh-TW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(Recall) </a:t>
            </a:r>
            <a:r>
              <a:rPr lang="zh-TW" altLang="en-US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和 </a:t>
            </a:r>
            <a:r>
              <a:rPr lang="en-US" altLang="zh-TW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F1-</a:t>
            </a:r>
            <a:r>
              <a:rPr lang="zh-TW" altLang="en-US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分數。</a:t>
            </a:r>
            <a:r>
              <a:rPr lang="en-US" altLang="zh-TW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F1-</a:t>
            </a:r>
            <a:r>
              <a:rPr lang="zh-TW" altLang="en-US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分數是精確度和召回率的調和平均值，反映了模型整體成功的兩個重要因素。</a:t>
            </a:r>
            <a:endParaRPr lang="en-US" altLang="zh-TW" sz="1200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70947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1"/>
          <p:cNvSpPr txBox="1">
            <a:spLocks noGrp="1"/>
          </p:cNvSpPr>
          <p:nvPr>
            <p:ph type="ctrTitle"/>
          </p:nvPr>
        </p:nvSpPr>
        <p:spPr>
          <a:xfrm>
            <a:off x="2924275" y="1967525"/>
            <a:ext cx="35286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800"/>
              <a:t>結果&amp;建議</a:t>
            </a:r>
            <a:endParaRPr sz="4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>
            <a:spLocks noGrp="1"/>
          </p:cNvSpPr>
          <p:nvPr>
            <p:ph type="ctrTitle"/>
          </p:nvPr>
        </p:nvSpPr>
        <p:spPr>
          <a:xfrm>
            <a:off x="3470650" y="0"/>
            <a:ext cx="23832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結果</a:t>
            </a:r>
            <a:endParaRPr sz="2650"/>
          </a:p>
        </p:txBody>
      </p:sp>
      <p:sp>
        <p:nvSpPr>
          <p:cNvPr id="202" name="Google Shape;202;p32"/>
          <p:cNvSpPr txBox="1">
            <a:spLocks noGrp="1"/>
          </p:cNvSpPr>
          <p:nvPr>
            <p:ph type="subTitle" idx="1"/>
          </p:nvPr>
        </p:nvSpPr>
        <p:spPr>
          <a:xfrm>
            <a:off x="794662" y="1134375"/>
            <a:ext cx="7384538" cy="18235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提供了數據集中屬性 </a:t>
            </a:r>
            <a:r>
              <a:rPr lang="en-US" altLang="zh-TW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(Attributes) 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和特性 </a:t>
            </a:r>
            <a:r>
              <a:rPr lang="en-US" altLang="zh-TW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(Characteristics) 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的平均標記數（</a:t>
            </a:r>
            <a:r>
              <a:rPr lang="en-US" altLang="zh-TW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Token per Span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）和句子中出現的次數（</a:t>
            </a:r>
            <a:r>
              <a:rPr lang="en-US" altLang="zh-TW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Spans in Sentences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）的統計數據。</a:t>
            </a:r>
            <a:endParaRPr lang="en-US" altLang="zh-TW" sz="1200" b="0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0" lvl="0" indent="0" algn="just" rtl="0">
              <a:spcBef>
                <a:spcPts val="560"/>
              </a:spcBef>
              <a:spcAft>
                <a:spcPts val="0"/>
              </a:spcAft>
              <a:buNone/>
            </a:pPr>
            <a:endParaRPr lang="en-US" sz="1200" dirty="0">
              <a:solidFill>
                <a:srgbClr val="131314"/>
              </a:solidFill>
              <a:highlight>
                <a:srgbClr val="FFFFFF"/>
              </a:highlight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0" lvl="0" indent="0" algn="just" rtl="0">
              <a:spcBef>
                <a:spcPts val="560"/>
              </a:spcBef>
              <a:spcAft>
                <a:spcPts val="0"/>
              </a:spcAft>
              <a:buNone/>
            </a:pPr>
            <a:endParaRPr lang="en-US" sz="1200" b="1" dirty="0">
              <a:solidFill>
                <a:srgbClr val="131314"/>
              </a:solidFill>
              <a:highlight>
                <a:srgbClr val="FFFFFF"/>
              </a:highlight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0" lvl="0" indent="0" algn="just" rtl="0">
              <a:spcBef>
                <a:spcPts val="560"/>
              </a:spcBef>
              <a:spcAft>
                <a:spcPts val="0"/>
              </a:spcAft>
              <a:buNone/>
            </a:pPr>
            <a:endParaRPr sz="1200" b="1" dirty="0">
              <a:solidFill>
                <a:srgbClr val="131314"/>
              </a:solidFill>
              <a:highlight>
                <a:srgbClr val="FFFFFF"/>
              </a:highlight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9F175C6-3A0A-41C1-8256-1FAE3B988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662" y="2475525"/>
            <a:ext cx="4897800" cy="12612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>
            <a:spLocks noGrp="1"/>
          </p:cNvSpPr>
          <p:nvPr>
            <p:ph type="ctrTitle"/>
          </p:nvPr>
        </p:nvSpPr>
        <p:spPr>
          <a:xfrm>
            <a:off x="3470650" y="0"/>
            <a:ext cx="23832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結果</a:t>
            </a:r>
            <a:endParaRPr sz="2650"/>
          </a:p>
        </p:txBody>
      </p:sp>
      <p:sp>
        <p:nvSpPr>
          <p:cNvPr id="202" name="Google Shape;202;p32"/>
          <p:cNvSpPr txBox="1">
            <a:spLocks noGrp="1"/>
          </p:cNvSpPr>
          <p:nvPr>
            <p:ph type="subTitle" idx="1"/>
          </p:nvPr>
        </p:nvSpPr>
        <p:spPr>
          <a:xfrm>
            <a:off x="220824" y="1099650"/>
            <a:ext cx="8642375" cy="18235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性能結果：</a:t>
            </a:r>
            <a:endParaRPr lang="en-US" altLang="zh-TW" sz="1200" b="0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71450" lvl="0" indent="-171450" algn="just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在所測試的嵌入模型中，</a:t>
            </a:r>
            <a:r>
              <a:rPr lang="en-US" altLang="zh-TW" sz="1200" b="1" i="0" dirty="0" err="1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RoBERTa</a:t>
            </a:r>
            <a:r>
              <a:rPr lang="en-US" altLang="zh-TW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表現最佳，所有實體的平均 </a:t>
            </a:r>
            <a:r>
              <a:rPr lang="en-US" altLang="zh-TW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F1-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分數為 </a:t>
            </a:r>
            <a:r>
              <a:rPr lang="en-US" altLang="zh-TW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71.2%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，其中屬性 </a:t>
            </a:r>
            <a:r>
              <a:rPr lang="en-US" altLang="zh-TW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(Attributes) 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的 </a:t>
            </a:r>
            <a:r>
              <a:rPr lang="en-US" altLang="zh-TW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F1-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分數為 </a:t>
            </a:r>
            <a:r>
              <a:rPr lang="en-US" altLang="zh-TW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78.7%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，特性 </a:t>
            </a:r>
            <a:r>
              <a:rPr lang="en-US" altLang="zh-TW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(Characteristics) 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的 </a:t>
            </a:r>
            <a:r>
              <a:rPr lang="en-US" altLang="zh-TW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F1-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分數為 </a:t>
            </a:r>
            <a:r>
              <a:rPr lang="en-US" altLang="zh-TW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66.2%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。</a:t>
            </a:r>
            <a:endParaRPr lang="en-US" altLang="zh-TW" sz="1200" b="0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71450" lvl="0" indent="-171450" algn="just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模型的性能與二元</a:t>
            </a:r>
            <a:r>
              <a:rPr lang="zh-TW" altLang="en-US" sz="1200" b="0" i="0" dirty="0">
                <a:solidFill>
                  <a:srgbClr val="000000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需求挖掘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模型相當，但解決了本質上更複雜的任務</a:t>
            </a:r>
            <a:r>
              <a:rPr lang="zh-TW" altLang="en-US" sz="1200" dirty="0">
                <a:solidFill>
                  <a:srgbClr val="131314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。</a:t>
            </a:r>
            <a:endParaRPr lang="en-US" altLang="zh-TW" sz="1200" dirty="0">
              <a:solidFill>
                <a:srgbClr val="131314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lvl="0" algn="just" rtl="0">
              <a:spcBef>
                <a:spcPts val="560"/>
              </a:spcBef>
              <a:spcAft>
                <a:spcPts val="0"/>
              </a:spcAft>
            </a:pPr>
            <a:endParaRPr lang="en-US" altLang="zh-TW" sz="1200" dirty="0">
              <a:solidFill>
                <a:srgbClr val="131314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0" lvl="0" indent="0" algn="just" rtl="0">
              <a:spcBef>
                <a:spcPts val="560"/>
              </a:spcBef>
              <a:spcAft>
                <a:spcPts val="0"/>
              </a:spcAft>
              <a:buNone/>
            </a:pPr>
            <a:endParaRPr sz="1200" b="1" dirty="0">
              <a:solidFill>
                <a:srgbClr val="131314"/>
              </a:solidFill>
              <a:highlight>
                <a:srgbClr val="FFFFFF"/>
              </a:highlight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7107B52-B2A9-4DA6-BD16-296C527F5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801" y="2768942"/>
            <a:ext cx="8321761" cy="1333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9542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>
            <a:spLocks noGrp="1"/>
          </p:cNvSpPr>
          <p:nvPr>
            <p:ph type="ctrTitle"/>
          </p:nvPr>
        </p:nvSpPr>
        <p:spPr>
          <a:xfrm>
            <a:off x="3470650" y="0"/>
            <a:ext cx="23832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結果</a:t>
            </a:r>
            <a:endParaRPr sz="2650"/>
          </a:p>
        </p:txBody>
      </p:sp>
      <p:sp>
        <p:nvSpPr>
          <p:cNvPr id="202" name="Google Shape;202;p32"/>
          <p:cNvSpPr txBox="1">
            <a:spLocks noGrp="1"/>
          </p:cNvSpPr>
          <p:nvPr>
            <p:ph type="subTitle" idx="1"/>
          </p:nvPr>
        </p:nvSpPr>
        <p:spPr>
          <a:xfrm>
            <a:off x="220824" y="1099650"/>
            <a:ext cx="8642375" cy="18235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just" rtl="0">
              <a:spcBef>
                <a:spcPts val="560"/>
              </a:spcBef>
              <a:spcAft>
                <a:spcPts val="0"/>
              </a:spcAft>
            </a:pP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泛化能力：</a:t>
            </a:r>
            <a:endParaRPr lang="en-US" altLang="zh-TW" sz="1200" b="1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71450" lvl="0" indent="-171450" algn="just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透過在「嬰兒 </a:t>
            </a:r>
            <a:r>
              <a:rPr lang="en-US" altLang="zh-TW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(baby)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」、「寵物 </a:t>
            </a:r>
            <a:r>
              <a:rPr lang="en-US" altLang="zh-TW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(pets)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」和「運動 </a:t>
            </a:r>
            <a:r>
              <a:rPr lang="en-US" altLang="zh-TW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(sports)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」產品類別中爬取和標註 </a:t>
            </a:r>
            <a:r>
              <a:rPr lang="en-US" altLang="zh-TW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500 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個句子來測試模型的泛化能力</a:t>
            </a:r>
            <a:r>
              <a:rPr lang="zh-TW" altLang="en-US" sz="1200" b="1" dirty="0">
                <a:solidFill>
                  <a:srgbClr val="131314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。</a:t>
            </a:r>
            <a:endParaRPr lang="en-US" altLang="zh-TW" sz="1200" b="1" dirty="0">
              <a:solidFill>
                <a:srgbClr val="131314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71450" lvl="0" indent="-171450" algn="just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在句子匹配 </a:t>
            </a:r>
            <a:r>
              <a:rPr lang="en-US" altLang="zh-TW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(Sentence Match) 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級別上，模型表現良好（例如，運動類別的 </a:t>
            </a:r>
            <a:r>
              <a:rPr lang="en-US" altLang="zh-TW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F1-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分數為 </a:t>
            </a:r>
            <a:r>
              <a:rPr lang="en-US" altLang="zh-TW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77.03%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），表明其泛化能力出色，並優於現有的二元方法</a:t>
            </a:r>
            <a:endParaRPr lang="en-US" altLang="zh-TW" sz="1200" b="1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71450" lvl="0" indent="-171450" algn="just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在精確匹配 </a:t>
            </a:r>
            <a:r>
              <a:rPr lang="en-US" altLang="zh-TW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(Exact Match) 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級別上，平均 </a:t>
            </a:r>
            <a:r>
              <a:rPr lang="en-US" altLang="zh-TW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F1-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分數為 </a:t>
            </a:r>
            <a:r>
              <a:rPr lang="en-US" altLang="zh-TW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42.99%</a:t>
            </a:r>
            <a:endParaRPr lang="en-US" altLang="zh-TW" sz="1200" dirty="0">
              <a:solidFill>
                <a:srgbClr val="131314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0" lvl="0" indent="0" algn="just" rtl="0">
              <a:spcBef>
                <a:spcPts val="560"/>
              </a:spcBef>
              <a:spcAft>
                <a:spcPts val="0"/>
              </a:spcAft>
              <a:buNone/>
            </a:pPr>
            <a:endParaRPr lang="en-US" altLang="zh-TW" sz="1200" b="0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0" lvl="0" indent="0" algn="just" rtl="0">
              <a:spcBef>
                <a:spcPts val="560"/>
              </a:spcBef>
              <a:spcAft>
                <a:spcPts val="0"/>
              </a:spcAft>
              <a:buNone/>
            </a:pPr>
            <a:endParaRPr sz="1200" b="1" dirty="0">
              <a:solidFill>
                <a:srgbClr val="131314"/>
              </a:solidFill>
              <a:highlight>
                <a:srgbClr val="FFFFFF"/>
              </a:highlight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46AC3CB-CC3C-46CD-BA3C-8551C7C97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751" y="2923200"/>
            <a:ext cx="8306520" cy="102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8038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>
            <a:spLocks noGrp="1"/>
          </p:cNvSpPr>
          <p:nvPr>
            <p:ph type="ctrTitle"/>
          </p:nvPr>
        </p:nvSpPr>
        <p:spPr>
          <a:xfrm>
            <a:off x="3470650" y="0"/>
            <a:ext cx="23832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結果</a:t>
            </a:r>
            <a:endParaRPr sz="2650"/>
          </a:p>
        </p:txBody>
      </p:sp>
      <p:sp>
        <p:nvSpPr>
          <p:cNvPr id="202" name="Google Shape;202;p32"/>
          <p:cNvSpPr txBox="1">
            <a:spLocks noGrp="1"/>
          </p:cNvSpPr>
          <p:nvPr>
            <p:ph type="subTitle" idx="1"/>
          </p:nvPr>
        </p:nvSpPr>
        <p:spPr>
          <a:xfrm>
            <a:off x="220824" y="1099650"/>
            <a:ext cx="8642375" cy="18235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altLang="en-US" sz="12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我們提出了一種使用顏色代碼評論來組織信息的方法，僅呈現模型檢測到需求的句子可以發揮二元分類模型的作用</a:t>
            </a:r>
            <a:r>
              <a:rPr lang="en-US" altLang="zh-TW" sz="12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,</a:t>
            </a:r>
            <a:r>
              <a:rPr lang="zh-TW" altLang="en-US" sz="12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而顏色 編碼則增強了評論的可讀性</a:t>
            </a:r>
            <a:r>
              <a:rPr lang="en-US" altLang="zh-TW" sz="12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,</a:t>
            </a:r>
            <a:r>
              <a:rPr lang="zh-TW" altLang="en-US" sz="12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這有助於提高手動提取需求的效率。 </a:t>
            </a:r>
            <a:endParaRPr sz="1200" b="1" dirty="0">
              <a:solidFill>
                <a:schemeClr val="tx1"/>
              </a:solidFill>
              <a:highlight>
                <a:srgbClr val="FFFFFF"/>
              </a:highlight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D705DA3-4C01-4D45-BB46-8506697FE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5201" y="2081615"/>
            <a:ext cx="5149160" cy="2151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0805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>
            <a:spLocks noGrp="1"/>
          </p:cNvSpPr>
          <p:nvPr>
            <p:ph type="ctrTitle"/>
          </p:nvPr>
        </p:nvSpPr>
        <p:spPr>
          <a:xfrm>
            <a:off x="3470650" y="0"/>
            <a:ext cx="23832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結果</a:t>
            </a:r>
            <a:endParaRPr sz="2650"/>
          </a:p>
        </p:txBody>
      </p:sp>
      <p:sp>
        <p:nvSpPr>
          <p:cNvPr id="202" name="Google Shape;202;p32"/>
          <p:cNvSpPr txBox="1">
            <a:spLocks noGrp="1"/>
          </p:cNvSpPr>
          <p:nvPr>
            <p:ph type="subTitle" idx="1"/>
          </p:nvPr>
        </p:nvSpPr>
        <p:spPr>
          <a:xfrm>
            <a:off x="220824" y="1099650"/>
            <a:ext cx="8642375" cy="18235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just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b="1" dirty="0">
                <a:solidFill>
                  <a:schemeClr val="tx1"/>
                </a:solidFill>
                <a:highlight>
                  <a:srgbClr val="FFFFFF"/>
                </a:highlight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圖表顯示了整個評論中提及最多的</a:t>
            </a:r>
            <a:r>
              <a:rPr lang="en-US" altLang="zh-TW" sz="1200" b="1" dirty="0">
                <a:solidFill>
                  <a:schemeClr val="tx1"/>
                </a:solidFill>
                <a:highlight>
                  <a:srgbClr val="FFFFFF"/>
                </a:highlight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25</a:t>
            </a:r>
            <a:r>
              <a:rPr lang="zh-TW" altLang="en-US" sz="1200" b="1" dirty="0">
                <a:solidFill>
                  <a:schemeClr val="tx1"/>
                </a:solidFill>
                <a:highlight>
                  <a:srgbClr val="FFFFFF"/>
                </a:highlight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個屬性的正面和負面提及的相對比例</a:t>
            </a:r>
            <a:r>
              <a:rPr lang="en-US" altLang="zh-TW" sz="1200" b="1" dirty="0">
                <a:solidFill>
                  <a:schemeClr val="tx1"/>
                </a:solidFill>
                <a:highlight>
                  <a:srgbClr val="FFFFFF"/>
                </a:highlight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,</a:t>
            </a:r>
            <a:r>
              <a:rPr lang="zh-TW" altLang="en-US" sz="1200" b="1" dirty="0">
                <a:solidFill>
                  <a:schemeClr val="tx1"/>
                </a:solidFill>
                <a:highlight>
                  <a:srgbClr val="FFFFFF"/>
                </a:highlight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範圍從</a:t>
            </a:r>
            <a:r>
              <a:rPr lang="en-US" altLang="zh-TW" sz="1200" b="1" dirty="0">
                <a:solidFill>
                  <a:schemeClr val="tx1"/>
                </a:solidFill>
                <a:highlight>
                  <a:srgbClr val="FFFFFF"/>
                </a:highlight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-1</a:t>
            </a:r>
            <a:r>
              <a:rPr lang="zh-TW" altLang="en-US" sz="1200" b="1" dirty="0">
                <a:solidFill>
                  <a:schemeClr val="tx1"/>
                </a:solidFill>
                <a:highlight>
                  <a:srgbClr val="FFFFFF"/>
                </a:highlight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到</a:t>
            </a:r>
            <a:r>
              <a:rPr lang="en-US" altLang="zh-TW" sz="1200" b="1" dirty="0">
                <a:solidFill>
                  <a:schemeClr val="tx1"/>
                </a:solidFill>
                <a:highlight>
                  <a:srgbClr val="FFFFFF"/>
                </a:highlight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1,</a:t>
            </a:r>
            <a:r>
              <a:rPr lang="zh-TW" altLang="en-US" sz="1200" b="1" dirty="0">
                <a:solidFill>
                  <a:schemeClr val="tx1"/>
                </a:solidFill>
                <a:highlight>
                  <a:srgbClr val="FFFFFF"/>
                </a:highlight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其中</a:t>
            </a:r>
            <a:r>
              <a:rPr lang="en-US" altLang="zh-TW" sz="1200" b="1" dirty="0">
                <a:solidFill>
                  <a:schemeClr val="tx1"/>
                </a:solidFill>
                <a:highlight>
                  <a:srgbClr val="FFFFFF"/>
                </a:highlight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-1</a:t>
            </a:r>
            <a:r>
              <a:rPr lang="zh-TW" altLang="en-US" sz="1200" b="1" dirty="0">
                <a:solidFill>
                  <a:schemeClr val="tx1"/>
                </a:solidFill>
                <a:highlight>
                  <a:srgbClr val="FFFFFF"/>
                </a:highlight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表示完全負面的情緒</a:t>
            </a:r>
            <a:r>
              <a:rPr lang="en-US" altLang="zh-TW" sz="1200" b="1" dirty="0">
                <a:solidFill>
                  <a:schemeClr val="tx1"/>
                </a:solidFill>
                <a:highlight>
                  <a:srgbClr val="FFFFFF"/>
                </a:highlight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,</a:t>
            </a:r>
            <a:r>
              <a:rPr lang="zh-TW" altLang="en-US" sz="1200" b="1" dirty="0">
                <a:solidFill>
                  <a:schemeClr val="tx1"/>
                </a:solidFill>
                <a:highlight>
                  <a:srgbClr val="FFFFFF"/>
                </a:highlight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其中 </a:t>
            </a:r>
            <a:r>
              <a:rPr lang="en-US" altLang="zh-TW" sz="1200" b="1" dirty="0">
                <a:solidFill>
                  <a:schemeClr val="tx1"/>
                </a:solidFill>
                <a:highlight>
                  <a:srgbClr val="FFFFFF"/>
                </a:highlight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100% </a:t>
            </a:r>
            <a:r>
              <a:rPr lang="zh-TW" altLang="en-US" sz="1200" b="1" dirty="0">
                <a:solidFill>
                  <a:schemeClr val="tx1"/>
                </a:solidFill>
                <a:highlight>
                  <a:srgbClr val="FFFFFF"/>
                </a:highlight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的評論是負面的</a:t>
            </a:r>
            <a:r>
              <a:rPr lang="en-US" altLang="zh-TW" sz="1200" b="1" dirty="0">
                <a:solidFill>
                  <a:schemeClr val="tx1"/>
                </a:solidFill>
                <a:highlight>
                  <a:srgbClr val="FFFFFF"/>
                </a:highlight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,1</a:t>
            </a:r>
            <a:r>
              <a:rPr lang="zh-TW" altLang="en-US" sz="1200" b="1" dirty="0">
                <a:solidFill>
                  <a:schemeClr val="tx1"/>
                </a:solidFill>
                <a:highlight>
                  <a:srgbClr val="FFFFFF"/>
                </a:highlight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表示完全正面的情緒</a:t>
            </a:r>
            <a:r>
              <a:rPr lang="en-US" altLang="zh-TW" sz="1200" b="1" dirty="0">
                <a:solidFill>
                  <a:schemeClr val="tx1"/>
                </a:solidFill>
                <a:highlight>
                  <a:srgbClr val="FFFFFF"/>
                </a:highlight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,</a:t>
            </a:r>
            <a:r>
              <a:rPr lang="zh-TW" altLang="en-US" sz="1200" b="1" dirty="0">
                <a:solidFill>
                  <a:schemeClr val="tx1"/>
                </a:solidFill>
                <a:highlight>
                  <a:srgbClr val="FFFFFF"/>
                </a:highlight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所有評論都是正面的。 </a:t>
            </a:r>
            <a:endParaRPr lang="en-US" altLang="zh-TW" sz="1200" b="1" dirty="0">
              <a:solidFill>
                <a:schemeClr val="tx1"/>
              </a:solidFill>
              <a:highlight>
                <a:srgbClr val="FFFFFF"/>
              </a:highlight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71450" lvl="0" indent="-171450" algn="just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b="1" dirty="0">
                <a:solidFill>
                  <a:schemeClr val="tx1"/>
                </a:solidFill>
                <a:highlight>
                  <a:srgbClr val="FFFFFF"/>
                </a:highlight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除了提及沒有相關屬性的特徵</a:t>
            </a:r>
            <a:r>
              <a:rPr lang="en-US" altLang="zh-TW" sz="1200" b="1" dirty="0">
                <a:solidFill>
                  <a:schemeClr val="tx1"/>
                </a:solidFill>
                <a:highlight>
                  <a:srgbClr val="FFFFFF"/>
                </a:highlight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“</a:t>
            </a:r>
            <a:r>
              <a:rPr lang="zh-TW" altLang="en-US" sz="1200" b="1" dirty="0">
                <a:solidFill>
                  <a:schemeClr val="tx1"/>
                </a:solidFill>
                <a:highlight>
                  <a:srgbClr val="FFFFFF"/>
                </a:highlight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產品”的評論句子外</a:t>
            </a:r>
            <a:r>
              <a:rPr lang="en-US" altLang="zh-TW" sz="1200" b="1" dirty="0">
                <a:solidFill>
                  <a:schemeClr val="tx1"/>
                </a:solidFill>
                <a:highlight>
                  <a:srgbClr val="FFFFFF"/>
                </a:highlight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,</a:t>
            </a:r>
            <a:r>
              <a:rPr lang="zh-TW" altLang="en-US" sz="1200" b="1" dirty="0">
                <a:solidFill>
                  <a:schemeClr val="tx1"/>
                </a:solidFill>
                <a:highlight>
                  <a:srgbClr val="FFFFFF"/>
                </a:highlight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正面情緒最少的屬性是“案例”。</a:t>
            </a:r>
            <a:endParaRPr sz="1200" b="1" dirty="0">
              <a:solidFill>
                <a:schemeClr val="tx1"/>
              </a:solidFill>
              <a:highlight>
                <a:srgbClr val="FFFFFF"/>
              </a:highlight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7F1353F-F487-4BE1-A8DC-AE86738F2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9031" y="2260900"/>
            <a:ext cx="4910169" cy="2592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8224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 txBox="1">
            <a:spLocks noGrp="1"/>
          </p:cNvSpPr>
          <p:nvPr>
            <p:ph type="ctrTitle"/>
          </p:nvPr>
        </p:nvSpPr>
        <p:spPr>
          <a:xfrm>
            <a:off x="3470650" y="0"/>
            <a:ext cx="23832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建議</a:t>
            </a:r>
            <a:endParaRPr sz="2650"/>
          </a:p>
        </p:txBody>
      </p:sp>
      <p:sp>
        <p:nvSpPr>
          <p:cNvPr id="222" name="Google Shape;222;p34"/>
          <p:cNvSpPr txBox="1">
            <a:spLocks noGrp="1"/>
          </p:cNvSpPr>
          <p:nvPr>
            <p:ph type="subTitle" idx="1"/>
          </p:nvPr>
        </p:nvSpPr>
        <p:spPr>
          <a:xfrm>
            <a:off x="625875" y="733050"/>
            <a:ext cx="8309400" cy="3677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altLang="en-US" sz="1200" b="0" i="0" dirty="0">
                <a:solidFill>
                  <a:srgbClr val="000000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需求挖掘</a:t>
            </a:r>
            <a:r>
              <a:rPr lang="zh-TW" altLang="en-US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貢獻： </a:t>
            </a:r>
            <a:endParaRPr lang="en-US" altLang="zh-TW" sz="1200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0" lvl="0" indent="0" algn="just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altLang="en-US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該產物成功地將</a:t>
            </a:r>
            <a:r>
              <a:rPr lang="zh-TW" altLang="en-US" sz="1200" b="0" i="0" dirty="0">
                <a:solidFill>
                  <a:srgbClr val="000000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需求挖掘</a:t>
            </a:r>
            <a:r>
              <a:rPr lang="zh-TW" altLang="en-US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重新概念化為標記分類問題，能夠提取特定的客戶需求（屬性</a:t>
            </a:r>
            <a:r>
              <a:rPr lang="en-US" altLang="zh-TW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-</a:t>
            </a:r>
            <a:r>
              <a:rPr lang="zh-TW" altLang="en-US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特性組合）。</a:t>
            </a:r>
            <a:endParaRPr lang="en-US" altLang="zh-TW" sz="1200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0" lvl="0" indent="0" algn="just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資訊組織和情感分析：</a:t>
            </a:r>
            <a:endParaRPr lang="en-US" altLang="zh-TW" sz="1200" dirty="0">
              <a:solidFill>
                <a:srgbClr val="131314"/>
              </a:solidFill>
              <a:highlight>
                <a:srgbClr val="FFFFFF"/>
              </a:highlight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71450" lvl="0" indent="-171450" algn="just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產物可以將輸出組織成彩色編碼的評論，或生成基於屬性及其相關特性的產品摘要。</a:t>
            </a:r>
            <a:endParaRPr lang="en-US" altLang="zh-TW" sz="1200" dirty="0">
              <a:solidFill>
                <a:srgbClr val="131314"/>
              </a:solidFill>
              <a:highlight>
                <a:srgbClr val="FFFFFF"/>
              </a:highlight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71450" lvl="0" indent="-171450" algn="just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屬性摘要可以透過情感分析進一步增強，為決策者提供客戶對某一屬性的正面或負面感受的洞察。</a:t>
            </a:r>
            <a:endParaRPr lang="en-US" altLang="zh-TW" sz="1200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lvl="0" algn="just" rtl="0">
              <a:spcBef>
                <a:spcPts val="560"/>
              </a:spcBef>
              <a:spcAft>
                <a:spcPts val="0"/>
              </a:spcAft>
            </a:pPr>
            <a:r>
              <a:rPr lang="zh-TW" altLang="en-US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案例： </a:t>
            </a:r>
            <a:endParaRPr lang="en-US" altLang="zh-TW" sz="1200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lvl="0" algn="just" rtl="0">
              <a:spcBef>
                <a:spcPts val="560"/>
              </a:spcBef>
              <a:spcAft>
                <a:spcPts val="0"/>
              </a:spcAft>
            </a:pPr>
            <a:r>
              <a:rPr lang="zh-TW" altLang="en-US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   根據對 </a:t>
            </a:r>
            <a:r>
              <a:rPr lang="en-US" altLang="zh-TW" sz="1200" i="0" dirty="0" err="1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AirPods</a:t>
            </a:r>
            <a:r>
              <a:rPr lang="en-US" altLang="zh-TW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</a:t>
            </a:r>
            <a:r>
              <a:rPr lang="zh-TW" altLang="en-US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數據的分析，「保護殼 </a:t>
            </a:r>
            <a:r>
              <a:rPr lang="en-US" altLang="zh-TW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(case)</a:t>
            </a:r>
            <a:r>
              <a:rPr lang="zh-TW" altLang="en-US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」是積極情緒最少的屬性之一。檢查相關的負面評論後，發現了與「保護殼應支持無線充電」相關的客戶需求。此需求在 </a:t>
            </a:r>
            <a:r>
              <a:rPr lang="en-US" altLang="zh-TW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2019 </a:t>
            </a:r>
            <a:r>
              <a:rPr lang="zh-TW" altLang="en-US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年數據爬取時尚未實現，但在 </a:t>
            </a:r>
            <a:r>
              <a:rPr lang="en-US" altLang="zh-TW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2021 </a:t>
            </a:r>
            <a:r>
              <a:rPr lang="zh-TW" altLang="en-US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年發布的新 </a:t>
            </a:r>
            <a:r>
              <a:rPr lang="en-US" altLang="zh-TW" sz="1200" i="0" dirty="0" err="1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AirPods</a:t>
            </a:r>
            <a:r>
              <a:rPr lang="en-US" altLang="zh-TW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</a:t>
            </a:r>
            <a:r>
              <a:rPr lang="zh-TW" altLang="en-US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中得到了支持，證明了產物識別未滿足需求的能力。</a:t>
            </a:r>
            <a:endParaRPr lang="en-US" altLang="zh-TW" sz="1200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lvl="0" algn="just" rtl="0">
              <a:spcBef>
                <a:spcPts val="560"/>
              </a:spcBef>
              <a:spcAft>
                <a:spcPts val="0"/>
              </a:spcAft>
            </a:pPr>
            <a:r>
              <a:rPr lang="zh-TW" altLang="en-US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經濟影響和效率提升：</a:t>
            </a:r>
            <a:endParaRPr lang="en-US" altLang="zh-TW" sz="1200" dirty="0">
              <a:solidFill>
                <a:srgbClr val="131314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71450" lvl="0" indent="-171450" algn="just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該產物可以顯著提高生產力。假設手動處理一篇評論平均需要 </a:t>
            </a:r>
            <a:r>
              <a:rPr lang="en-US" altLang="zh-TW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25 </a:t>
            </a:r>
            <a:r>
              <a:rPr lang="zh-TW" altLang="en-US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秒，那麼該產物可以為每 </a:t>
            </a:r>
            <a:r>
              <a:rPr lang="en-US" altLang="zh-TW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1000 </a:t>
            </a:r>
            <a:r>
              <a:rPr lang="zh-TW" altLang="en-US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篇評論節省近 </a:t>
            </a:r>
            <a:r>
              <a:rPr lang="en-US" altLang="zh-TW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7 </a:t>
            </a:r>
            <a:r>
              <a:rPr lang="zh-TW" altLang="en-US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小時的手動勞動時間。</a:t>
            </a:r>
            <a:endParaRPr lang="en-US" altLang="zh-TW" sz="1200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71450" lvl="0" indent="-171450" algn="just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與二元</a:t>
            </a:r>
            <a:r>
              <a:rPr lang="zh-TW" altLang="en-US" sz="1200" b="0" i="0" dirty="0">
                <a:solidFill>
                  <a:srgbClr val="000000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需求挖掘</a:t>
            </a:r>
            <a:r>
              <a:rPr lang="zh-TW" altLang="en-US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相比，詞級</a:t>
            </a:r>
            <a:r>
              <a:rPr lang="zh-TW" altLang="en-US" sz="1200" b="0" i="0" dirty="0">
                <a:solidFill>
                  <a:srgbClr val="000000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需求挖掘</a:t>
            </a:r>
            <a:r>
              <a:rPr lang="zh-TW" altLang="en-US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大幅減少了專家必須手動審查的內容，因為它能自動量化需求。</a:t>
            </a:r>
            <a:endParaRPr lang="en-US" altLang="zh-TW" sz="1200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lvl="0" algn="just" rtl="0">
              <a:spcBef>
                <a:spcPts val="560"/>
              </a:spcBef>
              <a:spcAft>
                <a:spcPts val="0"/>
              </a:spcAft>
            </a:pPr>
            <a:endParaRPr lang="en-US" altLang="zh-TW" sz="1200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lvl="0" algn="just" rtl="0">
              <a:spcBef>
                <a:spcPts val="560"/>
              </a:spcBef>
              <a:spcAft>
                <a:spcPts val="0"/>
              </a:spcAft>
            </a:pPr>
            <a:endParaRPr lang="en-US" altLang="zh-TW" sz="1200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5"/>
          <p:cNvSpPr txBox="1">
            <a:spLocks noGrp="1"/>
          </p:cNvSpPr>
          <p:nvPr>
            <p:ph type="ctrTitle"/>
          </p:nvPr>
        </p:nvSpPr>
        <p:spPr>
          <a:xfrm>
            <a:off x="3470650" y="0"/>
            <a:ext cx="23832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建議</a:t>
            </a:r>
            <a:endParaRPr sz="2650"/>
          </a:p>
        </p:txBody>
      </p:sp>
      <p:sp>
        <p:nvSpPr>
          <p:cNvPr id="228" name="Google Shape;228;p35"/>
          <p:cNvSpPr txBox="1">
            <a:spLocks noGrp="1"/>
          </p:cNvSpPr>
          <p:nvPr>
            <p:ph type="subTitle" idx="1"/>
          </p:nvPr>
        </p:nvSpPr>
        <p:spPr>
          <a:xfrm>
            <a:off x="633075" y="733050"/>
            <a:ext cx="8309400" cy="3677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限制與未來研究</a:t>
            </a:r>
            <a:r>
              <a:rPr lang="en-US" altLang="zh-TW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:</a:t>
            </a:r>
          </a:p>
          <a:p>
            <a:pPr marL="171450" lvl="0" indent="-171450" algn="just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限制：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目前的方法無法總結相似或密切相關的屬性（例如，「聲音」和「音質」同時被列為最常提及的屬性）</a:t>
            </a:r>
            <a:r>
              <a:rPr lang="zh-TW" altLang="en-US" sz="1200" b="1" dirty="0">
                <a:solidFill>
                  <a:srgbClr val="131314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。</a:t>
            </a:r>
            <a:endParaRPr lang="en-US" altLang="zh-TW" sz="1200" b="1" dirty="0">
              <a:solidFill>
                <a:srgbClr val="131314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71450" lvl="0" indent="-171450" algn="just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b="1" dirty="0">
                <a:solidFill>
                  <a:srgbClr val="131314"/>
                </a:solidFill>
                <a:highlight>
                  <a:srgbClr val="FFFFFF"/>
                </a:highlight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未來研究建議：計劃透過聚類 </a:t>
            </a:r>
            <a:r>
              <a:rPr lang="en-US" altLang="zh-TW" sz="1200" b="1" dirty="0">
                <a:solidFill>
                  <a:srgbClr val="131314"/>
                </a:solidFill>
                <a:highlight>
                  <a:srgbClr val="FFFFFF"/>
                </a:highlight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(clustering) </a:t>
            </a:r>
            <a:r>
              <a:rPr lang="zh-TW" altLang="en-US" sz="1200" b="1" dirty="0">
                <a:solidFill>
                  <a:srgbClr val="131314"/>
                </a:solidFill>
                <a:highlight>
                  <a:srgbClr val="FFFFFF"/>
                </a:highlight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嵌入來總結相似的屬性，從而減少冗餘資訊。</a:t>
            </a:r>
            <a:endParaRPr lang="en-US" altLang="zh-TW" sz="1200" b="1" dirty="0">
              <a:solidFill>
                <a:srgbClr val="131314"/>
              </a:solidFill>
              <a:highlight>
                <a:srgbClr val="FFFFFF"/>
              </a:highlight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lvl="0" algn="just" rtl="0">
              <a:spcBef>
                <a:spcPts val="560"/>
              </a:spcBef>
              <a:spcAft>
                <a:spcPts val="0"/>
              </a:spcAft>
            </a:pPr>
            <a:endParaRPr lang="en-US" altLang="zh-TW" sz="1200" b="1" dirty="0">
              <a:solidFill>
                <a:srgbClr val="131314"/>
              </a:solidFill>
              <a:highlight>
                <a:srgbClr val="FFFFFF"/>
              </a:highlight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lvl="0" algn="just" rtl="0">
              <a:spcBef>
                <a:spcPts val="560"/>
              </a:spcBef>
              <a:spcAft>
                <a:spcPts val="0"/>
              </a:spcAft>
            </a:pP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   計劃透過在句子中使用</a:t>
            </a: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詞性標註 </a:t>
            </a:r>
            <a:r>
              <a:rPr lang="en-US" altLang="zh-TW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(part-of-speech tagging)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來提高屬性</a:t>
            </a:r>
            <a:r>
              <a:rPr lang="en-US" altLang="zh-TW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-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特性匹配的準確性，解決一個句子中包含多個屬性時，所有特性會被附加到所有屬性上的問題。</a:t>
            </a:r>
            <a:endParaRPr lang="en-US" altLang="zh-TW" sz="1200" b="0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lvl="0" algn="just" rtl="0">
              <a:spcBef>
                <a:spcPts val="560"/>
              </a:spcBef>
              <a:spcAft>
                <a:spcPts val="0"/>
              </a:spcAft>
            </a:pPr>
            <a:endParaRPr lang="en-US" altLang="zh-TW" sz="1200" dirty="0">
              <a:solidFill>
                <a:srgbClr val="131314"/>
              </a:solidFill>
              <a:highlight>
                <a:srgbClr val="FFFFFF"/>
              </a:highlight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lvl="0" algn="just" rtl="0">
              <a:spcBef>
                <a:spcPts val="560"/>
              </a:spcBef>
              <a:spcAft>
                <a:spcPts val="0"/>
              </a:spcAft>
            </a:pP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    未來還可以探討將已識別的屬性及屬性</a:t>
            </a:r>
            <a:r>
              <a:rPr lang="en-US" altLang="zh-TW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-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特性對與元數據（如星級評分）進行</a:t>
            </a: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因果推論</a:t>
            </a: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，以識別哪些屬性導致產品整體性能下降，從而指導產品開發。</a:t>
            </a:r>
            <a:endParaRPr lang="zh-TW" altLang="en-US" sz="1200" b="1" dirty="0">
              <a:solidFill>
                <a:srgbClr val="131314"/>
              </a:solidFill>
              <a:highlight>
                <a:srgbClr val="FFFFFF"/>
              </a:highlight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6"/>
          <p:cNvSpPr txBox="1">
            <a:spLocks noGrp="1"/>
          </p:cNvSpPr>
          <p:nvPr>
            <p:ph type="ctrTitle"/>
          </p:nvPr>
        </p:nvSpPr>
        <p:spPr>
          <a:xfrm>
            <a:off x="3473575" y="1977500"/>
            <a:ext cx="17910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800"/>
              <a:t>結論</a:t>
            </a:r>
            <a:endParaRPr sz="4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 txBox="1">
            <a:spLocks noGrp="1"/>
          </p:cNvSpPr>
          <p:nvPr>
            <p:ph type="ctrTitle"/>
          </p:nvPr>
        </p:nvSpPr>
        <p:spPr>
          <a:xfrm>
            <a:off x="3470650" y="0"/>
            <a:ext cx="23832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結論</a:t>
            </a:r>
            <a:endParaRPr sz="2650"/>
          </a:p>
        </p:txBody>
      </p:sp>
      <p:sp>
        <p:nvSpPr>
          <p:cNvPr id="239" name="Google Shape;239;p37"/>
          <p:cNvSpPr txBox="1">
            <a:spLocks noGrp="1"/>
          </p:cNvSpPr>
          <p:nvPr>
            <p:ph type="subTitle" idx="1"/>
          </p:nvPr>
        </p:nvSpPr>
        <p:spPr>
          <a:xfrm>
            <a:off x="640275" y="918900"/>
            <a:ext cx="8309400" cy="3677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just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本研究是首個將</a:t>
            </a:r>
            <a:r>
              <a:rPr lang="zh-TW" altLang="en-US" sz="1200" b="0" i="0" dirty="0">
                <a:solidFill>
                  <a:srgbClr val="000000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需求挖掘</a:t>
            </a:r>
            <a:r>
              <a:rPr lang="zh-TW" altLang="en-US" sz="120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從二元分類問題重新概念化為標記分類任務的研究。</a:t>
            </a:r>
            <a:endParaRPr lang="en-US" altLang="zh-TW" sz="1200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71450" lvl="0" indent="-171450" algn="just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我們將需求的概念分解為兩個具備代表性的組成部分：屬性（客戶討論產品的「什麼」）和特性（客戶討論屬性的「如何」）。該產物能夠準確識別 </a:t>
            </a:r>
            <a:r>
              <a:rPr lang="en-US" altLang="zh-TW" sz="1200" dirty="0" err="1">
                <a:solidFill>
                  <a:srgbClr val="131314"/>
                </a:solidFill>
                <a:highlight>
                  <a:srgbClr val="FFFFFF"/>
                </a:highlight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ugc</a:t>
            </a:r>
            <a:r>
              <a:rPr lang="en-US" altLang="zh-TW" sz="1200" dirty="0">
                <a:solidFill>
                  <a:srgbClr val="131314"/>
                </a:solidFill>
                <a:highlight>
                  <a:srgbClr val="FFFFFF"/>
                </a:highlight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</a:t>
            </a: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中的相關標記，並根據確定的需求組成部分對其進行分類。</a:t>
            </a:r>
            <a:endParaRPr lang="en-US" altLang="zh-TW" sz="1200" dirty="0">
              <a:solidFill>
                <a:srgbClr val="131314"/>
              </a:solidFill>
              <a:highlight>
                <a:srgbClr val="FFFFFF"/>
              </a:highlight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71450" lvl="0" indent="-171450" algn="just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TW" sz="1200" dirty="0">
              <a:solidFill>
                <a:srgbClr val="131314"/>
              </a:solidFill>
              <a:highlight>
                <a:srgbClr val="FFFFFF"/>
              </a:highlight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lvl="0" algn="just" rtl="0">
              <a:spcBef>
                <a:spcPts val="560"/>
              </a:spcBef>
              <a:spcAft>
                <a:spcPts val="0"/>
              </a:spcAft>
            </a:pP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主要貢獻包括：</a:t>
            </a:r>
            <a:endParaRPr lang="en-US" altLang="zh-TW" sz="1200" b="1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71450" lvl="0" indent="-171450" algn="just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提供了一種解決先前研究中確定的研究缺口的方法，即對客戶需求的精確識別需要額外的自動化</a:t>
            </a:r>
            <a:r>
              <a:rPr lang="zh-TW" altLang="en-US" sz="1200" b="1" dirty="0">
                <a:solidFill>
                  <a:srgbClr val="131314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。</a:t>
            </a:r>
            <a:endParaRPr lang="en-US" altLang="zh-TW" sz="1200" b="1" dirty="0">
              <a:solidFill>
                <a:srgbClr val="131314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71450" lvl="0" indent="-171450" algn="just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該產物本身是標記分類的創新應用，用於解決以前未解決的問題</a:t>
            </a:r>
            <a:r>
              <a:rPr lang="zh-TW" altLang="en-US" sz="1200" b="1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。</a:t>
            </a:r>
            <a:endParaRPr lang="en-US" altLang="zh-TW" sz="1200" b="1" i="0" dirty="0">
              <a:solidFill>
                <a:srgbClr val="131314"/>
              </a:solidFill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71450" lvl="0" indent="-171450" algn="just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b="0" i="0" dirty="0">
                <a:solidFill>
                  <a:srgbClr val="131314"/>
                </a:solidFill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我們將抽象的需求概念分解為更明確的子部分（屬性和特性），並利用標記分類識別這些組成部分，展示了這種方法在分解和識別抽象概念方面的額外用途</a:t>
            </a:r>
            <a:r>
              <a:rPr lang="zh-TW" altLang="en-US" sz="1200" b="1" dirty="0">
                <a:solidFill>
                  <a:srgbClr val="131314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。</a:t>
            </a:r>
            <a:endParaRPr sz="1200" dirty="0">
              <a:solidFill>
                <a:srgbClr val="131314"/>
              </a:solidFill>
              <a:highlight>
                <a:srgbClr val="FFFFFF"/>
              </a:highlight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8"/>
          <p:cNvSpPr txBox="1">
            <a:spLocks noGrp="1"/>
          </p:cNvSpPr>
          <p:nvPr>
            <p:ph type="ctrTitle"/>
          </p:nvPr>
        </p:nvSpPr>
        <p:spPr>
          <a:xfrm>
            <a:off x="2594675" y="1898700"/>
            <a:ext cx="4387500" cy="1346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800">
                <a:solidFill>
                  <a:schemeClr val="dk1"/>
                </a:solidFill>
              </a:rPr>
              <a:t>Thank you</a:t>
            </a:r>
            <a:endParaRPr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小水滴">
  <a:themeElements>
    <a:clrScheme name="小水滴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小水滴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小水滴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TM04033925[[fn=小水滴]]</Template>
  <TotalTime>367</TotalTime>
  <Words>2275</Words>
  <Application>Microsoft Office PowerPoint</Application>
  <PresentationFormat>如螢幕大小 (16:9)</PresentationFormat>
  <Paragraphs>149</Paragraphs>
  <Slides>25</Slides>
  <Notes>25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29" baseType="lpstr">
      <vt:lpstr>Tw Cen MT</vt:lpstr>
      <vt:lpstr>Adobe 繁黑體 Std B</vt:lpstr>
      <vt:lpstr>Arial</vt:lpstr>
      <vt:lpstr>小水滴</vt:lpstr>
      <vt:lpstr>使用權杖分類自動識別使用者產生內容中的客戶需求 Automatically identifying customer needs in user-generated content using token classification</vt:lpstr>
      <vt:lpstr>目錄</vt:lpstr>
      <vt:lpstr>前言</vt:lpstr>
      <vt:lpstr>前言</vt:lpstr>
      <vt:lpstr>前言</vt:lpstr>
      <vt:lpstr>系統架構</vt:lpstr>
      <vt:lpstr>系統架構</vt:lpstr>
      <vt:lpstr>系統架構</vt:lpstr>
      <vt:lpstr>系統架構</vt:lpstr>
      <vt:lpstr>系統架構</vt:lpstr>
      <vt:lpstr>系統架構</vt:lpstr>
      <vt:lpstr>實驗</vt:lpstr>
      <vt:lpstr>實驗</vt:lpstr>
      <vt:lpstr>實驗</vt:lpstr>
      <vt:lpstr>結果&amp;建議</vt:lpstr>
      <vt:lpstr>結果</vt:lpstr>
      <vt:lpstr>結果</vt:lpstr>
      <vt:lpstr>結果</vt:lpstr>
      <vt:lpstr>結果</vt:lpstr>
      <vt:lpstr>結果</vt:lpstr>
      <vt:lpstr>建議</vt:lpstr>
      <vt:lpstr>建議</vt:lpstr>
      <vt:lpstr>結論</vt:lpstr>
      <vt:lpstr>結論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言論自由還是接觸自由緩解社交網路中惡意內容的策略     Freedom of speech or freedom of reach Strategies for mitigating malicious content in social networks</dc:title>
  <dc:creator>user</dc:creator>
  <cp:lastModifiedBy>chan weihao</cp:lastModifiedBy>
  <cp:revision>24</cp:revision>
  <dcterms:modified xsi:type="dcterms:W3CDTF">2025-10-14T18:51:04Z</dcterms:modified>
</cp:coreProperties>
</file>