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8" r:id="rId2"/>
    <p:sldId id="259" r:id="rId3"/>
    <p:sldId id="299" r:id="rId4"/>
    <p:sldId id="301" r:id="rId5"/>
    <p:sldId id="300" r:id="rId6"/>
    <p:sldId id="302" r:id="rId7"/>
    <p:sldId id="303" r:id="rId8"/>
    <p:sldId id="304" r:id="rId9"/>
    <p:sldId id="305" r:id="rId10"/>
    <p:sldId id="306" r:id="rId11"/>
    <p:sldId id="308" r:id="rId12"/>
    <p:sldId id="309" r:id="rId13"/>
    <p:sldId id="257" r:id="rId14"/>
    <p:sldId id="310" r:id="rId15"/>
    <p:sldId id="311" r:id="rId16"/>
    <p:sldId id="313" r:id="rId17"/>
    <p:sldId id="314" r:id="rId18"/>
    <p:sldId id="315" r:id="rId19"/>
    <p:sldId id="316" r:id="rId2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984" autoAdjust="0"/>
  </p:normalViewPr>
  <p:slideViewPr>
    <p:cSldViewPr>
      <p:cViewPr varScale="1">
        <p:scale>
          <a:sx n="103" d="100"/>
          <a:sy n="103" d="100"/>
        </p:scale>
        <p:origin x="7949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4A7FE-F357-45BA-B656-29725B511DD6}" type="datetimeFigureOut">
              <a:rPr lang="zh-TW" altLang="en-US" smtClean="0"/>
              <a:pPr/>
              <a:t>2025/10/7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4E695B-A28C-405A-9871-088FF68FA32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4E695B-A28C-405A-9871-088FF68FA322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67545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4E695B-A28C-405A-9871-088FF68FA322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678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圓角矩形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A2F16-3614-4EB4-BB78-694B126EE33F}" type="datetime1">
              <a:rPr lang="zh-TW" altLang="en-US" smtClean="0"/>
              <a:pPr/>
              <a:t>2025/10/7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B97C1CA-D0E0-4DEE-BBFB-E84CF6EE059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75F3E-D194-4352-BEF8-6F75B2EFF23B}" type="datetime1">
              <a:rPr lang="zh-TW" altLang="en-US" smtClean="0"/>
              <a:pPr/>
              <a:t>2025/10/7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圓角矩形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561C-7AF8-4E78-8DB6-0195C6984578}" type="datetime1">
              <a:rPr lang="zh-TW" altLang="en-US" smtClean="0"/>
              <a:pPr/>
              <a:t>2025/10/7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B97C1CA-D0E0-4DEE-BBFB-E84CF6EE05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4CEC0-9083-4E34-B67B-1EBE5D749192}" type="datetime1">
              <a:rPr lang="zh-TW" altLang="en-US" smtClean="0"/>
              <a:pPr/>
              <a:t>2025/10/7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722F-3510-4782-B7EC-4A8F4A1F97F6}" type="datetime1">
              <a:rPr lang="zh-TW" altLang="en-US" smtClean="0"/>
              <a:pPr/>
              <a:t>2025/10/7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13" name="內容版面配置區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C32B-5DB2-4128-82A0-BC941DA26AF2}" type="datetime1">
              <a:rPr lang="zh-TW" altLang="en-US" smtClean="0"/>
              <a:pPr/>
              <a:t>2025/10/7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98BD4-0C53-47B4-916C-839535788131}" type="datetime1">
              <a:rPr lang="zh-TW" altLang="en-US" smtClean="0"/>
              <a:pPr/>
              <a:t>2025/10/7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圓角矩形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B3D7D-715B-4BA7-AFC9-FF4B9378FF6D}" type="datetime1">
              <a:rPr lang="zh-TW" altLang="en-US" smtClean="0"/>
              <a:pPr/>
              <a:t>2025/10/7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F886-1669-48D9-AC36-F403A124DAEF}" type="datetime1">
              <a:rPr lang="zh-TW" altLang="en-US" smtClean="0"/>
              <a:pPr/>
              <a:t>2025/10/7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B97C1CA-D0E0-4DEE-BBFB-E84CF6EE059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矩形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6AF11-980E-48AB-A5C1-FB9636DB3B9B}" type="datetime1">
              <a:rPr lang="zh-TW" altLang="en-US" smtClean="0"/>
              <a:pPr/>
              <a:t>2025/10/7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562CF-9FAE-47DE-8E28-A7DB449233DA}" type="datetime1">
              <a:rPr lang="zh-TW" altLang="en-US" smtClean="0"/>
              <a:pPr/>
              <a:t>2025/10/7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圓角矩形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E86C69E-E342-4D3F-821F-FAD619D24BC6}" type="datetime1">
              <a:rPr lang="zh-TW" altLang="en-US" smtClean="0"/>
              <a:pPr/>
              <a:t>2025/10/7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B97C1CA-D0E0-4DEE-BBFB-E84CF6EE05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Index Structures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Index structures in traditional databases</a:t>
            </a:r>
          </a:p>
          <a:p>
            <a:pPr lvl="1"/>
            <a:r>
              <a:rPr lang="en-US" altLang="zh-TW" dirty="0"/>
              <a:t>Disk structure</a:t>
            </a:r>
          </a:p>
          <a:p>
            <a:pPr lvl="1"/>
            <a:r>
              <a:rPr lang="en-US" altLang="zh-TW" dirty="0"/>
              <a:t>How data is stored</a:t>
            </a:r>
          </a:p>
          <a:p>
            <a:pPr lvl="1"/>
            <a:r>
              <a:rPr lang="en-US" altLang="zh-TW" dirty="0"/>
              <a:t>What is indexing</a:t>
            </a:r>
          </a:p>
          <a:p>
            <a:pPr lvl="1"/>
            <a:r>
              <a:rPr lang="en-US" altLang="zh-TW" dirty="0"/>
              <a:t>Multilevel indexing</a:t>
            </a:r>
          </a:p>
          <a:p>
            <a:pPr lvl="1"/>
            <a:r>
              <a:rPr lang="en-US" altLang="zh-TW" dirty="0"/>
              <a:t>B-trees</a:t>
            </a:r>
          </a:p>
          <a:p>
            <a:pPr lvl="1"/>
            <a:r>
              <a:rPr lang="en-US" altLang="zh-TW" dirty="0"/>
              <a:t>B</a:t>
            </a:r>
            <a:r>
              <a:rPr lang="en-US" altLang="zh-TW" baseline="30000" dirty="0"/>
              <a:t>+</a:t>
            </a:r>
            <a:r>
              <a:rPr lang="en-US" altLang="zh-TW" dirty="0"/>
              <a:t>-trees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CED297-0EE8-46FA-B893-009F58228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Disk structure (1)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97861DC-4B18-4BFF-9D4A-6108E4F5C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D84DF4-93DD-4D05-B613-0F469D922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3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CE05F8E-086F-42AC-A926-B61CD132C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682" y="1727928"/>
            <a:ext cx="2801711" cy="3614811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0AAE694C-6416-4D18-9089-4EC300DD606D}"/>
              </a:ext>
            </a:extLst>
          </p:cNvPr>
          <p:cNvSpPr txBox="1"/>
          <p:nvPr/>
        </p:nvSpPr>
        <p:spPr>
          <a:xfrm>
            <a:off x="5169159" y="1295877"/>
            <a:ext cx="3460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Each track has a track number, </a:t>
            </a:r>
            <a:r>
              <a:rPr lang="en-US" altLang="zh-TW" i="1" dirty="0"/>
              <a:t>t_no</a:t>
            </a:r>
            <a:r>
              <a:rPr lang="en-US" altLang="zh-TW" dirty="0"/>
              <a:t>.</a:t>
            </a:r>
          </a:p>
          <a:p>
            <a:r>
              <a:rPr lang="en-US" altLang="zh-TW" dirty="0"/>
              <a:t>Each sector has a sector number, </a:t>
            </a:r>
            <a:r>
              <a:rPr lang="en-US" altLang="zh-TW" i="1" dirty="0"/>
              <a:t>s_no</a:t>
            </a:r>
            <a:r>
              <a:rPr lang="en-US" altLang="zh-TW" dirty="0"/>
              <a:t>.</a:t>
            </a:r>
          </a:p>
          <a:p>
            <a:r>
              <a:rPr lang="en-US" altLang="zh-TW" dirty="0"/>
              <a:t>Using </a:t>
            </a:r>
            <a:r>
              <a:rPr lang="en-US" altLang="zh-TW" i="1" dirty="0"/>
              <a:t>t_no </a:t>
            </a:r>
            <a:r>
              <a:rPr lang="en-US" altLang="zh-TW" dirty="0"/>
              <a:t>and </a:t>
            </a:r>
            <a:r>
              <a:rPr lang="en-US" altLang="zh-TW" i="1" dirty="0"/>
              <a:t>s_no </a:t>
            </a:r>
            <a:r>
              <a:rPr lang="en-US" altLang="zh-TW" dirty="0"/>
              <a:t>to locate a block.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288F6BE-C095-4C13-92C4-DA8280625B30}"/>
              </a:ext>
            </a:extLst>
          </p:cNvPr>
          <p:cNvSpPr txBox="1"/>
          <p:nvPr/>
        </p:nvSpPr>
        <p:spPr>
          <a:xfrm>
            <a:off x="1428986" y="1340768"/>
            <a:ext cx="1306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track (</a:t>
            </a:r>
            <a:r>
              <a:rPr lang="zh-TW" altLang="en-US" dirty="0"/>
              <a:t>磁軌</a:t>
            </a:r>
            <a:r>
              <a:rPr lang="en-US" altLang="zh-TW" dirty="0"/>
              <a:t>)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EFD705E-06B2-46F2-8BF3-F50B6616F4DF}"/>
              </a:ext>
            </a:extLst>
          </p:cNvPr>
          <p:cNvSpPr txBox="1"/>
          <p:nvPr/>
        </p:nvSpPr>
        <p:spPr>
          <a:xfrm>
            <a:off x="3220616" y="2240028"/>
            <a:ext cx="1423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sector (</a:t>
            </a:r>
            <a:r>
              <a:rPr lang="zh-TW" altLang="en-US" dirty="0"/>
              <a:t>磁區</a:t>
            </a:r>
            <a:r>
              <a:rPr lang="en-US" altLang="zh-TW" dirty="0"/>
              <a:t>)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30A57C1-480B-4FBB-B89D-4AB36304F120}"/>
              </a:ext>
            </a:extLst>
          </p:cNvPr>
          <p:cNvSpPr txBox="1"/>
          <p:nvPr/>
        </p:nvSpPr>
        <p:spPr>
          <a:xfrm>
            <a:off x="4244279" y="4725600"/>
            <a:ext cx="396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若區塊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所在位置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t_no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8,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s_no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1,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可利用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(8, 1)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來定位區塊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，再利用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offset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來存取區塊內特定資料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31ECD22-094D-4837-A4DA-E9A13501EB92}"/>
              </a:ext>
            </a:extLst>
          </p:cNvPr>
          <p:cNvSpPr txBox="1"/>
          <p:nvPr/>
        </p:nvSpPr>
        <p:spPr>
          <a:xfrm>
            <a:off x="124786" y="2894181"/>
            <a:ext cx="1388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i="1" dirty="0"/>
              <a:t>t_no </a:t>
            </a:r>
          </a:p>
          <a:p>
            <a:r>
              <a:rPr lang="en-US" altLang="zh-TW" dirty="0"/>
              <a:t>(0, 1, 2,…)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BB014E7-6882-4D74-A060-45253E84AE76}"/>
              </a:ext>
            </a:extLst>
          </p:cNvPr>
          <p:cNvSpPr txBox="1"/>
          <p:nvPr/>
        </p:nvSpPr>
        <p:spPr>
          <a:xfrm>
            <a:off x="757696" y="1917645"/>
            <a:ext cx="1091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i="1" dirty="0"/>
              <a:t>s_no </a:t>
            </a:r>
            <a:r>
              <a:rPr lang="en-US" altLang="zh-TW" dirty="0"/>
              <a:t>= 11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DB5D106-12DA-4B35-8309-9D552B0E6BFA}"/>
              </a:ext>
            </a:extLst>
          </p:cNvPr>
          <p:cNvSpPr txBox="1"/>
          <p:nvPr/>
        </p:nvSpPr>
        <p:spPr>
          <a:xfrm>
            <a:off x="2759964" y="3674008"/>
            <a:ext cx="968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i="1" dirty="0"/>
              <a:t>s_no </a:t>
            </a:r>
            <a:r>
              <a:rPr lang="en-US" altLang="zh-TW" dirty="0"/>
              <a:t>= 3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BBD506BC-55F0-493C-804D-EDFC5E432C8D}"/>
              </a:ext>
            </a:extLst>
          </p:cNvPr>
          <p:cNvSpPr txBox="1"/>
          <p:nvPr/>
        </p:nvSpPr>
        <p:spPr>
          <a:xfrm>
            <a:off x="334694" y="4205550"/>
            <a:ext cx="968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i="1" dirty="0"/>
              <a:t>s_no </a:t>
            </a:r>
            <a:r>
              <a:rPr lang="en-US" altLang="zh-TW" dirty="0"/>
              <a:t>= 7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39FADB1A-9A6E-46D4-84F4-6F81ADF42AC4}"/>
              </a:ext>
            </a:extLst>
          </p:cNvPr>
          <p:cNvSpPr txBox="1"/>
          <p:nvPr/>
        </p:nvSpPr>
        <p:spPr>
          <a:xfrm>
            <a:off x="2974690" y="1818095"/>
            <a:ext cx="1423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block (</a:t>
            </a:r>
            <a:r>
              <a:rPr lang="zh-TW" altLang="en-US" dirty="0"/>
              <a:t>區塊</a:t>
            </a:r>
            <a:r>
              <a:rPr lang="en-US" altLang="zh-TW" dirty="0"/>
              <a:t>)</a:t>
            </a:r>
          </a:p>
        </p:txBody>
      </p:sp>
      <p:graphicFrame>
        <p:nvGraphicFramePr>
          <p:cNvPr id="20" name="表格 20">
            <a:extLst>
              <a:ext uri="{FF2B5EF4-FFF2-40B4-BE49-F238E27FC236}">
                <a16:creationId xmlns:a16="http://schemas.microsoft.com/office/drawing/2014/main" id="{4A9674A6-8C9C-4795-970F-EB6FE4E2FD05}"/>
              </a:ext>
            </a:extLst>
          </p:cNvPr>
          <p:cNvGraphicFramePr>
            <a:graphicFrameLocks noGrp="1"/>
          </p:cNvGraphicFramePr>
          <p:nvPr/>
        </p:nvGraphicFramePr>
        <p:xfrm>
          <a:off x="4398082" y="3263187"/>
          <a:ext cx="280171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342">
                  <a:extLst>
                    <a:ext uri="{9D8B030D-6E8A-4147-A177-3AD203B41FA5}">
                      <a16:colId xmlns:a16="http://schemas.microsoft.com/office/drawing/2014/main" val="1933754591"/>
                    </a:ext>
                  </a:extLst>
                </a:gridCol>
                <a:gridCol w="560342">
                  <a:extLst>
                    <a:ext uri="{9D8B030D-6E8A-4147-A177-3AD203B41FA5}">
                      <a16:colId xmlns:a16="http://schemas.microsoft.com/office/drawing/2014/main" val="2245465924"/>
                    </a:ext>
                  </a:extLst>
                </a:gridCol>
                <a:gridCol w="560342">
                  <a:extLst>
                    <a:ext uri="{9D8B030D-6E8A-4147-A177-3AD203B41FA5}">
                      <a16:colId xmlns:a16="http://schemas.microsoft.com/office/drawing/2014/main" val="946028866"/>
                    </a:ext>
                  </a:extLst>
                </a:gridCol>
                <a:gridCol w="560342">
                  <a:extLst>
                    <a:ext uri="{9D8B030D-6E8A-4147-A177-3AD203B41FA5}">
                      <a16:colId xmlns:a16="http://schemas.microsoft.com/office/drawing/2014/main" val="3532454292"/>
                    </a:ext>
                  </a:extLst>
                </a:gridCol>
                <a:gridCol w="560342">
                  <a:extLst>
                    <a:ext uri="{9D8B030D-6E8A-4147-A177-3AD203B41FA5}">
                      <a16:colId xmlns:a16="http://schemas.microsoft.com/office/drawing/2014/main" val="9993720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7836217"/>
                  </a:ext>
                </a:extLst>
              </a:tr>
            </a:tbl>
          </a:graphicData>
        </a:graphic>
      </p:graphicFrame>
      <p:sp>
        <p:nvSpPr>
          <p:cNvPr id="21" name="文字方塊 20">
            <a:extLst>
              <a:ext uri="{FF2B5EF4-FFF2-40B4-BE49-F238E27FC236}">
                <a16:creationId xmlns:a16="http://schemas.microsoft.com/office/drawing/2014/main" id="{E6C75E3F-BADB-46DC-9B54-9C6AB8C4B462}"/>
              </a:ext>
            </a:extLst>
          </p:cNvPr>
          <p:cNvSpPr txBox="1"/>
          <p:nvPr/>
        </p:nvSpPr>
        <p:spPr>
          <a:xfrm>
            <a:off x="4386340" y="2793613"/>
            <a:ext cx="2801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 block whose size is 512 Bytes 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EC17CC47-C286-4A48-968F-B36AAC95497E}"/>
              </a:ext>
            </a:extLst>
          </p:cNvPr>
          <p:cNvSpPr txBox="1"/>
          <p:nvPr/>
        </p:nvSpPr>
        <p:spPr>
          <a:xfrm>
            <a:off x="4251902" y="3611007"/>
            <a:ext cx="29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0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25DB9069-C4B8-4956-BC92-F41C636EB803}"/>
              </a:ext>
            </a:extLst>
          </p:cNvPr>
          <p:cNvSpPr txBox="1"/>
          <p:nvPr/>
        </p:nvSpPr>
        <p:spPr>
          <a:xfrm>
            <a:off x="6441632" y="3634027"/>
            <a:ext cx="533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511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0F55C84-F6FD-46CB-9D2D-3C07B7B1CDE0}"/>
              </a:ext>
            </a:extLst>
          </p:cNvPr>
          <p:cNvSpPr txBox="1"/>
          <p:nvPr/>
        </p:nvSpPr>
        <p:spPr>
          <a:xfrm>
            <a:off x="5982905" y="3948947"/>
            <a:ext cx="726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offset</a:t>
            </a:r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5D9411AF-3D9D-49DA-8342-0CB9801762C4}"/>
              </a:ext>
            </a:extLst>
          </p:cNvPr>
          <p:cNvCxnSpPr>
            <a:cxnSpLocks/>
          </p:cNvCxnSpPr>
          <p:nvPr/>
        </p:nvCxnSpPr>
        <p:spPr>
          <a:xfrm flipV="1">
            <a:off x="6300192" y="3496054"/>
            <a:ext cx="26723" cy="482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4E78B288-CD0A-4269-A604-BF97A2C0DC85}"/>
              </a:ext>
            </a:extLst>
          </p:cNvPr>
          <p:cNvSpPr txBox="1"/>
          <p:nvPr/>
        </p:nvSpPr>
        <p:spPr>
          <a:xfrm>
            <a:off x="4818853" y="3597650"/>
            <a:ext cx="29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571AD141-709C-45D7-A226-A1699A9ED5C4}"/>
              </a:ext>
            </a:extLst>
          </p:cNvPr>
          <p:cNvSpPr txBox="1"/>
          <p:nvPr/>
        </p:nvSpPr>
        <p:spPr>
          <a:xfrm>
            <a:off x="5384812" y="3579659"/>
            <a:ext cx="29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1592103C-94C7-4CD7-98D3-EE13EE6A0EFD}"/>
              </a:ext>
            </a:extLst>
          </p:cNvPr>
          <p:cNvSpPr txBox="1"/>
          <p:nvPr/>
        </p:nvSpPr>
        <p:spPr>
          <a:xfrm>
            <a:off x="5907033" y="3579659"/>
            <a:ext cx="419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98087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2934C1-9171-4B42-9A8D-4E2E289F2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Disk structure (2)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13A034A-4A22-4BEA-A3D5-5E637B5ED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dirty="0"/>
              <a:t>Yuan-Ko Huang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2E9879E-A958-4D96-8ECF-53790BAE2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4A47AF2-AF44-4836-872B-03FF55A7343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Loading data from disk to main memory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976F4A7-228F-400D-934A-03486D82C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936" y="2132856"/>
            <a:ext cx="2801711" cy="361481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A4B0DE3-7CFC-4FA2-BF16-AF7E451DFA69}"/>
              </a:ext>
            </a:extLst>
          </p:cNvPr>
          <p:cNvSpPr/>
          <p:nvPr/>
        </p:nvSpPr>
        <p:spPr>
          <a:xfrm>
            <a:off x="652186" y="3518271"/>
            <a:ext cx="64807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CPU</a:t>
            </a:r>
            <a:endParaRPr lang="zh-TW" altLang="en-US" dirty="0"/>
          </a:p>
        </p:txBody>
      </p:sp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AF7EC049-859C-4764-BE72-0A9B9DD3779B}"/>
              </a:ext>
            </a:extLst>
          </p:cNvPr>
          <p:cNvGraphicFramePr>
            <a:graphicFrameLocks noGrp="1"/>
          </p:cNvGraphicFramePr>
          <p:nvPr/>
        </p:nvGraphicFramePr>
        <p:xfrm>
          <a:off x="1907704" y="2319737"/>
          <a:ext cx="104013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0130">
                  <a:extLst>
                    <a:ext uri="{9D8B030D-6E8A-4147-A177-3AD203B41FA5}">
                      <a16:colId xmlns:a16="http://schemas.microsoft.com/office/drawing/2014/main" val="295422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1904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866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897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512 Bytes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8654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5409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1607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964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8319406"/>
                  </a:ext>
                </a:extLst>
              </a:tr>
            </a:tbl>
          </a:graphicData>
        </a:graphic>
      </p:graphicFrame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2A7D716A-D917-4DE4-B812-FE79E71D77DA}"/>
              </a:ext>
            </a:extLst>
          </p:cNvPr>
          <p:cNvCxnSpPr>
            <a:cxnSpLocks/>
          </p:cNvCxnSpPr>
          <p:nvPr/>
        </p:nvCxnSpPr>
        <p:spPr>
          <a:xfrm>
            <a:off x="1403648" y="3659081"/>
            <a:ext cx="360040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E5D8AF7-7175-4CEA-BDCF-B9C362A03A78}"/>
              </a:ext>
            </a:extLst>
          </p:cNvPr>
          <p:cNvCxnSpPr>
            <a:cxnSpLocks/>
          </p:cNvCxnSpPr>
          <p:nvPr/>
        </p:nvCxnSpPr>
        <p:spPr>
          <a:xfrm>
            <a:off x="3059832" y="3659081"/>
            <a:ext cx="720080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096E7FC-3CA9-44C6-9616-FAB8726BE1A3}"/>
              </a:ext>
            </a:extLst>
          </p:cNvPr>
          <p:cNvSpPr txBox="1"/>
          <p:nvPr/>
        </p:nvSpPr>
        <p:spPr>
          <a:xfrm>
            <a:off x="2986923" y="2860350"/>
            <a:ext cx="9492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以 </a:t>
            </a:r>
            <a:r>
              <a:rPr lang="en-US" altLang="zh-TW" dirty="0"/>
              <a:t>block</a:t>
            </a:r>
            <a:r>
              <a:rPr lang="zh-TW" altLang="en-US" dirty="0"/>
              <a:t>為單位</a:t>
            </a:r>
            <a:endParaRPr lang="en-US" altLang="zh-TW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4AE0F03-BC3F-437F-9DB3-A50A8FD7F0BD}"/>
              </a:ext>
            </a:extLst>
          </p:cNvPr>
          <p:cNvSpPr txBox="1"/>
          <p:nvPr/>
        </p:nvSpPr>
        <p:spPr>
          <a:xfrm>
            <a:off x="1446729" y="5345801"/>
            <a:ext cx="2016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Main memory (RAM)</a:t>
            </a:r>
          </a:p>
        </p:txBody>
      </p:sp>
    </p:spTree>
    <p:extLst>
      <p:ext uri="{BB962C8B-B14F-4D97-AF65-F5344CB8AC3E}">
        <p14:creationId xmlns:p14="http://schemas.microsoft.com/office/powerpoint/2010/main" val="2961024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D38B65-2F91-4CE6-9796-21F0F9803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How data is stored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C2BC1C-72FC-4835-BA9A-B2D96D44D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FF7C702-9DE8-41C2-92DF-6B9515618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5</a:t>
            </a:fld>
            <a:endParaRPr lang="zh-TW" altLang="en-US"/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BAC268C7-F4EF-4DB9-9AA6-E4A5AB5D7DBF}"/>
              </a:ext>
            </a:extLst>
          </p:cNvPr>
          <p:cNvGraphicFramePr>
            <a:graphicFrameLocks noGrp="1"/>
          </p:cNvGraphicFramePr>
          <p:nvPr/>
        </p:nvGraphicFramePr>
        <p:xfrm>
          <a:off x="3429738" y="1988840"/>
          <a:ext cx="2495783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280">
                  <a:extLst>
                    <a:ext uri="{9D8B030D-6E8A-4147-A177-3AD203B41FA5}">
                      <a16:colId xmlns:a16="http://schemas.microsoft.com/office/drawing/2014/main" val="2159104754"/>
                    </a:ext>
                  </a:extLst>
                </a:gridCol>
                <a:gridCol w="781368">
                  <a:extLst>
                    <a:ext uri="{9D8B030D-6E8A-4147-A177-3AD203B41FA5}">
                      <a16:colId xmlns:a16="http://schemas.microsoft.com/office/drawing/2014/main" val="1542879078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1687928539"/>
                    </a:ext>
                  </a:extLst>
                </a:gridCol>
                <a:gridCol w="535855">
                  <a:extLst>
                    <a:ext uri="{9D8B030D-6E8A-4147-A177-3AD203B41FA5}">
                      <a16:colId xmlns:a16="http://schemas.microsoft.com/office/drawing/2014/main" val="28269427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Name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Dept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983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100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4510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Cc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297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1015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Ee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468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Ff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1970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Gg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780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Hh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932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Ii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496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189770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675C3B47-8E7C-4271-A993-ADA743B3DC6E}"/>
              </a:ext>
            </a:extLst>
          </p:cNvPr>
          <p:cNvSpPr txBox="1"/>
          <p:nvPr/>
        </p:nvSpPr>
        <p:spPr>
          <a:xfrm>
            <a:off x="595113" y="1909936"/>
            <a:ext cx="244136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Size</a:t>
            </a:r>
            <a:r>
              <a:rPr lang="zh-TW" altLang="en-US" dirty="0"/>
              <a:t> </a:t>
            </a:r>
            <a:r>
              <a:rPr lang="en-US" altLang="zh-TW" dirty="0"/>
              <a:t>of</a:t>
            </a:r>
            <a:r>
              <a:rPr lang="zh-TW" altLang="en-US" dirty="0"/>
              <a:t> </a:t>
            </a:r>
            <a:r>
              <a:rPr lang="en-US" altLang="zh-TW" dirty="0"/>
              <a:t>an Employee record</a:t>
            </a:r>
          </a:p>
          <a:p>
            <a:r>
              <a:rPr lang="en-US" altLang="zh-TW" dirty="0"/>
              <a:t>-------------------------------</a:t>
            </a:r>
          </a:p>
          <a:p>
            <a:r>
              <a:rPr lang="en-US" altLang="zh-TW" dirty="0"/>
              <a:t>Id = 10</a:t>
            </a:r>
          </a:p>
          <a:p>
            <a:r>
              <a:rPr lang="en-US" altLang="zh-TW" dirty="0"/>
              <a:t>Name = 50</a:t>
            </a:r>
          </a:p>
          <a:p>
            <a:r>
              <a:rPr lang="en-US" altLang="zh-TW" dirty="0"/>
              <a:t>Dept = 10</a:t>
            </a:r>
          </a:p>
          <a:p>
            <a:r>
              <a:rPr lang="en-US" altLang="zh-TW" dirty="0"/>
              <a:t>…</a:t>
            </a:r>
          </a:p>
          <a:p>
            <a:r>
              <a:rPr lang="en-US" altLang="zh-TW" dirty="0"/>
              <a:t>-------------------------------</a:t>
            </a:r>
          </a:p>
          <a:p>
            <a:r>
              <a:rPr lang="en-US" altLang="zh-TW" dirty="0"/>
              <a:t>Total size = 128 Bytes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4715078-B6DB-4395-BCF0-C12C2F41DD73}"/>
              </a:ext>
            </a:extLst>
          </p:cNvPr>
          <p:cNvSpPr txBox="1"/>
          <p:nvPr/>
        </p:nvSpPr>
        <p:spPr>
          <a:xfrm>
            <a:off x="6575062" y="4648274"/>
            <a:ext cx="2096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Block size = 512 Bytes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41A39F8-BDF3-49B8-B260-ECB78C59A4EF}"/>
              </a:ext>
            </a:extLst>
          </p:cNvPr>
          <p:cNvSpPr txBox="1"/>
          <p:nvPr/>
        </p:nvSpPr>
        <p:spPr>
          <a:xfrm>
            <a:off x="3357730" y="6115494"/>
            <a:ext cx="2433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Number of records = 100</a:t>
            </a:r>
            <a:endParaRPr lang="zh-TW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603D9B25-407D-4848-B34C-DAA995E6C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3725" y="2344018"/>
            <a:ext cx="1518062" cy="1958627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215D8D4B-B1D3-4F09-8370-E26FEAD13EF3}"/>
              </a:ext>
            </a:extLst>
          </p:cNvPr>
          <p:cNvSpPr/>
          <p:nvPr/>
        </p:nvSpPr>
        <p:spPr>
          <a:xfrm>
            <a:off x="3357730" y="2416026"/>
            <a:ext cx="2649665" cy="13681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93C4E82-7DAC-48B9-877B-2BE83178157C}"/>
              </a:ext>
            </a:extLst>
          </p:cNvPr>
          <p:cNvSpPr/>
          <p:nvPr/>
        </p:nvSpPr>
        <p:spPr>
          <a:xfrm>
            <a:off x="3357730" y="3856186"/>
            <a:ext cx="2649665" cy="13681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682AE016-C24E-4E66-9E19-1499E82381F1}"/>
              </a:ext>
            </a:extLst>
          </p:cNvPr>
          <p:cNvCxnSpPr/>
          <p:nvPr/>
        </p:nvCxnSpPr>
        <p:spPr>
          <a:xfrm>
            <a:off x="6084168" y="3064098"/>
            <a:ext cx="1080120" cy="144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76BEC5F3-65F3-424F-9028-EE7AF9ED2FE0}"/>
              </a:ext>
            </a:extLst>
          </p:cNvPr>
          <p:cNvCxnSpPr/>
          <p:nvPr/>
        </p:nvCxnSpPr>
        <p:spPr>
          <a:xfrm flipV="1">
            <a:off x="6084168" y="3424138"/>
            <a:ext cx="1080120" cy="1008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96C8A573-4957-4067-8233-24DC6BD9A462}"/>
              </a:ext>
            </a:extLst>
          </p:cNvPr>
          <p:cNvSpPr/>
          <p:nvPr/>
        </p:nvSpPr>
        <p:spPr>
          <a:xfrm>
            <a:off x="3357730" y="5327488"/>
            <a:ext cx="2649665" cy="6840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38C813E0-6D2B-4F44-ACAD-2E768F546C8C}"/>
              </a:ext>
            </a:extLst>
          </p:cNvPr>
          <p:cNvSpPr txBox="1"/>
          <p:nvPr/>
        </p:nvSpPr>
        <p:spPr>
          <a:xfrm>
            <a:off x="6575061" y="5373220"/>
            <a:ext cx="20969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Need 25 blocks to store 100 records.</a:t>
            </a:r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821598F5-1ABE-4E7B-BCAE-05518B285973}"/>
              </a:ext>
            </a:extLst>
          </p:cNvPr>
          <p:cNvSpPr txBox="1"/>
          <p:nvPr/>
        </p:nvSpPr>
        <p:spPr>
          <a:xfrm>
            <a:off x="3344904" y="1572094"/>
            <a:ext cx="1227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Employee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470854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6F15DE-7F63-478C-80C7-C98FBE7A7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What is indexing (1)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1BDE278-025D-484D-95DA-F8E29F739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163892"/>
            <a:ext cx="3962400" cy="457200"/>
          </a:xfrm>
        </p:spPr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B00AF2-4179-400C-B73B-8861D6593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6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3E6BB2C-CED8-4306-9CAC-877A9AFD8FA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39552" y="1447800"/>
            <a:ext cx="7772400" cy="4572000"/>
          </a:xfrm>
        </p:spPr>
        <p:txBody>
          <a:bodyPr/>
          <a:lstStyle/>
          <a:p>
            <a:r>
              <a:rPr lang="en-US" altLang="zh-TW" dirty="0">
                <a:cs typeface="Times New Roman" panose="02020603050405020304" pitchFamily="18" charset="0"/>
              </a:rPr>
              <a:t>Without indexing</a:t>
            </a:r>
          </a:p>
          <a:p>
            <a:pPr lvl="1"/>
            <a:r>
              <a:rPr lang="en-US" altLang="zh-TW" dirty="0">
                <a:cs typeface="Times New Roman" panose="02020603050405020304" pitchFamily="18" charset="0"/>
              </a:rPr>
              <a:t>Find the record for id = 100</a:t>
            </a:r>
          </a:p>
          <a:p>
            <a:pPr lvl="2"/>
            <a:r>
              <a:rPr lang="en-US" altLang="zh-TW" dirty="0">
                <a:cs typeface="Times New Roman" panose="02020603050405020304" pitchFamily="18" charset="0"/>
              </a:rPr>
              <a:t>Need to access </a:t>
            </a:r>
            <a:r>
              <a:rPr lang="en-US" altLang="zh-TW" dirty="0">
                <a:solidFill>
                  <a:srgbClr val="C00000"/>
                </a:solidFill>
                <a:cs typeface="Times New Roman" panose="02020603050405020304" pitchFamily="18" charset="0"/>
              </a:rPr>
              <a:t>25</a:t>
            </a:r>
            <a:r>
              <a:rPr lang="en-US" altLang="zh-TW" dirty="0">
                <a:cs typeface="Times New Roman" panose="02020603050405020304" pitchFamily="18" charset="0"/>
              </a:rPr>
              <a:t> blocks</a:t>
            </a:r>
            <a:endParaRPr lang="zh-TW" altLang="en-US" dirty="0"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8230C3B-ABA8-4772-A6EC-8B278D27D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2149115"/>
            <a:ext cx="2664296" cy="3437516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1E30871A-4E67-405F-8468-227A4E7DC8D8}"/>
              </a:ext>
            </a:extLst>
          </p:cNvPr>
          <p:cNvSpPr txBox="1"/>
          <p:nvPr/>
        </p:nvSpPr>
        <p:spPr>
          <a:xfrm>
            <a:off x="3929366" y="3328956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Records 1~4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93EF53D-BF0D-4588-B578-C7DDA004C074}"/>
              </a:ext>
            </a:extLst>
          </p:cNvPr>
          <p:cNvSpPr txBox="1"/>
          <p:nvPr/>
        </p:nvSpPr>
        <p:spPr>
          <a:xfrm>
            <a:off x="3914024" y="3898035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Records 5~8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69CCACD-0CF2-4629-AB91-EA15E337B662}"/>
              </a:ext>
            </a:extLst>
          </p:cNvPr>
          <p:cNvSpPr txBox="1"/>
          <p:nvPr/>
        </p:nvSpPr>
        <p:spPr>
          <a:xfrm>
            <a:off x="6855764" y="3898035"/>
            <a:ext cx="1602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Records 97~100</a:t>
            </a:r>
            <a:endParaRPr lang="zh-TW" altLang="en-US" dirty="0"/>
          </a:p>
        </p:txBody>
      </p:sp>
      <p:sp>
        <p:nvSpPr>
          <p:cNvPr id="10" name="弧形 9">
            <a:extLst>
              <a:ext uri="{FF2B5EF4-FFF2-40B4-BE49-F238E27FC236}">
                <a16:creationId xmlns:a16="http://schemas.microsoft.com/office/drawing/2014/main" id="{A6F05A88-8763-4E32-9855-788F0A3646D7}"/>
              </a:ext>
            </a:extLst>
          </p:cNvPr>
          <p:cNvSpPr/>
          <p:nvPr/>
        </p:nvSpPr>
        <p:spPr>
          <a:xfrm rot="9852190">
            <a:off x="4235481" y="2813654"/>
            <a:ext cx="3760254" cy="2907424"/>
          </a:xfrm>
          <a:prstGeom prst="arc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67FE17B-9676-411E-87D1-FEFCA16E69B7}"/>
              </a:ext>
            </a:extLst>
          </p:cNvPr>
          <p:cNvSpPr txBox="1"/>
          <p:nvPr/>
        </p:nvSpPr>
        <p:spPr>
          <a:xfrm>
            <a:off x="3972257" y="5465653"/>
            <a:ext cx="1044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25 blocks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42563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990BBD-6C34-449C-805C-240A73506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What is indexing (2)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E9FB8AC-C6A9-420C-90CF-26CDB2F95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2609" y="6150962"/>
            <a:ext cx="3962400" cy="457200"/>
          </a:xfrm>
        </p:spPr>
        <p:txBody>
          <a:bodyPr/>
          <a:lstStyle/>
          <a:p>
            <a:r>
              <a:rPr lang="en-US" altLang="zh-TW" dirty="0"/>
              <a:t>Yuan-Ko Huang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24AB05-0EA4-4C9D-A7CE-64315D09F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7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74AE5F9-4CC5-4D9F-BFE2-D2967E00F84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95536" y="1447800"/>
            <a:ext cx="7772400" cy="4572000"/>
          </a:xfrm>
        </p:spPr>
        <p:txBody>
          <a:bodyPr/>
          <a:lstStyle/>
          <a:p>
            <a:r>
              <a:rPr lang="en-US" altLang="zh-TW" dirty="0"/>
              <a:t>With indexing</a:t>
            </a:r>
          </a:p>
          <a:p>
            <a:pPr lvl="1"/>
            <a:r>
              <a:rPr lang="en-US" altLang="zh-TW" dirty="0">
                <a:cs typeface="Times New Roman" panose="02020603050405020304" pitchFamily="18" charset="0"/>
              </a:rPr>
              <a:t>Find the record for Id = 100</a:t>
            </a:r>
          </a:p>
          <a:p>
            <a:pPr lvl="2"/>
            <a:r>
              <a:rPr lang="en-US" altLang="zh-TW" dirty="0">
                <a:cs typeface="Times New Roman" panose="02020603050405020304" pitchFamily="18" charset="0"/>
              </a:rPr>
              <a:t>Need to access </a:t>
            </a:r>
            <a:r>
              <a:rPr lang="en-US" altLang="zh-TW" dirty="0">
                <a:solidFill>
                  <a:srgbClr val="C00000"/>
                </a:solidFill>
                <a:cs typeface="Times New Roman" panose="02020603050405020304" pitchFamily="18" charset="0"/>
              </a:rPr>
              <a:t>4 + 1 = 5 </a:t>
            </a:r>
            <a:r>
              <a:rPr lang="en-US" altLang="zh-TW" dirty="0">
                <a:cs typeface="Times New Roman" panose="02020603050405020304" pitchFamily="18" charset="0"/>
              </a:rPr>
              <a:t>blocks</a:t>
            </a:r>
            <a:endParaRPr lang="zh-TW" altLang="en-US" dirty="0"/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0DF0ABD6-29ED-47D2-BCB0-D0F13964F79E}"/>
              </a:ext>
            </a:extLst>
          </p:cNvPr>
          <p:cNvGraphicFramePr>
            <a:graphicFrameLocks noGrp="1"/>
          </p:cNvGraphicFramePr>
          <p:nvPr/>
        </p:nvGraphicFramePr>
        <p:xfrm>
          <a:off x="6372200" y="2276872"/>
          <a:ext cx="2495783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280">
                  <a:extLst>
                    <a:ext uri="{9D8B030D-6E8A-4147-A177-3AD203B41FA5}">
                      <a16:colId xmlns:a16="http://schemas.microsoft.com/office/drawing/2014/main" val="2159104754"/>
                    </a:ext>
                  </a:extLst>
                </a:gridCol>
                <a:gridCol w="781368">
                  <a:extLst>
                    <a:ext uri="{9D8B030D-6E8A-4147-A177-3AD203B41FA5}">
                      <a16:colId xmlns:a16="http://schemas.microsoft.com/office/drawing/2014/main" val="1542879078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1687928539"/>
                    </a:ext>
                  </a:extLst>
                </a:gridCol>
                <a:gridCol w="535855">
                  <a:extLst>
                    <a:ext uri="{9D8B030D-6E8A-4147-A177-3AD203B41FA5}">
                      <a16:colId xmlns:a16="http://schemas.microsoft.com/office/drawing/2014/main" val="28269427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Name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Dept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983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100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4510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Cc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297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1015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Ee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468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Ff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1970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Gg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780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Hh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932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Ii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496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189770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7581C96D-43F2-4246-A137-3B41FA9F4B30}"/>
              </a:ext>
            </a:extLst>
          </p:cNvPr>
          <p:cNvSpPr txBox="1"/>
          <p:nvPr/>
        </p:nvSpPr>
        <p:spPr>
          <a:xfrm>
            <a:off x="6300192" y="6403526"/>
            <a:ext cx="2433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Number of records = 100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A329F87-ED22-4842-8209-BD2C1F064FEF}"/>
              </a:ext>
            </a:extLst>
          </p:cNvPr>
          <p:cNvSpPr/>
          <p:nvPr/>
        </p:nvSpPr>
        <p:spPr>
          <a:xfrm>
            <a:off x="6300192" y="2704058"/>
            <a:ext cx="2649665" cy="13681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94C5787-68F3-4DDC-8885-84DD98E2DB71}"/>
              </a:ext>
            </a:extLst>
          </p:cNvPr>
          <p:cNvSpPr/>
          <p:nvPr/>
        </p:nvSpPr>
        <p:spPr>
          <a:xfrm>
            <a:off x="6300192" y="4144218"/>
            <a:ext cx="2649665" cy="13681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3139641-5B04-4CBD-AF8B-59C71EDEB960}"/>
              </a:ext>
            </a:extLst>
          </p:cNvPr>
          <p:cNvSpPr/>
          <p:nvPr/>
        </p:nvSpPr>
        <p:spPr>
          <a:xfrm>
            <a:off x="6300192" y="5615520"/>
            <a:ext cx="2649665" cy="6840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CBB417E-ADC2-4668-941F-D17BADBCF221}"/>
              </a:ext>
            </a:extLst>
          </p:cNvPr>
          <p:cNvSpPr txBox="1"/>
          <p:nvPr/>
        </p:nvSpPr>
        <p:spPr>
          <a:xfrm>
            <a:off x="6287366" y="1894803"/>
            <a:ext cx="11984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Employee</a:t>
            </a:r>
            <a:endParaRPr lang="zh-TW" altLang="en-US" sz="2000" dirty="0"/>
          </a:p>
        </p:txBody>
      </p:sp>
      <p:graphicFrame>
        <p:nvGraphicFramePr>
          <p:cNvPr id="12" name="表格 6">
            <a:extLst>
              <a:ext uri="{FF2B5EF4-FFF2-40B4-BE49-F238E27FC236}">
                <a16:creationId xmlns:a16="http://schemas.microsoft.com/office/drawing/2014/main" id="{079133D3-2648-4352-922B-738037D309EA}"/>
              </a:ext>
            </a:extLst>
          </p:cNvPr>
          <p:cNvGraphicFramePr>
            <a:graphicFrameLocks noGrp="1"/>
          </p:cNvGraphicFramePr>
          <p:nvPr/>
        </p:nvGraphicFramePr>
        <p:xfrm>
          <a:off x="4600591" y="2285007"/>
          <a:ext cx="1085388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159104754"/>
                    </a:ext>
                  </a:extLst>
                </a:gridCol>
                <a:gridCol w="537383">
                  <a:extLst>
                    <a:ext uri="{9D8B030D-6E8A-4147-A177-3AD203B41FA5}">
                      <a16:colId xmlns:a16="http://schemas.microsoft.com/office/drawing/2014/main" val="15428790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Ptr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983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100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4510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297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1015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468514"/>
                  </a:ext>
                </a:extLst>
              </a:tr>
            </a:tbl>
          </a:graphicData>
        </a:graphic>
      </p:graphicFrame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A435A2F1-9C83-4271-A6FF-394D030B2059}"/>
              </a:ext>
            </a:extLst>
          </p:cNvPr>
          <p:cNvCxnSpPr/>
          <p:nvPr/>
        </p:nvCxnSpPr>
        <p:spPr>
          <a:xfrm>
            <a:off x="5515005" y="2818170"/>
            <a:ext cx="7368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5F5B78A8-37A8-4E9D-AD0B-2280BF851536}"/>
              </a:ext>
            </a:extLst>
          </p:cNvPr>
          <p:cNvCxnSpPr/>
          <p:nvPr/>
        </p:nvCxnSpPr>
        <p:spPr>
          <a:xfrm>
            <a:off x="5515005" y="3178210"/>
            <a:ext cx="7368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22DDB84F-FA9C-4B36-9973-5B0256E86A56}"/>
              </a:ext>
            </a:extLst>
          </p:cNvPr>
          <p:cNvCxnSpPr/>
          <p:nvPr/>
        </p:nvCxnSpPr>
        <p:spPr>
          <a:xfrm>
            <a:off x="5515005" y="3610258"/>
            <a:ext cx="7368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F525B4E1-6DCE-4A2C-B2CB-EE08DB5A641A}"/>
              </a:ext>
            </a:extLst>
          </p:cNvPr>
          <p:cNvCxnSpPr/>
          <p:nvPr/>
        </p:nvCxnSpPr>
        <p:spPr>
          <a:xfrm>
            <a:off x="5515005" y="4316492"/>
            <a:ext cx="736848" cy="1814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C5BF760-A955-485F-AA33-A9B8E77F80F4}"/>
              </a:ext>
            </a:extLst>
          </p:cNvPr>
          <p:cNvSpPr txBox="1"/>
          <p:nvPr/>
        </p:nvSpPr>
        <p:spPr>
          <a:xfrm>
            <a:off x="297351" y="3178210"/>
            <a:ext cx="214427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Size</a:t>
            </a:r>
            <a:r>
              <a:rPr lang="zh-TW" altLang="en-US" dirty="0"/>
              <a:t> </a:t>
            </a:r>
            <a:r>
              <a:rPr lang="en-US" altLang="zh-TW" dirty="0"/>
              <a:t>of</a:t>
            </a:r>
            <a:r>
              <a:rPr lang="zh-TW" altLang="en-US" dirty="0"/>
              <a:t> </a:t>
            </a:r>
            <a:r>
              <a:rPr lang="en-US" altLang="zh-TW" dirty="0"/>
              <a:t>an index record</a:t>
            </a:r>
          </a:p>
          <a:p>
            <a:r>
              <a:rPr lang="en-US" altLang="zh-TW" dirty="0"/>
              <a:t>---------------------------</a:t>
            </a:r>
          </a:p>
          <a:p>
            <a:r>
              <a:rPr lang="en-US" altLang="zh-TW" dirty="0"/>
              <a:t>Id = 10</a:t>
            </a:r>
          </a:p>
          <a:p>
            <a:r>
              <a:rPr lang="en-US" altLang="zh-TW" dirty="0"/>
              <a:t>Ptr = 6</a:t>
            </a:r>
          </a:p>
          <a:p>
            <a:r>
              <a:rPr lang="en-US" altLang="zh-TW" dirty="0"/>
              <a:t>---------------------------</a:t>
            </a:r>
          </a:p>
          <a:p>
            <a:r>
              <a:rPr lang="en-US" altLang="zh-TW" dirty="0"/>
              <a:t>Total size = 16 Bytes</a:t>
            </a:r>
            <a:endParaRPr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80AB3F69-EB50-4CB3-B446-B8297B9624CC}"/>
              </a:ext>
            </a:extLst>
          </p:cNvPr>
          <p:cNvSpPr txBox="1"/>
          <p:nvPr/>
        </p:nvSpPr>
        <p:spPr>
          <a:xfrm>
            <a:off x="4506892" y="1907540"/>
            <a:ext cx="11984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Index data</a:t>
            </a:r>
            <a:endParaRPr lang="zh-TW" altLang="en-US" sz="2000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633E78A-17A1-4A3A-837B-7BC2F182678D}"/>
              </a:ext>
            </a:extLst>
          </p:cNvPr>
          <p:cNvSpPr txBox="1"/>
          <p:nvPr/>
        </p:nvSpPr>
        <p:spPr>
          <a:xfrm>
            <a:off x="4228603" y="4969492"/>
            <a:ext cx="1604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Need 4 blocks to store index data.</a:t>
            </a:r>
            <a:endParaRPr lang="zh-TW" altLang="en-US" dirty="0"/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D19E3215-8C86-4C8E-9317-ADBAB60AB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1919" y="4098275"/>
            <a:ext cx="1744267" cy="2250480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D21D0A5C-4D9B-41BE-B4B4-EDEBF9DDCD24}"/>
              </a:ext>
            </a:extLst>
          </p:cNvPr>
          <p:cNvSpPr/>
          <p:nvPr/>
        </p:nvSpPr>
        <p:spPr>
          <a:xfrm>
            <a:off x="4543410" y="2669115"/>
            <a:ext cx="1161974" cy="1263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5B7386C8-7525-40A8-A859-7219804AD903}"/>
              </a:ext>
            </a:extLst>
          </p:cNvPr>
          <p:cNvSpPr txBox="1"/>
          <p:nvPr/>
        </p:nvSpPr>
        <p:spPr>
          <a:xfrm>
            <a:off x="3896906" y="315218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32</a:t>
            </a:r>
            <a:endParaRPr lang="zh-TW" altLang="en-US" dirty="0"/>
          </a:p>
        </p:txBody>
      </p:sp>
      <p:sp>
        <p:nvSpPr>
          <p:cNvPr id="26" name="左大括弧 25">
            <a:extLst>
              <a:ext uri="{FF2B5EF4-FFF2-40B4-BE49-F238E27FC236}">
                <a16:creationId xmlns:a16="http://schemas.microsoft.com/office/drawing/2014/main" id="{E74DB91F-C80E-468D-A5A6-839CF7503DF8}"/>
              </a:ext>
            </a:extLst>
          </p:cNvPr>
          <p:cNvSpPr/>
          <p:nvPr/>
        </p:nvSpPr>
        <p:spPr>
          <a:xfrm>
            <a:off x="4244031" y="2669115"/>
            <a:ext cx="225209" cy="126394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72197E47-3362-435A-8BA3-9909F9CA6382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3127846" y="3521516"/>
            <a:ext cx="985084" cy="12036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6977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DB60F6-5D5A-4DAB-B1EC-C2C2A6401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Multilevel indexing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7BC8034-8934-48DC-AA46-AE7B87722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A36798B-58ED-4E12-854F-AD432AA50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8</a:t>
            </a:fld>
            <a:endParaRPr lang="zh-TW" altLang="en-US"/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67B1F3E2-748F-40E2-B9A7-91B2A8964700}"/>
              </a:ext>
            </a:extLst>
          </p:cNvPr>
          <p:cNvGraphicFramePr>
            <a:graphicFrameLocks noGrp="1"/>
          </p:cNvGraphicFramePr>
          <p:nvPr/>
        </p:nvGraphicFramePr>
        <p:xfrm>
          <a:off x="6044891" y="1796367"/>
          <a:ext cx="2495783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280">
                  <a:extLst>
                    <a:ext uri="{9D8B030D-6E8A-4147-A177-3AD203B41FA5}">
                      <a16:colId xmlns:a16="http://schemas.microsoft.com/office/drawing/2014/main" val="2159104754"/>
                    </a:ext>
                  </a:extLst>
                </a:gridCol>
                <a:gridCol w="781368">
                  <a:extLst>
                    <a:ext uri="{9D8B030D-6E8A-4147-A177-3AD203B41FA5}">
                      <a16:colId xmlns:a16="http://schemas.microsoft.com/office/drawing/2014/main" val="1542879078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1687928539"/>
                    </a:ext>
                  </a:extLst>
                </a:gridCol>
                <a:gridCol w="535855">
                  <a:extLst>
                    <a:ext uri="{9D8B030D-6E8A-4147-A177-3AD203B41FA5}">
                      <a16:colId xmlns:a16="http://schemas.microsoft.com/office/drawing/2014/main" val="28269427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Name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Dept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983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100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4510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Cc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297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1015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Ee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468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Ff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1970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Gg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780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Hh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932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Ii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496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189770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006CBA4B-ADEA-4D32-8784-1331BE94381F}"/>
              </a:ext>
            </a:extLst>
          </p:cNvPr>
          <p:cNvSpPr txBox="1"/>
          <p:nvPr/>
        </p:nvSpPr>
        <p:spPr>
          <a:xfrm>
            <a:off x="5972882" y="5923021"/>
            <a:ext cx="2649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Number of records = 1000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B1F20EE-04D8-454B-B3C8-2CBA4D7FF70B}"/>
              </a:ext>
            </a:extLst>
          </p:cNvPr>
          <p:cNvSpPr/>
          <p:nvPr/>
        </p:nvSpPr>
        <p:spPr>
          <a:xfrm>
            <a:off x="5972883" y="2223553"/>
            <a:ext cx="2649665" cy="13681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A5D2A3-430E-4CA7-B624-2D4D51BAF0F7}"/>
              </a:ext>
            </a:extLst>
          </p:cNvPr>
          <p:cNvSpPr/>
          <p:nvPr/>
        </p:nvSpPr>
        <p:spPr>
          <a:xfrm>
            <a:off x="5972883" y="3663713"/>
            <a:ext cx="2649665" cy="13681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EEDAFBC-FDB9-4126-B27A-EF3A7BF338CD}"/>
              </a:ext>
            </a:extLst>
          </p:cNvPr>
          <p:cNvSpPr/>
          <p:nvPr/>
        </p:nvSpPr>
        <p:spPr>
          <a:xfrm>
            <a:off x="5972883" y="5135015"/>
            <a:ext cx="2649665" cy="6840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1BF2EA8-4A14-49EE-910F-BBEDE2D72C24}"/>
              </a:ext>
            </a:extLst>
          </p:cNvPr>
          <p:cNvSpPr txBox="1"/>
          <p:nvPr/>
        </p:nvSpPr>
        <p:spPr>
          <a:xfrm>
            <a:off x="5960057" y="1414298"/>
            <a:ext cx="11984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Employee</a:t>
            </a:r>
            <a:endParaRPr lang="zh-TW" altLang="en-US" sz="2000" dirty="0"/>
          </a:p>
        </p:txBody>
      </p:sp>
      <p:graphicFrame>
        <p:nvGraphicFramePr>
          <p:cNvPr id="12" name="表格 6">
            <a:extLst>
              <a:ext uri="{FF2B5EF4-FFF2-40B4-BE49-F238E27FC236}">
                <a16:creationId xmlns:a16="http://schemas.microsoft.com/office/drawing/2014/main" id="{947D10EC-B551-4DAD-8D4A-B676D67BD84B}"/>
              </a:ext>
            </a:extLst>
          </p:cNvPr>
          <p:cNvGraphicFramePr>
            <a:graphicFrameLocks noGrp="1"/>
          </p:cNvGraphicFramePr>
          <p:nvPr/>
        </p:nvGraphicFramePr>
        <p:xfrm>
          <a:off x="4273282" y="1804502"/>
          <a:ext cx="1190163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2780">
                  <a:extLst>
                    <a:ext uri="{9D8B030D-6E8A-4147-A177-3AD203B41FA5}">
                      <a16:colId xmlns:a16="http://schemas.microsoft.com/office/drawing/2014/main" val="2159104754"/>
                    </a:ext>
                  </a:extLst>
                </a:gridCol>
                <a:gridCol w="537383">
                  <a:extLst>
                    <a:ext uri="{9D8B030D-6E8A-4147-A177-3AD203B41FA5}">
                      <a16:colId xmlns:a16="http://schemas.microsoft.com/office/drawing/2014/main" val="15428790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Ptr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983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100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4510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32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297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33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1015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468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64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930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65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9856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558443"/>
                  </a:ext>
                </a:extLst>
              </a:tr>
            </a:tbl>
          </a:graphicData>
        </a:graphic>
      </p:graphicFrame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98F18D01-C1AD-448B-A7FC-D9F6040C0B35}"/>
              </a:ext>
            </a:extLst>
          </p:cNvPr>
          <p:cNvCxnSpPr/>
          <p:nvPr/>
        </p:nvCxnSpPr>
        <p:spPr>
          <a:xfrm>
            <a:off x="5187696" y="2337665"/>
            <a:ext cx="7368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20F7173B-AF10-4310-9C06-C4D87444AAAC}"/>
              </a:ext>
            </a:extLst>
          </p:cNvPr>
          <p:cNvCxnSpPr/>
          <p:nvPr/>
        </p:nvCxnSpPr>
        <p:spPr>
          <a:xfrm>
            <a:off x="5187696" y="2697705"/>
            <a:ext cx="7368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A3D0BC9E-9C4E-459C-977F-B4E5641D9E33}"/>
              </a:ext>
            </a:extLst>
          </p:cNvPr>
          <p:cNvCxnSpPr/>
          <p:nvPr/>
        </p:nvCxnSpPr>
        <p:spPr>
          <a:xfrm>
            <a:off x="5187696" y="3129753"/>
            <a:ext cx="7368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C9C8A2E5-4A3D-4B67-A2E9-34F1B089B622}"/>
              </a:ext>
            </a:extLst>
          </p:cNvPr>
          <p:cNvCxnSpPr/>
          <p:nvPr/>
        </p:nvCxnSpPr>
        <p:spPr>
          <a:xfrm>
            <a:off x="5187696" y="3835987"/>
            <a:ext cx="736848" cy="1814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582B499C-00B0-4289-8FD8-ADBED21F3772}"/>
              </a:ext>
            </a:extLst>
          </p:cNvPr>
          <p:cNvSpPr txBox="1"/>
          <p:nvPr/>
        </p:nvSpPr>
        <p:spPr>
          <a:xfrm>
            <a:off x="4179583" y="1427035"/>
            <a:ext cx="11984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Index data</a:t>
            </a:r>
            <a:endParaRPr lang="zh-TW" altLang="en-US" sz="2000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5055C552-9CD1-40A5-BFE2-D1271244EA2E}"/>
              </a:ext>
            </a:extLst>
          </p:cNvPr>
          <p:cNvSpPr txBox="1"/>
          <p:nvPr/>
        </p:nvSpPr>
        <p:spPr>
          <a:xfrm>
            <a:off x="3916723" y="5525129"/>
            <a:ext cx="17508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Need 32 blocks to store index data.</a:t>
            </a:r>
            <a:endParaRPr lang="zh-TW" altLang="en-US" dirty="0"/>
          </a:p>
        </p:txBody>
      </p:sp>
      <p:sp>
        <p:nvSpPr>
          <p:cNvPr id="21" name="左大括弧 20">
            <a:extLst>
              <a:ext uri="{FF2B5EF4-FFF2-40B4-BE49-F238E27FC236}">
                <a16:creationId xmlns:a16="http://schemas.microsoft.com/office/drawing/2014/main" id="{A5C3D822-C756-4E32-A418-DF5C56B1B597}"/>
              </a:ext>
            </a:extLst>
          </p:cNvPr>
          <p:cNvSpPr/>
          <p:nvPr/>
        </p:nvSpPr>
        <p:spPr>
          <a:xfrm>
            <a:off x="3916723" y="2223552"/>
            <a:ext cx="178622" cy="106143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左大括弧 21">
            <a:extLst>
              <a:ext uri="{FF2B5EF4-FFF2-40B4-BE49-F238E27FC236}">
                <a16:creationId xmlns:a16="http://schemas.microsoft.com/office/drawing/2014/main" id="{8422B1D9-D3C9-4085-B306-7652CB4BE42B}"/>
              </a:ext>
            </a:extLst>
          </p:cNvPr>
          <p:cNvSpPr/>
          <p:nvPr/>
        </p:nvSpPr>
        <p:spPr>
          <a:xfrm>
            <a:off x="3904237" y="3322665"/>
            <a:ext cx="178622" cy="106143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左大括弧 22">
            <a:extLst>
              <a:ext uri="{FF2B5EF4-FFF2-40B4-BE49-F238E27FC236}">
                <a16:creationId xmlns:a16="http://schemas.microsoft.com/office/drawing/2014/main" id="{B39D612A-57B8-4D0E-8860-78B61DBDC6C2}"/>
              </a:ext>
            </a:extLst>
          </p:cNvPr>
          <p:cNvSpPr/>
          <p:nvPr/>
        </p:nvSpPr>
        <p:spPr>
          <a:xfrm>
            <a:off x="3898275" y="4435855"/>
            <a:ext cx="178622" cy="64633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24" name="表格 6">
            <a:extLst>
              <a:ext uri="{FF2B5EF4-FFF2-40B4-BE49-F238E27FC236}">
                <a16:creationId xmlns:a16="http://schemas.microsoft.com/office/drawing/2014/main" id="{C864113B-EDDF-40A3-B4C4-A29D0016C69B}"/>
              </a:ext>
            </a:extLst>
          </p:cNvPr>
          <p:cNvGraphicFramePr>
            <a:graphicFrameLocks noGrp="1"/>
          </p:cNvGraphicFramePr>
          <p:nvPr/>
        </p:nvGraphicFramePr>
        <p:xfrm>
          <a:off x="2119840" y="2166856"/>
          <a:ext cx="1085388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159104754"/>
                    </a:ext>
                  </a:extLst>
                </a:gridCol>
                <a:gridCol w="537383">
                  <a:extLst>
                    <a:ext uri="{9D8B030D-6E8A-4147-A177-3AD203B41FA5}">
                      <a16:colId xmlns:a16="http://schemas.microsoft.com/office/drawing/2014/main" val="15428790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Ptr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983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100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33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4510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65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297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1015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993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468514"/>
                  </a:ext>
                </a:extLst>
              </a:tr>
            </a:tbl>
          </a:graphicData>
        </a:graphic>
      </p:graphicFrame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0E4DA726-3E49-4743-942E-8E171B402CEA}"/>
              </a:ext>
            </a:extLst>
          </p:cNvPr>
          <p:cNvCxnSpPr/>
          <p:nvPr/>
        </p:nvCxnSpPr>
        <p:spPr>
          <a:xfrm flipV="1">
            <a:off x="2895600" y="2427793"/>
            <a:ext cx="972784" cy="3264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321CB893-C5C9-4598-A918-41098A01A8E9}"/>
              </a:ext>
            </a:extLst>
          </p:cNvPr>
          <p:cNvCxnSpPr/>
          <p:nvPr/>
        </p:nvCxnSpPr>
        <p:spPr>
          <a:xfrm>
            <a:off x="2895600" y="3129753"/>
            <a:ext cx="972784" cy="2992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4E35DF91-2F2B-4CDF-AEA5-0231EA14F7E4}"/>
              </a:ext>
            </a:extLst>
          </p:cNvPr>
          <p:cNvCxnSpPr/>
          <p:nvPr/>
        </p:nvCxnSpPr>
        <p:spPr>
          <a:xfrm>
            <a:off x="2895600" y="3473282"/>
            <a:ext cx="972784" cy="1107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8A857A9D-86C5-4448-94EC-B072DDAF6DAE}"/>
              </a:ext>
            </a:extLst>
          </p:cNvPr>
          <p:cNvCxnSpPr/>
          <p:nvPr/>
        </p:nvCxnSpPr>
        <p:spPr>
          <a:xfrm>
            <a:off x="2895600" y="4221088"/>
            <a:ext cx="972784" cy="720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1D1F99B7-7AF0-48A1-964D-114F2245594E}"/>
              </a:ext>
            </a:extLst>
          </p:cNvPr>
          <p:cNvSpPr/>
          <p:nvPr/>
        </p:nvSpPr>
        <p:spPr>
          <a:xfrm>
            <a:off x="4243969" y="2201272"/>
            <a:ext cx="1264135" cy="10044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F71C305-23A3-4AA3-B2B7-0B49CD8706B9}"/>
              </a:ext>
            </a:extLst>
          </p:cNvPr>
          <p:cNvSpPr/>
          <p:nvPr/>
        </p:nvSpPr>
        <p:spPr>
          <a:xfrm>
            <a:off x="4236295" y="3293409"/>
            <a:ext cx="1264135" cy="10044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291B1F87-361A-4DD2-99E4-1E8FC9C8BAAD}"/>
              </a:ext>
            </a:extLst>
          </p:cNvPr>
          <p:cNvSpPr txBox="1"/>
          <p:nvPr/>
        </p:nvSpPr>
        <p:spPr>
          <a:xfrm>
            <a:off x="1790135" y="4818896"/>
            <a:ext cx="15842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Need 1 block to store index data.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04973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F3BF3F-E898-41C0-B509-1ED3DEC0F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B-tree (1)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4507B57-2498-4B7E-B9A0-D7CE3575E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79EF88E-8B90-4D83-80EE-472E3AD9A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9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6F08ABC-FE82-4B76-BB12-E155E51E3EC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A B-tree of order </a:t>
            </a:r>
            <a:r>
              <a:rPr lang="en-US" altLang="zh-TW" i="1" dirty="0"/>
              <a:t>m</a:t>
            </a:r>
            <a:r>
              <a:rPr lang="en-US" altLang="zh-TW" dirty="0"/>
              <a:t>:</a:t>
            </a:r>
          </a:p>
          <a:p>
            <a:pPr lvl="1"/>
            <a:r>
              <a:rPr lang="en-US" altLang="zh-TW" dirty="0"/>
              <a:t>Each node has at most </a:t>
            </a:r>
            <a:r>
              <a:rPr lang="en-US" altLang="zh-TW" i="1" dirty="0"/>
              <a:t>m</a:t>
            </a:r>
            <a:r>
              <a:rPr lang="en-US" altLang="zh-TW" dirty="0"/>
              <a:t> children</a:t>
            </a:r>
          </a:p>
          <a:p>
            <a:pPr lvl="1"/>
            <a:r>
              <a:rPr lang="en-US" altLang="zh-TW" dirty="0"/>
              <a:t>Each non-leaf node has at least </a:t>
            </a:r>
            <a:r>
              <a:rPr lang="en-US" altLang="zh-TW" i="1" dirty="0"/>
              <a:t>ceiling</a:t>
            </a:r>
            <a:r>
              <a:rPr lang="en-US" altLang="zh-TW" dirty="0"/>
              <a:t>(</a:t>
            </a:r>
            <a:r>
              <a:rPr lang="en-US" altLang="zh-TW" i="1" dirty="0"/>
              <a:t>m</a:t>
            </a:r>
            <a:r>
              <a:rPr lang="en-US" altLang="zh-TW" dirty="0"/>
              <a:t>/2) child nodes</a:t>
            </a:r>
          </a:p>
          <a:p>
            <a:pPr lvl="1"/>
            <a:r>
              <a:rPr lang="en-US" altLang="zh-TW" dirty="0"/>
              <a:t>The root node has at least two children</a:t>
            </a:r>
          </a:p>
          <a:p>
            <a:pPr lvl="1"/>
            <a:r>
              <a:rPr lang="en-US" altLang="zh-TW" dirty="0"/>
              <a:t>All leaf nodes appear in the same level</a:t>
            </a:r>
          </a:p>
          <a:p>
            <a:pPr lvl="1"/>
            <a:r>
              <a:rPr lang="en-US" altLang="zh-TW" dirty="0"/>
              <a:t>Bottom-up construction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83767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EFA669-5CD8-4A06-A37C-2326AD4D0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B-tree (2)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8CFBDB8-D0BD-4855-84AB-7EA0B3C1A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64CB849-0A5E-47C9-AB80-6A1E4B53C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10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725D195-418E-4BD7-9A52-22F50C9E37F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Example of a B-tree with </a:t>
            </a:r>
            <a:r>
              <a:rPr lang="en-US" altLang="zh-TW" i="1" dirty="0"/>
              <a:t>m</a:t>
            </a:r>
            <a:r>
              <a:rPr lang="en-US" altLang="zh-TW" dirty="0"/>
              <a:t> = 4:</a:t>
            </a:r>
            <a:endParaRPr lang="zh-TW" altLang="en-US" dirty="0"/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005969B7-9D5C-4FEA-A7C9-40A0F06AE208}"/>
              </a:ext>
            </a:extLst>
          </p:cNvPr>
          <p:cNvGraphicFramePr>
            <a:graphicFrameLocks noGrp="1"/>
          </p:cNvGraphicFramePr>
          <p:nvPr/>
        </p:nvGraphicFramePr>
        <p:xfrm>
          <a:off x="1354237" y="3058160"/>
          <a:ext cx="19278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87130120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6795403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0904956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65254509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78884606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6227509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578644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423549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4D276153-3C82-43D6-84AA-D5AD3E60986B}"/>
              </a:ext>
            </a:extLst>
          </p:cNvPr>
          <p:cNvGraphicFramePr>
            <a:graphicFrameLocks noGrp="1"/>
          </p:cNvGraphicFramePr>
          <p:nvPr/>
        </p:nvGraphicFramePr>
        <p:xfrm>
          <a:off x="705991" y="4163175"/>
          <a:ext cx="124904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455">
                  <a:extLst>
                    <a:ext uri="{9D8B030D-6E8A-4147-A177-3AD203B41FA5}">
                      <a16:colId xmlns:a16="http://schemas.microsoft.com/office/drawing/2014/main" val="679540313"/>
                    </a:ext>
                  </a:extLst>
                </a:gridCol>
                <a:gridCol w="233680">
                  <a:extLst>
                    <a:ext uri="{9D8B030D-6E8A-4147-A177-3AD203B41FA5}">
                      <a16:colId xmlns:a16="http://schemas.microsoft.com/office/drawing/2014/main" val="2309049565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788846064"/>
                    </a:ext>
                  </a:extLst>
                </a:gridCol>
                <a:gridCol w="233680">
                  <a:extLst>
                    <a:ext uri="{9D8B030D-6E8A-4147-A177-3AD203B41FA5}">
                      <a16:colId xmlns:a16="http://schemas.microsoft.com/office/drawing/2014/main" val="9622750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423549"/>
                  </a:ext>
                </a:extLst>
              </a:tr>
            </a:tbl>
          </a:graphicData>
        </a:graphic>
      </p:graphicFrame>
      <p:graphicFrame>
        <p:nvGraphicFramePr>
          <p:cNvPr id="12" name="表格 6">
            <a:extLst>
              <a:ext uri="{FF2B5EF4-FFF2-40B4-BE49-F238E27FC236}">
                <a16:creationId xmlns:a16="http://schemas.microsoft.com/office/drawing/2014/main" id="{193E0AAA-FC77-4264-8FE3-804CC65380D9}"/>
              </a:ext>
            </a:extLst>
          </p:cNvPr>
          <p:cNvGraphicFramePr>
            <a:graphicFrameLocks noGrp="1"/>
          </p:cNvGraphicFramePr>
          <p:nvPr/>
        </p:nvGraphicFramePr>
        <p:xfrm>
          <a:off x="3503930" y="2431242"/>
          <a:ext cx="10680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87130120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6795403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0904956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652545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423549"/>
                  </a:ext>
                </a:extLst>
              </a:tr>
            </a:tbl>
          </a:graphicData>
        </a:graphic>
      </p:graphicFrame>
      <p:graphicFrame>
        <p:nvGraphicFramePr>
          <p:cNvPr id="13" name="表格 6">
            <a:extLst>
              <a:ext uri="{FF2B5EF4-FFF2-40B4-BE49-F238E27FC236}">
                <a16:creationId xmlns:a16="http://schemas.microsoft.com/office/drawing/2014/main" id="{AA2C297D-3358-4677-B545-A3CE54F08118}"/>
              </a:ext>
            </a:extLst>
          </p:cNvPr>
          <p:cNvGraphicFramePr>
            <a:graphicFrameLocks noGrp="1"/>
          </p:cNvGraphicFramePr>
          <p:nvPr/>
        </p:nvGraphicFramePr>
        <p:xfrm>
          <a:off x="5163438" y="3058160"/>
          <a:ext cx="10680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87130120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6795403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0904956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652545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70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423549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8406C4F7-3352-4139-B937-9CE64C7D6D26}"/>
              </a:ext>
            </a:extLst>
          </p:cNvPr>
          <p:cNvGraphicFramePr>
            <a:graphicFrameLocks noGrp="1"/>
          </p:cNvGraphicFramePr>
          <p:nvPr/>
        </p:nvGraphicFramePr>
        <p:xfrm>
          <a:off x="2229221" y="4163175"/>
          <a:ext cx="67691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230">
                  <a:extLst>
                    <a:ext uri="{9D8B030D-6E8A-4147-A177-3AD203B41FA5}">
                      <a16:colId xmlns:a16="http://schemas.microsoft.com/office/drawing/2014/main" val="2788846064"/>
                    </a:ext>
                  </a:extLst>
                </a:gridCol>
                <a:gridCol w="233680">
                  <a:extLst>
                    <a:ext uri="{9D8B030D-6E8A-4147-A177-3AD203B41FA5}">
                      <a16:colId xmlns:a16="http://schemas.microsoft.com/office/drawing/2014/main" val="9622750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423549"/>
                  </a:ext>
                </a:extLst>
              </a:tr>
            </a:tbl>
          </a:graphicData>
        </a:graphic>
      </p:graphicFrame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72C727A2-6A10-405E-9C31-B6C50C4B06D7}"/>
              </a:ext>
            </a:extLst>
          </p:cNvPr>
          <p:cNvGraphicFramePr>
            <a:graphicFrameLocks noGrp="1"/>
          </p:cNvGraphicFramePr>
          <p:nvPr/>
        </p:nvGraphicFramePr>
        <p:xfrm>
          <a:off x="3251665" y="4169986"/>
          <a:ext cx="67691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230">
                  <a:extLst>
                    <a:ext uri="{9D8B030D-6E8A-4147-A177-3AD203B41FA5}">
                      <a16:colId xmlns:a16="http://schemas.microsoft.com/office/drawing/2014/main" val="2788846064"/>
                    </a:ext>
                  </a:extLst>
                </a:gridCol>
                <a:gridCol w="233680">
                  <a:extLst>
                    <a:ext uri="{9D8B030D-6E8A-4147-A177-3AD203B41FA5}">
                      <a16:colId xmlns:a16="http://schemas.microsoft.com/office/drawing/2014/main" val="9622750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423549"/>
                  </a:ext>
                </a:extLst>
              </a:tr>
            </a:tbl>
          </a:graphicData>
        </a:graphic>
      </p:graphicFrame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41A793C3-5C5B-4101-846B-6E957444EE0F}"/>
              </a:ext>
            </a:extLst>
          </p:cNvPr>
          <p:cNvGraphicFramePr>
            <a:graphicFrameLocks noGrp="1"/>
          </p:cNvGraphicFramePr>
          <p:nvPr/>
        </p:nvGraphicFramePr>
        <p:xfrm>
          <a:off x="6444208" y="4169986"/>
          <a:ext cx="67691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230">
                  <a:extLst>
                    <a:ext uri="{9D8B030D-6E8A-4147-A177-3AD203B41FA5}">
                      <a16:colId xmlns:a16="http://schemas.microsoft.com/office/drawing/2014/main" val="2788846064"/>
                    </a:ext>
                  </a:extLst>
                </a:gridCol>
                <a:gridCol w="233680">
                  <a:extLst>
                    <a:ext uri="{9D8B030D-6E8A-4147-A177-3AD203B41FA5}">
                      <a16:colId xmlns:a16="http://schemas.microsoft.com/office/drawing/2014/main" val="9622750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80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423549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15352CDA-13D3-4A2F-BC0B-B2058D2E065F}"/>
              </a:ext>
            </a:extLst>
          </p:cNvPr>
          <p:cNvGraphicFramePr>
            <a:graphicFrameLocks noGrp="1"/>
          </p:cNvGraphicFramePr>
          <p:nvPr/>
        </p:nvGraphicFramePr>
        <p:xfrm>
          <a:off x="4442645" y="4163175"/>
          <a:ext cx="13538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230">
                  <a:extLst>
                    <a:ext uri="{9D8B030D-6E8A-4147-A177-3AD203B41FA5}">
                      <a16:colId xmlns:a16="http://schemas.microsoft.com/office/drawing/2014/main" val="679540313"/>
                    </a:ext>
                  </a:extLst>
                </a:gridCol>
                <a:gridCol w="233680">
                  <a:extLst>
                    <a:ext uri="{9D8B030D-6E8A-4147-A177-3AD203B41FA5}">
                      <a16:colId xmlns:a16="http://schemas.microsoft.com/office/drawing/2014/main" val="2309049565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788846064"/>
                    </a:ext>
                  </a:extLst>
                </a:gridCol>
                <a:gridCol w="233680">
                  <a:extLst>
                    <a:ext uri="{9D8B030D-6E8A-4147-A177-3AD203B41FA5}">
                      <a16:colId xmlns:a16="http://schemas.microsoft.com/office/drawing/2014/main" val="9622750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423549"/>
                  </a:ext>
                </a:extLst>
              </a:tr>
            </a:tbl>
          </a:graphicData>
        </a:graphic>
      </p:graphicFrame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FDA3BEB1-606E-4091-8BB4-9C8556A00FD3}"/>
              </a:ext>
            </a:extLst>
          </p:cNvPr>
          <p:cNvCxnSpPr>
            <a:endCxn id="7" idx="0"/>
          </p:cNvCxnSpPr>
          <p:nvPr/>
        </p:nvCxnSpPr>
        <p:spPr>
          <a:xfrm flipH="1">
            <a:off x="1330513" y="3243580"/>
            <a:ext cx="145143" cy="9195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71EC3F4A-3DC8-425F-86AD-EF3D6577DA4A}"/>
              </a:ext>
            </a:extLst>
          </p:cNvPr>
          <p:cNvCxnSpPr>
            <a:endCxn id="14" idx="0"/>
          </p:cNvCxnSpPr>
          <p:nvPr/>
        </p:nvCxnSpPr>
        <p:spPr>
          <a:xfrm>
            <a:off x="2318167" y="3243580"/>
            <a:ext cx="249509" cy="9195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0270319E-F194-427B-AD2E-4554AB07CA1B}"/>
              </a:ext>
            </a:extLst>
          </p:cNvPr>
          <p:cNvCxnSpPr>
            <a:endCxn id="15" idx="0"/>
          </p:cNvCxnSpPr>
          <p:nvPr/>
        </p:nvCxnSpPr>
        <p:spPr>
          <a:xfrm>
            <a:off x="3203848" y="3243580"/>
            <a:ext cx="386272" cy="926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C0334E55-04FC-4CFA-9DF4-693E988ED9BD}"/>
              </a:ext>
            </a:extLst>
          </p:cNvPr>
          <p:cNvCxnSpPr/>
          <p:nvPr/>
        </p:nvCxnSpPr>
        <p:spPr>
          <a:xfrm flipH="1">
            <a:off x="2442921" y="2616662"/>
            <a:ext cx="1147199" cy="441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462D1D6A-3989-4CD1-93F8-902E93629DCD}"/>
              </a:ext>
            </a:extLst>
          </p:cNvPr>
          <p:cNvCxnSpPr/>
          <p:nvPr/>
        </p:nvCxnSpPr>
        <p:spPr>
          <a:xfrm>
            <a:off x="4442645" y="2616662"/>
            <a:ext cx="1137467" cy="441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797B491C-1FD0-4A64-AC41-B6867AB58881}"/>
              </a:ext>
            </a:extLst>
          </p:cNvPr>
          <p:cNvCxnSpPr>
            <a:endCxn id="17" idx="0"/>
          </p:cNvCxnSpPr>
          <p:nvPr/>
        </p:nvCxnSpPr>
        <p:spPr>
          <a:xfrm flipH="1">
            <a:off x="5119555" y="3243580"/>
            <a:ext cx="172525" cy="9195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18301676-D3C3-4513-A101-FE09BA2D70C8}"/>
              </a:ext>
            </a:extLst>
          </p:cNvPr>
          <p:cNvCxnSpPr>
            <a:endCxn id="16" idx="0"/>
          </p:cNvCxnSpPr>
          <p:nvPr/>
        </p:nvCxnSpPr>
        <p:spPr>
          <a:xfrm>
            <a:off x="6084168" y="3243580"/>
            <a:ext cx="698495" cy="926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7357DB8F-3A31-4896-A69F-D0E6AA991065}"/>
              </a:ext>
            </a:extLst>
          </p:cNvPr>
          <p:cNvCxnSpPr/>
          <p:nvPr/>
        </p:nvCxnSpPr>
        <p:spPr>
          <a:xfrm>
            <a:off x="2123728" y="3243580"/>
            <a:ext cx="0" cy="19136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9F3FCF49-C3E6-4C7B-8E4E-87D896E8CB48}"/>
              </a:ext>
            </a:extLst>
          </p:cNvPr>
          <p:cNvCxnSpPr/>
          <p:nvPr/>
        </p:nvCxnSpPr>
        <p:spPr>
          <a:xfrm>
            <a:off x="2998259" y="3243580"/>
            <a:ext cx="0" cy="19136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05DC2DAF-75D7-4EE7-B31E-2ADBBBD841EC}"/>
              </a:ext>
            </a:extLst>
          </p:cNvPr>
          <p:cNvCxnSpPr/>
          <p:nvPr/>
        </p:nvCxnSpPr>
        <p:spPr>
          <a:xfrm>
            <a:off x="5940152" y="3243580"/>
            <a:ext cx="0" cy="19136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E1F594D4-A236-4E92-837B-48B057112E56}"/>
              </a:ext>
            </a:extLst>
          </p:cNvPr>
          <p:cNvCxnSpPr>
            <a:cxnSpLocks/>
          </p:cNvCxnSpPr>
          <p:nvPr/>
        </p:nvCxnSpPr>
        <p:spPr>
          <a:xfrm>
            <a:off x="1187624" y="4296688"/>
            <a:ext cx="0" cy="8605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44DB0741-B396-46AB-BF17-C3BDEAC126B4}"/>
              </a:ext>
            </a:extLst>
          </p:cNvPr>
          <p:cNvCxnSpPr>
            <a:cxnSpLocks/>
          </p:cNvCxnSpPr>
          <p:nvPr/>
        </p:nvCxnSpPr>
        <p:spPr>
          <a:xfrm>
            <a:off x="1835696" y="4296688"/>
            <a:ext cx="0" cy="8605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9E195EF4-3CBD-41FB-961F-4504ED125C69}"/>
              </a:ext>
            </a:extLst>
          </p:cNvPr>
          <p:cNvCxnSpPr>
            <a:cxnSpLocks/>
          </p:cNvCxnSpPr>
          <p:nvPr/>
        </p:nvCxnSpPr>
        <p:spPr>
          <a:xfrm>
            <a:off x="2771800" y="4296688"/>
            <a:ext cx="0" cy="8605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BFC0D639-C1CD-4853-8673-B27855FC76EF}"/>
              </a:ext>
            </a:extLst>
          </p:cNvPr>
          <p:cNvCxnSpPr>
            <a:cxnSpLocks/>
          </p:cNvCxnSpPr>
          <p:nvPr/>
        </p:nvCxnSpPr>
        <p:spPr>
          <a:xfrm>
            <a:off x="3779912" y="4296688"/>
            <a:ext cx="0" cy="8605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23478699-19A2-4229-BDCE-B6083B03F87D}"/>
              </a:ext>
            </a:extLst>
          </p:cNvPr>
          <p:cNvCxnSpPr>
            <a:cxnSpLocks/>
          </p:cNvCxnSpPr>
          <p:nvPr/>
        </p:nvCxnSpPr>
        <p:spPr>
          <a:xfrm>
            <a:off x="4990526" y="4296688"/>
            <a:ext cx="0" cy="8605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線單箭頭接點 41">
            <a:extLst>
              <a:ext uri="{FF2B5EF4-FFF2-40B4-BE49-F238E27FC236}">
                <a16:creationId xmlns:a16="http://schemas.microsoft.com/office/drawing/2014/main" id="{A054206B-F991-4528-A334-1AD2A73617B0}"/>
              </a:ext>
            </a:extLst>
          </p:cNvPr>
          <p:cNvCxnSpPr>
            <a:cxnSpLocks/>
          </p:cNvCxnSpPr>
          <p:nvPr/>
        </p:nvCxnSpPr>
        <p:spPr>
          <a:xfrm>
            <a:off x="5697473" y="4296688"/>
            <a:ext cx="0" cy="8605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線單箭頭接點 42">
            <a:extLst>
              <a:ext uri="{FF2B5EF4-FFF2-40B4-BE49-F238E27FC236}">
                <a16:creationId xmlns:a16="http://schemas.microsoft.com/office/drawing/2014/main" id="{24531ECD-1704-4985-912A-ECDDFE9178BE}"/>
              </a:ext>
            </a:extLst>
          </p:cNvPr>
          <p:cNvCxnSpPr>
            <a:cxnSpLocks/>
          </p:cNvCxnSpPr>
          <p:nvPr/>
        </p:nvCxnSpPr>
        <p:spPr>
          <a:xfrm>
            <a:off x="7020272" y="4296688"/>
            <a:ext cx="0" cy="8605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3DFDC3AB-FA97-4060-9803-4342691A8DFE}"/>
              </a:ext>
            </a:extLst>
          </p:cNvPr>
          <p:cNvCxnSpPr>
            <a:cxnSpLocks/>
          </p:cNvCxnSpPr>
          <p:nvPr/>
        </p:nvCxnSpPr>
        <p:spPr>
          <a:xfrm>
            <a:off x="4283968" y="2616662"/>
            <a:ext cx="0" cy="2540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6" name="表格 46">
            <a:extLst>
              <a:ext uri="{FF2B5EF4-FFF2-40B4-BE49-F238E27FC236}">
                <a16:creationId xmlns:a16="http://schemas.microsoft.com/office/drawing/2014/main" id="{511F3ADB-C6B7-4057-92C2-EF53D6215319}"/>
              </a:ext>
            </a:extLst>
          </p:cNvPr>
          <p:cNvGraphicFramePr>
            <a:graphicFrameLocks noGrp="1"/>
          </p:cNvGraphicFramePr>
          <p:nvPr/>
        </p:nvGraphicFramePr>
        <p:xfrm>
          <a:off x="931068" y="5351616"/>
          <a:ext cx="621379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393">
                  <a:extLst>
                    <a:ext uri="{9D8B030D-6E8A-4147-A177-3AD203B41FA5}">
                      <a16:colId xmlns:a16="http://schemas.microsoft.com/office/drawing/2014/main" val="137344359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0454127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66236878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9950137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25857351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86210301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7509798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75773603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3912579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5109327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1324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Name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254505"/>
                  </a:ext>
                </a:extLst>
              </a:tr>
            </a:tbl>
          </a:graphicData>
        </a:graphic>
      </p:graphicFrame>
      <p:sp>
        <p:nvSpPr>
          <p:cNvPr id="47" name="文字方塊 46">
            <a:extLst>
              <a:ext uri="{FF2B5EF4-FFF2-40B4-BE49-F238E27FC236}">
                <a16:creationId xmlns:a16="http://schemas.microsoft.com/office/drawing/2014/main" id="{1F42D54B-6C02-4C10-9E54-4486668FC417}"/>
              </a:ext>
            </a:extLst>
          </p:cNvPr>
          <p:cNvSpPr txBox="1"/>
          <p:nvPr/>
        </p:nvSpPr>
        <p:spPr>
          <a:xfrm>
            <a:off x="101440" y="4973106"/>
            <a:ext cx="1152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Employee</a:t>
            </a:r>
            <a:endParaRPr lang="zh-TW" altLang="en-US" sz="2000" dirty="0"/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C555AB9A-A0A7-46AF-BA84-A969B8766FDA}"/>
              </a:ext>
            </a:extLst>
          </p:cNvPr>
          <p:cNvSpPr txBox="1"/>
          <p:nvPr/>
        </p:nvSpPr>
        <p:spPr>
          <a:xfrm>
            <a:off x="6345545" y="3333690"/>
            <a:ext cx="10680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solidFill>
                  <a:srgbClr val="C00000"/>
                </a:solidFill>
              </a:rPr>
              <a:t>child ptr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1F646BFE-D86F-4917-AC31-229BCF56A401}"/>
              </a:ext>
            </a:extLst>
          </p:cNvPr>
          <p:cNvSpPr txBox="1"/>
          <p:nvPr/>
        </p:nvSpPr>
        <p:spPr>
          <a:xfrm>
            <a:off x="7004970" y="4633227"/>
            <a:ext cx="11374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record ptr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735163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5914B5-1208-4B4A-B053-8134C7271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</a:t>
            </a:r>
            <a:r>
              <a:rPr lang="en-US" altLang="zh-TW" baseline="30000" dirty="0"/>
              <a:t>+</a:t>
            </a:r>
            <a:r>
              <a:rPr lang="en-US" altLang="zh-TW" dirty="0"/>
              <a:t>-tree (1)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AB231AE-1617-4ADD-A356-E45575330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dirty="0"/>
              <a:t>Yuan-Ko Huang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C17CC3-9E06-44D7-8FCE-624764498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11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D34CE45-29C1-4D42-A377-F1A04E0886A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Commonly used in DBMS</a:t>
            </a:r>
          </a:p>
          <a:p>
            <a:r>
              <a:rPr lang="en-US" altLang="zh-TW" dirty="0"/>
              <a:t>Can be viewed as a B-tree</a:t>
            </a:r>
          </a:p>
          <a:p>
            <a:r>
              <a:rPr lang="en-US" altLang="zh-TW" dirty="0"/>
              <a:t>Each non-leaf node has child pointer</a:t>
            </a:r>
          </a:p>
          <a:p>
            <a:r>
              <a:rPr lang="en-US" altLang="zh-TW" dirty="0"/>
              <a:t>Each leaf node has record pointer</a:t>
            </a:r>
          </a:p>
          <a:p>
            <a:r>
              <a:rPr lang="en-US" altLang="zh-TW" dirty="0"/>
              <a:t>Leaf nodes are connected like a linked list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00820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EFA669-5CD8-4A06-A37C-2326AD4D0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</a:t>
            </a:r>
            <a:r>
              <a:rPr lang="en-US" altLang="zh-TW" baseline="30000" dirty="0"/>
              <a:t>+</a:t>
            </a:r>
            <a:r>
              <a:rPr lang="en-US" altLang="zh-TW" dirty="0"/>
              <a:t>-tree (2)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8CFBDB8-D0BD-4855-84AB-7EA0B3C1A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64CB849-0A5E-47C9-AB80-6A1E4B53C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12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725D195-418E-4BD7-9A52-22F50C9E37F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Example of a B</a:t>
            </a:r>
            <a:r>
              <a:rPr lang="en-US" altLang="zh-TW" baseline="30000" dirty="0"/>
              <a:t>+</a:t>
            </a:r>
            <a:r>
              <a:rPr lang="en-US" altLang="zh-TW" dirty="0"/>
              <a:t>-tree with </a:t>
            </a:r>
            <a:r>
              <a:rPr lang="en-US" altLang="zh-TW" i="1" dirty="0"/>
              <a:t>m</a:t>
            </a:r>
            <a:r>
              <a:rPr lang="en-US" altLang="zh-TW" dirty="0"/>
              <a:t> = 4:</a:t>
            </a:r>
            <a:endParaRPr lang="zh-TW" altLang="en-US" dirty="0"/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005969B7-9D5C-4FEA-A7C9-40A0F06AE208}"/>
              </a:ext>
            </a:extLst>
          </p:cNvPr>
          <p:cNvGraphicFramePr>
            <a:graphicFrameLocks noGrp="1"/>
          </p:cNvGraphicFramePr>
          <p:nvPr/>
        </p:nvGraphicFramePr>
        <p:xfrm>
          <a:off x="1725395" y="3198115"/>
          <a:ext cx="15113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87130120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6795403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65254509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78884606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578644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423549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4D276153-3C82-43D6-84AA-D5AD3E60986B}"/>
              </a:ext>
            </a:extLst>
          </p:cNvPr>
          <p:cNvGraphicFramePr>
            <a:graphicFrameLocks noGrp="1"/>
          </p:cNvGraphicFramePr>
          <p:nvPr/>
        </p:nvGraphicFramePr>
        <p:xfrm>
          <a:off x="199126" y="4169986"/>
          <a:ext cx="135318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114">
                  <a:extLst>
                    <a:ext uri="{9D8B030D-6E8A-4147-A177-3AD203B41FA5}">
                      <a16:colId xmlns:a16="http://schemas.microsoft.com/office/drawing/2014/main" val="6795403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09049565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78884606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6227509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67163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423549"/>
                  </a:ext>
                </a:extLst>
              </a:tr>
            </a:tbl>
          </a:graphicData>
        </a:graphic>
      </p:graphicFrame>
      <p:graphicFrame>
        <p:nvGraphicFramePr>
          <p:cNvPr id="12" name="表格 6">
            <a:extLst>
              <a:ext uri="{FF2B5EF4-FFF2-40B4-BE49-F238E27FC236}">
                <a16:creationId xmlns:a16="http://schemas.microsoft.com/office/drawing/2014/main" id="{193E0AAA-FC77-4264-8FE3-804CC65380D9}"/>
              </a:ext>
            </a:extLst>
          </p:cNvPr>
          <p:cNvGraphicFramePr>
            <a:graphicFrameLocks noGrp="1"/>
          </p:cNvGraphicFramePr>
          <p:nvPr/>
        </p:nvGraphicFramePr>
        <p:xfrm>
          <a:off x="4553357" y="2474671"/>
          <a:ext cx="85979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87130120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6795403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652545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423549"/>
                  </a:ext>
                </a:extLst>
              </a:tr>
            </a:tbl>
          </a:graphicData>
        </a:graphic>
      </p:graphicFrame>
      <p:graphicFrame>
        <p:nvGraphicFramePr>
          <p:cNvPr id="13" name="表格 6">
            <a:extLst>
              <a:ext uri="{FF2B5EF4-FFF2-40B4-BE49-F238E27FC236}">
                <a16:creationId xmlns:a16="http://schemas.microsoft.com/office/drawing/2014/main" id="{AA2C297D-3358-4677-B545-A3CE54F08118}"/>
              </a:ext>
            </a:extLst>
          </p:cNvPr>
          <p:cNvGraphicFramePr>
            <a:graphicFrameLocks noGrp="1"/>
          </p:cNvGraphicFramePr>
          <p:nvPr/>
        </p:nvGraphicFramePr>
        <p:xfrm>
          <a:off x="6714966" y="3121338"/>
          <a:ext cx="85979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87130120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6795403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652545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70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423549"/>
                  </a:ext>
                </a:extLst>
              </a:tr>
            </a:tbl>
          </a:graphicData>
        </a:graphic>
      </p:graphicFrame>
      <p:cxnSp>
        <p:nvCxnSpPr>
          <p:cNvPr id="43" name="直線單箭頭接點 42">
            <a:extLst>
              <a:ext uri="{FF2B5EF4-FFF2-40B4-BE49-F238E27FC236}">
                <a16:creationId xmlns:a16="http://schemas.microsoft.com/office/drawing/2014/main" id="{24531ECD-1704-4985-912A-ECDDFE9178BE}"/>
              </a:ext>
            </a:extLst>
          </p:cNvPr>
          <p:cNvCxnSpPr>
            <a:cxnSpLocks/>
          </p:cNvCxnSpPr>
          <p:nvPr/>
        </p:nvCxnSpPr>
        <p:spPr>
          <a:xfrm>
            <a:off x="603504" y="4451065"/>
            <a:ext cx="0" cy="566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6" name="表格 46">
            <a:extLst>
              <a:ext uri="{FF2B5EF4-FFF2-40B4-BE49-F238E27FC236}">
                <a16:creationId xmlns:a16="http://schemas.microsoft.com/office/drawing/2014/main" id="{511F3ADB-C6B7-4057-92C2-EF53D6215319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5018023"/>
          <a:ext cx="8363269" cy="761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012">
                  <a:extLst>
                    <a:ext uri="{9D8B030D-6E8A-4147-A177-3AD203B41FA5}">
                      <a16:colId xmlns:a16="http://schemas.microsoft.com/office/drawing/2014/main" val="1373443593"/>
                    </a:ext>
                  </a:extLst>
                </a:gridCol>
                <a:gridCol w="820473">
                  <a:extLst>
                    <a:ext uri="{9D8B030D-6E8A-4147-A177-3AD203B41FA5}">
                      <a16:colId xmlns:a16="http://schemas.microsoft.com/office/drawing/2014/main" val="4004541271"/>
                    </a:ext>
                  </a:extLst>
                </a:gridCol>
                <a:gridCol w="820473">
                  <a:extLst>
                    <a:ext uri="{9D8B030D-6E8A-4147-A177-3AD203B41FA5}">
                      <a16:colId xmlns:a16="http://schemas.microsoft.com/office/drawing/2014/main" val="2662368784"/>
                    </a:ext>
                  </a:extLst>
                </a:gridCol>
                <a:gridCol w="820473">
                  <a:extLst>
                    <a:ext uri="{9D8B030D-6E8A-4147-A177-3AD203B41FA5}">
                      <a16:colId xmlns:a16="http://schemas.microsoft.com/office/drawing/2014/main" val="2995013707"/>
                    </a:ext>
                  </a:extLst>
                </a:gridCol>
                <a:gridCol w="820473">
                  <a:extLst>
                    <a:ext uri="{9D8B030D-6E8A-4147-A177-3AD203B41FA5}">
                      <a16:colId xmlns:a16="http://schemas.microsoft.com/office/drawing/2014/main" val="4258573512"/>
                    </a:ext>
                  </a:extLst>
                </a:gridCol>
                <a:gridCol w="820473">
                  <a:extLst>
                    <a:ext uri="{9D8B030D-6E8A-4147-A177-3AD203B41FA5}">
                      <a16:colId xmlns:a16="http://schemas.microsoft.com/office/drawing/2014/main" val="3862103018"/>
                    </a:ext>
                  </a:extLst>
                </a:gridCol>
                <a:gridCol w="820473">
                  <a:extLst>
                    <a:ext uri="{9D8B030D-6E8A-4147-A177-3AD203B41FA5}">
                      <a16:colId xmlns:a16="http://schemas.microsoft.com/office/drawing/2014/main" val="4075097984"/>
                    </a:ext>
                  </a:extLst>
                </a:gridCol>
                <a:gridCol w="820473">
                  <a:extLst>
                    <a:ext uri="{9D8B030D-6E8A-4147-A177-3AD203B41FA5}">
                      <a16:colId xmlns:a16="http://schemas.microsoft.com/office/drawing/2014/main" val="757736037"/>
                    </a:ext>
                  </a:extLst>
                </a:gridCol>
                <a:gridCol w="820473">
                  <a:extLst>
                    <a:ext uri="{9D8B030D-6E8A-4147-A177-3AD203B41FA5}">
                      <a16:colId xmlns:a16="http://schemas.microsoft.com/office/drawing/2014/main" val="2391257905"/>
                    </a:ext>
                  </a:extLst>
                </a:gridCol>
                <a:gridCol w="820473">
                  <a:extLst>
                    <a:ext uri="{9D8B030D-6E8A-4147-A177-3AD203B41FA5}">
                      <a16:colId xmlns:a16="http://schemas.microsoft.com/office/drawing/2014/main" val="3510932776"/>
                    </a:ext>
                  </a:extLst>
                </a:gridCol>
              </a:tblGrid>
              <a:tr h="380747">
                <a:tc>
                  <a:txBody>
                    <a:bodyPr/>
                    <a:lstStyle/>
                    <a:p>
                      <a:r>
                        <a:rPr lang="en-US" altLang="zh-TW" dirty="0"/>
                        <a:t>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1324387"/>
                  </a:ext>
                </a:extLst>
              </a:tr>
              <a:tr h="380747">
                <a:tc>
                  <a:txBody>
                    <a:bodyPr/>
                    <a:lstStyle/>
                    <a:p>
                      <a:r>
                        <a:rPr lang="en-US" altLang="zh-TW" dirty="0"/>
                        <a:t>Name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254505"/>
                  </a:ext>
                </a:extLst>
              </a:tr>
            </a:tbl>
          </a:graphicData>
        </a:graphic>
      </p:graphicFrame>
      <p:sp>
        <p:nvSpPr>
          <p:cNvPr id="47" name="文字方塊 46">
            <a:extLst>
              <a:ext uri="{FF2B5EF4-FFF2-40B4-BE49-F238E27FC236}">
                <a16:creationId xmlns:a16="http://schemas.microsoft.com/office/drawing/2014/main" id="{1F42D54B-6C02-4C10-9E54-4486668FC417}"/>
              </a:ext>
            </a:extLst>
          </p:cNvPr>
          <p:cNvSpPr txBox="1"/>
          <p:nvPr/>
        </p:nvSpPr>
        <p:spPr>
          <a:xfrm>
            <a:off x="3645912" y="5739832"/>
            <a:ext cx="1152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Employee</a:t>
            </a:r>
            <a:endParaRPr lang="zh-TW" altLang="en-US" sz="2000" dirty="0"/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C555AB9A-A0A7-46AF-BA84-A969B8766FDA}"/>
              </a:ext>
            </a:extLst>
          </p:cNvPr>
          <p:cNvSpPr txBox="1"/>
          <p:nvPr/>
        </p:nvSpPr>
        <p:spPr>
          <a:xfrm>
            <a:off x="5710274" y="2427522"/>
            <a:ext cx="10680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solidFill>
                  <a:srgbClr val="C00000"/>
                </a:solidFill>
              </a:rPr>
              <a:t>child ptr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1F646BFE-D86F-4917-AC31-229BCF56A401}"/>
              </a:ext>
            </a:extLst>
          </p:cNvPr>
          <p:cNvSpPr txBox="1"/>
          <p:nvPr/>
        </p:nvSpPr>
        <p:spPr>
          <a:xfrm>
            <a:off x="1232830" y="4601784"/>
            <a:ext cx="11374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record ptr</a:t>
            </a:r>
            <a:endParaRPr lang="zh-TW" altLang="en-US" sz="2000" dirty="0"/>
          </a:p>
        </p:txBody>
      </p:sp>
      <p:graphicFrame>
        <p:nvGraphicFramePr>
          <p:cNvPr id="37" name="表格 36">
            <a:extLst>
              <a:ext uri="{FF2B5EF4-FFF2-40B4-BE49-F238E27FC236}">
                <a16:creationId xmlns:a16="http://schemas.microsoft.com/office/drawing/2014/main" id="{AD5908ED-7938-4805-AA1E-87CDB896666C}"/>
              </a:ext>
            </a:extLst>
          </p:cNvPr>
          <p:cNvGraphicFramePr>
            <a:graphicFrameLocks noGrp="1"/>
          </p:cNvGraphicFramePr>
          <p:nvPr/>
        </p:nvGraphicFramePr>
        <p:xfrm>
          <a:off x="1725395" y="4163175"/>
          <a:ext cx="15113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230">
                  <a:extLst>
                    <a:ext uri="{9D8B030D-6E8A-4147-A177-3AD203B41FA5}">
                      <a16:colId xmlns:a16="http://schemas.microsoft.com/office/drawing/2014/main" val="6795403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09049565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78884606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6227509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67163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423549"/>
                  </a:ext>
                </a:extLst>
              </a:tr>
            </a:tbl>
          </a:graphicData>
        </a:graphic>
      </p:graphicFrame>
      <p:graphicFrame>
        <p:nvGraphicFramePr>
          <p:cNvPr id="45" name="表格 44">
            <a:extLst>
              <a:ext uri="{FF2B5EF4-FFF2-40B4-BE49-F238E27FC236}">
                <a16:creationId xmlns:a16="http://schemas.microsoft.com/office/drawing/2014/main" id="{4BEE22DB-7C84-4518-AF8A-F527FF968F1E}"/>
              </a:ext>
            </a:extLst>
          </p:cNvPr>
          <p:cNvGraphicFramePr>
            <a:graphicFrameLocks noGrp="1"/>
          </p:cNvGraphicFramePr>
          <p:nvPr/>
        </p:nvGraphicFramePr>
        <p:xfrm>
          <a:off x="3409780" y="4145029"/>
          <a:ext cx="15113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230">
                  <a:extLst>
                    <a:ext uri="{9D8B030D-6E8A-4147-A177-3AD203B41FA5}">
                      <a16:colId xmlns:a16="http://schemas.microsoft.com/office/drawing/2014/main" val="6795403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09049565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78884606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6227509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67163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423549"/>
                  </a:ext>
                </a:extLst>
              </a:tr>
            </a:tbl>
          </a:graphicData>
        </a:graphic>
      </p:graphicFrame>
      <p:graphicFrame>
        <p:nvGraphicFramePr>
          <p:cNvPr id="50" name="表格 49">
            <a:extLst>
              <a:ext uri="{FF2B5EF4-FFF2-40B4-BE49-F238E27FC236}">
                <a16:creationId xmlns:a16="http://schemas.microsoft.com/office/drawing/2014/main" id="{974D10BD-8311-4029-84FD-295FFCDF6041}"/>
              </a:ext>
            </a:extLst>
          </p:cNvPr>
          <p:cNvGraphicFramePr>
            <a:graphicFrameLocks noGrp="1"/>
          </p:cNvGraphicFramePr>
          <p:nvPr/>
        </p:nvGraphicFramePr>
        <p:xfrm>
          <a:off x="5094165" y="4145029"/>
          <a:ext cx="216281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230">
                  <a:extLst>
                    <a:ext uri="{9D8B030D-6E8A-4147-A177-3AD203B41FA5}">
                      <a16:colId xmlns:a16="http://schemas.microsoft.com/office/drawing/2014/main" val="6795403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09049565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78884606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62275099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56716399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374358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024631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423549"/>
                  </a:ext>
                </a:extLst>
              </a:tr>
            </a:tbl>
          </a:graphicData>
        </a:graphic>
      </p:graphicFrame>
      <p:graphicFrame>
        <p:nvGraphicFramePr>
          <p:cNvPr id="51" name="表格 50">
            <a:extLst>
              <a:ext uri="{FF2B5EF4-FFF2-40B4-BE49-F238E27FC236}">
                <a16:creationId xmlns:a16="http://schemas.microsoft.com/office/drawing/2014/main" id="{706E4EAE-8DD3-49FD-A783-F20552A4DB3F}"/>
              </a:ext>
            </a:extLst>
          </p:cNvPr>
          <p:cNvGraphicFramePr>
            <a:graphicFrameLocks noGrp="1"/>
          </p:cNvGraphicFramePr>
          <p:nvPr/>
        </p:nvGraphicFramePr>
        <p:xfrm>
          <a:off x="7433574" y="4145029"/>
          <a:ext cx="15113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230">
                  <a:extLst>
                    <a:ext uri="{9D8B030D-6E8A-4147-A177-3AD203B41FA5}">
                      <a16:colId xmlns:a16="http://schemas.microsoft.com/office/drawing/2014/main" val="6795403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09049565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78884606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6227509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67163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70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80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423549"/>
                  </a:ext>
                </a:extLst>
              </a:tr>
            </a:tbl>
          </a:graphicData>
        </a:graphic>
      </p:graphicFrame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7240D4C9-3869-4313-B90C-9272A49945F7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2481045" y="2643209"/>
            <a:ext cx="2192207" cy="5549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000A470E-A5D5-4020-939C-98852F5833C1}"/>
              </a:ext>
            </a:extLst>
          </p:cNvPr>
          <p:cNvCxnSpPr>
            <a:endCxn id="13" idx="0"/>
          </p:cNvCxnSpPr>
          <p:nvPr/>
        </p:nvCxnSpPr>
        <p:spPr>
          <a:xfrm>
            <a:off x="5292080" y="2643209"/>
            <a:ext cx="1852781" cy="478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75B46250-D28D-469A-BAA4-A306E047D6FF}"/>
              </a:ext>
            </a:extLst>
          </p:cNvPr>
          <p:cNvCxnSpPr>
            <a:endCxn id="7" idx="0"/>
          </p:cNvCxnSpPr>
          <p:nvPr/>
        </p:nvCxnSpPr>
        <p:spPr>
          <a:xfrm flipH="1">
            <a:off x="875718" y="3383535"/>
            <a:ext cx="959978" cy="786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54C0C3FC-E7D5-41C4-BE43-52A9992D2E23}"/>
              </a:ext>
            </a:extLst>
          </p:cNvPr>
          <p:cNvCxnSpPr/>
          <p:nvPr/>
        </p:nvCxnSpPr>
        <p:spPr>
          <a:xfrm>
            <a:off x="2481045" y="3383535"/>
            <a:ext cx="74731" cy="761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0E350E8E-A0F4-4573-9EFE-1616DD603CCD}"/>
              </a:ext>
            </a:extLst>
          </p:cNvPr>
          <p:cNvCxnSpPr>
            <a:endCxn id="45" idx="0"/>
          </p:cNvCxnSpPr>
          <p:nvPr/>
        </p:nvCxnSpPr>
        <p:spPr>
          <a:xfrm>
            <a:off x="3126394" y="3383535"/>
            <a:ext cx="1039036" cy="761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>
            <a:extLst>
              <a:ext uri="{FF2B5EF4-FFF2-40B4-BE49-F238E27FC236}">
                <a16:creationId xmlns:a16="http://schemas.microsoft.com/office/drawing/2014/main" id="{20BA678F-00B9-48E4-AD44-A40DD11EEFB5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6175570" y="3337025"/>
            <a:ext cx="602774" cy="8080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>
            <a:extLst>
              <a:ext uri="{FF2B5EF4-FFF2-40B4-BE49-F238E27FC236}">
                <a16:creationId xmlns:a16="http://schemas.microsoft.com/office/drawing/2014/main" id="{96879564-6820-4708-A33C-2ABC8E66C83B}"/>
              </a:ext>
            </a:extLst>
          </p:cNvPr>
          <p:cNvCxnSpPr>
            <a:endCxn id="51" idx="0"/>
          </p:cNvCxnSpPr>
          <p:nvPr/>
        </p:nvCxnSpPr>
        <p:spPr>
          <a:xfrm>
            <a:off x="7433574" y="3306758"/>
            <a:ext cx="755650" cy="8382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>
            <a:extLst>
              <a:ext uri="{FF2B5EF4-FFF2-40B4-BE49-F238E27FC236}">
                <a16:creationId xmlns:a16="http://schemas.microsoft.com/office/drawing/2014/main" id="{B4B33B15-DB28-4A3A-BAFB-46B9CFC9C1D8}"/>
              </a:ext>
            </a:extLst>
          </p:cNvPr>
          <p:cNvCxnSpPr>
            <a:cxnSpLocks/>
          </p:cNvCxnSpPr>
          <p:nvPr/>
        </p:nvCxnSpPr>
        <p:spPr>
          <a:xfrm>
            <a:off x="1259632" y="4451065"/>
            <a:ext cx="0" cy="566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線單箭頭接點 58">
            <a:extLst>
              <a:ext uri="{FF2B5EF4-FFF2-40B4-BE49-F238E27FC236}">
                <a16:creationId xmlns:a16="http://schemas.microsoft.com/office/drawing/2014/main" id="{49B2124C-3AE4-44BF-A2AE-5413F3635AED}"/>
              </a:ext>
            </a:extLst>
          </p:cNvPr>
          <p:cNvCxnSpPr>
            <a:cxnSpLocks/>
          </p:cNvCxnSpPr>
          <p:nvPr/>
        </p:nvCxnSpPr>
        <p:spPr>
          <a:xfrm>
            <a:off x="7956376" y="4451065"/>
            <a:ext cx="0" cy="566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直線單箭頭接點 59">
            <a:extLst>
              <a:ext uri="{FF2B5EF4-FFF2-40B4-BE49-F238E27FC236}">
                <a16:creationId xmlns:a16="http://schemas.microsoft.com/office/drawing/2014/main" id="{36180187-4DA0-4A5C-BEF2-233D6C56E02E}"/>
              </a:ext>
            </a:extLst>
          </p:cNvPr>
          <p:cNvCxnSpPr>
            <a:cxnSpLocks/>
          </p:cNvCxnSpPr>
          <p:nvPr/>
        </p:nvCxnSpPr>
        <p:spPr>
          <a:xfrm>
            <a:off x="8585702" y="4451065"/>
            <a:ext cx="0" cy="566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04ABCF19-B308-4270-9870-F306CCC8425F}"/>
              </a:ext>
            </a:extLst>
          </p:cNvPr>
          <p:cNvSpPr txBox="1"/>
          <p:nvPr/>
        </p:nvSpPr>
        <p:spPr>
          <a:xfrm>
            <a:off x="4245118" y="4485352"/>
            <a:ext cx="5150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…</a:t>
            </a:r>
            <a:endParaRPr lang="zh-TW" altLang="en-US" sz="3200" dirty="0"/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B68EE52C-75B3-4C93-B90D-FE2C701D72A3}"/>
              </a:ext>
            </a:extLst>
          </p:cNvPr>
          <p:cNvSpPr txBox="1"/>
          <p:nvPr/>
        </p:nvSpPr>
        <p:spPr>
          <a:xfrm>
            <a:off x="2576209" y="4510025"/>
            <a:ext cx="5150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…</a:t>
            </a:r>
            <a:endParaRPr lang="zh-TW" altLang="en-US" sz="3200" dirty="0"/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65E14491-841B-452D-83D1-9C7E23B5604C}"/>
              </a:ext>
            </a:extLst>
          </p:cNvPr>
          <p:cNvSpPr txBox="1"/>
          <p:nvPr/>
        </p:nvSpPr>
        <p:spPr>
          <a:xfrm>
            <a:off x="6175430" y="4474559"/>
            <a:ext cx="5150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…</a:t>
            </a:r>
            <a:endParaRPr lang="zh-TW" altLang="en-US" sz="3200" dirty="0"/>
          </a:p>
        </p:txBody>
      </p:sp>
      <p:cxnSp>
        <p:nvCxnSpPr>
          <p:cNvPr id="65" name="直線單箭頭接點 64">
            <a:extLst>
              <a:ext uri="{FF2B5EF4-FFF2-40B4-BE49-F238E27FC236}">
                <a16:creationId xmlns:a16="http://schemas.microsoft.com/office/drawing/2014/main" id="{5EE8D6C0-A7C6-4037-AACC-D4EFEAF2D08C}"/>
              </a:ext>
            </a:extLst>
          </p:cNvPr>
          <p:cNvCxnSpPr>
            <a:endCxn id="37" idx="1"/>
          </p:cNvCxnSpPr>
          <p:nvPr/>
        </p:nvCxnSpPr>
        <p:spPr>
          <a:xfrm>
            <a:off x="1403648" y="4348595"/>
            <a:ext cx="321747" cy="0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6" name="直線單箭頭接點 65">
            <a:extLst>
              <a:ext uri="{FF2B5EF4-FFF2-40B4-BE49-F238E27FC236}">
                <a16:creationId xmlns:a16="http://schemas.microsoft.com/office/drawing/2014/main" id="{9D3035DB-D0F1-4189-98ED-5CEBA16AC62B}"/>
              </a:ext>
            </a:extLst>
          </p:cNvPr>
          <p:cNvCxnSpPr/>
          <p:nvPr/>
        </p:nvCxnSpPr>
        <p:spPr>
          <a:xfrm>
            <a:off x="3088033" y="4330449"/>
            <a:ext cx="321747" cy="0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65FA490A-C1E3-401A-99AD-4EEF0381EEAD}"/>
              </a:ext>
            </a:extLst>
          </p:cNvPr>
          <p:cNvCxnSpPr/>
          <p:nvPr/>
        </p:nvCxnSpPr>
        <p:spPr>
          <a:xfrm>
            <a:off x="4772418" y="4338740"/>
            <a:ext cx="321747" cy="0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8" name="直線單箭頭接點 67">
            <a:extLst>
              <a:ext uri="{FF2B5EF4-FFF2-40B4-BE49-F238E27FC236}">
                <a16:creationId xmlns:a16="http://schemas.microsoft.com/office/drawing/2014/main" id="{4B4EB484-B1C1-4541-BE27-430D570CE392}"/>
              </a:ext>
            </a:extLst>
          </p:cNvPr>
          <p:cNvCxnSpPr/>
          <p:nvPr/>
        </p:nvCxnSpPr>
        <p:spPr>
          <a:xfrm>
            <a:off x="7111827" y="4323480"/>
            <a:ext cx="321747" cy="0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313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634B3B-6ABA-4B37-96DE-9610619DC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</a:t>
            </a:r>
            <a:r>
              <a:rPr lang="en-US" altLang="zh-TW" baseline="30000" dirty="0"/>
              <a:t>+</a:t>
            </a:r>
            <a:r>
              <a:rPr lang="en-US" altLang="zh-TW" dirty="0"/>
              <a:t>-tree</a:t>
            </a:r>
            <a:r>
              <a:rPr lang="zh-TW" altLang="en-US" dirty="0"/>
              <a:t>定義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103B979-0431-4906-ABF4-B7758497C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4B266E9-55CD-4962-A34F-D6A658DD0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13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D333309-D847-45C0-9F2F-165FC5D2B86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en-US" dirty="0"/>
              <a:t>階數 </a:t>
            </a:r>
            <a:r>
              <a:rPr lang="en-US" altLang="zh-TW" dirty="0"/>
              <a:t>(m)</a:t>
            </a:r>
          </a:p>
          <a:p>
            <a:pPr lvl="1"/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內部節點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(internal node) 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最多有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個子樹，最少有 ⌈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m/2⌉ 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個子樹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根除外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每個內部節點最多有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m−1 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個鍵值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(keys)</a:t>
            </a:r>
          </a:p>
          <a:p>
            <a:r>
              <a:rPr lang="zh-TW" altLang="en-US" dirty="0"/>
              <a:t>葉節點 </a:t>
            </a:r>
            <a:r>
              <a:rPr lang="en-US" altLang="zh-TW" dirty="0"/>
              <a:t>(leaf nodes)</a:t>
            </a:r>
          </a:p>
          <a:p>
            <a:pPr lvl="1"/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所有資料皆儲存在葉節點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每個葉節點的資料數量介於 ⌈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m/2⌉ 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(m−1)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之間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葉節點之間鏈結，支援順序與範圍存取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TW" altLang="en-US" dirty="0"/>
              <a:t>插入規則 </a:t>
            </a:r>
            <a:r>
              <a:rPr lang="en-US" altLang="zh-TW" dirty="0"/>
              <a:t>(insertion)</a:t>
            </a:r>
          </a:p>
          <a:p>
            <a:pPr lvl="1"/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找到正確的</a:t>
            </a: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葉節點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，將新資料插入並保持排序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若葉節點溢位 → 分裂為兩個葉節點，並將</a:t>
            </a: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右節點的第一個鍵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值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上推至父節點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內部節點溢位 → 分裂，並將</a:t>
            </a: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中間鍵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值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上推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為偶數，推右節點的第一個鍵值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zh-TW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若根節點溢位 → 產生</a:t>
            </a:r>
            <a:r>
              <a:rPr lang="zh-TW" altLang="en-US" sz="21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新根</a:t>
            </a:r>
            <a:r>
              <a:rPr lang="zh-TW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，樹高增加</a:t>
            </a:r>
            <a:endParaRPr lang="en-US" altLang="zh-TW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9695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F1336E-E600-4AD7-BDCB-A737CD01A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</a:t>
            </a:r>
            <a:r>
              <a:rPr lang="en-US" altLang="zh-TW" baseline="30000" dirty="0"/>
              <a:t>+</a:t>
            </a:r>
            <a:r>
              <a:rPr lang="en-US" altLang="zh-TW" dirty="0"/>
              <a:t>-tree</a:t>
            </a:r>
            <a:r>
              <a:rPr lang="zh-TW" altLang="en-US" dirty="0"/>
              <a:t>例子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A289ADF-441D-4104-B8C4-5F9988704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D15C1E2-4205-440A-9176-16AFC9911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14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00CB512-ECB5-4D9E-8763-60A8B29FB83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dirty="0"/>
              <a:t>輸入</a:t>
            </a:r>
            <a:r>
              <a:rPr lang="en-US" altLang="zh-TW" dirty="0"/>
              <a:t>8</a:t>
            </a:r>
            <a:r>
              <a:rPr lang="zh-TW" altLang="en-US" dirty="0"/>
              <a:t>個數字，依序為</a:t>
            </a:r>
            <a:endParaRPr lang="en-US" altLang="zh-TW" dirty="0"/>
          </a:p>
          <a:p>
            <a:pPr lvl="1"/>
            <a:r>
              <a:rPr lang="en-US" altLang="zh-TW" dirty="0"/>
              <a:t>12, 5, 18, 7, 3, 14, 9, 16</a:t>
            </a:r>
          </a:p>
          <a:p>
            <a:r>
              <a:rPr lang="en-US" altLang="zh-TW" dirty="0"/>
              <a:t>m = 3</a:t>
            </a:r>
          </a:p>
          <a:p>
            <a:r>
              <a:rPr lang="en-US" altLang="zh-TW" dirty="0"/>
              <a:t>leaf node</a:t>
            </a:r>
            <a:r>
              <a:rPr lang="zh-TW" altLang="en-US" dirty="0"/>
              <a:t>容量 </a:t>
            </a:r>
            <a:r>
              <a:rPr lang="en-US" altLang="zh-TW" dirty="0"/>
              <a:t>= 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05294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B35F44F-B8F9-4AB3-A1F3-7194956D2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066A3D-1EED-418F-9FDA-B02CF267B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15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C0280D7-AC83-4626-819F-0833E6FA4FA5}"/>
              </a:ext>
            </a:extLst>
          </p:cNvPr>
          <p:cNvSpPr txBox="1"/>
          <p:nvPr/>
        </p:nvSpPr>
        <p:spPr>
          <a:xfrm>
            <a:off x="1115616" y="1098892"/>
            <a:ext cx="64807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solidFill>
                  <a:schemeClr val="bg2">
                    <a:lumMod val="50000"/>
                  </a:schemeClr>
                </a:solidFill>
              </a:rPr>
              <a:t>[12]</a:t>
            </a:r>
            <a:endParaRPr lang="zh-TW" alt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BEBFAC6-A4E1-4AAF-A92D-F97820BE6C66}"/>
              </a:ext>
            </a:extLst>
          </p:cNvPr>
          <p:cNvSpPr txBox="1"/>
          <p:nvPr/>
        </p:nvSpPr>
        <p:spPr>
          <a:xfrm>
            <a:off x="985167" y="522828"/>
            <a:ext cx="922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插入</a:t>
            </a:r>
            <a:r>
              <a:rPr lang="en-US" altLang="zh-TW" dirty="0"/>
              <a:t>12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0194EE3-EBAA-4D10-A8B0-C5BB59191EBC}"/>
              </a:ext>
            </a:extLst>
          </p:cNvPr>
          <p:cNvSpPr txBox="1"/>
          <p:nvPr/>
        </p:nvSpPr>
        <p:spPr>
          <a:xfrm>
            <a:off x="2577168" y="1110414"/>
            <a:ext cx="98671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solidFill>
                  <a:schemeClr val="bg2">
                    <a:lumMod val="50000"/>
                  </a:schemeClr>
                </a:solidFill>
              </a:rPr>
              <a:t>[5, 12]</a:t>
            </a:r>
            <a:endParaRPr lang="zh-TW" alt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90321D2-6A76-4D97-8BD0-4EAFE22C0342}"/>
              </a:ext>
            </a:extLst>
          </p:cNvPr>
          <p:cNvSpPr txBox="1"/>
          <p:nvPr/>
        </p:nvSpPr>
        <p:spPr>
          <a:xfrm>
            <a:off x="2526555" y="522093"/>
            <a:ext cx="821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插入</a:t>
            </a:r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4043642-E2EE-4A50-908E-737338DA83BC}"/>
              </a:ext>
            </a:extLst>
          </p:cNvPr>
          <p:cNvSpPr txBox="1"/>
          <p:nvPr/>
        </p:nvSpPr>
        <p:spPr>
          <a:xfrm>
            <a:off x="4355976" y="522093"/>
            <a:ext cx="44644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插入</a:t>
            </a:r>
            <a:r>
              <a:rPr lang="en-US" altLang="zh-TW" dirty="0"/>
              <a:t>18</a:t>
            </a:r>
            <a:r>
              <a:rPr lang="zh-TW" altLang="en-US" dirty="0"/>
              <a:t>，葉溢位，分裂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分成 </a:t>
            </a:r>
            <a:r>
              <a:rPr lang="en-US" altLang="zh-TW" dirty="0"/>
              <a:t>[5, 12], [18]</a:t>
            </a:r>
            <a:r>
              <a:rPr lang="zh-TW" altLang="en-US" dirty="0"/>
              <a:t>，</a:t>
            </a:r>
            <a:r>
              <a:rPr lang="zh-TW" altLang="en-US" b="1" dirty="0">
                <a:solidFill>
                  <a:srgbClr val="FF0000"/>
                </a:solidFill>
              </a:rPr>
              <a:t>右邊第一鍵</a:t>
            </a:r>
            <a:r>
              <a:rPr lang="en-US" altLang="zh-TW" dirty="0"/>
              <a:t>18</a:t>
            </a:r>
            <a:r>
              <a:rPr lang="zh-TW" altLang="en-US" dirty="0"/>
              <a:t>上推到父節點</a:t>
            </a: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81EA3359-416A-468A-A154-FAE1034E7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048" y="1602948"/>
            <a:ext cx="1320278" cy="1026883"/>
          </a:xfrm>
          <a:prstGeom prst="rect">
            <a:avLst/>
          </a:prstGeom>
        </p:spPr>
      </p:pic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E66BE752-2D6F-4A94-B55B-264AD85FBAAC}"/>
              </a:ext>
            </a:extLst>
          </p:cNvPr>
          <p:cNvCxnSpPr/>
          <p:nvPr/>
        </p:nvCxnSpPr>
        <p:spPr>
          <a:xfrm>
            <a:off x="1907704" y="983758"/>
            <a:ext cx="4748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33E17389-8F2F-4F25-8FF3-F39DE3089C53}"/>
              </a:ext>
            </a:extLst>
          </p:cNvPr>
          <p:cNvCxnSpPr/>
          <p:nvPr/>
        </p:nvCxnSpPr>
        <p:spPr>
          <a:xfrm>
            <a:off x="3635896" y="976707"/>
            <a:ext cx="4748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32F17AC3-2E3D-49D1-AF46-C544A36AA1A5}"/>
              </a:ext>
            </a:extLst>
          </p:cNvPr>
          <p:cNvCxnSpPr/>
          <p:nvPr/>
        </p:nvCxnSpPr>
        <p:spPr>
          <a:xfrm>
            <a:off x="99448" y="3626606"/>
            <a:ext cx="4748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BB32E074-13CE-44A1-9379-B6B068660A27}"/>
              </a:ext>
            </a:extLst>
          </p:cNvPr>
          <p:cNvSpPr txBox="1"/>
          <p:nvPr/>
        </p:nvSpPr>
        <p:spPr>
          <a:xfrm>
            <a:off x="755576" y="2969690"/>
            <a:ext cx="360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插入</a:t>
            </a:r>
            <a:r>
              <a:rPr lang="en-US" altLang="zh-TW" dirty="0"/>
              <a:t>7</a:t>
            </a:r>
            <a:r>
              <a:rPr lang="zh-TW" altLang="en-US" dirty="0"/>
              <a:t>，左葉溢位，分裂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左葉 </a:t>
            </a:r>
            <a:r>
              <a:rPr lang="en-US" altLang="zh-TW" dirty="0"/>
              <a:t>[5, 7, 12] </a:t>
            </a:r>
            <a:r>
              <a:rPr lang="zh-TW" altLang="en-US" dirty="0"/>
              <a:t>分成  </a:t>
            </a:r>
            <a:r>
              <a:rPr lang="en-US" altLang="zh-TW" dirty="0"/>
              <a:t>[5, 7], [12]</a:t>
            </a:r>
            <a:r>
              <a:rPr lang="zh-TW" altLang="en-US" dirty="0"/>
              <a:t>，</a:t>
            </a:r>
            <a:endParaRPr lang="en-US" altLang="zh-TW" dirty="0"/>
          </a:p>
          <a:p>
            <a:r>
              <a:rPr lang="zh-TW" altLang="en-US" dirty="0"/>
              <a:t>上推</a:t>
            </a:r>
            <a:r>
              <a:rPr lang="en-US" altLang="zh-TW" dirty="0"/>
              <a:t>12</a:t>
            </a:r>
            <a:r>
              <a:rPr lang="zh-TW" altLang="en-US" dirty="0"/>
              <a:t>到父節點</a:t>
            </a:r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5CBABDD9-2275-481F-B669-6DF83C78B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4198396"/>
            <a:ext cx="2210108" cy="1390844"/>
          </a:xfrm>
          <a:prstGeom prst="rect">
            <a:avLst/>
          </a:prstGeom>
        </p:spPr>
      </p:pic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FFEBFE98-D4D2-46CB-8E1E-C2968FDA78FF}"/>
              </a:ext>
            </a:extLst>
          </p:cNvPr>
          <p:cNvCxnSpPr/>
          <p:nvPr/>
        </p:nvCxnSpPr>
        <p:spPr>
          <a:xfrm>
            <a:off x="3946581" y="3626606"/>
            <a:ext cx="4748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0F1E6B46-4E65-4F11-8717-5F82AAA30DF7}"/>
              </a:ext>
            </a:extLst>
          </p:cNvPr>
          <p:cNvSpPr txBox="1"/>
          <p:nvPr/>
        </p:nvSpPr>
        <p:spPr>
          <a:xfrm>
            <a:off x="4537269" y="2966449"/>
            <a:ext cx="44644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插入</a:t>
            </a:r>
            <a:r>
              <a:rPr lang="en-US" altLang="zh-TW" dirty="0"/>
              <a:t>3</a:t>
            </a:r>
            <a:r>
              <a:rPr lang="zh-TW" altLang="en-US" dirty="0"/>
              <a:t>，左葉溢位，分裂</a:t>
            </a:r>
            <a:endParaRPr lang="en-US" altLang="zh-TW" dirty="0"/>
          </a:p>
          <a:p>
            <a:r>
              <a:rPr lang="zh-TW" altLang="en-US" dirty="0"/>
              <a:t>左葉 </a:t>
            </a:r>
            <a:r>
              <a:rPr lang="en-US" altLang="zh-TW" dirty="0"/>
              <a:t>[3, 5, 7] </a:t>
            </a:r>
            <a:r>
              <a:rPr lang="zh-TW" altLang="en-US" dirty="0"/>
              <a:t>分成  </a:t>
            </a:r>
            <a:r>
              <a:rPr lang="en-US" altLang="zh-TW" dirty="0"/>
              <a:t>[3, 5], [7]</a:t>
            </a:r>
            <a:r>
              <a:rPr lang="zh-TW" altLang="en-US" dirty="0"/>
              <a:t>，上推</a:t>
            </a:r>
            <a:r>
              <a:rPr lang="en-US" altLang="zh-TW" dirty="0"/>
              <a:t>7</a:t>
            </a:r>
            <a:r>
              <a:rPr lang="zh-TW" altLang="en-US" dirty="0"/>
              <a:t>到父節點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父節點 </a:t>
            </a:r>
            <a:r>
              <a:rPr lang="en-US" altLang="zh-TW" dirty="0"/>
              <a:t>[7, 12, 18]</a:t>
            </a:r>
            <a:r>
              <a:rPr lang="zh-TW" altLang="en-US" dirty="0"/>
              <a:t>，內部分裂，取</a:t>
            </a:r>
            <a:r>
              <a:rPr lang="zh-TW" altLang="en-US" b="1" dirty="0">
                <a:solidFill>
                  <a:srgbClr val="FF0000"/>
                </a:solidFill>
              </a:rPr>
              <a:t>中間值</a:t>
            </a:r>
            <a:r>
              <a:rPr lang="en-US" altLang="zh-TW" dirty="0"/>
              <a:t>12</a:t>
            </a:r>
            <a:r>
              <a:rPr lang="zh-TW" altLang="en-US" dirty="0"/>
              <a:t>上推到父節點</a:t>
            </a:r>
            <a:endParaRPr lang="en-US" altLang="zh-TW" dirty="0"/>
          </a:p>
          <a:p>
            <a:endParaRPr lang="en-US" altLang="zh-TW" dirty="0"/>
          </a:p>
        </p:txBody>
      </p:sp>
      <p:pic>
        <p:nvPicPr>
          <p:cNvPr id="30" name="圖片 29">
            <a:extLst>
              <a:ext uri="{FF2B5EF4-FFF2-40B4-BE49-F238E27FC236}">
                <a16:creationId xmlns:a16="http://schemas.microsoft.com/office/drawing/2014/main" id="{CE98959B-7BBA-415A-8D17-C1E511736C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1955" y="4200213"/>
            <a:ext cx="2924583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6057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B35F44F-B8F9-4AB3-A1F3-7194956D2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4043642-E2EE-4A50-908E-737338DA83BC}"/>
              </a:ext>
            </a:extLst>
          </p:cNvPr>
          <p:cNvSpPr txBox="1"/>
          <p:nvPr/>
        </p:nvSpPr>
        <p:spPr>
          <a:xfrm>
            <a:off x="827584" y="480848"/>
            <a:ext cx="3118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插入</a:t>
            </a:r>
            <a:r>
              <a:rPr lang="en-US" altLang="zh-TW" dirty="0"/>
              <a:t>14</a:t>
            </a:r>
            <a:r>
              <a:rPr lang="zh-TW" altLang="en-US" dirty="0"/>
              <a:t>，放到左葉 </a:t>
            </a:r>
            <a:r>
              <a:rPr lang="en-US" altLang="zh-TW" dirty="0"/>
              <a:t>[12]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33E17389-8F2F-4F25-8FF3-F39DE3089C53}"/>
              </a:ext>
            </a:extLst>
          </p:cNvPr>
          <p:cNvCxnSpPr/>
          <p:nvPr/>
        </p:nvCxnSpPr>
        <p:spPr>
          <a:xfrm>
            <a:off x="107504" y="935462"/>
            <a:ext cx="4748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FFEBFE98-D4D2-46CB-8E1E-C2968FDA78FF}"/>
              </a:ext>
            </a:extLst>
          </p:cNvPr>
          <p:cNvCxnSpPr/>
          <p:nvPr/>
        </p:nvCxnSpPr>
        <p:spPr>
          <a:xfrm>
            <a:off x="1763688" y="4581128"/>
            <a:ext cx="4748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0F1E6B46-4E65-4F11-8717-5F82AAA30DF7}"/>
              </a:ext>
            </a:extLst>
          </p:cNvPr>
          <p:cNvSpPr txBox="1"/>
          <p:nvPr/>
        </p:nvSpPr>
        <p:spPr>
          <a:xfrm>
            <a:off x="2339752" y="3574757"/>
            <a:ext cx="4464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插入</a:t>
            </a:r>
            <a:r>
              <a:rPr lang="en-US" altLang="zh-TW" dirty="0"/>
              <a:t>16</a:t>
            </a:r>
            <a:r>
              <a:rPr lang="zh-TW" altLang="en-US" dirty="0"/>
              <a:t>，放到左葉 </a:t>
            </a:r>
            <a:r>
              <a:rPr lang="en-US" altLang="zh-TW" dirty="0"/>
              <a:t>[12, 14, 16]</a:t>
            </a:r>
            <a:r>
              <a:rPr lang="zh-TW" altLang="en-US" dirty="0"/>
              <a:t>，溢位分裂</a:t>
            </a:r>
            <a:endParaRPr lang="en-US" altLang="zh-TW" dirty="0"/>
          </a:p>
          <a:p>
            <a:r>
              <a:rPr lang="zh-TW" altLang="en-US" dirty="0"/>
              <a:t>分成 </a:t>
            </a:r>
            <a:r>
              <a:rPr lang="en-US" altLang="zh-TW" dirty="0"/>
              <a:t>[12, 14], [16]</a:t>
            </a:r>
            <a:r>
              <a:rPr lang="zh-TW" altLang="en-US" dirty="0"/>
              <a:t>，上推</a:t>
            </a:r>
            <a:r>
              <a:rPr lang="en-US" altLang="zh-TW" dirty="0"/>
              <a:t>16</a:t>
            </a:r>
            <a:r>
              <a:rPr lang="zh-TW" altLang="en-US" dirty="0"/>
              <a:t>到父節點</a:t>
            </a:r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C82EE30-6A8D-49D6-8B86-F962DE10D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16" y="1033153"/>
            <a:ext cx="3181794" cy="2219635"/>
          </a:xfrm>
          <a:prstGeom prst="rect">
            <a:avLst/>
          </a:prstGeom>
        </p:spPr>
      </p:pic>
      <p:sp>
        <p:nvSpPr>
          <p:cNvPr id="23" name="文字方塊 22">
            <a:extLst>
              <a:ext uri="{FF2B5EF4-FFF2-40B4-BE49-F238E27FC236}">
                <a16:creationId xmlns:a16="http://schemas.microsoft.com/office/drawing/2014/main" id="{DFB41B87-EC9D-416E-9D6C-7C9EB96CF48E}"/>
              </a:ext>
            </a:extLst>
          </p:cNvPr>
          <p:cNvSpPr txBox="1"/>
          <p:nvPr/>
        </p:nvSpPr>
        <p:spPr>
          <a:xfrm>
            <a:off x="5292081" y="480848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插入</a:t>
            </a:r>
            <a:r>
              <a:rPr lang="en-US" altLang="zh-TW" dirty="0"/>
              <a:t>9</a:t>
            </a:r>
            <a:r>
              <a:rPr lang="zh-TW" altLang="en-US" dirty="0"/>
              <a:t>，放到右葉 </a:t>
            </a:r>
            <a:r>
              <a:rPr lang="en-US" altLang="zh-TW" dirty="0"/>
              <a:t>[7]</a:t>
            </a:r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C336EE30-96A2-46CF-B654-8A5FEE0FC3F4}"/>
              </a:ext>
            </a:extLst>
          </p:cNvPr>
          <p:cNvCxnSpPr/>
          <p:nvPr/>
        </p:nvCxnSpPr>
        <p:spPr>
          <a:xfrm>
            <a:off x="4421416" y="935462"/>
            <a:ext cx="4748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圖片 7">
            <a:extLst>
              <a:ext uri="{FF2B5EF4-FFF2-40B4-BE49-F238E27FC236}">
                <a16:creationId xmlns:a16="http://schemas.microsoft.com/office/drawing/2014/main" id="{F0A8ECB1-EBC1-465C-BE75-8ED78D707E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0072" y="1022243"/>
            <a:ext cx="3229426" cy="216247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3C34030B-906E-41DF-AFEF-2CC9482DC2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6234" y="4293096"/>
            <a:ext cx="4464496" cy="2344126"/>
          </a:xfrm>
          <a:prstGeom prst="rect">
            <a:avLst/>
          </a:prstGeom>
        </p:spPr>
      </p:pic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BE1EA691-46C9-45EB-B7BE-839FA5F17A2A}"/>
              </a:ext>
            </a:extLst>
          </p:cNvPr>
          <p:cNvCxnSpPr/>
          <p:nvPr/>
        </p:nvCxnSpPr>
        <p:spPr>
          <a:xfrm>
            <a:off x="3275856" y="6453336"/>
            <a:ext cx="360040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637D7EF7-97C0-4BFF-A86F-B7DFE5434BA2}"/>
              </a:ext>
            </a:extLst>
          </p:cNvPr>
          <p:cNvCxnSpPr/>
          <p:nvPr/>
        </p:nvCxnSpPr>
        <p:spPr>
          <a:xfrm>
            <a:off x="4197441" y="6456166"/>
            <a:ext cx="360040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0648674A-E1AE-4DC2-84F5-7D94D57D7CFE}"/>
              </a:ext>
            </a:extLst>
          </p:cNvPr>
          <p:cNvCxnSpPr/>
          <p:nvPr/>
        </p:nvCxnSpPr>
        <p:spPr>
          <a:xfrm>
            <a:off x="5364088" y="6456166"/>
            <a:ext cx="360040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D37F8A1E-B73D-47E4-A677-E69BE86F51F0}"/>
              </a:ext>
            </a:extLst>
          </p:cNvPr>
          <p:cNvCxnSpPr/>
          <p:nvPr/>
        </p:nvCxnSpPr>
        <p:spPr>
          <a:xfrm>
            <a:off x="6156176" y="6453336"/>
            <a:ext cx="360040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74393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EA7644-EE06-4185-9E56-D01EBE0CB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</a:t>
            </a:r>
            <a:r>
              <a:rPr lang="en-US" altLang="zh-TW" baseline="30000" dirty="0"/>
              <a:t>+</a:t>
            </a:r>
            <a:r>
              <a:rPr lang="en-US" altLang="zh-TW" dirty="0"/>
              <a:t>-tree</a:t>
            </a:r>
            <a:r>
              <a:rPr lang="zh-TW" altLang="en-US" dirty="0"/>
              <a:t>建構 </a:t>
            </a:r>
            <a:r>
              <a:rPr lang="en-US" altLang="zh-TW" dirty="0"/>
              <a:t>(1)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8C421EA-A21C-43D5-B086-BAA1779D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dirty="0"/>
              <a:t>Yuan-Ko Huang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CC9DF2E-4B45-4B60-B343-929DC65ED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17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0F97BEF-417E-49B3-92DB-11E0F77D131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set: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employee.txt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tuples: 64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Attributes: </a:t>
            </a:r>
          </a:p>
          <a:p>
            <a:pPr lvl="2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id: 1 ~ 64</a:t>
            </a:r>
          </a:p>
          <a:p>
            <a:pPr lvl="2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Employee_01~64</a:t>
            </a:r>
          </a:p>
          <a:p>
            <a:pPr lvl="2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birth: between 1970/01/01 and 2000/12/31</a:t>
            </a:r>
          </a:p>
          <a:p>
            <a:pPr lvl="2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address: {TPE, NTPC, TXG, TNN, KHH}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2C3C78C7-56E7-42E2-A651-E6FFDEE30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61826"/>
            <a:ext cx="4352411" cy="3153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0582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311792-4EDD-4D9F-BFF0-31F934C95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</a:t>
            </a:r>
            <a:r>
              <a:rPr lang="en-US" altLang="zh-TW" baseline="30000" dirty="0"/>
              <a:t>+</a:t>
            </a:r>
            <a:r>
              <a:rPr lang="en-US" altLang="zh-TW" dirty="0"/>
              <a:t>-tree</a:t>
            </a:r>
            <a:r>
              <a:rPr lang="zh-TW" altLang="en-US" dirty="0"/>
              <a:t>建構 </a:t>
            </a:r>
            <a:r>
              <a:rPr lang="en-US" altLang="zh-TW" dirty="0"/>
              <a:t>(2)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743FB1A-5D58-484C-8C5C-FE829301E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AF6C31-ABD2-4955-B210-EDFE18FED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18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1750407-D5C0-4B75-B603-8FF9C3C07D4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Input:</a:t>
            </a:r>
          </a:p>
          <a:p>
            <a:pPr lvl="1"/>
            <a:r>
              <a:rPr lang="en-US" altLang="zh-TW" dirty="0"/>
              <a:t>employee.txt</a:t>
            </a:r>
          </a:p>
          <a:p>
            <a:r>
              <a:rPr lang="en-US" altLang="zh-TW" dirty="0"/>
              <a:t>Output: 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BPlusTree.txt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tree.png</a:t>
            </a:r>
          </a:p>
          <a:p>
            <a:pPr lvl="1"/>
            <a:endParaRPr lang="zh-TW" altLang="en-US" dirty="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5185FDD7-C1C5-4BCB-A55B-8F6C7FBB5F69}"/>
              </a:ext>
            </a:extLst>
          </p:cNvPr>
          <p:cNvCxnSpPr/>
          <p:nvPr/>
        </p:nvCxnSpPr>
        <p:spPr>
          <a:xfrm flipV="1">
            <a:off x="3347864" y="2852936"/>
            <a:ext cx="864096" cy="144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C4838C0A-12C7-47E5-BFB8-BACC54E098B8}"/>
              </a:ext>
            </a:extLst>
          </p:cNvPr>
          <p:cNvCxnSpPr>
            <a:cxnSpLocks/>
          </p:cNvCxnSpPr>
          <p:nvPr/>
        </p:nvCxnSpPr>
        <p:spPr>
          <a:xfrm>
            <a:off x="2339752" y="3705897"/>
            <a:ext cx="144016" cy="5950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圖片 11">
            <a:extLst>
              <a:ext uri="{FF2B5EF4-FFF2-40B4-BE49-F238E27FC236}">
                <a16:creationId xmlns:a16="http://schemas.microsoft.com/office/drawing/2014/main" id="{A4445182-5FAC-4C59-ACAD-FC54AAF8C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2230" y="1124744"/>
            <a:ext cx="4486387" cy="3015084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73BC1778-D34C-4527-B0BC-B689B1810D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720" y="4331101"/>
            <a:ext cx="5610944" cy="2100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5686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151BC9-B0FB-40EF-967F-720FB8D0A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資料搜尋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EB250E1-64DD-467D-89A5-924CB6CB7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903032E-6A96-42A9-BA71-A7A1C367D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19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96AA03C-84A8-4EBA-AC2B-8DF9E154EA7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Input:</a:t>
            </a:r>
          </a:p>
          <a:p>
            <a:pPr lvl="1"/>
            <a:r>
              <a:rPr lang="en-US" altLang="zh-TW" dirty="0"/>
              <a:t>employee.txt</a:t>
            </a:r>
          </a:p>
          <a:p>
            <a:pPr lvl="1"/>
            <a:r>
              <a:rPr lang="en-US" altLang="zh-TW" dirty="0"/>
              <a:t>BPlusTree.txt</a:t>
            </a:r>
          </a:p>
          <a:p>
            <a:pPr lvl="1"/>
            <a:r>
              <a:rPr lang="en-US" altLang="zh-TW" dirty="0"/>
              <a:t>id </a:t>
            </a:r>
            <a:r>
              <a:rPr lang="zh-TW" altLang="en-US" dirty="0"/>
              <a:t>值</a:t>
            </a:r>
            <a:endParaRPr lang="en-US" altLang="zh-TW" dirty="0"/>
          </a:p>
          <a:p>
            <a:r>
              <a:rPr lang="en-US" altLang="zh-TW" dirty="0"/>
              <a:t>Output:</a:t>
            </a:r>
          </a:p>
          <a:p>
            <a:pPr lvl="1"/>
            <a:r>
              <a:rPr lang="zh-TW" altLang="en-US" dirty="0"/>
              <a:t>符合的</a:t>
            </a:r>
            <a:r>
              <a:rPr lang="en-US" altLang="zh-TW" dirty="0"/>
              <a:t>tuple</a:t>
            </a:r>
          </a:p>
          <a:p>
            <a:pPr lvl="1"/>
            <a:r>
              <a:rPr lang="en-US" altLang="zh-TW" dirty="0"/>
              <a:t>search.png</a:t>
            </a:r>
          </a:p>
          <a:p>
            <a:pPr lvl="1"/>
            <a:endParaRPr lang="zh-TW" altLang="en-US" dirty="0"/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23E0CE63-E199-42F6-849F-2286276CECF1}"/>
              </a:ext>
            </a:extLst>
          </p:cNvPr>
          <p:cNvCxnSpPr/>
          <p:nvPr/>
        </p:nvCxnSpPr>
        <p:spPr>
          <a:xfrm flipV="1">
            <a:off x="3203848" y="2924944"/>
            <a:ext cx="648072" cy="648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254EB11E-32DE-4639-BCEA-2CAC441FB54A}"/>
              </a:ext>
            </a:extLst>
          </p:cNvPr>
          <p:cNvCxnSpPr/>
          <p:nvPr/>
        </p:nvCxnSpPr>
        <p:spPr>
          <a:xfrm>
            <a:off x="2051720" y="4653136"/>
            <a:ext cx="648072" cy="397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圖片 6">
            <a:extLst>
              <a:ext uri="{FF2B5EF4-FFF2-40B4-BE49-F238E27FC236}">
                <a16:creationId xmlns:a16="http://schemas.microsoft.com/office/drawing/2014/main" id="{0BD7A608-0BF6-4CBE-B790-4489D23FF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864" y="1431071"/>
            <a:ext cx="5584674" cy="136514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8F390C56-6F0F-4861-9533-9F5994607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4733" y="3804207"/>
            <a:ext cx="5483041" cy="2863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6548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公正">
  <a:themeElements>
    <a:clrScheme name="公正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公正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公正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19322</TotalTime>
  <Words>1146</Words>
  <Application>Microsoft Office PowerPoint</Application>
  <PresentationFormat>如螢幕大小 (4:3)</PresentationFormat>
  <Paragraphs>336</Paragraphs>
  <Slides>19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5" baseType="lpstr">
      <vt:lpstr>Calibri</vt:lpstr>
      <vt:lpstr>Franklin Gothic Book</vt:lpstr>
      <vt:lpstr>Perpetua</vt:lpstr>
      <vt:lpstr>Times New Roman</vt:lpstr>
      <vt:lpstr>Wingdings 2</vt:lpstr>
      <vt:lpstr>公正</vt:lpstr>
      <vt:lpstr>Index Structures</vt:lpstr>
      <vt:lpstr>Outline</vt:lpstr>
      <vt:lpstr>Disk structure (1)</vt:lpstr>
      <vt:lpstr>Disk structure (2)</vt:lpstr>
      <vt:lpstr>How data is stored</vt:lpstr>
      <vt:lpstr>What is indexing (1)</vt:lpstr>
      <vt:lpstr>What is indexing (2)</vt:lpstr>
      <vt:lpstr>Multilevel indexing</vt:lpstr>
      <vt:lpstr>B-tree (1)</vt:lpstr>
      <vt:lpstr>B-tree (2)</vt:lpstr>
      <vt:lpstr>B+-tree (1)</vt:lpstr>
      <vt:lpstr>B+-tree (2)</vt:lpstr>
      <vt:lpstr>B+-tree定義</vt:lpstr>
      <vt:lpstr>B+-tree例子</vt:lpstr>
      <vt:lpstr>PowerPoint 簡報</vt:lpstr>
      <vt:lpstr>PowerPoint 簡報</vt:lpstr>
      <vt:lpstr>B+-tree建構 (1)</vt:lpstr>
      <vt:lpstr>B+-tree建構 (2)</vt:lpstr>
      <vt:lpstr>資料搜尋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巨量時空資料庫之管理與查詢</dc:title>
  <dc:creator>USER</dc:creator>
  <cp:lastModifiedBy>User</cp:lastModifiedBy>
  <cp:revision>629</cp:revision>
  <dcterms:created xsi:type="dcterms:W3CDTF">2015-11-19T05:10:42Z</dcterms:created>
  <dcterms:modified xsi:type="dcterms:W3CDTF">2025-10-07T01:41:50Z</dcterms:modified>
</cp:coreProperties>
</file>