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62" r:id="rId2"/>
    <p:sldId id="263" r:id="rId3"/>
    <p:sldId id="264" r:id="rId4"/>
    <p:sldId id="265" r:id="rId5"/>
    <p:sldId id="266" r:id="rId6"/>
    <p:sldId id="273" r:id="rId7"/>
    <p:sldId id="274" r:id="rId8"/>
    <p:sldId id="276" r:id="rId9"/>
    <p:sldId id="275" r:id="rId10"/>
    <p:sldId id="277" r:id="rId11"/>
    <p:sldId id="278" r:id="rId12"/>
    <p:sldId id="279" r:id="rId13"/>
    <p:sldId id="280" r:id="rId14"/>
    <p:sldId id="281" r:id="rId15"/>
    <p:sldId id="282" r:id="rId16"/>
    <p:sldId id="272" r:id="rId17"/>
  </p:sldIdLst>
  <p:sldSz cx="9144000" cy="5143500" type="screen16x9"/>
  <p:notesSz cx="6858000" cy="9144000"/>
  <p:embeddedFontLst>
    <p:embeddedFont>
      <p:font typeface="Adobe 繁黑體 Std B" panose="020B0700000000000000" pitchFamily="34" charset="-128"/>
      <p:bold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T Serif" panose="020A0603040505020204" pitchFamily="18" charset="0"/>
      <p:regular r:id="rId28"/>
      <p:bold r:id="rId29"/>
      <p:italic r:id="rId30"/>
      <p:boldItalic r:id="rId31"/>
    </p:embeddedFont>
    <p:embeddedFont>
      <p:font typeface="微软雅黑" panose="020B0503020204020204" pitchFamily="34" charset="-122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Fo3EzPKLk9ieBmi+eVNXi6qt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7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9076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7362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1021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9384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129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9134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400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7451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4914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13641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349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body" idx="1"/>
          </p:nvPr>
        </p:nvSpPr>
        <p:spPr>
          <a:xfrm>
            <a:off x="626350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marL="1371600" lvl="2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marL="1371600" lvl="2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13" name="Google Shape;13;p19"/>
          <p:cNvCxnSpPr/>
          <p:nvPr/>
        </p:nvCxnSpPr>
        <p:spPr>
          <a:xfrm rot="10800000">
            <a:off x="-23700" y="541800"/>
            <a:ext cx="234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4" name="Google Shape;14;p19"/>
          <p:cNvCxnSpPr/>
          <p:nvPr/>
        </p:nvCxnSpPr>
        <p:spPr>
          <a:xfrm>
            <a:off x="6825900" y="541800"/>
            <a:ext cx="2331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2430350" y="206000"/>
            <a:ext cx="4283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□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□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l.acm.org/doi/10.1145/3236008" TargetMode="External"/><Relationship Id="rId13" Type="http://schemas.openxmlformats.org/officeDocument/2006/relationships/hyperlink" Target="https://arxiv.org/html/2506.01971v1" TargetMode="External"/><Relationship Id="rId3" Type="http://schemas.openxmlformats.org/officeDocument/2006/relationships/hyperlink" Target="https://pmc.ncbi.nlm.nih.gov/articles/PMC8237334/" TargetMode="External"/><Relationship Id="rId7" Type="http://schemas.openxmlformats.org/officeDocument/2006/relationships/hyperlink" Target="https://arxiv.org/pdf/1710.10061" TargetMode="External"/><Relationship Id="rId12" Type="http://schemas.openxmlformats.org/officeDocument/2006/relationships/hyperlink" Target="https://arxiv.org/abs/2408.10269" TargetMode="External"/><Relationship Id="rId2" Type="http://schemas.openxmlformats.org/officeDocument/2006/relationships/notesSlide" Target="../notesSlides/notesSlide16.xml"/><Relationship Id="rId16" Type="http://schemas.openxmlformats.org/officeDocument/2006/relationships/hyperlink" Target="https://arxiv.org/abs/2409.1241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111.03299" TargetMode="External"/><Relationship Id="rId11" Type="http://schemas.openxmlformats.org/officeDocument/2006/relationships/hyperlink" Target="https://ui.adsabs.harvard.edu/abs/2022arXiv221206436W/abstract" TargetMode="External"/><Relationship Id="rId5" Type="http://schemas.openxmlformats.org/officeDocument/2006/relationships/hyperlink" Target="https://arxiv.org/abs/2407.02122" TargetMode="External"/><Relationship Id="rId15" Type="http://schemas.openxmlformats.org/officeDocument/2006/relationships/hyperlink" Target="https://arxiv.org/pdf/2012.02260" TargetMode="External"/><Relationship Id="rId10" Type="http://schemas.openxmlformats.org/officeDocument/2006/relationships/hyperlink" Target="https://arxiv.org/html/2508.14028v1" TargetMode="External"/><Relationship Id="rId4" Type="http://schemas.openxmlformats.org/officeDocument/2006/relationships/hyperlink" Target="https://arxiv.org/abs/1812.00315" TargetMode="External"/><Relationship Id="rId9" Type="http://schemas.openxmlformats.org/officeDocument/2006/relationships/hyperlink" Target="https://arxiv.org/abs/1710.10061" TargetMode="External"/><Relationship Id="rId14" Type="http://schemas.openxmlformats.org/officeDocument/2006/relationships/hyperlink" Target="https://arxiv.org/abs/2408.010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1411200" y="1317602"/>
            <a:ext cx="6624000" cy="1732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假新聞偵測</a:t>
            </a:r>
            <a:endParaRPr lang="en-US" altLang="zh-TW" sz="4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l"/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（</a:t>
            </a:r>
            <a:r>
              <a:rPr lang="en-US" altLang="zh-TW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Fake News Detection</a:t>
            </a:r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現有假新聞偵測模型多在特定資料集上報告準確率、</a:t>
            </a: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F1 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分數，但不同資料集之間定義、語言、來源與時間分布差異很大，導致模型可遷移性與實務效果不明。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最新 </a:t>
            </a: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survey 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強調要系統性整理資料集特徵（媒體平台、標註方式、主題、語言等），並分析 </a:t>
            </a: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bias 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對模型評估的影響。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評估優化可以聚焦在：跨資料集、跨平台與跨語言的泛化能力，以及對「邊界案例」與對抗樣本的穩健性。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[1][2][3][4]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Evaluation optimization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多數研究在單一英文或特定語言資料集上訓練與評估，忽略真實世界中的多語、多平台、多型態（文字、圖片、影片）假訊息。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許多模型高度依賴標題或文字風格特徵，當假新聞寫得更像「正規新聞」時，偵測效果會明顯下降。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結合內容特徵、傳播路徑（轉貼網路）、來源可信度與使用者立場等多維訊號，構建圖模型或多模態模型提升偵測能力。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建立針對資料集的標準化描述與評估協議，讓新模型能被公平比較，並促進跨資料集 </a:t>
            </a:r>
            <a:r>
              <a:rPr lang="en-US" altLang="zh-TW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benchmark</a:t>
            </a: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026EB74-0D04-4868-AD96-860A7B19C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82" y="1192733"/>
            <a:ext cx="5418418" cy="3539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在實務上，假新聞偵測系統應該是「輔助審查工具」還是「自動封鎖引擎」，不同定位會如何影響評估指標設計？</a:t>
            </a: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如何減少資料集與標註中的政治立場與文化偏見，避免模型只學會「誰說的話」而不是「內容真假」？</a:t>
            </a: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能否結合使用者教育與介面設計（例如顯示可信度分數、解釋理由）來降低假新聞的擴散效果？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878400" y="936004"/>
            <a:ext cx="7603200" cy="212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評價系統</a:t>
            </a:r>
            <a:endParaRPr lang="en-US" altLang="zh-TW" sz="4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l"/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（</a:t>
            </a:r>
            <a:r>
              <a:rPr lang="en-US" altLang="zh-TW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Trust / Reputation System</a:t>
            </a:r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45212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現有評價系統多使用簡單的平均評分或加權評分，對於惡意洗評價、機器人帳號與偏誤評分的處理不足，導致信任度與真實體驗不一致。</a:t>
            </a: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近年的 </a:t>
            </a:r>
            <a:r>
              <a:rPr lang="en-US" altLang="zh-TW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Trust &amp; Reputation System</a:t>
            </a: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（</a:t>
            </a:r>
            <a:r>
              <a:rPr lang="en-US" altLang="zh-TW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TRS</a:t>
            </a: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）研究提出多維度信任指標、時間衰減、來源可信度建模等方法，但缺乏統一的評估框架來比較不同演算法的成熟度與有效性。</a:t>
            </a: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評估優化可以聚焦在：除了準確預測「誰值得信任」，還要量化系統在抵抗攻擊、解釋性與使用者感知公平性上的表現。</a:t>
            </a: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[5][6][7][8][9]</a:t>
            </a: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Evaluation optimization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0029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多數電商或平台只提供星等與簡易排序，對於異常評價偵測（如短時間大量高分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/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負評）與關係網路中的串謀攻擊防禦能力有限。</a:t>
            </a: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使用者只能看到「總分」或少數評論，缺乏對評價來源可信度的可視化與說明，難以判斷哪些評價值得參考。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建立同時考慮「歷史行為、社交關係、內容品質」的多維信任模型，並對潛在操弄行為（刷單、機器人）具備自動偵測能力。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在介面上提供更透明的信任指標（例如「賣家穩定度、評價者可信度、異常行為警示」），讓終端使用者能理解系統如何計算信任。</a:t>
            </a:r>
            <a:endParaRPr lang="zh-TW" alt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lang="zh-TW" alt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lang="zh-TW" alt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104274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322F55E-0BED-4BA6-B273-A42175574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67" y="2019172"/>
            <a:ext cx="8159869" cy="101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3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如何在不暴露過多個資與隱私的情況下，仍讓使用者理解信任分數的計算邏輯？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面對不同領域（電商、共享經濟、資料共享平台），信任與評價指標是否需要客製化，或能共享一套通用框架？</a:t>
            </a: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如何平衡惡意行為強力過濾與對新用戶／小商家的「冷啟動歧視」問題？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535809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770400" y="1022404"/>
            <a:ext cx="7603200" cy="212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altLang="zh-TW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Open Data </a:t>
            </a:r>
            <a:r>
              <a:rPr lang="zh-TW" altLang="en-US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預測</a:t>
            </a:r>
            <a:endParaRPr lang="en-US" altLang="zh-TW" sz="5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l"/>
            <a:r>
              <a:rPr lang="zh-TW" altLang="en-US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（交通／汙染／人流）</a:t>
            </a:r>
          </a:p>
        </p:txBody>
      </p:sp>
    </p:spTree>
    <p:extLst>
      <p:ext uri="{BB962C8B-B14F-4D97-AF65-F5344CB8AC3E}">
        <p14:creationId xmlns:p14="http://schemas.microsoft.com/office/powerpoint/2010/main" val="4202918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許多智慧城市與交通預測研究使用公開資料（交通流量、空污、人流感測），但常在單一資料集上報告結果，缺乏跨城市與跨資料源的系統性比較。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新的 </a:t>
            </a:r>
            <a:r>
              <a:rPr lang="en-US" altLang="zh-TW" sz="1800" b="0" i="0" dirty="0" err="1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spatio</a:t>
            </a: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-temporal foundation model 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與交通圖資料集開始出現，強調在多城市、多路網、多任務上的 </a:t>
            </a: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zero-shot 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或 </a:t>
            </a: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transfer 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能力。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評估優化可以聚焦在：多尺度（短期長期）、多地點與多任務（交通、汙染、人流）的一致性表現，以及模型在極端事件時的穩健性。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[10][11][12][13][14]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Evaluation optimization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03443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不少系統只針對單一城市或單路段做時間序列預測，難以遷移到其他區域，且對資料缺失與感測器異常的處理有限。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公開資料雖然豐富，但格式不一、品質參差，往往需要大量前處理與特徵工程才能用於建模。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建構可遷移的時空模型（例如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Transformer + GNN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）作為「城市基礎模型」，可在不同城市與任務上微調。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建立標準化的 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open data pipeline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，從資料清理、缺值補齊到特徵工程與評估指標，降低後續研究與實作門檻。</a:t>
            </a:r>
            <a:endParaRPr lang="zh-TW" alt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lang="zh-TW" alt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3875930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8BF20C5-71FB-4DB1-B2C1-3B3E650E1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51" y="2062151"/>
            <a:ext cx="7584297" cy="101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09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不同城市與資料品質條件下，</a:t>
            </a:r>
            <a:r>
              <a:rPr lang="en-US" altLang="zh-TW" sz="1400" b="0" i="0" dirty="0" err="1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spatio</a:t>
            </a:r>
            <a:r>
              <a:rPr lang="en-US" altLang="zh-TW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-temporal foundation model </a:t>
            </a: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相較於傳統模型真的帶來穩定優勢嗎？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endParaRPr lang="en-US" sz="14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如何處理開放資料中的缺值、異常與更新延遲，使得預測系統在實際部署時仍然可靠？</a:t>
            </a:r>
            <a:endParaRPr lang="en-US" altLang="zh-TW" sz="1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endParaRPr lang="en-US" sz="14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能否將預測結果與政策或服務直接連結，例如動態調整公車班距、壅塞費率或空污警示機制？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67324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reference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617100" y="792000"/>
            <a:ext cx="7909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[1] </a:t>
            </a:r>
            <a:r>
              <a:rPr lang="en-US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https://pmc.ncbi.nlm.nih.gov/articles/PMC8237334/</a:t>
            </a:r>
            <a:endParaRPr lang="en-US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[2] </a:t>
            </a:r>
            <a:r>
              <a:rPr lang="en-US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https://arxiv.org/abs/1812.00315</a:t>
            </a:r>
            <a:endParaRPr lang="en-US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[3] </a:t>
            </a:r>
            <a:r>
              <a:rPr lang="en-US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https://arxiv.org/abs/2407.02122</a:t>
            </a:r>
            <a:endParaRPr lang="en-US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[4] </a:t>
            </a:r>
            <a:r>
              <a:rPr lang="en-US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https://arxiv.org/abs/2111.03299</a:t>
            </a:r>
            <a:endParaRPr lang="en-US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[5] </a:t>
            </a:r>
            <a:r>
              <a:rPr lang="en-US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7"/>
              </a:rPr>
              <a:t>https://arxiv.org/pdf/1710.10061</a:t>
            </a:r>
            <a:endParaRPr lang="en-US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[6] </a:t>
            </a: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8"/>
              </a:rPr>
              <a:t>https://dl.acm.org/doi/10.1145/3236008</a:t>
            </a: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[7] </a:t>
            </a: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9"/>
              </a:rPr>
              <a:t>https://arxiv.org/abs/1710.10061</a:t>
            </a: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[8] </a:t>
            </a: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10"/>
              </a:rPr>
              <a:t>https://arxiv.org/html/2508.14028v1</a:t>
            </a: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[9] </a:t>
            </a: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11"/>
              </a:rPr>
              <a:t>https://ui.adsabs.harvard.edu/abs/2022arXiv221206436W/abstract</a:t>
            </a: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[10] </a:t>
            </a: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12"/>
              </a:rPr>
              <a:t>https://arxiv.org/abs/2408.10269</a:t>
            </a: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[11] </a:t>
            </a: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13"/>
              </a:rPr>
              <a:t>https://arxiv.org/html/2506.01971v1</a:t>
            </a: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[12] </a:t>
            </a: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14"/>
              </a:rPr>
              <a:t>https://arxiv.org/abs/2408.01016</a:t>
            </a: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[13] </a:t>
            </a: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15"/>
              </a:rPr>
              <a:t>https://arxiv.org/pdf/2012.02260</a:t>
            </a: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[14] </a:t>
            </a:r>
            <a:r>
              <a:rPr lang="en-US" altLang="zh-TW" sz="1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16"/>
              </a:rPr>
              <a:t>https://arxiv.org/abs/2409.12412</a:t>
            </a: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29412299"/>
      </p:ext>
    </p:extLst>
  </p:cSld>
  <p:clrMapOvr>
    <a:masterClrMapping/>
  </p:clrMapOvr>
</p:sld>
</file>

<file path=ppt/theme/theme1.xml><?xml version="1.0" encoding="utf-8"?>
<a:theme xmlns:a="http://schemas.openxmlformats.org/drawingml/2006/main" name="Beatrice template">
  <a:themeElements>
    <a:clrScheme name="Custom 347">
      <a:dk1>
        <a:srgbClr val="1D1D1B"/>
      </a:dk1>
      <a:lt1>
        <a:srgbClr val="F3EFEA"/>
      </a:lt1>
      <a:dk2>
        <a:srgbClr val="434343"/>
      </a:dk2>
      <a:lt2>
        <a:srgbClr val="FFFFFF"/>
      </a:lt2>
      <a:accent1>
        <a:srgbClr val="8F7B87"/>
      </a:accent1>
      <a:accent2>
        <a:srgbClr val="A797A1"/>
      </a:accent2>
      <a:accent3>
        <a:srgbClr val="C0B5BC"/>
      </a:accent3>
      <a:accent4>
        <a:srgbClr val="E4DDE1"/>
      </a:accent4>
      <a:accent5>
        <a:srgbClr val="EFECED"/>
      </a:accent5>
      <a:accent6>
        <a:srgbClr val="F3EFEA"/>
      </a:accent6>
      <a:hlink>
        <a:srgbClr val="1D1D1B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1230</Words>
  <Application>Microsoft Office PowerPoint</Application>
  <PresentationFormat>如螢幕大小 (16:9)</PresentationFormat>
  <Paragraphs>92</Paragraphs>
  <Slides>16</Slides>
  <Notes>16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Arial</vt:lpstr>
      <vt:lpstr>微软雅黑</vt:lpstr>
      <vt:lpstr>Montserrat</vt:lpstr>
      <vt:lpstr>Poppins</vt:lpstr>
      <vt:lpstr>Adobe 繁黑體 Std B</vt:lpstr>
      <vt:lpstr>PT Serif</vt:lpstr>
      <vt:lpstr>Beatrice template</vt:lpstr>
      <vt:lpstr>PowerPoint 簡報</vt:lpstr>
      <vt:lpstr>Evaluation optimization</vt:lpstr>
      <vt:lpstr>As-Is To-Be</vt:lpstr>
      <vt:lpstr>Framework</vt:lpstr>
      <vt:lpstr>Overview</vt:lpstr>
      <vt:lpstr>PowerPoint 簡報</vt:lpstr>
      <vt:lpstr>Evaluation optimization</vt:lpstr>
      <vt:lpstr>As-Is To-Be</vt:lpstr>
      <vt:lpstr>Framework</vt:lpstr>
      <vt:lpstr>Overview</vt:lpstr>
      <vt:lpstr>PowerPoint 簡報</vt:lpstr>
      <vt:lpstr>Evaluation optimization</vt:lpstr>
      <vt:lpstr>As-Is To-Be</vt:lpstr>
      <vt:lpstr>Framework</vt:lpstr>
      <vt:lpstr>Overview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Tony Wu</dc:creator>
  <cp:lastModifiedBy>先正 陳</cp:lastModifiedBy>
  <cp:revision>25</cp:revision>
  <dcterms:modified xsi:type="dcterms:W3CDTF">2025-11-17T10:57:32Z</dcterms:modified>
</cp:coreProperties>
</file>