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51"/>
  </p:notesMasterIdLst>
  <p:sldIdLst>
    <p:sldId id="262" r:id="rId2"/>
    <p:sldId id="263" r:id="rId3"/>
    <p:sldId id="264" r:id="rId4"/>
    <p:sldId id="265" r:id="rId5"/>
    <p:sldId id="266" r:id="rId6"/>
    <p:sldId id="283" r:id="rId7"/>
    <p:sldId id="284" r:id="rId8"/>
    <p:sldId id="273" r:id="rId9"/>
    <p:sldId id="274" r:id="rId10"/>
    <p:sldId id="276" r:id="rId11"/>
    <p:sldId id="275" r:id="rId12"/>
    <p:sldId id="277" r:id="rId13"/>
    <p:sldId id="287" r:id="rId14"/>
    <p:sldId id="285" r:id="rId15"/>
    <p:sldId id="278" r:id="rId16"/>
    <p:sldId id="279" r:id="rId17"/>
    <p:sldId id="280" r:id="rId18"/>
    <p:sldId id="281" r:id="rId19"/>
    <p:sldId id="286" r:id="rId20"/>
    <p:sldId id="289" r:id="rId21"/>
    <p:sldId id="296" r:id="rId22"/>
    <p:sldId id="290" r:id="rId23"/>
    <p:sldId id="291" r:id="rId24"/>
    <p:sldId id="292" r:id="rId25"/>
    <p:sldId id="293" r:id="rId26"/>
    <p:sldId id="294" r:id="rId27"/>
    <p:sldId id="295" r:id="rId28"/>
    <p:sldId id="297" r:id="rId29"/>
    <p:sldId id="298" r:id="rId30"/>
    <p:sldId id="299" r:id="rId31"/>
    <p:sldId id="300" r:id="rId32"/>
    <p:sldId id="301" r:id="rId33"/>
    <p:sldId id="309" r:id="rId34"/>
    <p:sldId id="310" r:id="rId35"/>
    <p:sldId id="303" r:id="rId36"/>
    <p:sldId id="304" r:id="rId37"/>
    <p:sldId id="305" r:id="rId38"/>
    <p:sldId id="306" r:id="rId39"/>
    <p:sldId id="307" r:id="rId40"/>
    <p:sldId id="311" r:id="rId41"/>
    <p:sldId id="312" r:id="rId42"/>
    <p:sldId id="313" r:id="rId43"/>
    <p:sldId id="314" r:id="rId44"/>
    <p:sldId id="315" r:id="rId45"/>
    <p:sldId id="316" r:id="rId46"/>
    <p:sldId id="317" r:id="rId47"/>
    <p:sldId id="318" r:id="rId48"/>
    <p:sldId id="319" r:id="rId49"/>
    <p:sldId id="320" r:id="rId50"/>
  </p:sldIdLst>
  <p:sldSz cx="9144000" cy="5143500" type="screen16x9"/>
  <p:notesSz cx="6858000" cy="9144000"/>
  <p:embeddedFontLst>
    <p:embeddedFont>
      <p:font typeface="Adobe 繁黑體 Std B" panose="020B0700000000000000" pitchFamily="34" charset="-128"/>
      <p:bold r:id="rId52"/>
    </p:embeddedFont>
    <p:embeddedFont>
      <p:font typeface="Montserrat" panose="00000500000000000000" pitchFamily="2" charset="0"/>
      <p:regular r:id="rId53"/>
      <p:bold r:id="rId54"/>
      <p:italic r:id="rId55"/>
      <p:boldItalic r:id="rId56"/>
    </p:embeddedFont>
    <p:embeddedFont>
      <p:font typeface="Poppins" panose="00000500000000000000" pitchFamily="2" charset="0"/>
      <p:regular r:id="rId57"/>
      <p:bold r:id="rId58"/>
      <p:italic r:id="rId59"/>
      <p:boldItalic r:id="rId60"/>
    </p:embeddedFont>
    <p:embeddedFont>
      <p:font typeface="PT Serif" panose="020A0603040505020204" pitchFamily="18" charset="0"/>
      <p:regular r:id="rId61"/>
      <p:bold r:id="rId62"/>
      <p:italic r:id="rId63"/>
      <p:boldItalic r:id="rId64"/>
    </p:embeddedFont>
    <p:embeddedFont>
      <p:font typeface="微软雅黑" panose="020B0503020204020204" pitchFamily="34" charset="-122"/>
      <p:regular r:id="rId65"/>
      <p:bold r:id="rId6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7" roundtripDataSignature="AMtx7miFo3EzPKLk9ieBmi+eVNXi6qt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5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7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2.fntdata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2.fntdata"/><Relationship Id="rId58" Type="http://schemas.openxmlformats.org/officeDocument/2006/relationships/font" Target="fonts/font7.fntdata"/><Relationship Id="rId66" Type="http://schemas.openxmlformats.org/officeDocument/2006/relationships/font" Target="fonts/font15.fntdata"/><Relationship Id="rId5" Type="http://schemas.openxmlformats.org/officeDocument/2006/relationships/slide" Target="slides/slide4.xml"/><Relationship Id="rId61" Type="http://schemas.openxmlformats.org/officeDocument/2006/relationships/font" Target="fonts/font10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5.fntdata"/><Relationship Id="rId64" Type="http://schemas.openxmlformats.org/officeDocument/2006/relationships/font" Target="fonts/font13.fntdata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8.fntdata"/><Relationship Id="rId67" Type="http://customschemas.google.com/relationships/presentationmetadata" Target="meta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3.fntdata"/><Relationship Id="rId62" Type="http://schemas.openxmlformats.org/officeDocument/2006/relationships/font" Target="fonts/font11.fntdata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6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1.fntdata"/><Relationship Id="rId60" Type="http://schemas.openxmlformats.org/officeDocument/2006/relationships/font" Target="fonts/font9.fntdata"/><Relationship Id="rId65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5605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8212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9907612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73629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10217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93842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941295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358785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961355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91343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104002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274517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849149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0792022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41229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730880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197413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257614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167871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2996831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32153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0587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97486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5109564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8014316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257495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8979748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147323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5376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338236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772913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0657610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0225767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52227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728116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440992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5050356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595230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111934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28762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415575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5961818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27994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99610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body" idx="1"/>
          </p:nvPr>
        </p:nvSpPr>
        <p:spPr>
          <a:xfrm>
            <a:off x="626350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13" name="Google Shape;13;p19"/>
          <p:cNvCxnSpPr/>
          <p:nvPr/>
        </p:nvCxnSpPr>
        <p:spPr>
          <a:xfrm rot="10800000">
            <a:off x="-23700" y="541800"/>
            <a:ext cx="234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4" name="Google Shape;14;p19"/>
          <p:cNvCxnSpPr/>
          <p:nvPr/>
        </p:nvCxnSpPr>
        <p:spPr>
          <a:xfrm>
            <a:off x="6825900" y="541800"/>
            <a:ext cx="2331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2430350" y="206000"/>
            <a:ext cx="4283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html/2510.17476v1" TargetMode="External"/><Relationship Id="rId7" Type="http://schemas.openxmlformats.org/officeDocument/2006/relationships/hyperlink" Target="https://aclanthology.org/2025.findings-naacl.402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jmir.org/2025/1/e69857" TargetMode="External"/><Relationship Id="rId5" Type="http://schemas.openxmlformats.org/officeDocument/2006/relationships/hyperlink" Target="https://www.sciencedirect.com/science/article/pii/S2319417025000423" TargetMode="External"/><Relationship Id="rId4" Type="http://schemas.openxmlformats.org/officeDocument/2006/relationships/hyperlink" Target="https://pmc.ncbi.nlm.nih.gov/articles/PMC12189880/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9.00097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12.15957" TargetMode="External"/><Relationship Id="rId5" Type="http://schemas.openxmlformats.org/officeDocument/2006/relationships/hyperlink" Target="https://arxiv.org/abs/2509.18690" TargetMode="External"/><Relationship Id="rId4" Type="http://schemas.openxmlformats.org/officeDocument/2006/relationships/hyperlink" Target="https://arxiv.org/abs/2506.23102" TargetMode="Externa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15862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ijaem.net/issue_dcp/AI%20Driven%20Biomechanical%20Analysis%20Advancing%20Injury%20Prevention,%20Performance%20Optimization,%20and%20Rehabilitation%20in%20Competitive%20Sports.pdf" TargetMode="External"/><Relationship Id="rId5" Type="http://schemas.openxmlformats.org/officeDocument/2006/relationships/hyperlink" Target="https://pubmed.ncbi.nlm.nih.gov/39613453/" TargetMode="External"/><Relationship Id="rId4" Type="http://schemas.openxmlformats.org/officeDocument/2006/relationships/hyperlink" Target="https://www.mdpi.com/2306-5354/12/8/887" TargetMode="Externa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5.18732" TargetMode="Externa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501.06932" TargetMode="External"/><Relationship Id="rId5" Type="http://schemas.openxmlformats.org/officeDocument/2006/relationships/hyperlink" Target="https://arxiv.org/abs/2504.17200" TargetMode="External"/><Relationship Id="rId4" Type="http://schemas.openxmlformats.org/officeDocument/2006/relationships/hyperlink" Target="https://www.sciencedirect.com/science/article/pii/S2212420925004662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104.07368" TargetMode="External"/><Relationship Id="rId7" Type="http://schemas.openxmlformats.org/officeDocument/2006/relationships/hyperlink" Target="http://www.cs.toronto.edu/~lcharlin/camra2011/" TargetMode="External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407.10240" TargetMode="External"/><Relationship Id="rId5" Type="http://schemas.openxmlformats.org/officeDocument/2006/relationships/hyperlink" Target="https://www.semanticscholar.org/paper/3443efc855cebd17d1512d1a703b6e9ee2e4da8b" TargetMode="External"/><Relationship Id="rId4" Type="http://schemas.openxmlformats.org/officeDocument/2006/relationships/hyperlink" Target="https://ieeexplore.ieee.org/document/10870189/" TargetMode="Externa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5.14458" TargetMode="External"/><Relationship Id="rId7" Type="http://schemas.openxmlformats.org/officeDocument/2006/relationships/hyperlink" Target="https://arxiv.org/abs/2401.17270" TargetMode="External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html/2407.10240v1" TargetMode="External"/><Relationship Id="rId5" Type="http://schemas.openxmlformats.org/officeDocument/2006/relationships/hyperlink" Target="https://onlinelibrary.wiley.com/doi/10.1155/2021/9903518" TargetMode="External"/><Relationship Id="rId4" Type="http://schemas.openxmlformats.org/officeDocument/2006/relationships/hyperlink" Target="https://www.geeksforgeeks.org/deep-learning/multivariate-time-series-forecasting-with-lstms-in-keras/" TargetMode="Externa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2.14137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D3Mlab/llm-convrec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1411200" y="1317602"/>
            <a:ext cx="6624000" cy="173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3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3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醫療診斷系統</a:t>
            </a:r>
            <a:endParaRPr lang="en-US" altLang="zh-TW" sz="3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3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多語言與跨文化醫療知識整合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在醫療診斷展現潛力，但多數研究集中在英文醫療資料，缺乏多語言與跨文化醫療知識整合。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病患描述症狀的方式因語言與文化差異而異，影響診斷準確度。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</a:t>
            </a: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診斷系統主要依賴英文醫學文獻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對於非英語系病患的症狀描述理解有限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缺乏整合在地醫療習慣與術語的機制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診斷準確度在跨語言情境下顯著下降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建立多語言醫療知識圖譜整合系統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開發跨文化症狀描述理解模型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提升非英語語境下的診斷準確度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支援醫師進行更精準的臨床決策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2A9F6E1-7224-4C17-918A-3E967DF9F5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684" y="1192417"/>
            <a:ext cx="5558516" cy="31901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現有研究如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Med-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PaLM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2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KG4Diagnosis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主要聚焦於英文醫療知識圖譜的構 建，在英文環境下達到醫師水準的診斷能力。 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如何使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醫療診斷系統能夠理解多語言症狀描述，並整合跨文化的醫療知識（如中醫術 語、地區特有疾病），以提升非英語環境下的診斷準確度？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發現的問題：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在跨語言醫療診斷中，症狀描述的文化差異導致診斷錯誤率高達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3040%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，例如中文使用者描述的「上火」、「氣虛」等傳統醫學術語無法被英文為主的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正確理解。此外，現有系統缺乏跨語言醫學術語對齊機制，各地區醫學知識更新不同步。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建立多語言醫學知識圖譜，整合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RAG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檢索系統與跨語言對齊模組（使用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mBERT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或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XLMRoBERTa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），並針對各地區常見疾病進行模型微調。透過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RLHF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基於醫師反饋優化診斷推理過程。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首次提出整合多語言知識圖譜與跨文化症狀對齊的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醫療診斷框架，預期將非英語環境下的診斷準確度從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6070%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提升至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85%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以上，並提供多語言可解釋性診斷說明，增強臨床實用性。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16891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https://arxiv.org/html/2510.17476v1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https://pmc.ncbi.nlm.nih.gov/articles/PMC12189880/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https://www.sciencedirect.com/science/article/pii/S2319417025000423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https://www.jmir.org/2025/1/e69857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7"/>
              </a:rPr>
              <a:t>https://aclanthology.org/2025.findings-naacl.402.pdf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612068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878400" y="9360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多模態 </a:t>
            </a:r>
            <a:r>
              <a:rPr lang="en-US" altLang="zh-TW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</a:p>
          <a:p>
            <a:pPr algn="ctr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輔助臨床診斷與個人化治療</a:t>
            </a:r>
          </a:p>
        </p:txBody>
      </p:sp>
    </p:spTree>
    <p:extLst>
      <p:ext uri="{BB962C8B-B14F-4D97-AF65-F5344CB8AC3E}">
        <p14:creationId xmlns:p14="http://schemas.microsoft.com/office/powerpoint/2010/main" val="3145212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GPT-4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Med-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PaLM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）診斷準確率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60-77%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，僅處理文字病歷。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醫療影像診斷準確率達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87-97%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，但影像與文字系統分離，無法整合多模態資訊與患者特定屬性（器官體積、病灶位置等）。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3002939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目前臨床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系統多採單模態診斷架構，影像分析模型與文字處理模型各自獨立運作，放射科醫師需手動整合兩者結果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系統無法自動提取患者特定屬性（如肝臟體積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1500 cm³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、腫瘤位於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S7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段），導致治療建議過於通用化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9482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建構端到端多模態醫療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系統，能同時處理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CT/X-ray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影像與臨床文字報告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自動提取並量化患者特定屬性，生成結合影像證據、病歷脈絡與個體特徵的個人化診斷報告與治療建議 。</a:t>
            </a: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lang="zh-TW" alt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10427473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17E1FAA-4209-4EE2-B0B1-C35FA71AE3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4470" y="1097670"/>
            <a:ext cx="5997460" cy="3452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42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現有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Med-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PaLM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準確率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60-77%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MedTVT-R1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整合多模態但缺乏端到端屬性提取系統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如何建構端到端系統同時處理影像與文字，自動提取患者屬性並生成個人化診斷？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發現的問題：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(1)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影像文字系統分離需手動整合、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(2)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無法自動量化患者特定屬性、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(3)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缺乏可解釋性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358096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四層架構整合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3D U-Net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分割、屬性量化、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LLaMA-2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微調與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RAG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個人化引擎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端到端多模態架構整合影像分割、屬性量化與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，生成可解釋個人化治療建議，優化臨床決策流程。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801345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https://arxiv.org/abs/2409.00097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https://arxiv.org/abs/2506.23102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https://arxiv.org/abs/2509.18690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https://arxiv.org/abs/2412.15957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86423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10224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驅動的運動員</a:t>
            </a:r>
            <a:endParaRPr lang="en-US" altLang="zh-TW" sz="54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傷害預測與表現優化</a:t>
            </a:r>
          </a:p>
        </p:txBody>
      </p:sp>
    </p:spTree>
    <p:extLst>
      <p:ext uri="{BB962C8B-B14F-4D97-AF65-F5344CB8AC3E}">
        <p14:creationId xmlns:p14="http://schemas.microsoft.com/office/powerpoint/2010/main" val="4202918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傳統機器學習模型（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Random Forest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、</a:t>
            </a:r>
            <a:r>
              <a:rPr lang="en-US" altLang="zh-TW" sz="18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XGBoost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）在運動傷害預測任務中已達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85%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準確率，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驅動的生物力學分析使訓練準確度提升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25%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，重傷發生率降低 </a:t>
            </a:r>
            <a:r>
              <a:rPr lang="en-US" altLang="zh-TW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23% </a:t>
            </a: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然而，這些系統存在「黑箱」問題，教練與運動醫學專家難以理解模型如何做出預測，限制了實務應用的信任度 。此外，現有系統缺乏自然語言互動能力，教練無法用對話方式查詢原因或調整建議 。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0034432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當前系統採用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Random Forest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或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XGBoost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模型分析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GPS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追蹤數據與生理數據，輸出傷害風險機率值（如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78%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），但教練只能看到數字結果，無法得知「為何風險升高」。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系統無法回應教練的自然語言提問，也無法根據球隊戰術需求、賽程密度等脈絡因素調整訓練建議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建構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驅動的智能運動助手，保留傳統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ML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模型的高準確率預測能力，同時加入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解釋層，自動生成可讀性高的傷害風險報告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系統支援自然語言對話查詢，教練可詢問「如何在保持競技狀態下降低傷害風險？」並獲得個人化訓練計畫調整建議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875930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1C9BA438-04A2-4A9C-8D1F-D4DC485D9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9967" y="1124367"/>
            <a:ext cx="6073666" cy="352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09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ML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模型（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RF/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XGBoost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）達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85%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準確率；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AI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生物力學分析降低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23%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重傷率；但缺乏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互動與解釋層。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如何保留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ML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高準確率同時整合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解釋與對話能力，提供脈絡化訓練建議？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預測結果黑箱無法解釋給教練；缺乏自然語言查詢能力；無法整合多維數據生成個人化建議。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5086690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XGBoost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預測引擎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LLaMA-2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解釋層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RAG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對話介面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個人化優化引擎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首個整合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ML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預測引擎與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對話介面的系統，提供可解釋傷害風險報告與互動式教練建議。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09585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https://arxiv.org/abs/2402.15862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https://www.mdpi.com/2306-5354/12/8/887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https://pubmed.ncbi.nlm.nih.gov/39613453/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https://ijaem.net/issue_dcp/AI%20Driven%20Biomechanical%20Analysis%20Advancing%20Injury%20Prevention,%20Performance%20Optimization,%20and%20Rehabilitation%20in%20Competitive%20Sports.pdf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866385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1022404"/>
            <a:ext cx="7603200" cy="2128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多智能體 </a:t>
            </a:r>
            <a:r>
              <a:rPr lang="en-US" altLang="zh-TW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5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災害預警與應急響應協調系統</a:t>
            </a:r>
          </a:p>
        </p:txBody>
      </p:sp>
    </p:spTree>
    <p:extLst>
      <p:ext uri="{BB962C8B-B14F-4D97-AF65-F5344CB8AC3E}">
        <p14:creationId xmlns:p14="http://schemas.microsoft.com/office/powerpoint/2010/main" val="1002044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可從社交媒體估計地震強度。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但傳統系統難以即時整合多模態異質數據（文字、影像、感測器、衛星），且跨機構協調效率低 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972591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人工監看多數據源，手動溝通協調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單一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AI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模型無法跨模態處理，災情評估延遲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30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分鐘以上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多智能體協作（偵測、評估、協調、決策），災後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分鐘完成評估與響應建議 。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26605197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842048E-6A5F-45A6-ADE0-0823A2A715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3270" y="1079064"/>
            <a:ext cx="5997460" cy="360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7609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可估計地震強度，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WildfireGPT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RAG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多智能體架構，但跨模態整合與機構協調仍有差距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如何建構多智能體系統即時整合異質數據，在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分鐘內完成評估與應急決策？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(1)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單一模型難處理跨模態數據、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(2)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機構間資訊孤島延遲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分鐘以上、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(3)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缺乏即時動態決策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4210200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」架構（偵測、評估、協調、決策智能體）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Kafka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即時流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RAG + GIS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疏散優化 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(1)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提出完整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“3M”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框架、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(2)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響應時間縮短至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分鐘、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(3)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跨機構自動協調 。​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2067481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https://arxiv.org/abs/2405.18732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https://www.sciencedirect.com/science/article/pii/S2212420925004662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https://arxiv.org/abs/2504.17200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https://arxiv.org/abs/2501.06932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’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0675622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669603"/>
            <a:ext cx="7603200" cy="248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GNN</a:t>
            </a:r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動態群組推薦</a:t>
            </a:r>
            <a:endParaRPr lang="en-US" altLang="zh-TW" sz="40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時序圖神經網路的群組推薦系統</a:t>
            </a:r>
          </a:p>
        </p:txBody>
      </p:sp>
    </p:spTree>
    <p:extLst>
      <p:ext uri="{BB962C8B-B14F-4D97-AF65-F5344CB8AC3E}">
        <p14:creationId xmlns:p14="http://schemas.microsoft.com/office/powerpoint/2010/main" val="1325289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現有的推薦系統主要針對個人用戶設計，但許多實際場景涉及群組決策：家庭選擇電影、朋友聚餐選餐廳、團隊旅遊規劃。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群組推薦的挑戰在於需要平衡不同成員的偏好，同時考量成員間的社交影響力與群組動態變化。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圖神經網路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(GNN)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擅長建模關係網路，但現有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GNN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推薦研究多聚焦個人層級，缺乏群組動態建模機制。</a:t>
            </a:r>
            <a:endParaRPr lang="en-US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7570913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推薦系統聚焦於個人偏好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群組推薦採用簡單偏好聚合策略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忽略群組成員間的社交影響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無法處理群組組成動態變化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建立動態群組偏好建模機制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捕捉群組成員間的社交影響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支援群組組成變化的即時更新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提升群組推薦滿意度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67702688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24D55D7-A6A8-40E5-AAF0-AB4DAED1D1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1409" y="1140352"/>
            <a:ext cx="5265639" cy="3194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94090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現有群組推薦使用簡單平均策略，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推薦研究主要聚焦個人層級，缺乏群組動態建模機制。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如何讓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推薦系統考量群組動態與成員互動？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現有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推薦研究忽略群組情境，簡單平均策略無法反映社交影響。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65067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提出時序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架構，整合注意力機制建模成員影響力動態變化。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  首次將時序圖神經網路應用於群組推薦，實現動態群組建模與社交影響力識別，優化整體滿意度而非簡單平均。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08253079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https://arxiv.org/abs/2104.07368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https://ieeexplore.ieee.org/document/10870189/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https://www.semanticscholar.org/paper/3443efc855cebd17d1512d1a703b6e9ee2e4da8b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https://arxiv.org/abs/2407.10240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7"/>
              </a:rPr>
              <a:t>http://www.cs.toronto.edu/~lcharlin/camra2011/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0781744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669603"/>
            <a:ext cx="7603200" cy="248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en-US" altLang="zh-TW" sz="4000" b="0" i="0" dirty="0" err="1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xLSTM</a:t>
            </a:r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多變量預測優化</a:t>
            </a:r>
            <a:endParaRPr lang="en-US" altLang="zh-TW" sz="40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ctr"/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跨變量依賴關係建模</a:t>
            </a:r>
          </a:p>
        </p:txBody>
      </p:sp>
    </p:spTree>
    <p:extLst>
      <p:ext uri="{BB962C8B-B14F-4D97-AF65-F5344CB8AC3E}">
        <p14:creationId xmlns:p14="http://schemas.microsoft.com/office/powerpoint/2010/main" val="128889258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800" dirty="0" err="1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xLSTM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(Extended Long Short-Term Memory) 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在長時序預測任務中展現優勢，但其設計哲學採用通 道獨立策略，即每個變量獨立處理。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這種設計在單變量或弱相關多變量任務中有效，但在股市、能源 系統、交通網路等強相關多變量場景中，忽略變量間依賴關係會顯著降低預測準確度。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如何在保持 </a:t>
            </a:r>
            <a:r>
              <a:rPr lang="en-US" altLang="zh-TW" sz="1800" dirty="0" err="1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xLSTM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 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長時序記憶優勢的同時，有效建模變量間依賴，是關鍵挑戰。</a:t>
            </a:r>
            <a:endParaRPr lang="en-US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6947298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xLSTM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採用通道獨立處理策略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忽略變量間的相互依賴關係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在多變量預測任務表現受限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缺乏動態變量重要性建模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建立變量間依賴關係建模機制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動態調整變量權重與重要性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保持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xLSTM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長時序記憶優勢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101600" lvl="0" indent="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提升多變量預測準確度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13911227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025FA0DC-B3A3-4102-A301-B9B5D97FF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4863" y="970575"/>
            <a:ext cx="3907103" cy="383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93284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xLSTM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採用通道獨立策略在長時序預測中表現優異，但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Transformer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在超長序列（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1000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時間步）上計算成本過高。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如何讓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xLSTM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有效建模多變量時序的變量依賴關係？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xLSTMTime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採用通道獨立策略，在股市等多變量任務中無法捕捉變量互動。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5574502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760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提出四階段架構：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xLSTM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局部時序編碼 → 圖結構學習（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Gumbel-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Softmax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）→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GCN +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多 頭注意力跨變量建模 → 時序 空間融合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首次結合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xLSTM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與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GNN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實現動態變量依賴建模，保持長序列處理能力（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1000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時間步），提供可視化動態依賴圖增強可解釋性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49183991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https://arxiv.org/abs/2405.14458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https://www.geeksforgeeks.org/deep-learning/multivariate-time-series-forecasting-with-lstms-in-keras/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https://onlinelibrary.wiley.com/doi/10.1155/2021/9903518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https://arxiv.org/html/2407.10240v1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7"/>
              </a:rPr>
              <a:t>https://arxiv.org/abs/2401.17270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57422101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770400" y="669603"/>
            <a:ext cx="7603200" cy="24808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協同過濾增強的 </a:t>
            </a:r>
            <a:r>
              <a:rPr lang="en-US" altLang="zh-TW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LLM</a:t>
            </a:r>
          </a:p>
          <a:p>
            <a:pPr algn="ctr"/>
            <a:r>
              <a:rPr lang="en-US" altLang="zh-TW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 </a:t>
            </a:r>
            <a:r>
              <a:rPr lang="zh-TW" altLang="en-US" sz="40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對話式推薦冷啟動</a:t>
            </a:r>
          </a:p>
        </p:txBody>
      </p:sp>
    </p:spTree>
    <p:extLst>
      <p:ext uri="{BB962C8B-B14F-4D97-AF65-F5344CB8AC3E}">
        <p14:creationId xmlns:p14="http://schemas.microsoft.com/office/powerpoint/2010/main" val="356184404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CRAG (2024) 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整合協同過濾和 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LLM 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的對話式推薦系統。但對於完全新用戶（沒有任何歷史記錄），系統只能透過多輪問答來了解偏好。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問題是：用戶可能不耐煩，前幾輪推薦準確度很低。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 </a:t>
            </a:r>
            <a:endParaRPr lang="en-US" altLang="zh-TW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延伸方向：如何在最少對話輪次內，快速建立準確的用戶畫像？這涉及「智能問題選擇」</a:t>
            </a:r>
            <a:r>
              <a:rPr lang="en-US" altLang="zh-TW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——</a:t>
            </a:r>
            <a:r>
              <a:rPr lang="zh-TW" altLang="en-US" sz="1800" dirty="0">
                <a:solidFill>
                  <a:schemeClr val="tx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sym typeface="PT Serif"/>
              </a:rPr>
              <a:t>問「信息量最大」的問題。</a:t>
            </a:r>
            <a:endParaRPr lang="en-US" sz="1800" dirty="0">
              <a:solidFill>
                <a:schemeClr val="tx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altLang="zh-TW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Research Background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1187883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冷啟動用戶需要回答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個問題才能得到合理推薦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系統可能問重複或低價值的問題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初期推薦準確度低，用戶體驗差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4136502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2-3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輪對話就能捕捉核心偏好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每個問題都經過優化，最大化信息獲取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從用戶的隱式反饋中學習（停頓、猶豫等）</a:t>
            </a: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  <p:extLst>
      <p:ext uri="{BB962C8B-B14F-4D97-AF65-F5344CB8AC3E}">
        <p14:creationId xmlns:p14="http://schemas.microsoft.com/office/powerpoint/2010/main" val="359127550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A0C586B-D3EA-4558-A5AF-457244EB40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5354" y="1141218"/>
            <a:ext cx="5898587" cy="345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1358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970575"/>
            <a:ext cx="7909800" cy="4059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相關論文研究現狀：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ConTS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(2020)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統一處理「問什麼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推薦什麼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何時問」基於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Thompson Sampling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優於 </a:t>
            </a:r>
            <a:r>
              <a:rPr lang="en-US" altLang="zh-TW" sz="1600" dirty="0" err="1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ConUCB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EAR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CRAG (2024)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首次整合協同過濾和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LLM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的對話式推薦系統使用檢索增強生成，但冷啟動仍需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5-10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輪對話且用戶可能第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輪流失。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如何量化「問題的信息價值」並選擇最大化信息獲取的問題？在有限輪次內如何平衡「探索新偏好」和「利用已知信息推薦」？如何從對話的語氣、停頓、用詞中推斷偏好強度加速用戶建模？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14087007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70400"/>
            <a:ext cx="7909800" cy="43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發現問題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問題質量不一（重複或低價值），隱式反饋（停頓、語氣變化）未被利用，初期推薦準確度低導致用戶體驗差。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提出的解決方法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   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Thompson Sampling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動態生成問題池；信息增益排序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多樣性約束；隱式反饋捕捉（語氣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詳細度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/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停頓）；協同過濾快速插補。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研究貢獻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:</a:t>
            </a:r>
          </a:p>
          <a:p>
            <a:pPr marL="533400" lvl="1" indent="0">
              <a:spcBef>
                <a:spcPts val="600"/>
              </a:spcBef>
              <a:buClr>
                <a:schemeClr val="dk1"/>
              </a:buClr>
              <a:buSzPts val="1200"/>
              <a:buNone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   問題選擇信息論框架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+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隱式反饋模型；對話輪次↓至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2-3 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輪、準確率↑至 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65%+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、滿意度↑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30%+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、流失率↓</a:t>
            </a:r>
            <a:r>
              <a:rPr lang="en-US" altLang="zh-TW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40%</a:t>
            </a: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33044988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Reference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768974"/>
            <a:ext cx="7909800" cy="437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https://arxiv.org/abs/2502.14137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https://github.com/D3Mlab/llm-convrec</a:t>
            </a: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lang="en-US"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689040671"/>
      </p:ext>
    </p:extLst>
  </p:cSld>
  <p:clrMapOvr>
    <a:masterClrMapping/>
  </p:clrMapOvr>
</p:sld>
</file>

<file path=ppt/theme/theme1.xml><?xml version="1.0" encoding="utf-8"?>
<a:theme xmlns:a="http://schemas.openxmlformats.org/drawingml/2006/main" name="Beatrice template">
  <a:themeElements>
    <a:clrScheme name="Custom 347">
      <a:dk1>
        <a:srgbClr val="1D1D1B"/>
      </a:dk1>
      <a:lt1>
        <a:srgbClr val="F3EFEA"/>
      </a:lt1>
      <a:dk2>
        <a:srgbClr val="434343"/>
      </a:dk2>
      <a:lt2>
        <a:srgbClr val="FFFFFF"/>
      </a:lt2>
      <a:accent1>
        <a:srgbClr val="8F7B87"/>
      </a:accent1>
      <a:accent2>
        <a:srgbClr val="A797A1"/>
      </a:accent2>
      <a:accent3>
        <a:srgbClr val="C0B5BC"/>
      </a:accent3>
      <a:accent4>
        <a:srgbClr val="E4DDE1"/>
      </a:accent4>
      <a:accent5>
        <a:srgbClr val="EFECED"/>
      </a:accent5>
      <a:accent6>
        <a:srgbClr val="F3EFEA"/>
      </a:accent6>
      <a:hlink>
        <a:srgbClr val="1D1D1B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2731</Words>
  <Application>Microsoft Office PowerPoint</Application>
  <PresentationFormat>如螢幕大小 (16:9)</PresentationFormat>
  <Paragraphs>292</Paragraphs>
  <Slides>49</Slides>
  <Notes>49</Notes>
  <HiddenSlides>21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49</vt:i4>
      </vt:variant>
    </vt:vector>
  </HeadingPairs>
  <TitlesOfParts>
    <vt:vector size="56" baseType="lpstr">
      <vt:lpstr>Montserrat</vt:lpstr>
      <vt:lpstr>PT Serif</vt:lpstr>
      <vt:lpstr>微软雅黑</vt:lpstr>
      <vt:lpstr>Poppins</vt:lpstr>
      <vt:lpstr>Arial</vt:lpstr>
      <vt:lpstr>Adobe 繁黑體 Std B</vt:lpstr>
      <vt:lpstr>Beatrice template</vt:lpstr>
      <vt:lpstr>PowerPoint 簡報</vt:lpstr>
      <vt:lpstr>Research Background</vt:lpstr>
      <vt:lpstr>As-Is To-Be</vt:lpstr>
      <vt:lpstr>Framework</vt:lpstr>
      <vt:lpstr>Overview</vt:lpstr>
      <vt:lpstr>Overview</vt:lpstr>
      <vt:lpstr>Reference</vt:lpstr>
      <vt:lpstr>PowerPoint 簡報</vt:lpstr>
      <vt:lpstr>Research Background</vt:lpstr>
      <vt:lpstr>As-Is To-Be</vt:lpstr>
      <vt:lpstr>Framework</vt:lpstr>
      <vt:lpstr>Overview</vt:lpstr>
      <vt:lpstr>Overview</vt:lpstr>
      <vt:lpstr>Reference</vt:lpstr>
      <vt:lpstr>PowerPoint 簡報</vt:lpstr>
      <vt:lpstr>Research Background</vt:lpstr>
      <vt:lpstr>As-Is To-Be</vt:lpstr>
      <vt:lpstr>Framework</vt:lpstr>
      <vt:lpstr>Overview</vt:lpstr>
      <vt:lpstr>Overview</vt:lpstr>
      <vt:lpstr>Reference</vt:lpstr>
      <vt:lpstr>PowerPoint 簡報</vt:lpstr>
      <vt:lpstr>Research Background</vt:lpstr>
      <vt:lpstr>As-Is To-Be</vt:lpstr>
      <vt:lpstr>Framework</vt:lpstr>
      <vt:lpstr>Overview</vt:lpstr>
      <vt:lpstr>Overview</vt:lpstr>
      <vt:lpstr>Reference</vt:lpstr>
      <vt:lpstr>PowerPoint 簡報</vt:lpstr>
      <vt:lpstr>Research Background</vt:lpstr>
      <vt:lpstr>As-Is To-Be</vt:lpstr>
      <vt:lpstr>Framework</vt:lpstr>
      <vt:lpstr>Overview</vt:lpstr>
      <vt:lpstr>Overview</vt:lpstr>
      <vt:lpstr>Reference</vt:lpstr>
      <vt:lpstr>PowerPoint 簡報</vt:lpstr>
      <vt:lpstr>Research Background</vt:lpstr>
      <vt:lpstr>As-Is To-Be</vt:lpstr>
      <vt:lpstr>Framework</vt:lpstr>
      <vt:lpstr>Overview</vt:lpstr>
      <vt:lpstr>Overview</vt:lpstr>
      <vt:lpstr>Reference</vt:lpstr>
      <vt:lpstr>PowerPoint 簡報</vt:lpstr>
      <vt:lpstr>Research Background</vt:lpstr>
      <vt:lpstr>As-Is To-Be</vt:lpstr>
      <vt:lpstr>Framework</vt:lpstr>
      <vt:lpstr>Overview</vt:lpstr>
      <vt:lpstr>Overview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Tony Wu</dc:creator>
  <cp:lastModifiedBy>先正 陳</cp:lastModifiedBy>
  <cp:revision>51</cp:revision>
  <dcterms:modified xsi:type="dcterms:W3CDTF">2025-11-25T03:36:17Z</dcterms:modified>
</cp:coreProperties>
</file>