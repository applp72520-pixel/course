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5"/>
  </p:notesMasterIdLst>
  <p:sldIdLst>
    <p:sldId id="256" r:id="rId2"/>
    <p:sldId id="257" r:id="rId3"/>
    <p:sldId id="258" r:id="rId4"/>
    <p:sldId id="259" r:id="rId5"/>
    <p:sldId id="260" r:id="rId6"/>
    <p:sldId id="263" r:id="rId7"/>
    <p:sldId id="264" r:id="rId8"/>
    <p:sldId id="282" r:id="rId9"/>
    <p:sldId id="268" r:id="rId10"/>
    <p:sldId id="269" r:id="rId11"/>
    <p:sldId id="283" r:id="rId12"/>
    <p:sldId id="274" r:id="rId13"/>
    <p:sldId id="275" r:id="rId14"/>
    <p:sldId id="286" r:id="rId15"/>
    <p:sldId id="287" r:id="rId16"/>
    <p:sldId id="288" r:id="rId17"/>
    <p:sldId id="289" r:id="rId18"/>
    <p:sldId id="277" r:id="rId19"/>
    <p:sldId id="284" r:id="rId20"/>
    <p:sldId id="279" r:id="rId21"/>
    <p:sldId id="280" r:id="rId22"/>
    <p:sldId id="285" r:id="rId23"/>
    <p:sldId id="281" r:id="rId24"/>
  </p:sldIdLst>
  <p:sldSz cx="9144000" cy="5143500" type="screen16x9"/>
  <p:notesSz cx="6858000" cy="9144000"/>
  <p:embeddedFontLst>
    <p:embeddedFont>
      <p:font typeface="Adobe 黑体 Std R" panose="020B0400000000000000" pitchFamily="34" charset="-122"/>
      <p:regular r:id="rId26"/>
    </p:embeddedFont>
    <p:embeddedFont>
      <p:font typeface="Adobe 繁黑體 Std B" panose="020B0700000000000000" pitchFamily="34" charset="-128"/>
      <p:bold r:id="rId27"/>
    </p:embeddedFont>
    <p:embeddedFont>
      <p:font typeface="Century Gothic" panose="020B0502020202020204" pitchFamily="34" charset="0"/>
      <p:regular r:id="rId28"/>
      <p:bold r:id="rId29"/>
      <p:italic r:id="rId30"/>
      <p:boldItalic r:id="rId31"/>
    </p:embeddedFont>
    <p:embeddedFont>
      <p:font typeface="Nunito" pitchFamily="2" charset="0"/>
      <p:regular r:id="rId32"/>
      <p:bold r:id="rId33"/>
      <p:italic r:id="rId34"/>
      <p:boldItalic r:id="rId35"/>
    </p:embeddedFont>
    <p:embeddedFont>
      <p:font typeface="Wingdings 3" panose="05040102010807070707" pitchFamily="18" charset="2"/>
      <p:regular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7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895b6b46be_0_10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895b6b46be_0_10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895b6b46be_0_1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895b6b46be_0_1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95b6b46be_0_1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95b6b46be_0_1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895b6b46be_0_1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895b6b46be_0_1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895b6b46be_0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895b6b46be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95b6b46be_0_1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895b6b46be_0_1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95b6b46be_0_1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895b6b46be_0_1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279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895b6b46be_0_1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895b6b46be_0_1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895b6b46be_0_1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895b6b46be_0_1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895b6b46be_0_1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895b6b46be_0_1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629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895b6b46be_0_1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895b6b46be_0_1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95b6b46be_0_1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95b6b46be_0_1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95b6b46be_0_1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95b6b46be_0_1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8534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95b6b46be_0_1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95b6b46be_0_1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1738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95b6b46be_0_1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95b6b46be_0_1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3813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95b6b46be_0_1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95b6b46be_0_1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673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895b6b46be_0_1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895b6b46be_0_1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895b6b46be_0_1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895b6b46be_0_1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0415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895b6b46be_0_1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895b6b46be_0_1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895b6b46be_0_1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895b6b46be_0_1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895b6b46be_0_1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895b6b46be_0_1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719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895b6b46be_0_15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895b6b46be_0_1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1885950"/>
            <a:ext cx="6686549" cy="1697086"/>
          </a:xfrm>
        </p:spPr>
        <p:txBody>
          <a:bodyPr anchor="b">
            <a:normAutofit/>
          </a:bodyPr>
          <a:lstStyle>
            <a:lvl1pPr>
              <a:defRPr sz="4050"/>
            </a:lvl1pPr>
          </a:lstStyle>
          <a:p>
            <a:r>
              <a:rPr lang="zh-TW" altLang="en-US"/>
              <a:t>按一下以編輯母片標題樣式</a:t>
            </a:r>
            <a:endParaRPr lang="en-US" dirty="0"/>
          </a:p>
        </p:txBody>
      </p:sp>
      <p:sp>
        <p:nvSpPr>
          <p:cNvPr id="3" name="Subtitle 2"/>
          <p:cNvSpPr>
            <a:spLocks noGrp="1"/>
          </p:cNvSpPr>
          <p:nvPr>
            <p:ph type="subTitle" idx="1"/>
          </p:nvPr>
        </p:nvSpPr>
        <p:spPr>
          <a:xfrm>
            <a:off x="1941910" y="3583035"/>
            <a:ext cx="6686549" cy="844712"/>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7" name="Freeform 6"/>
          <p:cNvSpPr/>
          <p:nvPr/>
        </p:nvSpPr>
        <p:spPr bwMode="auto">
          <a:xfrm>
            <a:off x="0" y="3242858"/>
            <a:ext cx="1308489" cy="583942"/>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3397155"/>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1912093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a:xfrm>
            <a:off x="1944694" y="468082"/>
            <a:ext cx="6683765" cy="960668"/>
          </a:xfrm>
        </p:spPr>
        <p:txBody>
          <a:bodyPr/>
          <a:lstStyle/>
          <a:p>
            <a:r>
              <a:rPr lang="zh-TW" altLang="en-US"/>
              <a:t>按一下以編輯母片標題樣式</a:t>
            </a:r>
            <a:endParaRPr lang="en-US" dirty="0"/>
          </a:p>
        </p:txBody>
      </p:sp>
      <p:sp>
        <p:nvSpPr>
          <p:cNvPr id="3" name="Content Placeholder 2"/>
          <p:cNvSpPr>
            <a:spLocks noGrp="1"/>
          </p:cNvSpPr>
          <p:nvPr>
            <p:ph idx="1"/>
          </p:nvPr>
        </p:nvSpPr>
        <p:spPr>
          <a:xfrm>
            <a:off x="1941909" y="1600200"/>
            <a:ext cx="6686550" cy="283321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25387229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941910" y="1544063"/>
            <a:ext cx="6686549" cy="1101600"/>
          </a:xfrm>
        </p:spPr>
        <p:txBody>
          <a:bodyPr anchor="b"/>
          <a:lstStyle>
            <a:lvl1pPr algn="l">
              <a:defRPr sz="30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941910" y="2647597"/>
            <a:ext cx="6686549" cy="645300"/>
          </a:xfrm>
        </p:spPr>
        <p:txBody>
          <a:bodyPr anchor="t"/>
          <a:lstStyle>
            <a:lvl1pPr marL="0" indent="0" algn="l">
              <a:buNone/>
              <a:defRPr sz="150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17396093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941909" y="1600200"/>
            <a:ext cx="3235398" cy="2833217"/>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5393060" y="1594666"/>
            <a:ext cx="3235398" cy="2833217"/>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10"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590837"/>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11446126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2204530" y="1479527"/>
            <a:ext cx="2994549"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4" name="Content Placeholder 3"/>
          <p:cNvSpPr>
            <a:spLocks noGrp="1"/>
          </p:cNvSpPr>
          <p:nvPr>
            <p:ph sz="half" idx="2"/>
          </p:nvPr>
        </p:nvSpPr>
        <p:spPr>
          <a:xfrm>
            <a:off x="1941909" y="1911725"/>
            <a:ext cx="3257170" cy="2515545"/>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5629972" y="1477106"/>
            <a:ext cx="2999251"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6" name="Content Placeholder 5"/>
          <p:cNvSpPr>
            <a:spLocks noGrp="1"/>
          </p:cNvSpPr>
          <p:nvPr>
            <p:ph sz="quarter" idx="4"/>
          </p:nvPr>
        </p:nvSpPr>
        <p:spPr>
          <a:xfrm>
            <a:off x="5375218" y="1909304"/>
            <a:ext cx="3254006" cy="2515545"/>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12"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590837"/>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19721539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7"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145246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6"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4187745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941910" y="334566"/>
            <a:ext cx="2628899" cy="732234"/>
          </a:xfrm>
        </p:spPr>
        <p:txBody>
          <a:bodyPr anchor="b"/>
          <a:lstStyle>
            <a:lvl1pPr algn="l">
              <a:defRPr sz="1500" b="0"/>
            </a:lvl1pPr>
          </a:lstStyle>
          <a:p>
            <a:r>
              <a:rPr lang="zh-TW" altLang="en-US"/>
              <a:t>按一下以編輯母片標題樣式</a:t>
            </a:r>
            <a:endParaRPr lang="en-US" dirty="0"/>
          </a:p>
        </p:txBody>
      </p:sp>
      <p:sp>
        <p:nvSpPr>
          <p:cNvPr id="3" name="Content Placeholder 2"/>
          <p:cNvSpPr>
            <a:spLocks noGrp="1"/>
          </p:cNvSpPr>
          <p:nvPr>
            <p:ph idx="1"/>
          </p:nvPr>
        </p:nvSpPr>
        <p:spPr>
          <a:xfrm>
            <a:off x="4742259" y="334567"/>
            <a:ext cx="3886200" cy="4061222"/>
          </a:xfrm>
        </p:spPr>
        <p:txBody>
          <a:bodyPr anchor="ct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941910" y="1198960"/>
            <a:ext cx="2628899" cy="319682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77888192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941910" y="3600450"/>
            <a:ext cx="6686550" cy="425054"/>
          </a:xfrm>
        </p:spPr>
        <p:txBody>
          <a:bodyPr anchor="b">
            <a:normAutofit/>
          </a:bodyPr>
          <a:lstStyle>
            <a:lvl1pPr algn="l">
              <a:defRPr sz="18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941909" y="476224"/>
            <a:ext cx="6686550" cy="289122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TW" altLang="en-US"/>
              <a:t>按一下圖示以新增圖片</a:t>
            </a:r>
            <a:endParaRPr lang="en-US" dirty="0"/>
          </a:p>
        </p:txBody>
      </p:sp>
      <p:sp>
        <p:nvSpPr>
          <p:cNvPr id="4" name="Text Placeholder 3"/>
          <p:cNvSpPr>
            <a:spLocks noGrp="1"/>
          </p:cNvSpPr>
          <p:nvPr>
            <p:ph type="body" sz="half" idx="2"/>
          </p:nvPr>
        </p:nvSpPr>
        <p:spPr>
          <a:xfrm>
            <a:off x="1941910" y="4025504"/>
            <a:ext cx="6686550"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303724269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1941910" y="457200"/>
            <a:ext cx="6686549" cy="2337780"/>
          </a:xfrm>
        </p:spPr>
        <p:txBody>
          <a:bodyPr anchor="ctr">
            <a:normAutofit/>
          </a:bodyPr>
          <a:lstStyle>
            <a:lvl1pPr algn="l">
              <a:defRPr sz="36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35683761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zh-TW" altLang="en-US"/>
              <a:t>按一下以編輯母片標題樣式</a:t>
            </a:r>
            <a:endParaRPr lang="en-US" dirty="0"/>
          </a:p>
        </p:txBody>
      </p:sp>
      <p:sp>
        <p:nvSpPr>
          <p:cNvPr id="13" name="Text Placeholder 9"/>
          <p:cNvSpPr>
            <a:spLocks noGrp="1"/>
          </p:cNvSpPr>
          <p:nvPr>
            <p:ph type="body" sz="quarter" idx="13"/>
          </p:nvPr>
        </p:nvSpPr>
        <p:spPr>
          <a:xfrm>
            <a:off x="2456259" y="2628900"/>
            <a:ext cx="5652416"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zh-TW" altLang="en-US"/>
              <a:t>按一下以編輯母片文字樣式</a:t>
            </a:r>
          </a:p>
        </p:txBody>
      </p:sp>
      <p:sp>
        <p:nvSpPr>
          <p:cNvPr id="3" name="Text Placeholder 2"/>
          <p:cNvSpPr>
            <a:spLocks noGrp="1"/>
          </p:cNvSpPr>
          <p:nvPr>
            <p:ph type="body" idx="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1"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
        <p:nvSpPr>
          <p:cNvPr id="14" name="TextBox 13"/>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5" name="TextBox 14"/>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5762855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941910" y="1828800"/>
            <a:ext cx="6686550" cy="2043634"/>
          </a:xfrm>
        </p:spPr>
        <p:txBody>
          <a:bodyPr anchor="b">
            <a:normAutofit/>
          </a:bodyPr>
          <a:lstStyle>
            <a:lvl1pPr algn="l">
              <a:defRPr sz="3600" b="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a:t>按一下以編輯母片文字樣式</a:t>
            </a:r>
          </a:p>
        </p:txBody>
      </p:sp>
      <p:sp>
        <p:nvSpPr>
          <p:cNvPr id="5" name="Date Placeholder 4"/>
          <p:cNvSpPr>
            <a:spLocks noGrp="1"/>
          </p:cNvSpPr>
          <p:nvPr>
            <p:ph type="dt" sz="half" idx="10"/>
          </p:nvPr>
        </p:nvSpPr>
        <p:spPr/>
        <p:txBody>
          <a:bodyPr/>
          <a:lstStyle/>
          <a:p>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30173719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1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zh-TW" altLang="en-US"/>
              <a:t>按一下以編輯母片標題樣式</a:t>
            </a:r>
            <a:endParaRPr lang="en-US" dirty="0"/>
          </a:p>
        </p:txBody>
      </p:sp>
      <p:sp>
        <p:nvSpPr>
          <p:cNvPr id="21" name="Text Placeholder 9"/>
          <p:cNvSpPr>
            <a:spLocks noGrp="1"/>
          </p:cNvSpPr>
          <p:nvPr>
            <p:ph type="body" sz="quarter" idx="13"/>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zh-TW" altLang="en-US"/>
              <a:t>按一下以編輯母片文字樣式</a:t>
            </a:r>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a:t>按一下以編輯母片文字樣式</a:t>
            </a:r>
          </a:p>
        </p:txBody>
      </p:sp>
      <p:sp>
        <p:nvSpPr>
          <p:cNvPr id="5" name="Date Placeholder 4"/>
          <p:cNvSpPr>
            <a:spLocks noGrp="1"/>
          </p:cNvSpPr>
          <p:nvPr>
            <p:ph type="dt" sz="half" idx="10"/>
          </p:nvPr>
        </p:nvSpPr>
        <p:spPr/>
        <p:txBody>
          <a:bodyPr/>
          <a:lstStyle/>
          <a:p>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11"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
        <p:nvSpPr>
          <p:cNvPr id="17" name="TextBox 16"/>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8" name="TextBox 17"/>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84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1941910" y="470555"/>
            <a:ext cx="6686549" cy="2160015"/>
          </a:xfrm>
        </p:spPr>
        <p:txBody>
          <a:bodyPr anchor="ctr">
            <a:normAutofit/>
          </a:bodyPr>
          <a:lstStyle>
            <a:lvl1pPr algn="l">
              <a:defRPr sz="3600" b="0"/>
            </a:lvl1pPr>
          </a:lstStyle>
          <a:p>
            <a:r>
              <a:rPr lang="zh-TW" altLang="en-US"/>
              <a:t>按一下以編輯母片標題樣式</a:t>
            </a:r>
            <a:endParaRPr lang="en-US" dirty="0"/>
          </a:p>
        </p:txBody>
      </p:sp>
      <p:sp>
        <p:nvSpPr>
          <p:cNvPr id="21" name="Text Placeholder 9"/>
          <p:cNvSpPr>
            <a:spLocks noGrp="1"/>
          </p:cNvSpPr>
          <p:nvPr>
            <p:ph type="body" sz="quarter" idx="13"/>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zh-TW" altLang="en-US"/>
              <a:t>按一下以編輯母片文字樣式</a:t>
            </a:r>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a:t>按一下以編輯母片文字樣式</a:t>
            </a:r>
          </a:p>
        </p:txBody>
      </p:sp>
      <p:sp>
        <p:nvSpPr>
          <p:cNvPr id="5" name="Date Placeholder 4"/>
          <p:cNvSpPr>
            <a:spLocks noGrp="1"/>
          </p:cNvSpPr>
          <p:nvPr>
            <p:ph type="dt" sz="half" idx="10"/>
          </p:nvPr>
        </p:nvSpPr>
        <p:spPr/>
        <p:txBody>
          <a:bodyPr/>
          <a:lstStyle/>
          <a:p>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377619896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2290952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470554"/>
            <a:ext cx="1655701" cy="3962863"/>
          </a:xfrm>
        </p:spPr>
        <p:txBody>
          <a:bodyPr vert="eaVert" anchor="ct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941909" y="470554"/>
            <a:ext cx="4857750" cy="3962863"/>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2388641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171450"/>
            <a:ext cx="2138637" cy="4978971"/>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589"/>
            <a:ext cx="1767506" cy="514052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468082"/>
            <a:ext cx="6683765" cy="960668"/>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941909" y="1600200"/>
            <a:ext cx="6686550" cy="291465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771210" y="4597828"/>
            <a:ext cx="859712" cy="277797"/>
          </a:xfrm>
          <a:prstGeom prst="rect">
            <a:avLst/>
          </a:prstGeom>
        </p:spPr>
        <p:txBody>
          <a:bodyPr vert="horz" lIns="91440" tIns="45720" rIns="91440" bIns="45720" rtlCol="0" anchor="ctr"/>
          <a:lstStyle>
            <a:lvl1pPr algn="r">
              <a:defRPr sz="675">
                <a:solidFill>
                  <a:schemeClr val="tx1">
                    <a:tint val="75000"/>
                  </a:schemeClr>
                </a:solidFill>
              </a:defRPr>
            </a:lvl1pPr>
          </a:lstStyle>
          <a:p>
            <a:endParaRPr lang="zh-TW" altLang="en-US"/>
          </a:p>
        </p:txBody>
      </p:sp>
      <p:sp>
        <p:nvSpPr>
          <p:cNvPr id="5" name="Footer Placeholder 4"/>
          <p:cNvSpPr>
            <a:spLocks noGrp="1"/>
          </p:cNvSpPr>
          <p:nvPr>
            <p:ph type="ftr" sz="quarter" idx="3"/>
          </p:nvPr>
        </p:nvSpPr>
        <p:spPr>
          <a:xfrm>
            <a:off x="1941910" y="4601856"/>
            <a:ext cx="571499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bwMode="gray">
          <a:xfrm>
            <a:off x="398860" y="590837"/>
            <a:ext cx="584825" cy="273844"/>
          </a:xfrm>
          <a:prstGeom prst="rect">
            <a:avLst/>
          </a:prstGeom>
        </p:spPr>
        <p:txBody>
          <a:bodyPr vert="horz" lIns="91440" tIns="45720" rIns="91440" bIns="45720" rtlCol="0" anchor="ctr"/>
          <a:lstStyle>
            <a:lvl1pPr algn="r">
              <a:defRPr sz="1500">
                <a:solidFill>
                  <a:srgbClr val="FEFFFF"/>
                </a:solidFill>
              </a:defRPr>
            </a:lvl1pPr>
          </a:lstStyle>
          <a:p>
            <a:pPr marL="0" lvl="0" indent="0" algn="r" rtl="0">
              <a:spcBef>
                <a:spcPts val="0"/>
              </a:spcBef>
              <a:spcAft>
                <a:spcPts val="0"/>
              </a:spcAft>
              <a:buNone/>
            </a:pPr>
            <a:r>
              <a:rPr lang="zh-TW" altLang="en-US"/>
              <a:t>   </a:t>
            </a:r>
            <a:fld id="{00000000-1234-1234-1234-123412341234}" type="slidenum">
              <a:rPr lang="zh-TW" smtClean="0"/>
              <a:t>‹#›</a:t>
            </a:fld>
            <a:endParaRPr/>
          </a:p>
        </p:txBody>
      </p:sp>
    </p:spTree>
    <p:extLst>
      <p:ext uri="{BB962C8B-B14F-4D97-AF65-F5344CB8AC3E}">
        <p14:creationId xmlns:p14="http://schemas.microsoft.com/office/powerpoint/2010/main" val="12171091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342900" rtl="0" eaLnBrk="1" latinLnBrk="0" hangingPunct="1">
        <a:spcBef>
          <a:spcPct val="0"/>
        </a:spcBef>
        <a:buNone/>
        <a:defRPr sz="27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sciencedirect.com/science/article/pii/S0747563225002067?via%3Dihub"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824000" y="904725"/>
            <a:ext cx="8105700" cy="1872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zh-TW" altLang="en-US" dirty="0">
                <a:latin typeface="Adobe 繁黑體 Std B" panose="020B0700000000000000" pitchFamily="34" charset="-128"/>
                <a:ea typeface="Adobe 繁黑體 Std B" panose="020B0700000000000000" pitchFamily="34" charset="-128"/>
              </a:rPr>
              <a:t>角色和對話任務對與</a:t>
            </a:r>
            <a:r>
              <a:rPr lang="en-US" altLang="zh-TW" dirty="0">
                <a:latin typeface="Adobe 繁黑體 Std B" panose="020B0700000000000000" pitchFamily="34" charset="-128"/>
                <a:ea typeface="Adobe 繁黑體 Std B" panose="020B0700000000000000" pitchFamily="34" charset="-128"/>
              </a:rPr>
              <a:t>LLM </a:t>
            </a:r>
            <a:r>
              <a:rPr lang="zh-TW" altLang="en-US" dirty="0">
                <a:latin typeface="Adobe 繁黑體 Std B" panose="020B0700000000000000" pitchFamily="34" charset="-128"/>
                <a:ea typeface="Adobe 繁黑體 Std B" panose="020B0700000000000000" pitchFamily="34" charset="-128"/>
              </a:rPr>
              <a:t>控制的具身對話代理的社交互動的影響</a:t>
            </a:r>
            <a:br>
              <a:rPr lang="en-US" altLang="zh-TW" dirty="0">
                <a:latin typeface="Adobe 繁黑體 Std B" panose="020B0700000000000000" pitchFamily="34" charset="-128"/>
                <a:ea typeface="Adobe 繁黑體 Std B" panose="020B0700000000000000" pitchFamily="34" charset="-128"/>
              </a:rPr>
            </a:br>
            <a:r>
              <a:rPr lang="en-US" altLang="zh-TW" sz="2400" dirty="0">
                <a:latin typeface="Adobe 繁黑體 Std B" panose="020B0700000000000000" pitchFamily="34" charset="-128"/>
                <a:ea typeface="Adobe 繁黑體 Std B" panose="020B0700000000000000" pitchFamily="34" charset="-128"/>
              </a:rPr>
              <a:t>The influence of persona and conversational task on social interactions with a LLM-controlled embodied conversational agent</a:t>
            </a:r>
            <a:endParaRPr sz="2400" dirty="0">
              <a:latin typeface="Adobe 繁黑體 Std B" panose="020B0700000000000000" pitchFamily="34" charset="-128"/>
              <a:ea typeface="Adobe 繁黑體 Std B" panose="020B0700000000000000" pitchFamily="34" charset="-128"/>
            </a:endParaRPr>
          </a:p>
        </p:txBody>
      </p:sp>
      <p:sp>
        <p:nvSpPr>
          <p:cNvPr id="89" name="Google Shape;89;p13"/>
          <p:cNvSpPr txBox="1">
            <a:spLocks noGrp="1"/>
          </p:cNvSpPr>
          <p:nvPr>
            <p:ph type="subTitle" idx="1"/>
          </p:nvPr>
        </p:nvSpPr>
        <p:spPr>
          <a:xfrm>
            <a:off x="1629050" y="3206800"/>
            <a:ext cx="6991200" cy="695400"/>
          </a:xfrm>
          <a:prstGeom prst="rect">
            <a:avLst/>
          </a:prstGeom>
        </p:spPr>
        <p:txBody>
          <a:bodyPr spcFirstLastPara="1" wrap="square" lIns="91425" tIns="45700" rIns="91425" bIns="45700" anchor="t" anchorCtr="0">
            <a:noAutofit/>
          </a:bodyPr>
          <a:lstStyle/>
          <a:p>
            <a:pPr marL="0" lvl="0" indent="0" algn="ctr" rtl="0">
              <a:spcBef>
                <a:spcPts val="560"/>
              </a:spcBef>
              <a:spcAft>
                <a:spcPts val="0"/>
              </a:spcAft>
              <a:buNone/>
            </a:pPr>
            <a:r>
              <a:rPr lang="zh-TW" sz="2000" dirty="0">
                <a:solidFill>
                  <a:srgbClr val="000000"/>
                </a:solidFill>
                <a:latin typeface="Adobe 繁黑體 Std B" panose="020B0700000000000000" pitchFamily="34" charset="-128"/>
                <a:ea typeface="Adobe 繁黑體 Std B" panose="020B0700000000000000" pitchFamily="34" charset="-128"/>
                <a:cs typeface="Arial"/>
                <a:sym typeface="Arial"/>
              </a:rPr>
              <a:t>論文出處</a:t>
            </a:r>
            <a:r>
              <a:rPr lang="en-US" altLang="zh-TW" sz="2000" dirty="0">
                <a:solidFill>
                  <a:srgbClr val="000000"/>
                </a:solidFill>
                <a:latin typeface="Adobe 繁黑體 Std B" panose="020B0700000000000000" pitchFamily="34" charset="-128"/>
                <a:ea typeface="Adobe 繁黑體 Std B" panose="020B0700000000000000" pitchFamily="34" charset="-128"/>
                <a:cs typeface="Arial"/>
                <a:sym typeface="Arial"/>
              </a:rPr>
              <a:t>:</a:t>
            </a:r>
            <a:r>
              <a:rPr lang="en-US" altLang="zh-TW" sz="2000" b="0" i="0" dirty="0">
                <a:solidFill>
                  <a:srgbClr val="000000"/>
                </a:solidFill>
                <a:effectLst/>
                <a:latin typeface="Adobe 繁黑體 Std B" panose="020B0700000000000000" pitchFamily="34" charset="-128"/>
                <a:ea typeface="Adobe 繁黑體 Std B" panose="020B0700000000000000" pitchFamily="34" charset="-128"/>
              </a:rPr>
              <a:t>Computers in Human Behavior</a:t>
            </a:r>
            <a:r>
              <a:rPr lang="zh-TW" sz="2000" dirty="0">
                <a:solidFill>
                  <a:srgbClr val="000000"/>
                </a:solidFill>
                <a:latin typeface="Adobe 繁黑體 Std B" panose="020B0700000000000000" pitchFamily="34" charset="-128"/>
                <a:ea typeface="Adobe 繁黑體 Std B" panose="020B0700000000000000" pitchFamily="34" charset="-128"/>
                <a:cs typeface="Arial"/>
                <a:sym typeface="Arial"/>
              </a:rPr>
              <a:t>,1</a:t>
            </a:r>
            <a:r>
              <a:rPr lang="en-US" altLang="zh-TW" sz="2000" dirty="0">
                <a:solidFill>
                  <a:srgbClr val="000000"/>
                </a:solidFill>
                <a:latin typeface="Adobe 繁黑體 Std B" panose="020B0700000000000000" pitchFamily="34" charset="-128"/>
                <a:ea typeface="Adobe 繁黑體 Std B" panose="020B0700000000000000" pitchFamily="34" charset="-128"/>
                <a:cs typeface="Arial"/>
                <a:sym typeface="Arial"/>
              </a:rPr>
              <a:t>7</a:t>
            </a:r>
            <a:r>
              <a:rPr lang="zh-TW" sz="2000" dirty="0">
                <a:solidFill>
                  <a:srgbClr val="000000"/>
                </a:solidFill>
                <a:latin typeface="Adobe 繁黑體 Std B" panose="020B0700000000000000" pitchFamily="34" charset="-128"/>
                <a:ea typeface="Adobe 繁黑體 Std B" panose="020B0700000000000000" pitchFamily="34" charset="-128"/>
                <a:cs typeface="Arial"/>
                <a:sym typeface="Arial"/>
              </a:rPr>
              <a:t>2,202</a:t>
            </a:r>
            <a:r>
              <a:rPr lang="en-US" altLang="zh-TW" sz="2000" dirty="0">
                <a:solidFill>
                  <a:srgbClr val="000000"/>
                </a:solidFill>
                <a:latin typeface="Adobe 繁黑體 Std B" panose="020B0700000000000000" pitchFamily="34" charset="-128"/>
                <a:ea typeface="Adobe 繁黑體 Std B" panose="020B0700000000000000" pitchFamily="34" charset="-128"/>
                <a:cs typeface="Arial"/>
                <a:sym typeface="Arial"/>
              </a:rPr>
              <a:t>5</a:t>
            </a:r>
            <a:r>
              <a:rPr lang="zh-TW" sz="2000" dirty="0">
                <a:solidFill>
                  <a:srgbClr val="000000"/>
                </a:solidFill>
                <a:latin typeface="Adobe 繁黑體 Std B" panose="020B0700000000000000" pitchFamily="34" charset="-128"/>
                <a:ea typeface="Adobe 繁黑體 Std B" panose="020B0700000000000000" pitchFamily="34" charset="-128"/>
                <a:cs typeface="Arial"/>
                <a:sym typeface="Arial"/>
              </a:rPr>
              <a:t>年</a:t>
            </a:r>
            <a:endParaRPr sz="2000" dirty="0">
              <a:solidFill>
                <a:srgbClr val="000000"/>
              </a:solidFill>
              <a:latin typeface="Adobe 繁黑體 Std B" panose="020B0700000000000000" pitchFamily="34" charset="-128"/>
              <a:ea typeface="Adobe 繁黑體 Std B" panose="020B0700000000000000" pitchFamily="34" charset="-128"/>
              <a:cs typeface="Arial"/>
              <a:sym typeface="Arial"/>
            </a:endParaRPr>
          </a:p>
          <a:p>
            <a:pPr marL="0" lvl="0" indent="0" algn="ctr" rtl="0">
              <a:spcBef>
                <a:spcPts val="560"/>
              </a:spcBef>
              <a:spcAft>
                <a:spcPts val="0"/>
              </a:spcAft>
              <a:buClr>
                <a:srgbClr val="000000"/>
              </a:buClr>
              <a:buFont typeface="Arial"/>
              <a:buNone/>
            </a:pPr>
            <a:endParaRPr sz="2000" dirty="0">
              <a:solidFill>
                <a:srgbClr val="000000"/>
              </a:solidFill>
              <a:latin typeface="Arial"/>
              <a:ea typeface="Arial"/>
              <a:cs typeface="Arial"/>
              <a:sym typeface="Arial"/>
            </a:endParaRPr>
          </a:p>
        </p:txBody>
      </p:sp>
      <p:sp>
        <p:nvSpPr>
          <p:cNvPr id="90" name="Google Shape;90;p13"/>
          <p:cNvSpPr txBox="1"/>
          <p:nvPr/>
        </p:nvSpPr>
        <p:spPr>
          <a:xfrm>
            <a:off x="3014525" y="3871925"/>
            <a:ext cx="3475500" cy="91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2400" dirty="0">
                <a:latin typeface="Nunito"/>
                <a:ea typeface="Nunito"/>
                <a:cs typeface="Nunito"/>
                <a:sym typeface="Nunito"/>
              </a:rPr>
              <a:t>     </a:t>
            </a:r>
            <a:r>
              <a:rPr lang="zh-TW" sz="2400" dirty="0">
                <a:latin typeface="Adobe 繁黑體 Std B" panose="020B0700000000000000" pitchFamily="34" charset="-128"/>
                <a:ea typeface="Adobe 繁黑體 Std B" panose="020B0700000000000000" pitchFamily="34" charset="-128"/>
                <a:cs typeface="Nunito"/>
                <a:sym typeface="Nunito"/>
              </a:rPr>
              <a:t>報告人:陳先正</a:t>
            </a:r>
            <a:endParaRPr sz="2400" dirty="0">
              <a:latin typeface="Adobe 繁黑體 Std B" panose="020B0700000000000000" pitchFamily="34" charset="-128"/>
              <a:ea typeface="Adobe 繁黑體 Std B" panose="020B0700000000000000" pitchFamily="34" charset="-128"/>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ctrTitle"/>
          </p:nvPr>
        </p:nvSpPr>
        <p:spPr>
          <a:xfrm>
            <a:off x="3780250" y="0"/>
            <a:ext cx="20037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目錄</a:t>
            </a:r>
            <a:endParaRPr sz="2650"/>
          </a:p>
        </p:txBody>
      </p:sp>
      <p:sp>
        <p:nvSpPr>
          <p:cNvPr id="96" name="Google Shape;96;p14"/>
          <p:cNvSpPr txBox="1">
            <a:spLocks noGrp="1"/>
          </p:cNvSpPr>
          <p:nvPr>
            <p:ph type="subTitle" idx="1"/>
          </p:nvPr>
        </p:nvSpPr>
        <p:spPr>
          <a:xfrm>
            <a:off x="1213500" y="1253700"/>
            <a:ext cx="6991200" cy="3357000"/>
          </a:xfrm>
          <a:prstGeom prst="rect">
            <a:avLst/>
          </a:prstGeom>
        </p:spPr>
        <p:txBody>
          <a:bodyPr spcFirstLastPara="1" wrap="square" lIns="91425" tIns="45700" rIns="91425" bIns="45700" anchor="t" anchorCtr="0">
            <a:noAutofit/>
          </a:bodyPr>
          <a:lstStyle/>
          <a:p>
            <a:pPr marL="457200" lvl="0" indent="-419100" algn="l" rtl="0">
              <a:spcBef>
                <a:spcPts val="560"/>
              </a:spcBef>
              <a:spcAft>
                <a:spcPts val="0"/>
              </a:spcAft>
              <a:buSzPts val="3000"/>
              <a:buChar char="●"/>
            </a:pPr>
            <a:r>
              <a:rPr lang="zh-TW" sz="3000" dirty="0"/>
              <a:t>前言</a:t>
            </a:r>
            <a:endParaRPr sz="3000" dirty="0"/>
          </a:p>
          <a:p>
            <a:pPr marL="457200" lvl="0" indent="-419100" algn="l" rtl="0">
              <a:spcBef>
                <a:spcPts val="0"/>
              </a:spcBef>
              <a:spcAft>
                <a:spcPts val="0"/>
              </a:spcAft>
              <a:buSzPts val="3000"/>
              <a:buChar char="●"/>
            </a:pPr>
            <a:r>
              <a:rPr lang="zh-TW" sz="3000" dirty="0"/>
              <a:t>系統架構</a:t>
            </a:r>
            <a:endParaRPr sz="3000" dirty="0"/>
          </a:p>
          <a:p>
            <a:pPr marL="457200" lvl="0" indent="-419100" algn="l" rtl="0">
              <a:spcBef>
                <a:spcPts val="0"/>
              </a:spcBef>
              <a:spcAft>
                <a:spcPts val="0"/>
              </a:spcAft>
              <a:buSzPts val="3000"/>
              <a:buChar char="●"/>
            </a:pPr>
            <a:r>
              <a:rPr lang="zh-TW" sz="3000" dirty="0"/>
              <a:t>實驗</a:t>
            </a:r>
            <a:endParaRPr sz="3000" dirty="0"/>
          </a:p>
          <a:p>
            <a:pPr marL="457200" lvl="0" indent="-419100" algn="l" rtl="0">
              <a:spcBef>
                <a:spcPts val="0"/>
              </a:spcBef>
              <a:spcAft>
                <a:spcPts val="0"/>
              </a:spcAft>
              <a:buSzPts val="3000"/>
              <a:buChar char="●"/>
            </a:pPr>
            <a:r>
              <a:rPr lang="zh-TW" sz="3000" dirty="0"/>
              <a:t>結果</a:t>
            </a:r>
            <a:r>
              <a:rPr lang="en-US" altLang="zh-TW" sz="3000" dirty="0"/>
              <a:t>&amp;</a:t>
            </a:r>
            <a:r>
              <a:rPr lang="zh-TW" altLang="en-US" sz="3000" dirty="0"/>
              <a:t>建議</a:t>
            </a:r>
            <a:endParaRPr sz="3000" dirty="0"/>
          </a:p>
          <a:p>
            <a:pPr marL="457200" lvl="0" indent="-419100" algn="l" rtl="0">
              <a:spcBef>
                <a:spcPts val="0"/>
              </a:spcBef>
              <a:spcAft>
                <a:spcPts val="0"/>
              </a:spcAft>
              <a:buSzPts val="3000"/>
              <a:buChar char="●"/>
            </a:pPr>
            <a:r>
              <a:rPr lang="zh-TW" sz="3000" dirty="0"/>
              <a:t>結論</a:t>
            </a:r>
            <a:endParaRPr sz="3000" dirty="0"/>
          </a:p>
          <a:p>
            <a:pPr marL="0" lvl="0" indent="0" algn="l" rtl="0">
              <a:spcBef>
                <a:spcPts val="560"/>
              </a:spcBef>
              <a:spcAft>
                <a:spcPts val="0"/>
              </a:spcAft>
              <a:buNone/>
            </a:pPr>
            <a:endParaRPr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ctrTitle"/>
          </p:nvPr>
        </p:nvSpPr>
        <p:spPr>
          <a:xfrm>
            <a:off x="3853125" y="1977525"/>
            <a:ext cx="19707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sz="4800"/>
              <a:t>前言</a:t>
            </a:r>
            <a:endParaRPr sz="4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ctrTitle"/>
          </p:nvPr>
        </p:nvSpPr>
        <p:spPr>
          <a:xfrm>
            <a:off x="3780250" y="0"/>
            <a:ext cx="20037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前言</a:t>
            </a:r>
            <a:endParaRPr sz="2650"/>
          </a:p>
        </p:txBody>
      </p:sp>
      <p:sp>
        <p:nvSpPr>
          <p:cNvPr id="107" name="Google Shape;107;p16"/>
          <p:cNvSpPr txBox="1">
            <a:spLocks noGrp="1"/>
          </p:cNvSpPr>
          <p:nvPr>
            <p:ph type="subTitle" idx="1"/>
          </p:nvPr>
        </p:nvSpPr>
        <p:spPr>
          <a:xfrm>
            <a:off x="627400" y="821700"/>
            <a:ext cx="8309400" cy="4131900"/>
          </a:xfrm>
          <a:prstGeom prst="rect">
            <a:avLst/>
          </a:prstGeom>
        </p:spPr>
        <p:txBody>
          <a:bodyPr spcFirstLastPara="1" wrap="square" lIns="91425" tIns="45700" rIns="91425" bIns="45700" anchor="t" anchorCtr="0">
            <a:noAutofit/>
          </a:bodyPr>
          <a:lstStyle/>
          <a:p>
            <a:pPr marL="0" lvl="0" indent="0" algn="l" rtl="0">
              <a:spcBef>
                <a:spcPts val="560"/>
              </a:spcBef>
              <a:spcAft>
                <a:spcPts val="0"/>
              </a:spcAft>
              <a:buNone/>
            </a:pPr>
            <a:r>
              <a:rPr lang="en-US" altLang="zh-TW" sz="1600" dirty="0"/>
              <a:t>LLM </a:t>
            </a:r>
            <a:r>
              <a:rPr lang="zh-TW" altLang="en-US" sz="1600" dirty="0"/>
              <a:t>的興起與能力</a:t>
            </a:r>
            <a:r>
              <a:rPr lang="en-US" altLang="zh-TW" sz="1600" dirty="0"/>
              <a:t>:</a:t>
            </a:r>
            <a:r>
              <a:rPr lang="zh-TW" altLang="en-US" sz="1400" dirty="0"/>
              <a:t>大型語言模型（</a:t>
            </a:r>
            <a:r>
              <a:rPr lang="en-US" altLang="zh-TW" sz="1400" dirty="0"/>
              <a:t>LLMs</a:t>
            </a:r>
            <a:r>
              <a:rPr lang="zh-TW" altLang="en-US" sz="1400" dirty="0"/>
              <a:t>）展現出卓越的對話能力，革新人機互動，能根據上下文生成自然且個性化的回應。</a:t>
            </a:r>
            <a:endParaRPr lang="en-US" altLang="zh-TW" sz="1400" dirty="0"/>
          </a:p>
          <a:p>
            <a:pPr marL="0" lvl="0" indent="0" algn="l" rtl="0">
              <a:spcBef>
                <a:spcPts val="560"/>
              </a:spcBef>
              <a:spcAft>
                <a:spcPts val="0"/>
              </a:spcAft>
              <a:buNone/>
            </a:pPr>
            <a:endParaRPr lang="en-US" altLang="zh-TW" sz="1400" dirty="0"/>
          </a:p>
          <a:p>
            <a:pPr marL="0" lvl="0" indent="0" algn="l" rtl="0">
              <a:spcBef>
                <a:spcPts val="560"/>
              </a:spcBef>
              <a:spcAft>
                <a:spcPts val="0"/>
              </a:spcAft>
              <a:buNone/>
            </a:pPr>
            <a:r>
              <a:rPr lang="zh-TW" altLang="en-US" sz="1600" dirty="0"/>
              <a:t>實體對話代理</a:t>
            </a:r>
            <a:r>
              <a:rPr lang="en-US" altLang="zh-TW" sz="1600" dirty="0"/>
              <a:t>:</a:t>
            </a:r>
            <a:r>
              <a:rPr lang="zh-TW" altLang="en-US" sz="1400" dirty="0"/>
              <a:t>相較於文字互動，面對面交流更具生態有效性，透過手勢、注視與表情等非語言線索增強溝通效果。虛擬實境（</a:t>
            </a:r>
            <a:r>
              <a:rPr lang="en-US" altLang="zh-TW" sz="1400" dirty="0"/>
              <a:t>VR</a:t>
            </a:r>
            <a:r>
              <a:rPr lang="zh-TW" altLang="en-US" sz="1400" dirty="0"/>
              <a:t>）中的 </a:t>
            </a:r>
            <a:r>
              <a:rPr lang="en-US" altLang="zh-TW" sz="1400" dirty="0"/>
              <a:t>3D </a:t>
            </a:r>
            <a:r>
              <a:rPr lang="zh-TW" altLang="en-US" sz="1400" dirty="0"/>
              <a:t>虛擬人物可實現多模態、人性化的互動體驗。</a:t>
            </a:r>
            <a:endParaRPr lang="en-US" altLang="zh-TW" sz="1400" dirty="0"/>
          </a:p>
          <a:p>
            <a:pPr marL="0" lvl="0" indent="0" algn="l" rtl="0">
              <a:spcBef>
                <a:spcPts val="560"/>
              </a:spcBef>
              <a:spcAft>
                <a:spcPts val="0"/>
              </a:spcAft>
              <a:buNone/>
            </a:pPr>
            <a:endParaRPr lang="en-US" altLang="zh-TW" sz="1400" dirty="0"/>
          </a:p>
          <a:p>
            <a:pPr marL="0" lvl="0" indent="0" algn="l" rtl="0">
              <a:spcBef>
                <a:spcPts val="560"/>
              </a:spcBef>
              <a:spcAft>
                <a:spcPts val="0"/>
              </a:spcAft>
              <a:buNone/>
            </a:pPr>
            <a:r>
              <a:rPr lang="en-US" altLang="zh-TW" sz="1600" dirty="0"/>
              <a:t>LLM </a:t>
            </a:r>
            <a:r>
              <a:rPr lang="zh-TW" altLang="en-US" sz="1600" dirty="0"/>
              <a:t>與 </a:t>
            </a:r>
            <a:r>
              <a:rPr lang="en-US" altLang="zh-TW" sz="1600" dirty="0"/>
              <a:t>VR </a:t>
            </a:r>
            <a:r>
              <a:rPr lang="zh-TW" altLang="en-US" sz="1600" dirty="0"/>
              <a:t>整合</a:t>
            </a:r>
            <a:r>
              <a:rPr lang="en-US" altLang="zh-TW" sz="1600" dirty="0"/>
              <a:t>:</a:t>
            </a:r>
            <a:r>
              <a:rPr lang="zh-TW" altLang="en-US" sz="1400" dirty="0"/>
              <a:t>近年研究將 </a:t>
            </a:r>
            <a:r>
              <a:rPr lang="en-US" altLang="zh-TW" sz="1400" dirty="0"/>
              <a:t>LLMs </a:t>
            </a:r>
            <a:r>
              <a:rPr lang="zh-TW" altLang="en-US" sz="1400" dirty="0"/>
              <a:t>應用於虛擬對話代理，使其能產生靈活、自然、個性化的回應，超越傳統腳本式對話限制。由於 </a:t>
            </a:r>
            <a:r>
              <a:rPr lang="en-US" altLang="zh-TW" sz="1400" dirty="0"/>
              <a:t>LLM </a:t>
            </a:r>
            <a:r>
              <a:rPr lang="zh-TW" altLang="en-US" sz="1400" dirty="0"/>
              <a:t>已具自然語言訓練基礎，能即時整合至虛擬角色中。</a:t>
            </a:r>
            <a:endParaRPr lang="en-US" altLang="zh-TW" sz="1400" dirty="0"/>
          </a:p>
          <a:p>
            <a:pPr marL="0" lvl="0" indent="0" algn="l" rtl="0">
              <a:spcBef>
                <a:spcPts val="560"/>
              </a:spcBef>
              <a:spcAft>
                <a:spcPts val="0"/>
              </a:spcAft>
              <a:buNone/>
            </a:pPr>
            <a:endParaRPr lang="en-US" altLang="zh-TW" sz="1400" dirty="0"/>
          </a:p>
          <a:p>
            <a:pPr marL="0" lvl="0" indent="0" algn="l" rtl="0">
              <a:spcBef>
                <a:spcPts val="560"/>
              </a:spcBef>
              <a:spcAft>
                <a:spcPts val="0"/>
              </a:spcAft>
              <a:buNone/>
            </a:pPr>
            <a:endParaRPr lang="en-US" altLang="zh-TW" sz="1400" dirty="0"/>
          </a:p>
          <a:p>
            <a:pPr marL="0" lvl="0" indent="0" algn="l" rtl="0">
              <a:spcBef>
                <a:spcPts val="560"/>
              </a:spcBef>
              <a:spcAft>
                <a:spcPts val="0"/>
              </a:spcAft>
              <a:buNone/>
            </a:pPr>
            <a:endParaRPr lang="en-US" altLang="zh-TW" sz="1400" dirty="0"/>
          </a:p>
          <a:p>
            <a:r>
              <a:rPr lang="en-US" altLang="zh-TW" sz="1600" dirty="0"/>
              <a:t>CASA </a:t>
            </a:r>
            <a:r>
              <a:rPr lang="zh-TW" altLang="en-US" sz="1600" dirty="0"/>
              <a:t>框架</a:t>
            </a:r>
            <a:r>
              <a:rPr lang="en-US" altLang="zh-TW" sz="1600" b="1" dirty="0"/>
              <a:t>:</a:t>
            </a:r>
            <a:r>
              <a:rPr lang="zh-TW" altLang="en-US" sz="1400" dirty="0"/>
              <a:t>依據「電腦即社會參與者」（</a:t>
            </a:r>
            <a:r>
              <a:rPr lang="en-US" altLang="zh-TW" sz="1400" dirty="0"/>
              <a:t>CASA</a:t>
            </a:r>
            <a:r>
              <a:rPr lang="zh-TW" altLang="en-US" sz="1400" dirty="0"/>
              <a:t>）理論，人類會對電腦呈現的社交線索產生社會反應。賦予 </a:t>
            </a:r>
            <a:r>
              <a:rPr lang="en-US" altLang="zh-TW" sz="1400" dirty="0"/>
              <a:t>LLM </a:t>
            </a:r>
            <a:r>
              <a:rPr lang="zh-TW" altLang="en-US" sz="1400" dirty="0"/>
              <a:t>虛擬代理特定人格與社交特質，能強化使用者的情感連結與互動投入。</a:t>
            </a:r>
          </a:p>
          <a:p>
            <a:pPr marL="0" lvl="0" indent="0" algn="l" rtl="0">
              <a:spcBef>
                <a:spcPts val="560"/>
              </a:spcBef>
              <a:spcAft>
                <a:spcPts val="0"/>
              </a:spcAft>
              <a:buNone/>
            </a:pPr>
            <a:endParaRP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ctrTitle"/>
          </p:nvPr>
        </p:nvSpPr>
        <p:spPr>
          <a:xfrm>
            <a:off x="3780250" y="0"/>
            <a:ext cx="20037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前言</a:t>
            </a:r>
            <a:endParaRPr sz="2650"/>
          </a:p>
        </p:txBody>
      </p:sp>
      <p:sp>
        <p:nvSpPr>
          <p:cNvPr id="113" name="Google Shape;113;p17"/>
          <p:cNvSpPr txBox="1">
            <a:spLocks noGrp="1"/>
          </p:cNvSpPr>
          <p:nvPr>
            <p:ph type="subTitle" idx="1"/>
          </p:nvPr>
        </p:nvSpPr>
        <p:spPr>
          <a:xfrm>
            <a:off x="627400" y="1196100"/>
            <a:ext cx="8309400" cy="3357000"/>
          </a:xfrm>
          <a:prstGeom prst="rect">
            <a:avLst/>
          </a:prstGeom>
        </p:spPr>
        <p:txBody>
          <a:bodyPr spcFirstLastPara="1" wrap="square" lIns="91425" tIns="45700" rIns="91425" bIns="45700" anchor="t" anchorCtr="0">
            <a:noAutofit/>
          </a:bodyPr>
          <a:lstStyle/>
          <a:p>
            <a:pPr marL="0" lvl="0" indent="0" algn="l" rtl="0">
              <a:spcBef>
                <a:spcPts val="560"/>
              </a:spcBef>
              <a:spcAft>
                <a:spcPts val="0"/>
              </a:spcAft>
              <a:buNone/>
            </a:pPr>
            <a:r>
              <a:rPr lang="zh-TW" sz="1600" dirty="0">
                <a:latin typeface="Adobe 黑体 Std R" panose="020B0400000000000000" pitchFamily="34" charset="-122"/>
                <a:ea typeface="Adobe 黑体 Std R" panose="020B0400000000000000" pitchFamily="34" charset="-122"/>
              </a:rPr>
              <a:t>研究問題:</a:t>
            </a:r>
            <a:endParaRPr sz="16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zh-TW" altLang="en-US" sz="2000" b="0" i="0" dirty="0">
                <a:solidFill>
                  <a:srgbClr val="000000"/>
                </a:solidFill>
                <a:effectLst/>
                <a:latin typeface="Adobe 黑体 Std R" panose="020B0400000000000000" pitchFamily="34" charset="-122"/>
                <a:ea typeface="Adobe 黑体 Std R" panose="020B0400000000000000" pitchFamily="34" charset="-122"/>
              </a:rPr>
              <a:t>     </a:t>
            </a:r>
            <a:r>
              <a:rPr lang="zh-TW" altLang="en-US" sz="1400" b="0" i="0" dirty="0">
                <a:solidFill>
                  <a:srgbClr val="000000"/>
                </a:solidFill>
                <a:effectLst/>
                <a:latin typeface="Adobe 黑体 Std R" panose="020B0400000000000000" pitchFamily="34" charset="-122"/>
                <a:ea typeface="Adobe 黑体 Std R" panose="020B0400000000000000" pitchFamily="34" charset="-122"/>
              </a:rPr>
              <a:t>代理人的人格特徵以及對話任務，如何影響使用者的社交評價、情感體驗與互動行為？</a:t>
            </a:r>
            <a:endParaRPr sz="14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sz="20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zh-TW" sz="1600" dirty="0">
                <a:latin typeface="Adobe 黑体 Std R" panose="020B0400000000000000" pitchFamily="34" charset="-122"/>
                <a:ea typeface="Adobe 黑体 Std R" panose="020B0400000000000000" pitchFamily="34" charset="-122"/>
              </a:rPr>
              <a:t>研究動機:</a:t>
            </a:r>
            <a:endParaRPr lang="en-US" altLang="zh-TW" sz="16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zh-TW" altLang="en-US" sz="1400" dirty="0">
                <a:latin typeface="Adobe 黑体 Std R" panose="020B0400000000000000" pitchFamily="34" charset="-122"/>
                <a:ea typeface="Adobe 黑体 Std R" panose="020B0400000000000000" pitchFamily="34" charset="-122"/>
              </a:rPr>
              <a:t>     本研究探討使用者在與 </a:t>
            </a:r>
            <a:r>
              <a:rPr lang="en-US" altLang="zh-TW" sz="1400" dirty="0">
                <a:latin typeface="Adobe 黑体 Std R" panose="020B0400000000000000" pitchFamily="34" charset="-122"/>
                <a:ea typeface="Adobe 黑体 Std R" panose="020B0400000000000000" pitchFamily="34" charset="-122"/>
              </a:rPr>
              <a:t>LLM </a:t>
            </a:r>
            <a:r>
              <a:rPr lang="zh-TW" altLang="en-US" sz="1400" dirty="0">
                <a:latin typeface="Adobe 黑体 Std R" panose="020B0400000000000000" pitchFamily="34" charset="-122"/>
                <a:ea typeface="Adobe 黑体 Std R" panose="020B0400000000000000" pitchFamily="34" charset="-122"/>
              </a:rPr>
              <a:t>控制的虛擬代理互動時的體驗與行為調適，特別檢驗代理人格（外向 </a:t>
            </a:r>
            <a:r>
              <a:rPr lang="en-US" altLang="zh-TW" sz="1400" dirty="0">
                <a:latin typeface="Adobe 黑体 Std R" panose="020B0400000000000000" pitchFamily="34" charset="-122"/>
                <a:ea typeface="Adobe 黑体 Std R" panose="020B0400000000000000" pitchFamily="34" charset="-122"/>
              </a:rPr>
              <a:t>vs. </a:t>
            </a:r>
            <a:r>
              <a:rPr lang="zh-TW" altLang="en-US" sz="1400" dirty="0">
                <a:latin typeface="Adobe 黑体 Std R" panose="020B0400000000000000" pitchFamily="34" charset="-122"/>
                <a:ea typeface="Adobe 黑体 Std R" panose="020B0400000000000000" pitchFamily="34" charset="-122"/>
              </a:rPr>
              <a:t>內向）及對話任務類型（閒聊、知識問答、說服）對面對面社交互動的影響。</a:t>
            </a:r>
            <a:r>
              <a:rPr lang="zh-TW" sz="1400" dirty="0">
                <a:latin typeface="Adobe 黑体 Std R" panose="020B0400000000000000" pitchFamily="34" charset="-122"/>
                <a:ea typeface="Adobe 黑体 Std R" panose="020B0400000000000000" pitchFamily="34" charset="-122"/>
              </a:rPr>
              <a:t>     </a:t>
            </a:r>
            <a:endParaRPr sz="1400" dirty="0">
              <a:latin typeface="Adobe 黑体 Std R" panose="020B0400000000000000" pitchFamily="34" charset="-122"/>
              <a:ea typeface="Adobe 黑体 Std R" panose="020B0400000000000000"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ctrTitle"/>
          </p:nvPr>
        </p:nvSpPr>
        <p:spPr>
          <a:xfrm>
            <a:off x="3253850" y="1977500"/>
            <a:ext cx="27297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sz="4800"/>
              <a:t>系統架構</a:t>
            </a:r>
            <a:endParaRPr sz="4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系統架構</a:t>
            </a:r>
            <a:endParaRPr sz="2650"/>
          </a:p>
        </p:txBody>
      </p:sp>
      <p:sp>
        <p:nvSpPr>
          <p:cNvPr id="135" name="Google Shape;135;p21"/>
          <p:cNvSpPr txBox="1">
            <a:spLocks noGrp="1"/>
          </p:cNvSpPr>
          <p:nvPr>
            <p:ph type="subTitle" idx="1"/>
          </p:nvPr>
        </p:nvSpPr>
        <p:spPr>
          <a:xfrm>
            <a:off x="367374" y="798550"/>
            <a:ext cx="5299026" cy="4294550"/>
          </a:xfrm>
          <a:prstGeom prst="rect">
            <a:avLst/>
          </a:prstGeom>
        </p:spPr>
        <p:txBody>
          <a:bodyPr spcFirstLastPara="1" wrap="square" lIns="91425" tIns="45700" rIns="91425" bIns="45700" anchor="t" anchorCtr="0">
            <a:noAutofit/>
          </a:bodyPr>
          <a:lstStyle/>
          <a:p>
            <a:pPr marL="0" lvl="0" indent="0" rtl="0">
              <a:spcBef>
                <a:spcPts val="560"/>
              </a:spcBef>
              <a:spcAft>
                <a:spcPts val="0"/>
              </a:spcAft>
              <a:buNone/>
            </a:pPr>
            <a:r>
              <a:rPr lang="zh-TW" altLang="en-US" sz="1200" b="1" dirty="0">
                <a:solidFill>
                  <a:srgbClr val="131314"/>
                </a:solidFill>
                <a:highlight>
                  <a:srgbClr val="FFFFFF"/>
                </a:highlight>
              </a:rPr>
              <a:t>本研究在 </a:t>
            </a:r>
            <a:r>
              <a:rPr lang="en-US" altLang="zh-TW" sz="1200" b="1" dirty="0">
                <a:solidFill>
                  <a:srgbClr val="131314"/>
                </a:solidFill>
                <a:highlight>
                  <a:srgbClr val="FFFFFF"/>
                </a:highlight>
              </a:rPr>
              <a:t>VR </a:t>
            </a:r>
            <a:r>
              <a:rPr lang="zh-TW" altLang="en-US" sz="1200" b="1" dirty="0">
                <a:solidFill>
                  <a:srgbClr val="131314"/>
                </a:solidFill>
                <a:highlight>
                  <a:srgbClr val="FFFFFF"/>
                </a:highlight>
              </a:rPr>
              <a:t>環境中實施了與 </a:t>
            </a:r>
            <a:r>
              <a:rPr lang="en-US" altLang="zh-TW" sz="1200" b="1" dirty="0">
                <a:solidFill>
                  <a:srgbClr val="131314"/>
                </a:solidFill>
                <a:highlight>
                  <a:srgbClr val="FFFFFF"/>
                </a:highlight>
              </a:rPr>
              <a:t>LLM </a:t>
            </a:r>
            <a:r>
              <a:rPr lang="zh-TW" altLang="en-US" sz="1200" b="1" dirty="0">
                <a:solidFill>
                  <a:srgbClr val="131314"/>
                </a:solidFill>
                <a:highlight>
                  <a:srgbClr val="FFFFFF"/>
                </a:highlight>
              </a:rPr>
              <a:t>控制的實體虛擬代理的互動，所有組件部署在本地伺服器上，以保持完全控制和數據保護。</a:t>
            </a:r>
            <a:endParaRPr lang="en-US" altLang="zh-TW" sz="1200" b="1" dirty="0">
              <a:solidFill>
                <a:srgbClr val="131314"/>
              </a:solidFill>
              <a:highlight>
                <a:srgbClr val="FFFFFF"/>
              </a:highlight>
            </a:endParaRPr>
          </a:p>
          <a:p>
            <a:pPr lvl="0" rtl="0">
              <a:spcBef>
                <a:spcPts val="560"/>
              </a:spcBef>
              <a:spcAft>
                <a:spcPts val="0"/>
              </a:spcAft>
            </a:pPr>
            <a:r>
              <a:rPr lang="en-US" altLang="zh-TW" sz="1200" b="1" dirty="0">
                <a:solidFill>
                  <a:srgbClr val="131314"/>
                </a:solidFill>
                <a:highlight>
                  <a:srgbClr val="FFFFFF"/>
                </a:highlight>
              </a:rPr>
              <a:t>1.</a:t>
            </a:r>
            <a:r>
              <a:rPr lang="zh-TW" altLang="en-US" sz="1200" b="1" dirty="0">
                <a:solidFill>
                  <a:srgbClr val="131314"/>
                </a:solidFill>
                <a:highlight>
                  <a:srgbClr val="FFFFFF"/>
                </a:highlight>
              </a:rPr>
              <a:t>技術設置 </a:t>
            </a:r>
            <a:r>
              <a:rPr lang="en-US" altLang="zh-TW" sz="1200" b="1" dirty="0">
                <a:solidFill>
                  <a:srgbClr val="131314"/>
                </a:solidFill>
                <a:highlight>
                  <a:srgbClr val="FFFFFF"/>
                </a:highlight>
              </a:rPr>
              <a:t>(</a:t>
            </a:r>
            <a:r>
              <a:rPr lang="en-US" sz="1200" b="1" dirty="0">
                <a:solidFill>
                  <a:srgbClr val="131314"/>
                </a:solidFill>
                <a:highlight>
                  <a:srgbClr val="FFFFFF"/>
                </a:highlight>
              </a:rPr>
              <a:t>Technical Set-up) </a:t>
            </a:r>
          </a:p>
          <a:p>
            <a:pPr lvl="0" rtl="0">
              <a:spcBef>
                <a:spcPts val="560"/>
              </a:spcBef>
              <a:spcAft>
                <a:spcPts val="0"/>
              </a:spcAft>
            </a:pPr>
            <a:r>
              <a:rPr lang="en-US" sz="1200" b="1" dirty="0">
                <a:solidFill>
                  <a:srgbClr val="131314"/>
                </a:solidFill>
                <a:highlight>
                  <a:srgbClr val="FFFFFF"/>
                </a:highlight>
              </a:rPr>
              <a:t>• VR </a:t>
            </a:r>
            <a:r>
              <a:rPr lang="zh-TW" altLang="en-US" sz="1200" b="1" dirty="0">
                <a:solidFill>
                  <a:srgbClr val="131314"/>
                </a:solidFill>
                <a:highlight>
                  <a:srgbClr val="FFFFFF"/>
                </a:highlight>
              </a:rPr>
              <a:t>環境： 使用 </a:t>
            </a:r>
            <a:r>
              <a:rPr lang="en-US" sz="1200" b="1" dirty="0" err="1">
                <a:solidFill>
                  <a:srgbClr val="131314"/>
                </a:solidFill>
                <a:highlight>
                  <a:srgbClr val="FFFFFF"/>
                </a:highlight>
              </a:rPr>
              <a:t>Vive</a:t>
            </a:r>
            <a:r>
              <a:rPr lang="en-US" sz="1200" b="1" dirty="0">
                <a:solidFill>
                  <a:srgbClr val="131314"/>
                </a:solidFill>
                <a:highlight>
                  <a:srgbClr val="FFFFFF"/>
                </a:highlight>
              </a:rPr>
              <a:t> Pro </a:t>
            </a:r>
            <a:r>
              <a:rPr lang="zh-TW" altLang="en-US" sz="1200" b="1" dirty="0">
                <a:solidFill>
                  <a:srgbClr val="131314"/>
                </a:solidFill>
                <a:highlight>
                  <a:srgbClr val="FFFFFF"/>
                </a:highlight>
              </a:rPr>
              <a:t>頭戴式顯示器呈現 </a:t>
            </a:r>
            <a:r>
              <a:rPr lang="en-US" sz="1200" b="1" dirty="0">
                <a:solidFill>
                  <a:srgbClr val="131314"/>
                </a:solidFill>
                <a:highlight>
                  <a:srgbClr val="FFFFFF"/>
                </a:highlight>
              </a:rPr>
              <a:t>VR，</a:t>
            </a:r>
            <a:r>
              <a:rPr lang="zh-TW" altLang="en-US" sz="1200" b="1" dirty="0">
                <a:solidFill>
                  <a:srgbClr val="131314"/>
                </a:solidFill>
                <a:highlight>
                  <a:srgbClr val="FFFFFF"/>
                </a:highlight>
              </a:rPr>
              <a:t>虛擬環境由 </a:t>
            </a:r>
            <a:r>
              <a:rPr lang="en-US" sz="1200" b="1" dirty="0">
                <a:solidFill>
                  <a:srgbClr val="131314"/>
                </a:solidFill>
                <a:highlight>
                  <a:srgbClr val="FFFFFF"/>
                </a:highlight>
              </a:rPr>
              <a:t>Unreal Engine 5.2 </a:t>
            </a:r>
            <a:r>
              <a:rPr lang="zh-TW" altLang="en-US" sz="1200" b="1" dirty="0">
                <a:solidFill>
                  <a:srgbClr val="131314"/>
                </a:solidFill>
                <a:highlight>
                  <a:srgbClr val="FFFFFF"/>
                </a:highlight>
              </a:rPr>
              <a:t>渲染和控制。</a:t>
            </a:r>
            <a:endParaRPr lang="en-US" altLang="zh-TW" sz="1200" b="1" dirty="0">
              <a:solidFill>
                <a:srgbClr val="131314"/>
              </a:solidFill>
              <a:highlight>
                <a:srgbClr val="FFFFFF"/>
              </a:highlight>
            </a:endParaRPr>
          </a:p>
          <a:p>
            <a:pPr lvl="0" rtl="0">
              <a:spcBef>
                <a:spcPts val="560"/>
              </a:spcBef>
              <a:spcAft>
                <a:spcPts val="0"/>
              </a:spcAft>
            </a:pPr>
            <a:r>
              <a:rPr lang="en-US" altLang="zh-TW" sz="1200" b="1" dirty="0">
                <a:solidFill>
                  <a:srgbClr val="131314"/>
                </a:solidFill>
                <a:highlight>
                  <a:srgbClr val="FFFFFF"/>
                </a:highlight>
              </a:rPr>
              <a:t>• </a:t>
            </a:r>
            <a:r>
              <a:rPr lang="zh-TW" altLang="en-US" sz="1200" b="1" dirty="0">
                <a:solidFill>
                  <a:srgbClr val="131314"/>
                </a:solidFill>
                <a:highlight>
                  <a:srgbClr val="FFFFFF"/>
                </a:highlight>
              </a:rPr>
              <a:t>虛擬代理： 使用一個男性虛擬代理 </a:t>
            </a:r>
            <a:r>
              <a:rPr lang="en-US" altLang="zh-TW" sz="1200" b="1" dirty="0">
                <a:solidFill>
                  <a:srgbClr val="131314"/>
                </a:solidFill>
                <a:highlight>
                  <a:srgbClr val="FFFFFF"/>
                </a:highlight>
              </a:rPr>
              <a:t>(</a:t>
            </a:r>
            <a:r>
              <a:rPr lang="en-US" altLang="zh-TW" sz="1200" b="1" dirty="0" err="1">
                <a:solidFill>
                  <a:srgbClr val="131314"/>
                </a:solidFill>
                <a:highlight>
                  <a:srgbClr val="FFFFFF"/>
                </a:highlight>
              </a:rPr>
              <a:t>MetaHuman</a:t>
            </a:r>
            <a:r>
              <a:rPr lang="en-US" altLang="zh-TW" sz="1200" b="1" dirty="0">
                <a:solidFill>
                  <a:srgbClr val="131314"/>
                </a:solidFill>
                <a:highlight>
                  <a:srgbClr val="FFFFFF"/>
                </a:highlight>
              </a:rPr>
              <a:t>)</a:t>
            </a:r>
            <a:r>
              <a:rPr lang="zh-TW" altLang="en-US" sz="1200" b="1" dirty="0">
                <a:solidFill>
                  <a:srgbClr val="131314"/>
                </a:solidFill>
                <a:highlight>
                  <a:srgbClr val="FFFFFF"/>
                </a:highlight>
              </a:rPr>
              <a:t>，與參與者面對面坐在虛擬桌子旁，距離設定為 </a:t>
            </a:r>
            <a:r>
              <a:rPr lang="en-US" altLang="zh-TW" sz="1200" b="1" dirty="0">
                <a:solidFill>
                  <a:srgbClr val="131314"/>
                </a:solidFill>
                <a:highlight>
                  <a:srgbClr val="FFFFFF"/>
                </a:highlight>
              </a:rPr>
              <a:t>1.8 </a:t>
            </a:r>
            <a:r>
              <a:rPr lang="zh-TW" altLang="en-US" sz="1200" b="1" dirty="0">
                <a:solidFill>
                  <a:srgbClr val="131314"/>
                </a:solidFill>
                <a:highlight>
                  <a:srgbClr val="FFFFFF"/>
                </a:highlight>
              </a:rPr>
              <a:t>公尺。代理的眼神注視始終朝向參與者。</a:t>
            </a:r>
            <a:endParaRPr lang="en-US" altLang="zh-TW" sz="1200" b="1" dirty="0">
              <a:solidFill>
                <a:srgbClr val="131314"/>
              </a:solidFill>
              <a:highlight>
                <a:srgbClr val="FFFFFF"/>
              </a:highlight>
            </a:endParaRPr>
          </a:p>
          <a:p>
            <a:pPr lvl="0" rtl="0">
              <a:spcBef>
                <a:spcPts val="560"/>
              </a:spcBef>
              <a:spcAft>
                <a:spcPts val="0"/>
              </a:spcAft>
            </a:pPr>
            <a:r>
              <a:rPr lang="en-US" altLang="zh-TW" sz="1200" b="1" dirty="0">
                <a:solidFill>
                  <a:srgbClr val="131314"/>
                </a:solidFill>
                <a:highlight>
                  <a:srgbClr val="FFFFFF"/>
                </a:highlight>
              </a:rPr>
              <a:t>• </a:t>
            </a:r>
            <a:r>
              <a:rPr lang="zh-TW" altLang="en-US" sz="1200" b="1" dirty="0">
                <a:solidFill>
                  <a:srgbClr val="131314"/>
                </a:solidFill>
                <a:highlight>
                  <a:srgbClr val="FFFFFF"/>
                </a:highlight>
              </a:rPr>
              <a:t>語音處理：</a:t>
            </a:r>
            <a:endParaRPr lang="en-US" altLang="zh-TW" sz="1200" b="1" dirty="0">
              <a:solidFill>
                <a:srgbClr val="131314"/>
              </a:solidFill>
              <a:highlight>
                <a:srgbClr val="FFFFFF"/>
              </a:highlight>
            </a:endParaRPr>
          </a:p>
          <a:p>
            <a:pPr lvl="0" rtl="0">
              <a:spcBef>
                <a:spcPts val="560"/>
              </a:spcBef>
              <a:spcAft>
                <a:spcPts val="0"/>
              </a:spcAft>
            </a:pPr>
            <a:r>
              <a:rPr lang="zh-TW" altLang="en-US" sz="1200" b="1" dirty="0">
                <a:solidFill>
                  <a:srgbClr val="131314"/>
                </a:solidFill>
                <a:highlight>
                  <a:srgbClr val="FFFFFF"/>
                </a:highlight>
              </a:rPr>
              <a:t>◦ 參與者語音轉文本 </a:t>
            </a:r>
            <a:r>
              <a:rPr lang="en-US" altLang="zh-TW" sz="1200" b="1" dirty="0">
                <a:solidFill>
                  <a:srgbClr val="131314"/>
                </a:solidFill>
                <a:highlight>
                  <a:srgbClr val="FFFFFF"/>
                </a:highlight>
              </a:rPr>
              <a:t>(STT)</a:t>
            </a:r>
            <a:r>
              <a:rPr lang="zh-TW" altLang="en-US" sz="1200" b="1" dirty="0">
                <a:solidFill>
                  <a:srgbClr val="131314"/>
                </a:solidFill>
                <a:highlight>
                  <a:srgbClr val="FFFFFF"/>
                </a:highlight>
              </a:rPr>
              <a:t>： 參與者的語音由外部 </a:t>
            </a:r>
            <a:r>
              <a:rPr lang="en-US" altLang="zh-TW" sz="1200" b="1" dirty="0">
                <a:solidFill>
                  <a:srgbClr val="131314"/>
                </a:solidFill>
                <a:highlight>
                  <a:srgbClr val="FFFFFF"/>
                </a:highlight>
              </a:rPr>
              <a:t>USB </a:t>
            </a:r>
            <a:r>
              <a:rPr lang="zh-TW" altLang="en-US" sz="1200" b="1" dirty="0">
                <a:solidFill>
                  <a:srgbClr val="131314"/>
                </a:solidFill>
                <a:highlight>
                  <a:srgbClr val="FFFFFF"/>
                </a:highlight>
              </a:rPr>
              <a:t>麥克風採樣，並使用 </a:t>
            </a:r>
            <a:r>
              <a:rPr lang="en-US" altLang="zh-TW" sz="1200" b="1" dirty="0">
                <a:solidFill>
                  <a:srgbClr val="131314"/>
                </a:solidFill>
                <a:highlight>
                  <a:srgbClr val="FFFFFF"/>
                </a:highlight>
              </a:rPr>
              <a:t>wav2vec </a:t>
            </a:r>
            <a:r>
              <a:rPr lang="zh-TW" altLang="en-US" sz="1200" b="1" dirty="0">
                <a:solidFill>
                  <a:srgbClr val="131314"/>
                </a:solidFill>
                <a:highlight>
                  <a:srgbClr val="FFFFFF"/>
                </a:highlight>
              </a:rPr>
              <a:t>模型轉換為文本。 </a:t>
            </a:r>
            <a:endParaRPr lang="en-US" altLang="zh-TW" sz="1200" b="1" dirty="0">
              <a:solidFill>
                <a:srgbClr val="131314"/>
              </a:solidFill>
              <a:highlight>
                <a:srgbClr val="FFFFFF"/>
              </a:highlight>
            </a:endParaRPr>
          </a:p>
          <a:p>
            <a:pPr lvl="0" rtl="0">
              <a:spcBef>
                <a:spcPts val="560"/>
              </a:spcBef>
              <a:spcAft>
                <a:spcPts val="0"/>
              </a:spcAft>
            </a:pPr>
            <a:r>
              <a:rPr lang="zh-TW" altLang="en-US" sz="1200" b="1" dirty="0">
                <a:solidFill>
                  <a:srgbClr val="131314"/>
                </a:solidFill>
                <a:highlight>
                  <a:srgbClr val="FFFFFF"/>
                </a:highlight>
              </a:rPr>
              <a:t>◦ </a:t>
            </a:r>
            <a:r>
              <a:rPr lang="en-US" altLang="zh-TW" sz="1200" b="1" dirty="0">
                <a:solidFill>
                  <a:srgbClr val="131314"/>
                </a:solidFill>
                <a:highlight>
                  <a:srgbClr val="FFFFFF"/>
                </a:highlight>
              </a:rPr>
              <a:t>LLM </a:t>
            </a:r>
            <a:r>
              <a:rPr lang="zh-TW" altLang="en-US" sz="1200" b="1" dirty="0">
                <a:solidFill>
                  <a:srgbClr val="131314"/>
                </a:solidFill>
                <a:highlight>
                  <a:srgbClr val="FFFFFF"/>
                </a:highlight>
              </a:rPr>
              <a:t>文本生成： 文本輸入作為提示 </a:t>
            </a:r>
            <a:r>
              <a:rPr lang="en-US" altLang="zh-TW" sz="1200" b="1" dirty="0">
                <a:solidFill>
                  <a:srgbClr val="131314"/>
                </a:solidFill>
                <a:highlight>
                  <a:srgbClr val="FFFFFF"/>
                </a:highlight>
              </a:rPr>
              <a:t>(prompt) </a:t>
            </a:r>
            <a:r>
              <a:rPr lang="zh-TW" altLang="en-US" sz="1200" b="1" dirty="0">
                <a:solidFill>
                  <a:srgbClr val="131314"/>
                </a:solidFill>
                <a:highlight>
                  <a:srgbClr val="FFFFFF"/>
                </a:highlight>
              </a:rPr>
              <a:t>轉發給文本生成模型 “</a:t>
            </a:r>
            <a:r>
              <a:rPr lang="en-US" altLang="zh-TW" sz="1200" b="1" dirty="0" err="1">
                <a:solidFill>
                  <a:srgbClr val="131314"/>
                </a:solidFill>
                <a:highlight>
                  <a:srgbClr val="FFFFFF"/>
                </a:highlight>
              </a:rPr>
              <a:t>SauerkrautLM-HerO</a:t>
            </a:r>
            <a:r>
              <a:rPr lang="en-US" altLang="zh-TW" sz="1200" b="1" dirty="0">
                <a:solidFill>
                  <a:srgbClr val="131314"/>
                </a:solidFill>
                <a:highlight>
                  <a:srgbClr val="FFFFFF"/>
                </a:highlight>
              </a:rPr>
              <a:t>”</a:t>
            </a:r>
            <a:r>
              <a:rPr lang="zh-TW" altLang="en-US" sz="1200" b="1" dirty="0">
                <a:solidFill>
                  <a:srgbClr val="131314"/>
                </a:solidFill>
                <a:highlight>
                  <a:srgbClr val="FFFFFF"/>
                </a:highlight>
              </a:rPr>
              <a:t>。 </a:t>
            </a:r>
            <a:endParaRPr lang="en-US" altLang="zh-TW" sz="1200" b="1" dirty="0">
              <a:solidFill>
                <a:srgbClr val="131314"/>
              </a:solidFill>
              <a:highlight>
                <a:srgbClr val="FFFFFF"/>
              </a:highlight>
            </a:endParaRPr>
          </a:p>
          <a:p>
            <a:pPr lvl="0" rtl="0">
              <a:spcBef>
                <a:spcPts val="560"/>
              </a:spcBef>
              <a:spcAft>
                <a:spcPts val="0"/>
              </a:spcAft>
            </a:pPr>
            <a:r>
              <a:rPr lang="zh-TW" altLang="en-US" sz="1200" b="1" dirty="0">
                <a:solidFill>
                  <a:srgbClr val="131314"/>
                </a:solidFill>
                <a:highlight>
                  <a:srgbClr val="FFFFFF"/>
                </a:highlight>
              </a:rPr>
              <a:t>◦ 文本轉語音 </a:t>
            </a:r>
            <a:r>
              <a:rPr lang="en-US" altLang="zh-TW" sz="1200" b="1" dirty="0">
                <a:solidFill>
                  <a:srgbClr val="131314"/>
                </a:solidFill>
                <a:highlight>
                  <a:srgbClr val="FFFFFF"/>
                </a:highlight>
              </a:rPr>
              <a:t>(TTS)</a:t>
            </a:r>
            <a:r>
              <a:rPr lang="zh-TW" altLang="en-US" sz="1200" b="1" dirty="0">
                <a:solidFill>
                  <a:srgbClr val="131314"/>
                </a:solidFill>
                <a:highlight>
                  <a:srgbClr val="FFFFFF"/>
                </a:highlight>
              </a:rPr>
              <a:t>： </a:t>
            </a:r>
            <a:r>
              <a:rPr lang="en-US" altLang="zh-TW" sz="1200" b="1" dirty="0">
                <a:solidFill>
                  <a:srgbClr val="131314"/>
                </a:solidFill>
                <a:highlight>
                  <a:srgbClr val="FFFFFF"/>
                </a:highlight>
              </a:rPr>
              <a:t>LLM </a:t>
            </a:r>
            <a:r>
              <a:rPr lang="zh-TW" altLang="en-US" sz="1200" b="1" dirty="0">
                <a:solidFill>
                  <a:srgbClr val="131314"/>
                </a:solidFill>
                <a:highlight>
                  <a:srgbClr val="FFFFFF"/>
                </a:highlight>
              </a:rPr>
              <a:t>的文本輸出使用 </a:t>
            </a:r>
            <a:r>
              <a:rPr lang="en-US" altLang="zh-TW" sz="1200" b="1" dirty="0" err="1">
                <a:solidFill>
                  <a:srgbClr val="131314"/>
                </a:solidFill>
                <a:highlight>
                  <a:srgbClr val="FFFFFF"/>
                </a:highlight>
              </a:rPr>
              <a:t>Silero</a:t>
            </a:r>
            <a:r>
              <a:rPr lang="en-US" altLang="zh-TW" sz="1200" b="1" dirty="0">
                <a:solidFill>
                  <a:srgbClr val="131314"/>
                </a:solidFill>
                <a:highlight>
                  <a:srgbClr val="FFFFFF"/>
                </a:highlight>
              </a:rPr>
              <a:t> </a:t>
            </a:r>
            <a:r>
              <a:rPr lang="zh-TW" altLang="en-US" sz="1200" b="1" dirty="0">
                <a:solidFill>
                  <a:srgbClr val="131314"/>
                </a:solidFill>
                <a:highlight>
                  <a:srgbClr val="FFFFFF"/>
                </a:highlight>
              </a:rPr>
              <a:t>模型轉換為語音（男聲），所有個性條件使用相同的聲音。 </a:t>
            </a:r>
            <a:endParaRPr lang="en-US" altLang="zh-TW" sz="1200" b="1" dirty="0">
              <a:solidFill>
                <a:srgbClr val="131314"/>
              </a:solidFill>
              <a:highlight>
                <a:srgbClr val="FFFFFF"/>
              </a:highlight>
            </a:endParaRPr>
          </a:p>
          <a:p>
            <a:pPr lvl="0" rtl="0">
              <a:spcBef>
                <a:spcPts val="560"/>
              </a:spcBef>
              <a:spcAft>
                <a:spcPts val="0"/>
              </a:spcAft>
            </a:pPr>
            <a:r>
              <a:rPr lang="zh-TW" altLang="en-US" sz="1200" b="1" dirty="0">
                <a:solidFill>
                  <a:srgbClr val="131314"/>
                </a:solidFill>
                <a:highlight>
                  <a:srgbClr val="FFFFFF"/>
                </a:highlight>
              </a:rPr>
              <a:t>◦ 動畫： 產生的音訊串流傳輸到 </a:t>
            </a:r>
            <a:r>
              <a:rPr lang="en-US" altLang="zh-TW" sz="1200" b="1" dirty="0">
                <a:solidFill>
                  <a:srgbClr val="131314"/>
                </a:solidFill>
                <a:highlight>
                  <a:srgbClr val="FFFFFF"/>
                </a:highlight>
              </a:rPr>
              <a:t>Audio2Face </a:t>
            </a:r>
            <a:r>
              <a:rPr lang="zh-TW" altLang="en-US" sz="1200" b="1" dirty="0">
                <a:solidFill>
                  <a:srgbClr val="131314"/>
                </a:solidFill>
                <a:highlight>
                  <a:srgbClr val="FFFFFF"/>
                </a:highlight>
              </a:rPr>
              <a:t>應用程式，即時動畫虛擬代理的唇部動作。</a:t>
            </a:r>
            <a:endParaRPr lang="en-US" altLang="zh-TW" sz="1200" b="1" dirty="0">
              <a:solidFill>
                <a:srgbClr val="131314"/>
              </a:solidFill>
              <a:highlight>
                <a:srgbClr val="FFFFFF"/>
              </a:highlight>
            </a:endParaRPr>
          </a:p>
          <a:p>
            <a:pPr lvl="0" rtl="0">
              <a:spcBef>
                <a:spcPts val="560"/>
              </a:spcBef>
              <a:spcAft>
                <a:spcPts val="0"/>
              </a:spcAft>
            </a:pPr>
            <a:r>
              <a:rPr lang="en-US" sz="1200" b="1" dirty="0">
                <a:solidFill>
                  <a:srgbClr val="131314"/>
                </a:solidFill>
                <a:highlight>
                  <a:srgbClr val="FFFFFF"/>
                </a:highlight>
              </a:rPr>
              <a:t>	</a:t>
            </a:r>
            <a:endParaRPr sz="1200" b="1" dirty="0">
              <a:solidFill>
                <a:srgbClr val="131314"/>
              </a:solidFill>
              <a:highlight>
                <a:srgbClr val="FFFFFF"/>
              </a:highlight>
            </a:endParaRPr>
          </a:p>
        </p:txBody>
      </p:sp>
      <p:pic>
        <p:nvPicPr>
          <p:cNvPr id="3" name="圖片 2">
            <a:extLst>
              <a:ext uri="{FF2B5EF4-FFF2-40B4-BE49-F238E27FC236}">
                <a16:creationId xmlns:a16="http://schemas.microsoft.com/office/drawing/2014/main" id="{8A354082-28E9-4005-B2EE-13A95B40D045}"/>
              </a:ext>
            </a:extLst>
          </p:cNvPr>
          <p:cNvPicPr>
            <a:picLocks noChangeAspect="1"/>
          </p:cNvPicPr>
          <p:nvPr/>
        </p:nvPicPr>
        <p:blipFill>
          <a:blip r:embed="rId3"/>
          <a:stretch>
            <a:fillRect/>
          </a:stretch>
        </p:blipFill>
        <p:spPr>
          <a:xfrm>
            <a:off x="5888481" y="2872350"/>
            <a:ext cx="3255519" cy="17140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系統架構</a:t>
            </a:r>
            <a:endParaRPr sz="2650"/>
          </a:p>
        </p:txBody>
      </p:sp>
      <p:sp>
        <p:nvSpPr>
          <p:cNvPr id="135" name="Google Shape;135;p21"/>
          <p:cNvSpPr txBox="1">
            <a:spLocks noGrp="1"/>
          </p:cNvSpPr>
          <p:nvPr>
            <p:ph type="subTitle" idx="1"/>
          </p:nvPr>
        </p:nvSpPr>
        <p:spPr>
          <a:xfrm>
            <a:off x="288174" y="784150"/>
            <a:ext cx="5147826" cy="4294550"/>
          </a:xfrm>
          <a:prstGeom prst="rect">
            <a:avLst/>
          </a:prstGeom>
        </p:spPr>
        <p:txBody>
          <a:bodyPr spcFirstLastPara="1" wrap="square" lIns="91425" tIns="45700" rIns="91425" bIns="45700" anchor="t" anchorCtr="0">
            <a:noAutofit/>
          </a:bodyPr>
          <a:lstStyle/>
          <a:p>
            <a:pPr marL="0" lvl="0" indent="0" algn="l" rtl="0">
              <a:spcBef>
                <a:spcPts val="560"/>
              </a:spcBef>
              <a:spcAft>
                <a:spcPts val="0"/>
              </a:spcAft>
              <a:buNone/>
            </a:pPr>
            <a:r>
              <a:rPr lang="en-US" altLang="zh-TW" sz="1200" b="1" dirty="0">
                <a:solidFill>
                  <a:srgbClr val="131314"/>
                </a:solidFill>
                <a:highlight>
                  <a:srgbClr val="FFFFFF"/>
                </a:highlight>
              </a:rPr>
              <a:t>2. </a:t>
            </a:r>
            <a:r>
              <a:rPr lang="zh-TW" altLang="en-US" sz="1200" b="1" dirty="0">
                <a:solidFill>
                  <a:srgbClr val="131314"/>
                </a:solidFill>
                <a:highlight>
                  <a:srgbClr val="FFFFFF"/>
                </a:highlight>
              </a:rPr>
              <a:t>人格操縱 </a:t>
            </a:r>
            <a:r>
              <a:rPr lang="en-US" altLang="zh-TW" sz="1200" b="1" dirty="0">
                <a:solidFill>
                  <a:srgbClr val="131314"/>
                </a:solidFill>
                <a:highlight>
                  <a:srgbClr val="FFFFFF"/>
                </a:highlight>
              </a:rPr>
              <a:t>(Persona Manipulation) </a:t>
            </a:r>
          </a:p>
          <a:p>
            <a:pPr marL="0" lvl="0" indent="0" algn="l" rtl="0">
              <a:spcBef>
                <a:spcPts val="560"/>
              </a:spcBef>
              <a:spcAft>
                <a:spcPts val="0"/>
              </a:spcAft>
              <a:buNone/>
            </a:pPr>
            <a:r>
              <a:rPr lang="en-US" altLang="zh-TW" sz="1200" b="1" dirty="0">
                <a:solidFill>
                  <a:srgbClr val="131314"/>
                </a:solidFill>
                <a:highlight>
                  <a:srgbClr val="FFFFFF"/>
                </a:highlight>
              </a:rPr>
              <a:t>• </a:t>
            </a:r>
            <a:r>
              <a:rPr lang="zh-TW" altLang="en-US" sz="1200" b="1" dirty="0">
                <a:solidFill>
                  <a:srgbClr val="131314"/>
                </a:solidFill>
                <a:highlight>
                  <a:srgbClr val="FFFFFF"/>
                </a:highlight>
              </a:rPr>
              <a:t>透過作為上下文提示 </a:t>
            </a:r>
            <a:r>
              <a:rPr lang="en-US" altLang="zh-TW" sz="1200" b="1" dirty="0">
                <a:solidFill>
                  <a:srgbClr val="131314"/>
                </a:solidFill>
                <a:highlight>
                  <a:srgbClr val="FFFFFF"/>
                </a:highlight>
              </a:rPr>
              <a:t>(context prompts) </a:t>
            </a:r>
            <a:r>
              <a:rPr lang="zh-TW" altLang="en-US" sz="1200" b="1" dirty="0">
                <a:solidFill>
                  <a:srgbClr val="131314"/>
                </a:solidFill>
                <a:highlight>
                  <a:srgbClr val="FFFFFF"/>
                </a:highlight>
              </a:rPr>
              <a:t>實施兩種不同的人格：「外向型」或「內向型」。</a:t>
            </a:r>
            <a:endParaRPr lang="en-US" altLang="zh-TW" sz="1200" b="1" dirty="0">
              <a:solidFill>
                <a:srgbClr val="131314"/>
              </a:solidFill>
              <a:highlight>
                <a:srgbClr val="FFFFFF"/>
              </a:highlight>
            </a:endParaRPr>
          </a:p>
          <a:p>
            <a:pPr marL="0" lvl="0" indent="0" algn="l" rtl="0">
              <a:spcBef>
                <a:spcPts val="560"/>
              </a:spcBef>
              <a:spcAft>
                <a:spcPts val="0"/>
              </a:spcAft>
              <a:buNone/>
            </a:pPr>
            <a:r>
              <a:rPr lang="en-US" altLang="zh-TW" sz="1200" b="1" dirty="0">
                <a:solidFill>
                  <a:srgbClr val="131314"/>
                </a:solidFill>
                <a:highlight>
                  <a:srgbClr val="FFFFFF"/>
                </a:highlight>
              </a:rPr>
              <a:t>• </a:t>
            </a:r>
            <a:r>
              <a:rPr lang="zh-TW" altLang="en-US" sz="1200" b="1" dirty="0">
                <a:solidFill>
                  <a:srgbClr val="131314"/>
                </a:solidFill>
                <a:highlight>
                  <a:srgbClr val="FFFFFF"/>
                </a:highlight>
              </a:rPr>
              <a:t>提示內容： 提示包含關於溝通風格的細節，並以外向性維度（例如社交性、健談性）有所區別。</a:t>
            </a:r>
            <a:endParaRPr lang="en-US" altLang="zh-TW" sz="1200" b="1" dirty="0">
              <a:solidFill>
                <a:srgbClr val="131314"/>
              </a:solidFill>
              <a:highlight>
                <a:srgbClr val="FFFFFF"/>
              </a:highlight>
            </a:endParaRPr>
          </a:p>
          <a:p>
            <a:pPr marL="0" lvl="0" indent="0" algn="l" rtl="0">
              <a:spcBef>
                <a:spcPts val="560"/>
              </a:spcBef>
              <a:spcAft>
                <a:spcPts val="0"/>
              </a:spcAft>
              <a:buNone/>
            </a:pPr>
            <a:r>
              <a:rPr lang="zh-TW" altLang="en-US" sz="1200" b="1" dirty="0">
                <a:solidFill>
                  <a:srgbClr val="131314"/>
                </a:solidFill>
                <a:highlight>
                  <a:srgbClr val="FFFFFF"/>
                </a:highlight>
              </a:rPr>
              <a:t>例如： </a:t>
            </a:r>
            <a:endParaRPr lang="en-US" altLang="zh-TW" sz="1200" b="1" dirty="0">
              <a:solidFill>
                <a:srgbClr val="131314"/>
              </a:solidFill>
              <a:highlight>
                <a:srgbClr val="FFFFFF"/>
              </a:highlight>
            </a:endParaRPr>
          </a:p>
          <a:p>
            <a:pPr marL="0" lvl="0" indent="0" algn="l" rtl="0">
              <a:spcBef>
                <a:spcPts val="560"/>
              </a:spcBef>
              <a:spcAft>
                <a:spcPts val="0"/>
              </a:spcAft>
              <a:buNone/>
            </a:pPr>
            <a:r>
              <a:rPr lang="zh-TW" altLang="en-US" sz="1200" b="1" dirty="0">
                <a:solidFill>
                  <a:srgbClr val="131314"/>
                </a:solidFill>
                <a:highlight>
                  <a:srgbClr val="FFFFFF"/>
                </a:highlight>
              </a:rPr>
              <a:t>◦ 外向型： 非常善於社交、喜歡與人相處、活躍且健談。會與對話夥伴進行大量</a:t>
            </a:r>
            <a:r>
              <a:rPr lang="en-US" altLang="zh-TW" sz="1200" b="1" dirty="0">
                <a:solidFill>
                  <a:srgbClr val="131314"/>
                </a:solidFill>
                <a:highlight>
                  <a:srgbClr val="FFFFFF"/>
                </a:highlight>
              </a:rPr>
              <a:t>	</a:t>
            </a:r>
            <a:r>
              <a:rPr lang="zh-TW" altLang="en-US" sz="1200" b="1" dirty="0">
                <a:solidFill>
                  <a:srgbClr val="131314"/>
                </a:solidFill>
                <a:highlight>
                  <a:srgbClr val="FFFFFF"/>
                </a:highlight>
              </a:rPr>
              <a:t>互動，並提出感興趣的追問。</a:t>
            </a:r>
            <a:endParaRPr lang="en-US" altLang="zh-TW" sz="1200" b="1" dirty="0">
              <a:solidFill>
                <a:srgbClr val="131314"/>
              </a:solidFill>
              <a:highlight>
                <a:srgbClr val="FFFFFF"/>
              </a:highlight>
            </a:endParaRPr>
          </a:p>
          <a:p>
            <a:pPr marL="0" lvl="0" indent="0" algn="l" rtl="0">
              <a:spcBef>
                <a:spcPts val="560"/>
              </a:spcBef>
              <a:spcAft>
                <a:spcPts val="0"/>
              </a:spcAft>
              <a:buNone/>
            </a:pPr>
            <a:r>
              <a:rPr lang="zh-TW" altLang="en-US" sz="1200" b="1" dirty="0">
                <a:solidFill>
                  <a:srgbClr val="131314"/>
                </a:solidFill>
                <a:highlight>
                  <a:srgbClr val="FFFFFF"/>
                </a:highlight>
              </a:rPr>
              <a:t>◦ 內向型： 喜歡獨處、獨立，在社交互動中非常保守。</a:t>
            </a:r>
            <a:endParaRPr lang="en-US" altLang="zh-TW" sz="1200" b="1" dirty="0">
              <a:solidFill>
                <a:srgbClr val="131314"/>
              </a:solidFill>
              <a:highlight>
                <a:srgbClr val="FFFFFF"/>
              </a:highlight>
            </a:endParaRPr>
          </a:p>
          <a:p>
            <a:pPr marL="0" lvl="0" indent="0" algn="l" rtl="0">
              <a:spcBef>
                <a:spcPts val="560"/>
              </a:spcBef>
              <a:spcAft>
                <a:spcPts val="0"/>
              </a:spcAft>
              <a:buNone/>
            </a:pPr>
            <a:r>
              <a:rPr lang="en-US" altLang="zh-TW" sz="1200" b="1" dirty="0">
                <a:solidFill>
                  <a:srgbClr val="131314"/>
                </a:solidFill>
                <a:highlight>
                  <a:srgbClr val="FFFFFF"/>
                </a:highlight>
              </a:rPr>
              <a:t>• LLM </a:t>
            </a:r>
            <a:r>
              <a:rPr lang="zh-TW" altLang="en-US" sz="1200" b="1" dirty="0">
                <a:solidFill>
                  <a:srgbClr val="131314"/>
                </a:solidFill>
                <a:highlight>
                  <a:srgbClr val="FFFFFF"/>
                </a:highlight>
              </a:rPr>
              <a:t>參數調整： 為了確保兩種人格產生現實且一致的回應，參數有所調整： </a:t>
            </a:r>
            <a:endParaRPr lang="en-US" altLang="zh-TW" sz="1200" b="1" dirty="0">
              <a:solidFill>
                <a:srgbClr val="131314"/>
              </a:solidFill>
              <a:highlight>
                <a:srgbClr val="FFFFFF"/>
              </a:highlight>
            </a:endParaRPr>
          </a:p>
          <a:p>
            <a:pPr marL="0" lvl="0" indent="0" algn="l" rtl="0">
              <a:spcBef>
                <a:spcPts val="560"/>
              </a:spcBef>
              <a:spcAft>
                <a:spcPts val="0"/>
              </a:spcAft>
              <a:buNone/>
            </a:pPr>
            <a:r>
              <a:rPr lang="zh-TW" altLang="en-US" sz="1200" b="1" dirty="0">
                <a:solidFill>
                  <a:srgbClr val="131314"/>
                </a:solidFill>
                <a:highlight>
                  <a:srgbClr val="FFFFFF"/>
                </a:highlight>
              </a:rPr>
              <a:t>◦ 外向型： 溫度 </a:t>
            </a:r>
            <a:r>
              <a:rPr lang="en-US" altLang="zh-TW" sz="1200" b="1" dirty="0">
                <a:solidFill>
                  <a:srgbClr val="131314"/>
                </a:solidFill>
                <a:highlight>
                  <a:srgbClr val="FFFFFF"/>
                </a:highlight>
              </a:rPr>
              <a:t>(Temperature) </a:t>
            </a:r>
            <a:r>
              <a:rPr lang="zh-TW" altLang="en-US" sz="1200" b="1" dirty="0">
                <a:solidFill>
                  <a:srgbClr val="131314"/>
                </a:solidFill>
                <a:highlight>
                  <a:srgbClr val="FFFFFF"/>
                </a:highlight>
              </a:rPr>
              <a:t>設定為 </a:t>
            </a:r>
            <a:r>
              <a:rPr lang="en-US" altLang="zh-TW" sz="1200" b="1" dirty="0">
                <a:solidFill>
                  <a:srgbClr val="131314"/>
                </a:solidFill>
                <a:highlight>
                  <a:srgbClr val="FFFFFF"/>
                </a:highlight>
              </a:rPr>
              <a:t>.4</a:t>
            </a:r>
            <a:r>
              <a:rPr lang="zh-TW" altLang="en-US" sz="1200" b="1" dirty="0">
                <a:solidFill>
                  <a:srgbClr val="131314"/>
                </a:solidFill>
                <a:highlight>
                  <a:srgbClr val="FFFFFF"/>
                </a:highlight>
              </a:rPr>
              <a:t>，最大句子數 </a:t>
            </a:r>
            <a:r>
              <a:rPr lang="en-US" altLang="zh-TW" sz="1200" b="1" dirty="0">
                <a:solidFill>
                  <a:srgbClr val="131314"/>
                </a:solidFill>
                <a:highlight>
                  <a:srgbClr val="FFFFFF"/>
                </a:highlight>
              </a:rPr>
              <a:t>(Maximum Sentences) </a:t>
            </a:r>
            <a:r>
              <a:rPr lang="zh-TW" altLang="en-US" sz="1200" b="1" dirty="0">
                <a:solidFill>
                  <a:srgbClr val="131314"/>
                </a:solidFill>
                <a:highlight>
                  <a:srgbClr val="FFFFFF"/>
                </a:highlight>
              </a:rPr>
              <a:t>設定為 </a:t>
            </a:r>
            <a:r>
              <a:rPr lang="en-US" altLang="zh-TW" sz="1200" b="1" dirty="0">
                <a:solidFill>
                  <a:srgbClr val="131314"/>
                </a:solidFill>
                <a:highlight>
                  <a:srgbClr val="FFFFFF"/>
                </a:highlight>
              </a:rPr>
              <a:t>3</a:t>
            </a:r>
            <a:r>
              <a:rPr lang="zh-TW" altLang="en-US" sz="1200" b="1" dirty="0">
                <a:solidFill>
                  <a:srgbClr val="131314"/>
                </a:solidFill>
                <a:highlight>
                  <a:srgbClr val="FFFFFF"/>
                </a:highlight>
              </a:rPr>
              <a:t>。 </a:t>
            </a:r>
            <a:endParaRPr lang="en-US" altLang="zh-TW" sz="1200" b="1" dirty="0">
              <a:solidFill>
                <a:srgbClr val="131314"/>
              </a:solidFill>
              <a:highlight>
                <a:srgbClr val="FFFFFF"/>
              </a:highlight>
            </a:endParaRPr>
          </a:p>
          <a:p>
            <a:pPr marL="0" lvl="0" indent="0" algn="l" rtl="0">
              <a:spcBef>
                <a:spcPts val="560"/>
              </a:spcBef>
              <a:spcAft>
                <a:spcPts val="0"/>
              </a:spcAft>
              <a:buNone/>
            </a:pPr>
            <a:r>
              <a:rPr lang="zh-TW" altLang="en-US" sz="1200" b="1" dirty="0">
                <a:solidFill>
                  <a:srgbClr val="131314"/>
                </a:solidFill>
                <a:highlight>
                  <a:srgbClr val="FFFFFF"/>
                </a:highlight>
              </a:rPr>
              <a:t>◦ 內向型： 溫度設定為 </a:t>
            </a:r>
            <a:r>
              <a:rPr lang="en-US" altLang="zh-TW" sz="1200" b="1" dirty="0">
                <a:solidFill>
                  <a:srgbClr val="131314"/>
                </a:solidFill>
                <a:highlight>
                  <a:srgbClr val="FFFFFF"/>
                </a:highlight>
              </a:rPr>
              <a:t>.2</a:t>
            </a:r>
            <a:r>
              <a:rPr lang="zh-TW" altLang="en-US" sz="1200" b="1" dirty="0">
                <a:solidFill>
                  <a:srgbClr val="131314"/>
                </a:solidFill>
                <a:highlight>
                  <a:srgbClr val="FFFFFF"/>
                </a:highlight>
              </a:rPr>
              <a:t>，最大句子數設定為 </a:t>
            </a:r>
            <a:r>
              <a:rPr lang="en-US" altLang="zh-TW" sz="1200" b="1" dirty="0">
                <a:solidFill>
                  <a:srgbClr val="131314"/>
                </a:solidFill>
                <a:highlight>
                  <a:srgbClr val="FFFFFF"/>
                </a:highlight>
              </a:rPr>
              <a:t>2</a:t>
            </a:r>
            <a:r>
              <a:rPr lang="zh-TW" altLang="en-US" sz="1200" b="1" dirty="0">
                <a:solidFill>
                  <a:srgbClr val="131314"/>
                </a:solidFill>
                <a:highlight>
                  <a:srgbClr val="FFFFFF"/>
                </a:highlight>
              </a:rPr>
              <a:t>。</a:t>
            </a:r>
            <a:endParaRPr lang="en-US" altLang="zh-TW" sz="1200" b="1" dirty="0">
              <a:solidFill>
                <a:srgbClr val="131314"/>
              </a:solidFill>
              <a:highlight>
                <a:srgbClr val="FFFFFF"/>
              </a:highlight>
            </a:endParaRPr>
          </a:p>
          <a:p>
            <a:pPr marL="0" lvl="0" indent="0" algn="l" rtl="0">
              <a:spcBef>
                <a:spcPts val="560"/>
              </a:spcBef>
              <a:spcAft>
                <a:spcPts val="0"/>
              </a:spcAft>
              <a:buNone/>
            </a:pPr>
            <a:r>
              <a:rPr lang="en-US" altLang="zh-TW" sz="1200" b="1" dirty="0">
                <a:solidFill>
                  <a:srgbClr val="131314"/>
                </a:solidFill>
                <a:highlight>
                  <a:srgbClr val="FFFFFF"/>
                </a:highlight>
              </a:rPr>
              <a:t>• </a:t>
            </a:r>
            <a:r>
              <a:rPr lang="zh-TW" altLang="en-US" sz="1200" b="1" dirty="0">
                <a:solidFill>
                  <a:srgbClr val="131314"/>
                </a:solidFill>
                <a:highlight>
                  <a:srgbClr val="FFFFFF"/>
                </a:highlight>
              </a:rPr>
              <a:t>操縱檢查結果： 預測試結果顯示，外向型人格在「外向性」子量表上的得分</a:t>
            </a:r>
            <a:r>
              <a:rPr lang="en-US" altLang="zh-TW" sz="1200" b="1" dirty="0">
                <a:solidFill>
                  <a:srgbClr val="131314"/>
                </a:solidFill>
                <a:highlight>
                  <a:srgbClr val="FFFFFF"/>
                </a:highlight>
              </a:rPr>
              <a:t>	</a:t>
            </a:r>
            <a:r>
              <a:rPr lang="zh-TW" altLang="en-US" sz="1200" b="1" dirty="0">
                <a:solidFill>
                  <a:srgbClr val="131314"/>
                </a:solidFill>
                <a:highlight>
                  <a:srgbClr val="FFFFFF"/>
                </a:highlight>
              </a:rPr>
              <a:t>顯著高於內向型人格。在實際實驗中，外向型人格每回合產生的詞彙數顯著多</a:t>
            </a:r>
            <a:r>
              <a:rPr lang="en-US" altLang="zh-TW" sz="1200" b="1" dirty="0">
                <a:solidFill>
                  <a:srgbClr val="131314"/>
                </a:solidFill>
                <a:highlight>
                  <a:srgbClr val="FFFFFF"/>
                </a:highlight>
              </a:rPr>
              <a:t>	</a:t>
            </a:r>
            <a:r>
              <a:rPr lang="zh-TW" altLang="en-US" sz="1200" b="1" dirty="0">
                <a:solidFill>
                  <a:srgbClr val="131314"/>
                </a:solidFill>
                <a:highlight>
                  <a:srgbClr val="FFFFFF"/>
                </a:highlight>
              </a:rPr>
              <a:t>於內向型人格，證實人格操縱是成功的。</a:t>
            </a:r>
            <a:endParaRPr sz="1200" b="1" dirty="0">
              <a:solidFill>
                <a:srgbClr val="131314"/>
              </a:solidFill>
              <a:highlight>
                <a:srgbClr val="FFFFFF"/>
              </a:highlight>
            </a:endParaRPr>
          </a:p>
        </p:txBody>
      </p:sp>
      <p:pic>
        <p:nvPicPr>
          <p:cNvPr id="3" name="圖片 2">
            <a:extLst>
              <a:ext uri="{FF2B5EF4-FFF2-40B4-BE49-F238E27FC236}">
                <a16:creationId xmlns:a16="http://schemas.microsoft.com/office/drawing/2014/main" id="{02E0812A-1B49-4DC3-A391-E56C3001FCDD}"/>
              </a:ext>
            </a:extLst>
          </p:cNvPr>
          <p:cNvPicPr>
            <a:picLocks noChangeAspect="1"/>
          </p:cNvPicPr>
          <p:nvPr/>
        </p:nvPicPr>
        <p:blipFill>
          <a:blip r:embed="rId3"/>
          <a:stretch>
            <a:fillRect/>
          </a:stretch>
        </p:blipFill>
        <p:spPr>
          <a:xfrm>
            <a:off x="5444246" y="2739149"/>
            <a:ext cx="3699754" cy="2339551"/>
          </a:xfrm>
          <a:prstGeom prst="rect">
            <a:avLst/>
          </a:prstGeom>
        </p:spPr>
      </p:pic>
    </p:spTree>
    <p:extLst>
      <p:ext uri="{BB962C8B-B14F-4D97-AF65-F5344CB8AC3E}">
        <p14:creationId xmlns:p14="http://schemas.microsoft.com/office/powerpoint/2010/main" val="98164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ctrTitle"/>
          </p:nvPr>
        </p:nvSpPr>
        <p:spPr>
          <a:xfrm>
            <a:off x="3473575" y="1977500"/>
            <a:ext cx="17910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sz="4800" dirty="0"/>
              <a:t>實驗</a:t>
            </a:r>
            <a:endParaRPr sz="4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實驗</a:t>
            </a:r>
            <a:endParaRPr sz="2650"/>
          </a:p>
        </p:txBody>
      </p:sp>
      <p:sp>
        <p:nvSpPr>
          <p:cNvPr id="166" name="Google Shape;166;p26"/>
          <p:cNvSpPr txBox="1">
            <a:spLocks noGrp="1"/>
          </p:cNvSpPr>
          <p:nvPr>
            <p:ph type="subTitle" idx="1"/>
          </p:nvPr>
        </p:nvSpPr>
        <p:spPr>
          <a:xfrm>
            <a:off x="640275" y="918900"/>
            <a:ext cx="8309400" cy="3677400"/>
          </a:xfrm>
          <a:prstGeom prst="rect">
            <a:avLst/>
          </a:prstGeom>
        </p:spPr>
        <p:txBody>
          <a:bodyPr spcFirstLastPara="1" wrap="square" lIns="91425" tIns="45700" rIns="91425" bIns="45700" anchor="t" anchorCtr="0">
            <a:noAutofit/>
          </a:bodyPr>
          <a:lstStyle/>
          <a:p>
            <a:pPr lvl="0" algn="l" rtl="0">
              <a:spcBef>
                <a:spcPts val="560"/>
              </a:spcBef>
              <a:spcAft>
                <a:spcPts val="0"/>
              </a:spcAft>
            </a:pP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實驗設計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(Design) </a:t>
            </a:r>
          </a:p>
          <a:p>
            <a:pPr lvl="0" algn="l" rtl="0">
              <a:spcBef>
                <a:spcPts val="560"/>
              </a:spcBef>
              <a:spcAft>
                <a:spcPts val="0"/>
              </a:spcAft>
            </a:pP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	•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設計類型： 混合設計。 </a:t>
            </a: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	•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組間因素： 代理的人格（外向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vs.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內向）。</a:t>
            </a: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組內因素： 對話任務（閒聊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vs.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知識測驗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vs.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說服）。</a:t>
            </a: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對話任務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(Conversational Tasks)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每個任務時長均為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8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分鐘： </a:t>
            </a: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	•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閒聊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(Small Talk)</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 始終作為第一個任務。參與者詢問關於代理的一般資訊，並可自由追問。反映專注於自我揭露的社交對話。 </a:t>
            </a: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	•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知識測驗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(Knowledge Test)</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 參與者回答世界知識問題，並可自由選擇向虛擬代理尋求幫助。問題難度在簡單和困難之間交替。反映任務導向型對話。</a:t>
            </a: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	•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說服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(Convincing)</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 參與者詢問代理的偏好，然後必須嘗試說服代理接受未選的替代選項。反映專注於論證的社交對話。</a:t>
            </a:r>
            <a:endParaRPr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實驗</a:t>
            </a:r>
            <a:endParaRPr sz="2650"/>
          </a:p>
        </p:txBody>
      </p:sp>
      <p:sp>
        <p:nvSpPr>
          <p:cNvPr id="166" name="Google Shape;166;p26"/>
          <p:cNvSpPr txBox="1">
            <a:spLocks noGrp="1"/>
          </p:cNvSpPr>
          <p:nvPr>
            <p:ph type="subTitle" idx="1"/>
          </p:nvPr>
        </p:nvSpPr>
        <p:spPr>
          <a:xfrm>
            <a:off x="640275" y="918900"/>
            <a:ext cx="8309400" cy="3677400"/>
          </a:xfrm>
          <a:prstGeom prst="rect">
            <a:avLst/>
          </a:prstGeom>
        </p:spPr>
        <p:txBody>
          <a:bodyPr spcFirstLastPara="1" wrap="square" lIns="91425" tIns="45700" rIns="91425" bIns="45700" anchor="t" anchorCtr="0">
            <a:noAutofit/>
          </a:bodyPr>
          <a:lstStyle/>
          <a:p>
            <a:pPr lvl="0" algn="l" rtl="0">
              <a:spcBef>
                <a:spcPts val="560"/>
              </a:spcBef>
              <a:spcAft>
                <a:spcPts val="0"/>
              </a:spcAft>
            </a:pP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測量 </a:t>
            </a:r>
            <a:r>
              <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rPr>
              <a:t>(</a:t>
            </a:r>
            <a:r>
              <a:rPr 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Measurements) –</a:t>
            </a:r>
            <a:r>
              <a:rPr lang="zh-TW" altLang="en-US" sz="1400" dirty="0">
                <a:solidFill>
                  <a:srgbClr val="131314"/>
                </a:solidFill>
                <a:highlight>
                  <a:srgbClr val="FFFFFF"/>
                </a:highlight>
                <a:latin typeface="Adobe 黑体 Std R" panose="020B0400000000000000" pitchFamily="34" charset="-122"/>
                <a:ea typeface="Adobe 黑体 Std R" panose="020B0400000000000000" pitchFamily="34" charset="-122"/>
              </a:rPr>
              <a:t>測量了自我報告評分和行為參數：</a:t>
            </a:r>
            <a:endParaRPr lang="en-US" altLang="zh-TW"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lvl="0" algn="l" rtl="0">
              <a:spcBef>
                <a:spcPts val="560"/>
              </a:spcBef>
              <a:spcAft>
                <a:spcPts val="0"/>
              </a:spcAft>
            </a:pPr>
            <a:endParaRPr sz="1400" dirty="0">
              <a:solidFill>
                <a:srgbClr val="131314"/>
              </a:solidFill>
              <a:highlight>
                <a:srgbClr val="FFFFFF"/>
              </a:highlight>
              <a:latin typeface="Adobe 黑体 Std R" panose="020B0400000000000000" pitchFamily="34" charset="-122"/>
              <a:ea typeface="Adobe 黑体 Std R" panose="020B0400000000000000" pitchFamily="34" charset="-122"/>
            </a:endParaRPr>
          </a:p>
        </p:txBody>
      </p:sp>
      <p:pic>
        <p:nvPicPr>
          <p:cNvPr id="3" name="圖片 2">
            <a:extLst>
              <a:ext uri="{FF2B5EF4-FFF2-40B4-BE49-F238E27FC236}">
                <a16:creationId xmlns:a16="http://schemas.microsoft.com/office/drawing/2014/main" id="{A76E0383-8C80-41D9-BF8B-13885F098822}"/>
              </a:ext>
            </a:extLst>
          </p:cNvPr>
          <p:cNvPicPr>
            <a:picLocks noChangeAspect="1"/>
          </p:cNvPicPr>
          <p:nvPr/>
        </p:nvPicPr>
        <p:blipFill>
          <a:blip r:embed="rId3"/>
          <a:stretch>
            <a:fillRect/>
          </a:stretch>
        </p:blipFill>
        <p:spPr>
          <a:xfrm>
            <a:off x="2002575" y="1417942"/>
            <a:ext cx="5744625" cy="3725558"/>
          </a:xfrm>
          <a:prstGeom prst="rect">
            <a:avLst/>
          </a:prstGeom>
        </p:spPr>
      </p:pic>
    </p:spTree>
    <p:extLst>
      <p:ext uri="{BB962C8B-B14F-4D97-AF65-F5344CB8AC3E}">
        <p14:creationId xmlns:p14="http://schemas.microsoft.com/office/powerpoint/2010/main" val="4272915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ctrTitle"/>
          </p:nvPr>
        </p:nvSpPr>
        <p:spPr>
          <a:xfrm>
            <a:off x="2924275" y="1967525"/>
            <a:ext cx="35286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sz="4800"/>
              <a:t>結果&amp;建議</a:t>
            </a:r>
            <a:endParaRPr sz="4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結果</a:t>
            </a:r>
            <a:endParaRPr sz="2650"/>
          </a:p>
        </p:txBody>
      </p:sp>
      <p:sp>
        <p:nvSpPr>
          <p:cNvPr id="202" name="Google Shape;202;p32"/>
          <p:cNvSpPr txBox="1">
            <a:spLocks noGrp="1"/>
          </p:cNvSpPr>
          <p:nvPr>
            <p:ph type="subTitle" idx="1"/>
          </p:nvPr>
        </p:nvSpPr>
        <p:spPr>
          <a:xfrm>
            <a:off x="374400" y="918900"/>
            <a:ext cx="5032800" cy="4224600"/>
          </a:xfrm>
          <a:prstGeom prst="rect">
            <a:avLst/>
          </a:prstGeom>
        </p:spPr>
        <p:txBody>
          <a:bodyPr spcFirstLastPara="1" wrap="square" lIns="91425" tIns="45700" rIns="91425" bIns="45700" anchor="t" anchorCtr="0">
            <a:noAutofit/>
          </a:bodyPr>
          <a:lstStyle/>
          <a:p>
            <a:r>
              <a:rPr lang="en-US" altLang="zh-TW" sz="1400" b="1" dirty="0"/>
              <a:t>1. </a:t>
            </a:r>
            <a:r>
              <a:rPr lang="zh-TW" altLang="en-US" sz="1400" b="1" dirty="0"/>
              <a:t>同情心 </a:t>
            </a:r>
            <a:r>
              <a:rPr lang="en-US" altLang="zh-TW" sz="1400" b="1" dirty="0"/>
              <a:t>(Sympathy)</a:t>
            </a:r>
            <a:endParaRPr lang="zh-TW" altLang="en-US" sz="1400" dirty="0"/>
          </a:p>
          <a:p>
            <a:pPr>
              <a:buFont typeface="Arial" panose="020B0604020202020204" pitchFamily="34" charset="0"/>
              <a:buChar char="•"/>
            </a:pPr>
            <a:r>
              <a:rPr lang="zh-TW" altLang="en-US" sz="1400" b="1" dirty="0"/>
              <a:t>個性效果</a:t>
            </a:r>
            <a:r>
              <a:rPr lang="zh-TW" altLang="en-US" sz="1400" dirty="0"/>
              <a:t>：外向型代理人 </a:t>
            </a:r>
            <a:r>
              <a:rPr lang="en-US" altLang="zh-TW" sz="1400" dirty="0"/>
              <a:t>(M = 58.20) </a:t>
            </a:r>
            <a:r>
              <a:rPr lang="zh-TW" altLang="en-US" sz="1400" dirty="0"/>
              <a:t>比內向型 </a:t>
            </a:r>
            <a:r>
              <a:rPr lang="en-US" altLang="zh-TW" sz="1400" dirty="0"/>
              <a:t>(M = 41.19) </a:t>
            </a:r>
            <a:r>
              <a:rPr lang="zh-TW" altLang="en-US" sz="1400" dirty="0"/>
              <a:t>獲得更高同情心評分，主要效應顯著 </a:t>
            </a:r>
            <a:r>
              <a:rPr lang="en-US" altLang="zh-TW" sz="1400" dirty="0"/>
              <a:t>(F(1,44)=21.57, p&lt;.001, η²=.33)</a:t>
            </a:r>
            <a:r>
              <a:rPr lang="zh-TW" altLang="en-US" sz="1400" dirty="0"/>
              <a:t>。</a:t>
            </a:r>
          </a:p>
          <a:p>
            <a:pPr>
              <a:buFont typeface="Arial" panose="020B0604020202020204" pitchFamily="34" charset="0"/>
              <a:buChar char="•"/>
            </a:pPr>
            <a:r>
              <a:rPr lang="zh-TW" altLang="en-US" sz="1400" b="1" dirty="0"/>
              <a:t>任務效果</a:t>
            </a:r>
            <a:r>
              <a:rPr lang="zh-TW" altLang="en-US" sz="1400" dirty="0"/>
              <a:t>：知識測驗任務的同情心評分最高 </a:t>
            </a:r>
            <a:r>
              <a:rPr lang="en-US" altLang="zh-TW" sz="1400" dirty="0"/>
              <a:t>(M = 56.70)</a:t>
            </a:r>
            <a:r>
              <a:rPr lang="zh-TW" altLang="en-US" sz="1400" dirty="0"/>
              <a:t>，顯著高於閒聊 </a:t>
            </a:r>
            <a:r>
              <a:rPr lang="en-US" altLang="zh-TW" sz="1400" dirty="0"/>
              <a:t>(M = 45.91) </a:t>
            </a:r>
            <a:r>
              <a:rPr lang="zh-TW" altLang="en-US" sz="1400" dirty="0"/>
              <a:t>與說服 </a:t>
            </a:r>
            <a:r>
              <a:rPr lang="en-US" altLang="zh-TW" sz="1400" dirty="0"/>
              <a:t>(M = 46.47) </a:t>
            </a:r>
            <a:r>
              <a:rPr lang="zh-TW" altLang="en-US" sz="1400" dirty="0"/>
              <a:t>任務 </a:t>
            </a:r>
            <a:r>
              <a:rPr lang="en-US" altLang="zh-TW" sz="1400" dirty="0"/>
              <a:t>(F(2,88)=9.82, p&lt;.001, η²=.18)</a:t>
            </a:r>
            <a:r>
              <a:rPr lang="zh-TW" altLang="en-US" sz="1400" dirty="0"/>
              <a:t>。</a:t>
            </a:r>
          </a:p>
          <a:p>
            <a:pPr>
              <a:buFont typeface="Arial" panose="020B0604020202020204" pitchFamily="34" charset="0"/>
              <a:buChar char="•"/>
            </a:pPr>
            <a:r>
              <a:rPr lang="zh-TW" altLang="en-US" sz="1400" b="1" dirty="0"/>
              <a:t>交互作用</a:t>
            </a:r>
            <a:r>
              <a:rPr lang="zh-TW" altLang="en-US" sz="1400" dirty="0"/>
              <a:t>：個性與任務交互作用不顯著 </a:t>
            </a:r>
            <a:r>
              <a:rPr lang="en-US" altLang="zh-TW" sz="1400" dirty="0"/>
              <a:t>(p=.056)</a:t>
            </a:r>
            <a:r>
              <a:rPr lang="zh-TW" altLang="en-US" sz="1400" dirty="0"/>
              <a:t>。</a:t>
            </a:r>
            <a:endParaRPr lang="en-US" altLang="zh-TW" sz="1400" dirty="0"/>
          </a:p>
          <a:p>
            <a:pPr>
              <a:buFont typeface="Arial" panose="020B0604020202020204" pitchFamily="34" charset="0"/>
              <a:buChar char="•"/>
            </a:pPr>
            <a:endParaRPr lang="en-US" altLang="zh-TW" sz="1400" dirty="0"/>
          </a:p>
          <a:p>
            <a:r>
              <a:rPr lang="en-US" altLang="zh-TW" sz="1400" b="1" dirty="0"/>
              <a:t>2. </a:t>
            </a:r>
            <a:r>
              <a:rPr lang="zh-TW" altLang="en-US" sz="1400" b="1" dirty="0"/>
              <a:t>感知親近感 </a:t>
            </a:r>
            <a:r>
              <a:rPr lang="en-US" altLang="zh-TW" sz="1400" b="1" dirty="0"/>
              <a:t>(Perceived Closeness)</a:t>
            </a:r>
            <a:endParaRPr lang="zh-TW" altLang="en-US" sz="1400" dirty="0"/>
          </a:p>
          <a:p>
            <a:pPr>
              <a:buFont typeface="Arial" panose="020B0604020202020204" pitchFamily="34" charset="0"/>
              <a:buChar char="•"/>
            </a:pPr>
            <a:r>
              <a:rPr lang="zh-TW" altLang="en-US" sz="1400" dirty="0"/>
              <a:t>主要受到任務影響 </a:t>
            </a:r>
            <a:r>
              <a:rPr lang="en-US" altLang="zh-TW" sz="1400" dirty="0"/>
              <a:t>(F(2,88)=3.69, p=.029, η²=.08)</a:t>
            </a:r>
            <a:r>
              <a:rPr lang="zh-TW" altLang="en-US" sz="1400" dirty="0"/>
              <a:t>，個性與交互作用無顯著影響 </a:t>
            </a:r>
            <a:r>
              <a:rPr lang="en-US" altLang="zh-TW" sz="1400" dirty="0"/>
              <a:t>(p&gt;.05)</a:t>
            </a:r>
            <a:r>
              <a:rPr lang="zh-TW" altLang="en-US" sz="1400" dirty="0"/>
              <a:t>。</a:t>
            </a:r>
          </a:p>
          <a:p>
            <a:pPr>
              <a:buFont typeface="Arial" panose="020B0604020202020204" pitchFamily="34" charset="0"/>
              <a:buChar char="•"/>
            </a:pPr>
            <a:r>
              <a:rPr lang="zh-TW" altLang="en-US" sz="1400" dirty="0"/>
              <a:t>多重比較校正後，不同任務之間差異不顯著。整體而言，親近感未受 </a:t>
            </a:r>
            <a:r>
              <a:rPr lang="en-US" altLang="zh-TW" sz="1400" dirty="0"/>
              <a:t>LLM </a:t>
            </a:r>
            <a:r>
              <a:rPr lang="zh-TW" altLang="en-US" sz="1400" dirty="0"/>
              <a:t>個性或任務顯著影響。</a:t>
            </a:r>
          </a:p>
          <a:p>
            <a:pPr marL="0" lvl="0" indent="0" algn="l" rtl="0">
              <a:spcBef>
                <a:spcPts val="560"/>
              </a:spcBef>
              <a:spcAft>
                <a:spcPts val="0"/>
              </a:spcAft>
              <a:buNone/>
            </a:pPr>
            <a:endParaRPr lang="zh-TW" altLang="en-US" sz="1200" b="1" dirty="0">
              <a:solidFill>
                <a:srgbClr val="131314"/>
              </a:solidFill>
              <a:highlight>
                <a:srgbClr val="FFFFFF"/>
              </a:highlight>
              <a:latin typeface="Adobe 黑体 Std R" panose="020B0400000000000000" pitchFamily="34" charset="-122"/>
              <a:ea typeface="Adobe 黑体 Std R" panose="020B0400000000000000" pitchFamily="34" charset="-122"/>
            </a:endParaRPr>
          </a:p>
        </p:txBody>
      </p:sp>
      <p:pic>
        <p:nvPicPr>
          <p:cNvPr id="4" name="圖片 3">
            <a:extLst>
              <a:ext uri="{FF2B5EF4-FFF2-40B4-BE49-F238E27FC236}">
                <a16:creationId xmlns:a16="http://schemas.microsoft.com/office/drawing/2014/main" id="{601F6D1A-3DCE-40E2-82B1-676B495F60EC}"/>
              </a:ext>
            </a:extLst>
          </p:cNvPr>
          <p:cNvPicPr>
            <a:picLocks noChangeAspect="1"/>
          </p:cNvPicPr>
          <p:nvPr/>
        </p:nvPicPr>
        <p:blipFill>
          <a:blip r:embed="rId3"/>
          <a:stretch>
            <a:fillRect/>
          </a:stretch>
        </p:blipFill>
        <p:spPr>
          <a:xfrm>
            <a:off x="5463221" y="1462721"/>
            <a:ext cx="3680779" cy="36807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結果</a:t>
            </a:r>
            <a:endParaRPr sz="2650"/>
          </a:p>
        </p:txBody>
      </p:sp>
      <p:sp>
        <p:nvSpPr>
          <p:cNvPr id="202" name="Google Shape;202;p32"/>
          <p:cNvSpPr txBox="1">
            <a:spLocks noGrp="1"/>
          </p:cNvSpPr>
          <p:nvPr>
            <p:ph type="subTitle" idx="1"/>
          </p:nvPr>
        </p:nvSpPr>
        <p:spPr>
          <a:xfrm>
            <a:off x="374401" y="614700"/>
            <a:ext cx="5032800" cy="4528800"/>
          </a:xfrm>
          <a:prstGeom prst="rect">
            <a:avLst/>
          </a:prstGeom>
        </p:spPr>
        <p:txBody>
          <a:bodyPr spcFirstLastPara="1" wrap="square" lIns="91425" tIns="45700" rIns="91425" bIns="45700" anchor="t" anchorCtr="0">
            <a:noAutofit/>
          </a:bodyPr>
          <a:lstStyle/>
          <a:p>
            <a:r>
              <a:rPr lang="en-US" altLang="zh-TW" sz="1400" b="1" dirty="0"/>
              <a:t>1. </a:t>
            </a:r>
            <a:r>
              <a:rPr lang="zh-TW" altLang="en-US" sz="1400" b="1" dirty="0"/>
              <a:t>愉悅度 </a:t>
            </a:r>
            <a:r>
              <a:rPr lang="en-US" altLang="zh-TW" sz="1400" b="1" dirty="0"/>
              <a:t>(Valence)</a:t>
            </a:r>
            <a:endParaRPr lang="zh-TW" altLang="en-US" sz="1400" dirty="0"/>
          </a:p>
          <a:p>
            <a:pPr>
              <a:buFont typeface="Arial" panose="020B0604020202020204" pitchFamily="34" charset="0"/>
              <a:buChar char="•"/>
            </a:pPr>
            <a:r>
              <a:rPr lang="zh-TW" altLang="en-US" sz="1400" b="1" dirty="0"/>
              <a:t>個性影響</a:t>
            </a:r>
            <a:r>
              <a:rPr lang="zh-TW" altLang="en-US" sz="1400" dirty="0"/>
              <a:t>：外向型代理人帶來更愉悅的體驗 </a:t>
            </a:r>
            <a:r>
              <a:rPr lang="en-US" altLang="zh-TW" sz="1400" dirty="0"/>
              <a:t>(M = 56.97, SD = 13.64)</a:t>
            </a:r>
            <a:r>
              <a:rPr lang="zh-TW" altLang="en-US" sz="1400" dirty="0"/>
              <a:t>，內向型較低 </a:t>
            </a:r>
            <a:r>
              <a:rPr lang="en-US" altLang="zh-TW" sz="1400" dirty="0"/>
              <a:t>(M = 45.01, SD = 18.88)</a:t>
            </a:r>
            <a:r>
              <a:rPr lang="zh-TW" altLang="en-US" sz="1400" dirty="0"/>
              <a:t>，個性主效應顯著 </a:t>
            </a:r>
            <a:r>
              <a:rPr lang="en-US" altLang="zh-TW" sz="1400" dirty="0"/>
              <a:t>(F(1,44)=6.08, p=.018, η²=.12)</a:t>
            </a:r>
            <a:r>
              <a:rPr lang="zh-TW" altLang="en-US" sz="1400" dirty="0"/>
              <a:t>。</a:t>
            </a:r>
          </a:p>
          <a:p>
            <a:pPr>
              <a:buFont typeface="Arial" panose="020B0604020202020204" pitchFamily="34" charset="0"/>
              <a:buChar char="•"/>
            </a:pPr>
            <a:r>
              <a:rPr lang="zh-TW" altLang="en-US" sz="1400" b="1" dirty="0"/>
              <a:t>任務影響</a:t>
            </a:r>
            <a:r>
              <a:rPr lang="zh-TW" altLang="en-US" sz="1400" dirty="0"/>
              <a:t>：不顯著。</a:t>
            </a:r>
          </a:p>
          <a:p>
            <a:r>
              <a:rPr lang="en-US" altLang="zh-TW" sz="1400" b="1" dirty="0"/>
              <a:t>2. </a:t>
            </a:r>
            <a:r>
              <a:rPr lang="zh-TW" altLang="en-US" sz="1400" b="1" dirty="0"/>
              <a:t>激發度 </a:t>
            </a:r>
            <a:r>
              <a:rPr lang="en-US" altLang="zh-TW" sz="1400" b="1" dirty="0"/>
              <a:t>(Arousal)</a:t>
            </a:r>
            <a:endParaRPr lang="zh-TW" altLang="en-US" sz="1400" dirty="0"/>
          </a:p>
          <a:p>
            <a:pPr>
              <a:buFont typeface="Arial" panose="020B0604020202020204" pitchFamily="34" charset="0"/>
              <a:buChar char="•"/>
            </a:pPr>
            <a:r>
              <a:rPr lang="zh-TW" altLang="en-US" sz="1400" b="1" dirty="0"/>
              <a:t>任務影響</a:t>
            </a:r>
            <a:r>
              <a:rPr lang="zh-TW" altLang="en-US" sz="1400" dirty="0"/>
              <a:t>：知識測驗 </a:t>
            </a:r>
            <a:r>
              <a:rPr lang="en-US" altLang="zh-TW" sz="1400" dirty="0"/>
              <a:t>(M = 44.96) </a:t>
            </a:r>
            <a:r>
              <a:rPr lang="zh-TW" altLang="en-US" sz="1400" dirty="0"/>
              <a:t>和說服任務 </a:t>
            </a:r>
            <a:r>
              <a:rPr lang="en-US" altLang="zh-TW" sz="1400" dirty="0"/>
              <a:t>(M = 44.71) </a:t>
            </a:r>
            <a:r>
              <a:rPr lang="zh-TW" altLang="en-US" sz="1400" dirty="0"/>
              <a:t>激發度高於閒聊 </a:t>
            </a:r>
            <a:r>
              <a:rPr lang="en-US" altLang="zh-TW" sz="1400" dirty="0"/>
              <a:t>(M = 35.24)</a:t>
            </a:r>
            <a:r>
              <a:rPr lang="zh-TW" altLang="en-US" sz="1400" dirty="0"/>
              <a:t>，主效應顯著 </a:t>
            </a:r>
            <a:r>
              <a:rPr lang="en-US" altLang="zh-TW" sz="1400" dirty="0"/>
              <a:t>(F(2,88)=5.49, p=.006, η²=.11)</a:t>
            </a:r>
            <a:r>
              <a:rPr lang="zh-TW" altLang="en-US" sz="1400" dirty="0"/>
              <a:t>。</a:t>
            </a:r>
            <a:endParaRPr lang="en-US" altLang="zh-TW" sz="1400" dirty="0"/>
          </a:p>
          <a:p>
            <a:pPr>
              <a:buFont typeface="Arial" panose="020B0604020202020204" pitchFamily="34" charset="0"/>
              <a:buChar char="•"/>
            </a:pPr>
            <a:r>
              <a:rPr lang="zh-TW" altLang="en-US" sz="1250" b="1" dirty="0"/>
              <a:t>個性影響</a:t>
            </a:r>
            <a:r>
              <a:rPr lang="zh-TW" altLang="en-US" sz="1250" dirty="0"/>
              <a:t>：不顯著。</a:t>
            </a:r>
          </a:p>
          <a:p>
            <a:pPr>
              <a:buFont typeface="Arial" panose="020B0604020202020204" pitchFamily="34" charset="0"/>
              <a:buChar char="•"/>
            </a:pPr>
            <a:r>
              <a:rPr lang="zh-TW" altLang="en-US" sz="1400" dirty="0"/>
              <a:t>顯著差異：知識測驗 </a:t>
            </a:r>
            <a:r>
              <a:rPr lang="en-US" altLang="zh-TW" sz="1400" dirty="0"/>
              <a:t>vs. </a:t>
            </a:r>
            <a:r>
              <a:rPr lang="zh-TW" altLang="en-US" sz="1400" dirty="0"/>
              <a:t>閒聊 </a:t>
            </a:r>
            <a:r>
              <a:rPr lang="en-US" altLang="zh-TW" sz="1400" dirty="0"/>
              <a:t>(p=.022)</a:t>
            </a:r>
            <a:r>
              <a:rPr lang="zh-TW" altLang="en-US" sz="1400" dirty="0"/>
              <a:t>、說服 </a:t>
            </a:r>
            <a:r>
              <a:rPr lang="en-US" altLang="zh-TW" sz="1400" dirty="0"/>
              <a:t>vs. </a:t>
            </a:r>
            <a:r>
              <a:rPr lang="zh-TW" altLang="en-US" sz="1400" dirty="0"/>
              <a:t>閒聊 </a:t>
            </a:r>
            <a:r>
              <a:rPr lang="en-US" altLang="zh-TW" sz="1400" dirty="0"/>
              <a:t>(p=.022)</a:t>
            </a:r>
            <a:r>
              <a:rPr lang="zh-TW" altLang="en-US" sz="1400" dirty="0"/>
              <a:t>。</a:t>
            </a:r>
          </a:p>
          <a:p>
            <a:r>
              <a:rPr lang="zh-TW" altLang="en-US" sz="1400" b="1" dirty="0"/>
              <a:t>總結</a:t>
            </a:r>
            <a:endParaRPr lang="zh-TW" altLang="en-US" sz="1400" dirty="0"/>
          </a:p>
          <a:p>
            <a:pPr>
              <a:buFont typeface="Arial" panose="020B0604020202020204" pitchFamily="34" charset="0"/>
              <a:buChar char="•"/>
            </a:pPr>
            <a:r>
              <a:rPr lang="zh-TW" altLang="en-US" sz="1400" b="1" dirty="0"/>
              <a:t>愉悅度</a:t>
            </a:r>
            <a:r>
              <a:rPr lang="zh-TW" altLang="en-US" sz="1400" dirty="0"/>
              <a:t>由 </a:t>
            </a:r>
            <a:r>
              <a:rPr lang="en-US" altLang="zh-TW" sz="1400" dirty="0"/>
              <a:t>LLM </a:t>
            </a:r>
            <a:r>
              <a:rPr lang="zh-TW" altLang="en-US" sz="1400" dirty="0"/>
              <a:t>個性驅動，外向型更愉快。</a:t>
            </a:r>
          </a:p>
          <a:p>
            <a:pPr>
              <a:buFont typeface="Arial" panose="020B0604020202020204" pitchFamily="34" charset="0"/>
              <a:buChar char="•"/>
            </a:pPr>
            <a:r>
              <a:rPr lang="zh-TW" altLang="en-US" sz="1400" b="1" dirty="0"/>
              <a:t>激發度</a:t>
            </a:r>
            <a:r>
              <a:rPr lang="zh-TW" altLang="en-US" sz="1400" dirty="0"/>
              <a:t>由任務驅動，知識測驗與說服任務比閒聊更具激發性。</a:t>
            </a:r>
          </a:p>
          <a:p>
            <a:pPr marL="0" lvl="0" indent="0" algn="l" rtl="0">
              <a:spcBef>
                <a:spcPts val="560"/>
              </a:spcBef>
              <a:spcAft>
                <a:spcPts val="0"/>
              </a:spcAft>
              <a:buNone/>
            </a:pPr>
            <a:endParaRPr lang="zh-TW" altLang="en-US" sz="1200" b="1" dirty="0">
              <a:solidFill>
                <a:srgbClr val="131314"/>
              </a:solidFill>
              <a:highlight>
                <a:srgbClr val="FFFFFF"/>
              </a:highlight>
            </a:endParaRPr>
          </a:p>
        </p:txBody>
      </p:sp>
      <p:pic>
        <p:nvPicPr>
          <p:cNvPr id="3" name="圖片 2">
            <a:extLst>
              <a:ext uri="{FF2B5EF4-FFF2-40B4-BE49-F238E27FC236}">
                <a16:creationId xmlns:a16="http://schemas.microsoft.com/office/drawing/2014/main" id="{52694533-56C1-4A93-9C1E-D7BC7DAAF46F}"/>
              </a:ext>
            </a:extLst>
          </p:cNvPr>
          <p:cNvPicPr>
            <a:picLocks noChangeAspect="1"/>
          </p:cNvPicPr>
          <p:nvPr/>
        </p:nvPicPr>
        <p:blipFill>
          <a:blip r:embed="rId3"/>
          <a:stretch>
            <a:fillRect/>
          </a:stretch>
        </p:blipFill>
        <p:spPr>
          <a:xfrm>
            <a:off x="5407201" y="1494530"/>
            <a:ext cx="3736800" cy="3648970"/>
          </a:xfrm>
          <a:prstGeom prst="rect">
            <a:avLst/>
          </a:prstGeom>
        </p:spPr>
      </p:pic>
    </p:spTree>
    <p:extLst>
      <p:ext uri="{BB962C8B-B14F-4D97-AF65-F5344CB8AC3E}">
        <p14:creationId xmlns:p14="http://schemas.microsoft.com/office/powerpoint/2010/main" val="3330313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結果</a:t>
            </a:r>
            <a:endParaRPr sz="2650"/>
          </a:p>
        </p:txBody>
      </p:sp>
      <p:sp>
        <p:nvSpPr>
          <p:cNvPr id="202" name="Google Shape;202;p32"/>
          <p:cNvSpPr txBox="1">
            <a:spLocks noGrp="1"/>
          </p:cNvSpPr>
          <p:nvPr>
            <p:ph type="subTitle" idx="1"/>
          </p:nvPr>
        </p:nvSpPr>
        <p:spPr>
          <a:xfrm>
            <a:off x="374400" y="681300"/>
            <a:ext cx="5032800" cy="4462200"/>
          </a:xfrm>
          <a:prstGeom prst="rect">
            <a:avLst/>
          </a:prstGeom>
        </p:spPr>
        <p:txBody>
          <a:bodyPr spcFirstLastPara="1" wrap="square" lIns="91425" tIns="45700" rIns="91425" bIns="45700" anchor="t" anchorCtr="0">
            <a:noAutofit/>
          </a:bodyPr>
          <a:lstStyle/>
          <a:p>
            <a:r>
              <a:rPr lang="en-US" altLang="zh-TW" sz="1400" b="1" dirty="0"/>
              <a:t>1. </a:t>
            </a:r>
            <a:r>
              <a:rPr lang="zh-TW" altLang="en-US" sz="1400" b="1" dirty="0"/>
              <a:t>逼真度 </a:t>
            </a:r>
            <a:r>
              <a:rPr lang="en-US" altLang="zh-TW" sz="1400" b="1" dirty="0"/>
              <a:t>(Realism)</a:t>
            </a:r>
            <a:endParaRPr lang="zh-TW" altLang="en-US" sz="1400" dirty="0"/>
          </a:p>
          <a:p>
            <a:pPr>
              <a:buFont typeface="Arial" panose="020B0604020202020204" pitchFamily="34" charset="0"/>
              <a:buChar char="•"/>
            </a:pPr>
            <a:r>
              <a:rPr lang="zh-TW" altLang="en-US" sz="1400" b="1" dirty="0"/>
              <a:t>交互作用</a:t>
            </a:r>
            <a:r>
              <a:rPr lang="zh-TW" altLang="en-US" sz="1400" dirty="0"/>
              <a:t>：</a:t>
            </a:r>
            <a:r>
              <a:rPr lang="en-US" altLang="zh-TW" sz="1400" dirty="0"/>
              <a:t>LLM </a:t>
            </a:r>
            <a:r>
              <a:rPr lang="zh-TW" altLang="en-US" sz="1400" dirty="0"/>
              <a:t>個性與任務有顯著交互作用 </a:t>
            </a:r>
            <a:r>
              <a:rPr lang="en-US" altLang="zh-TW" sz="1400" dirty="0"/>
              <a:t>(F(2,88)=5.07, p=.008, η²=.10)</a:t>
            </a:r>
            <a:r>
              <a:rPr lang="zh-TW" altLang="en-US" sz="1400" dirty="0"/>
              <a:t>。</a:t>
            </a:r>
          </a:p>
          <a:p>
            <a:pPr>
              <a:buFont typeface="Arial" panose="020B0604020202020204" pitchFamily="34" charset="0"/>
              <a:buChar char="•"/>
            </a:pPr>
            <a:r>
              <a:rPr lang="zh-TW" altLang="en-US" sz="1400" b="1" dirty="0"/>
              <a:t>說服任務</a:t>
            </a:r>
            <a:r>
              <a:rPr lang="zh-TW" altLang="en-US" sz="1400" dirty="0"/>
              <a:t>：外向型 </a:t>
            </a:r>
            <a:r>
              <a:rPr lang="en-US" altLang="zh-TW" sz="1400" dirty="0"/>
              <a:t>(M=38.26) &gt; </a:t>
            </a:r>
            <a:r>
              <a:rPr lang="zh-TW" altLang="en-US" sz="1400" dirty="0"/>
              <a:t>內向型 </a:t>
            </a:r>
            <a:r>
              <a:rPr lang="en-US" altLang="zh-TW" sz="1400" dirty="0"/>
              <a:t>(M=20.52)</a:t>
            </a:r>
            <a:r>
              <a:rPr lang="zh-TW" altLang="en-US" sz="1400" dirty="0"/>
              <a:t>，差異顯著 </a:t>
            </a:r>
            <a:r>
              <a:rPr lang="en-US" altLang="zh-TW" sz="1400" dirty="0"/>
              <a:t>(p=.002)</a:t>
            </a:r>
            <a:r>
              <a:rPr lang="zh-TW" altLang="en-US" sz="1400" dirty="0"/>
              <a:t>。</a:t>
            </a:r>
          </a:p>
          <a:p>
            <a:pPr>
              <a:buFont typeface="Arial" panose="020B0604020202020204" pitchFamily="34" charset="0"/>
              <a:buChar char="•"/>
            </a:pPr>
            <a:r>
              <a:rPr lang="zh-TW" altLang="en-US" sz="1400" b="1" dirty="0"/>
              <a:t>閒聊與知識測驗</a:t>
            </a:r>
            <a:r>
              <a:rPr lang="zh-TW" altLang="en-US" sz="1400" dirty="0"/>
              <a:t>：個性無顯著影響。</a:t>
            </a:r>
          </a:p>
          <a:p>
            <a:pPr>
              <a:buFont typeface="Arial" panose="020B0604020202020204" pitchFamily="34" charset="0"/>
              <a:buChar char="•"/>
            </a:pPr>
            <a:r>
              <a:rPr lang="zh-TW" altLang="en-US" sz="1400" b="1" dirty="0"/>
              <a:t>任務主效應</a:t>
            </a:r>
            <a:r>
              <a:rPr lang="zh-TW" altLang="en-US" sz="1400" dirty="0"/>
              <a:t>：知識測驗比閒聊更具逼真度 </a:t>
            </a:r>
            <a:r>
              <a:rPr lang="en-US" altLang="zh-TW" sz="1400" dirty="0"/>
              <a:t>(p=.004)</a:t>
            </a:r>
            <a:r>
              <a:rPr lang="zh-TW" altLang="en-US" sz="1400" dirty="0"/>
              <a:t>。</a:t>
            </a:r>
          </a:p>
          <a:p>
            <a:pPr>
              <a:buFont typeface="Arial" panose="020B0604020202020204" pitchFamily="34" charset="0"/>
              <a:buChar char="•"/>
            </a:pPr>
            <a:r>
              <a:rPr lang="zh-TW" altLang="en-US" sz="1400" b="1" dirty="0"/>
              <a:t>總結</a:t>
            </a:r>
            <a:r>
              <a:rPr lang="zh-TW" altLang="en-US" sz="1400" dirty="0"/>
              <a:t>：個性僅在說服任務影響逼真度；知識測驗互動整體較逼真。</a:t>
            </a:r>
          </a:p>
          <a:p>
            <a:r>
              <a:rPr lang="en-US" altLang="zh-TW" sz="1400" b="1" dirty="0"/>
              <a:t>2. </a:t>
            </a:r>
            <a:r>
              <a:rPr lang="zh-TW" altLang="en-US" sz="1400" b="1" dirty="0"/>
              <a:t>社交臨場感 </a:t>
            </a:r>
            <a:r>
              <a:rPr lang="en-US" altLang="zh-TW" sz="1400" b="1" dirty="0"/>
              <a:t>(Social Presence)</a:t>
            </a:r>
            <a:endParaRPr lang="zh-TW" altLang="en-US" sz="1400" dirty="0"/>
          </a:p>
          <a:p>
            <a:pPr>
              <a:buFont typeface="Arial" panose="020B0604020202020204" pitchFamily="34" charset="0"/>
              <a:buChar char="•"/>
            </a:pPr>
            <a:r>
              <a:rPr lang="zh-TW" altLang="en-US" sz="1400" b="1" dirty="0"/>
              <a:t>任務主效應</a:t>
            </a:r>
            <a:r>
              <a:rPr lang="zh-TW" altLang="en-US" sz="1400" dirty="0"/>
              <a:t>：顯著 </a:t>
            </a:r>
            <a:r>
              <a:rPr lang="en-US" altLang="zh-TW" sz="1400" dirty="0"/>
              <a:t>(F(2,88)=6.53, p=.002, η²=.13)</a:t>
            </a:r>
            <a:r>
              <a:rPr lang="zh-TW" altLang="en-US" sz="1400" dirty="0"/>
              <a:t>，個性與交互作用不顯著。</a:t>
            </a:r>
          </a:p>
          <a:p>
            <a:pPr>
              <a:buFont typeface="Arial" panose="020B0604020202020204" pitchFamily="34" charset="0"/>
              <a:buChar char="•"/>
            </a:pPr>
            <a:r>
              <a:rPr lang="zh-TW" altLang="en-US" sz="1400" b="1" dirty="0"/>
              <a:t>任務差異</a:t>
            </a:r>
            <a:r>
              <a:rPr lang="zh-TW" altLang="en-US" sz="1400" dirty="0"/>
              <a:t>：閒聊 </a:t>
            </a:r>
            <a:r>
              <a:rPr lang="en-US" altLang="zh-TW" sz="1400" dirty="0"/>
              <a:t>&gt; </a:t>
            </a:r>
            <a:r>
              <a:rPr lang="zh-TW" altLang="en-US" sz="1400" dirty="0"/>
              <a:t>知識測驗 </a:t>
            </a:r>
            <a:r>
              <a:rPr lang="en-US" altLang="zh-TW" sz="1400" dirty="0"/>
              <a:t>(p=.002)</a:t>
            </a:r>
            <a:r>
              <a:rPr lang="zh-TW" altLang="en-US" sz="1400" dirty="0"/>
              <a:t>；其他任務間差異不顯著。</a:t>
            </a:r>
          </a:p>
          <a:p>
            <a:pPr>
              <a:buFont typeface="Arial" panose="020B0604020202020204" pitchFamily="34" charset="0"/>
              <a:buChar char="•"/>
            </a:pPr>
            <a:r>
              <a:rPr lang="zh-TW" altLang="en-US" sz="1400" b="1" dirty="0"/>
              <a:t>總結</a:t>
            </a:r>
            <a:r>
              <a:rPr lang="zh-TW" altLang="en-US" sz="1400" dirty="0"/>
              <a:t>：社交臨場感主要由任務決定，閒聊最強。</a:t>
            </a:r>
          </a:p>
          <a:p>
            <a:pPr marL="0" lvl="0" indent="0" algn="l" rtl="0">
              <a:spcBef>
                <a:spcPts val="560"/>
              </a:spcBef>
              <a:spcAft>
                <a:spcPts val="0"/>
              </a:spcAft>
              <a:buNone/>
            </a:pPr>
            <a:endParaRPr lang="zh-TW" altLang="en-US" sz="1200" b="1" dirty="0">
              <a:solidFill>
                <a:srgbClr val="131314"/>
              </a:solidFill>
              <a:highlight>
                <a:srgbClr val="FFFFFF"/>
              </a:highlight>
            </a:endParaRPr>
          </a:p>
        </p:txBody>
      </p:sp>
      <p:pic>
        <p:nvPicPr>
          <p:cNvPr id="4" name="圖片 3">
            <a:extLst>
              <a:ext uri="{FF2B5EF4-FFF2-40B4-BE49-F238E27FC236}">
                <a16:creationId xmlns:a16="http://schemas.microsoft.com/office/drawing/2014/main" id="{AF5009AD-1576-4FE9-B35A-4376B62282C4}"/>
              </a:ext>
            </a:extLst>
          </p:cNvPr>
          <p:cNvPicPr>
            <a:picLocks noChangeAspect="1"/>
          </p:cNvPicPr>
          <p:nvPr/>
        </p:nvPicPr>
        <p:blipFill>
          <a:blip r:embed="rId3"/>
          <a:stretch>
            <a:fillRect/>
          </a:stretch>
        </p:blipFill>
        <p:spPr>
          <a:xfrm>
            <a:off x="5407200" y="1442334"/>
            <a:ext cx="3781104" cy="3701166"/>
          </a:xfrm>
          <a:prstGeom prst="rect">
            <a:avLst/>
          </a:prstGeom>
        </p:spPr>
      </p:pic>
    </p:spTree>
    <p:extLst>
      <p:ext uri="{BB962C8B-B14F-4D97-AF65-F5344CB8AC3E}">
        <p14:creationId xmlns:p14="http://schemas.microsoft.com/office/powerpoint/2010/main" val="1385021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結果</a:t>
            </a:r>
            <a:endParaRPr sz="2650"/>
          </a:p>
        </p:txBody>
      </p:sp>
      <p:sp>
        <p:nvSpPr>
          <p:cNvPr id="202" name="Google Shape;202;p32"/>
          <p:cNvSpPr txBox="1">
            <a:spLocks noGrp="1"/>
          </p:cNvSpPr>
          <p:nvPr>
            <p:ph type="subTitle" idx="1"/>
          </p:nvPr>
        </p:nvSpPr>
        <p:spPr>
          <a:xfrm>
            <a:off x="374399" y="681300"/>
            <a:ext cx="5203131" cy="4462200"/>
          </a:xfrm>
          <a:prstGeom prst="rect">
            <a:avLst/>
          </a:prstGeom>
        </p:spPr>
        <p:txBody>
          <a:bodyPr spcFirstLastPara="1" wrap="square" lIns="91425" tIns="45700" rIns="91425" bIns="45700" anchor="t" anchorCtr="0">
            <a:noAutofit/>
          </a:bodyPr>
          <a:lstStyle/>
          <a:p>
            <a:r>
              <a:rPr lang="en-US" altLang="zh-TW" sz="1200" b="1" dirty="0"/>
              <a:t>1. </a:t>
            </a:r>
            <a:r>
              <a:rPr lang="zh-TW" altLang="en-US" sz="1200" b="1" dirty="0"/>
              <a:t>完成的預定義主題</a:t>
            </a:r>
            <a:r>
              <a:rPr lang="en-US" altLang="zh-TW" sz="1200" b="1" dirty="0"/>
              <a:t>/</a:t>
            </a:r>
            <a:r>
              <a:rPr lang="zh-TW" altLang="en-US" sz="1200" b="1" dirty="0"/>
              <a:t>問題數量</a:t>
            </a:r>
            <a:endParaRPr lang="zh-TW" altLang="en-US" sz="1200" dirty="0"/>
          </a:p>
          <a:p>
            <a:pPr>
              <a:buFont typeface="Arial" panose="020B0604020202020204" pitchFamily="34" charset="0"/>
              <a:buChar char="•"/>
            </a:pPr>
            <a:r>
              <a:rPr lang="zh-TW" altLang="en-US" sz="1200" b="1" dirty="0"/>
              <a:t>個性影響</a:t>
            </a:r>
            <a:r>
              <a:rPr lang="zh-TW" altLang="en-US" sz="1200" dirty="0"/>
              <a:t>：與內向型代理人互動時，參與者處理的主題數較多 </a:t>
            </a:r>
            <a:r>
              <a:rPr lang="en-US" altLang="zh-TW" sz="1200" dirty="0"/>
              <a:t>(M=14.11)</a:t>
            </a:r>
            <a:r>
              <a:rPr lang="zh-TW" altLang="en-US" sz="1200" dirty="0"/>
              <a:t>，因內向型回覆較短。</a:t>
            </a:r>
          </a:p>
          <a:p>
            <a:pPr>
              <a:buFont typeface="Arial" panose="020B0604020202020204" pitchFamily="34" charset="0"/>
              <a:buChar char="•"/>
            </a:pPr>
            <a:r>
              <a:rPr lang="zh-TW" altLang="en-US" sz="1200" b="1" dirty="0"/>
              <a:t>任務影響</a:t>
            </a:r>
            <a:r>
              <a:rPr lang="zh-TW" altLang="en-US" sz="1200" dirty="0"/>
              <a:t>：知識測驗 </a:t>
            </a:r>
            <a:r>
              <a:rPr lang="en-US" altLang="zh-TW" sz="1200" dirty="0"/>
              <a:t>&gt; </a:t>
            </a:r>
            <a:r>
              <a:rPr lang="zh-TW" altLang="en-US" sz="1200" dirty="0"/>
              <a:t>閒聊 </a:t>
            </a:r>
            <a:r>
              <a:rPr lang="en-US" altLang="zh-TW" sz="1200" dirty="0"/>
              <a:t>&gt; </a:t>
            </a:r>
            <a:r>
              <a:rPr lang="zh-TW" altLang="en-US" sz="1200" dirty="0"/>
              <a:t>說服，差異顯著 </a:t>
            </a:r>
            <a:r>
              <a:rPr lang="en-US" altLang="zh-TW" sz="1200" dirty="0"/>
              <a:t>(M=19.11, 11.24, 5.76)</a:t>
            </a:r>
            <a:r>
              <a:rPr lang="zh-TW" altLang="en-US" sz="1200" dirty="0"/>
              <a:t>。</a:t>
            </a:r>
          </a:p>
          <a:p>
            <a:r>
              <a:rPr lang="en-US" altLang="zh-TW" sz="1200" b="1" dirty="0"/>
              <a:t>2. </a:t>
            </a:r>
            <a:r>
              <a:rPr lang="zh-TW" altLang="en-US" sz="1200" b="1" dirty="0"/>
              <a:t>每個主題的平均詞彙數量</a:t>
            </a:r>
            <a:endParaRPr lang="zh-TW" altLang="en-US" sz="1200" dirty="0"/>
          </a:p>
          <a:p>
            <a:pPr>
              <a:buFont typeface="Arial" panose="020B0604020202020204" pitchFamily="34" charset="0"/>
              <a:buChar char="•"/>
            </a:pPr>
            <a:r>
              <a:rPr lang="zh-TW" altLang="en-US" sz="1200" b="1" dirty="0"/>
              <a:t>個性影響</a:t>
            </a:r>
            <a:r>
              <a:rPr lang="zh-TW" altLang="en-US" sz="1200" dirty="0"/>
              <a:t>：與外向型代理人互動時，詞彙數更多。</a:t>
            </a:r>
          </a:p>
          <a:p>
            <a:pPr>
              <a:buFont typeface="Arial" panose="020B0604020202020204" pitchFamily="34" charset="0"/>
              <a:buChar char="•"/>
            </a:pPr>
            <a:r>
              <a:rPr lang="zh-TW" altLang="en-US" sz="1200" b="1" dirty="0"/>
              <a:t>交互作用</a:t>
            </a:r>
            <a:r>
              <a:rPr lang="zh-TW" altLang="en-US" sz="1200" dirty="0"/>
              <a:t>：外向型促進的詞彙增長在說服任務最明顯。</a:t>
            </a:r>
          </a:p>
          <a:p>
            <a:pPr>
              <a:buFont typeface="Arial" panose="020B0604020202020204" pitchFamily="34" charset="0"/>
              <a:buChar char="•"/>
            </a:pPr>
            <a:r>
              <a:rPr lang="zh-TW" altLang="en-US" sz="1200" b="1" dirty="0"/>
              <a:t>任務影響</a:t>
            </a:r>
            <a:r>
              <a:rPr lang="zh-TW" altLang="en-US" sz="1200" dirty="0"/>
              <a:t>：說服任務中詞彙量最高。</a:t>
            </a:r>
          </a:p>
          <a:p>
            <a:r>
              <a:rPr lang="en-US" altLang="zh-TW" sz="1200" b="1" dirty="0"/>
              <a:t>3. </a:t>
            </a:r>
            <a:r>
              <a:rPr lang="zh-TW" altLang="en-US" sz="1200" b="1" dirty="0"/>
              <a:t>每個主題發起的輪次數量</a:t>
            </a:r>
            <a:endParaRPr lang="zh-TW" altLang="en-US" sz="1200" dirty="0"/>
          </a:p>
          <a:p>
            <a:pPr>
              <a:buFont typeface="Arial" panose="020B0604020202020204" pitchFamily="34" charset="0"/>
              <a:buChar char="•"/>
            </a:pPr>
            <a:r>
              <a:rPr lang="zh-TW" altLang="en-US" sz="1200" b="1" dirty="0"/>
              <a:t>個性影響</a:t>
            </a:r>
            <a:r>
              <a:rPr lang="zh-TW" altLang="en-US" sz="1200" dirty="0"/>
              <a:t>：外向型代理人引導更多輪次 </a:t>
            </a:r>
            <a:r>
              <a:rPr lang="en-US" altLang="zh-TW" sz="1200" dirty="0"/>
              <a:t>(M=2.78)</a:t>
            </a:r>
            <a:r>
              <a:rPr lang="zh-TW" altLang="en-US" sz="1200" dirty="0"/>
              <a:t>，互動參與度更高。</a:t>
            </a:r>
          </a:p>
          <a:p>
            <a:pPr>
              <a:buFont typeface="Arial" panose="020B0604020202020204" pitchFamily="34" charset="0"/>
              <a:buChar char="•"/>
            </a:pPr>
            <a:r>
              <a:rPr lang="zh-TW" altLang="en-US" sz="1200" b="1" dirty="0"/>
              <a:t>任務影響</a:t>
            </a:r>
            <a:r>
              <a:rPr lang="zh-TW" altLang="en-US" sz="1200" dirty="0"/>
              <a:t>：說服 </a:t>
            </a:r>
            <a:r>
              <a:rPr lang="en-US" altLang="zh-TW" sz="1200" dirty="0"/>
              <a:t>&gt; </a:t>
            </a:r>
            <a:r>
              <a:rPr lang="zh-TW" altLang="en-US" sz="1200" dirty="0"/>
              <a:t>閒聊 </a:t>
            </a:r>
            <a:r>
              <a:rPr lang="en-US" altLang="zh-TW" sz="1200" dirty="0"/>
              <a:t>&gt; </a:t>
            </a:r>
            <a:r>
              <a:rPr lang="zh-TW" altLang="en-US" sz="1200" dirty="0"/>
              <a:t>知識測驗 </a:t>
            </a:r>
            <a:r>
              <a:rPr lang="en-US" altLang="zh-TW" sz="1200" dirty="0"/>
              <a:t>(M=4.40, 2.46, 0.72)</a:t>
            </a:r>
            <a:r>
              <a:rPr lang="zh-TW" altLang="en-US" sz="1200" dirty="0"/>
              <a:t>。</a:t>
            </a:r>
          </a:p>
          <a:p>
            <a:pPr>
              <a:buFont typeface="Arial" panose="020B0604020202020204" pitchFamily="34" charset="0"/>
              <a:buChar char="•"/>
            </a:pPr>
            <a:r>
              <a:rPr lang="zh-TW" altLang="en-US" sz="1200" b="1" dirty="0"/>
              <a:t>交互作用</a:t>
            </a:r>
            <a:r>
              <a:rPr lang="zh-TW" altLang="en-US" sz="1200" dirty="0"/>
              <a:t>：不顯著。</a:t>
            </a:r>
          </a:p>
          <a:p>
            <a:r>
              <a:rPr lang="zh-TW" altLang="en-US" sz="1200" b="1" dirty="0"/>
              <a:t>總結</a:t>
            </a:r>
            <a:endParaRPr lang="zh-TW" altLang="en-US" sz="1200" dirty="0"/>
          </a:p>
          <a:p>
            <a:pPr>
              <a:buFont typeface="Arial" panose="020B0604020202020204" pitchFamily="34" charset="0"/>
              <a:buChar char="•"/>
            </a:pPr>
            <a:r>
              <a:rPr lang="zh-TW" altLang="en-US" sz="1200" dirty="0"/>
              <a:t>外向型代理人促使參與者說更多詞、發起更多輪次，提升互動參與度。</a:t>
            </a:r>
          </a:p>
          <a:p>
            <a:pPr>
              <a:buFont typeface="Arial" panose="020B0604020202020204" pitchFamily="34" charset="0"/>
              <a:buChar char="•"/>
            </a:pPr>
            <a:r>
              <a:rPr lang="zh-TW" altLang="en-US" sz="1200" dirty="0"/>
              <a:t>內向型代理人則導致更快切換主題。</a:t>
            </a:r>
          </a:p>
          <a:p>
            <a:pPr marL="0" lvl="0" indent="0" algn="l" rtl="0">
              <a:spcBef>
                <a:spcPts val="560"/>
              </a:spcBef>
              <a:spcAft>
                <a:spcPts val="0"/>
              </a:spcAft>
              <a:buNone/>
            </a:pPr>
            <a:endParaRPr lang="zh-TW" altLang="en-US" sz="1200" b="1" dirty="0">
              <a:solidFill>
                <a:srgbClr val="131314"/>
              </a:solidFill>
              <a:highlight>
                <a:srgbClr val="FFFFFF"/>
              </a:highlight>
            </a:endParaRPr>
          </a:p>
        </p:txBody>
      </p:sp>
      <p:pic>
        <p:nvPicPr>
          <p:cNvPr id="3" name="圖片 2">
            <a:extLst>
              <a:ext uri="{FF2B5EF4-FFF2-40B4-BE49-F238E27FC236}">
                <a16:creationId xmlns:a16="http://schemas.microsoft.com/office/drawing/2014/main" id="{CEE7B0B0-944C-46D1-B5F4-F302835AEF7B}"/>
              </a:ext>
            </a:extLst>
          </p:cNvPr>
          <p:cNvPicPr>
            <a:picLocks noChangeAspect="1"/>
          </p:cNvPicPr>
          <p:nvPr/>
        </p:nvPicPr>
        <p:blipFill>
          <a:blip r:embed="rId3"/>
          <a:stretch>
            <a:fillRect/>
          </a:stretch>
        </p:blipFill>
        <p:spPr>
          <a:xfrm>
            <a:off x="5577531" y="792103"/>
            <a:ext cx="3566469" cy="4351397"/>
          </a:xfrm>
          <a:prstGeom prst="rect">
            <a:avLst/>
          </a:prstGeom>
        </p:spPr>
      </p:pic>
    </p:spTree>
    <p:extLst>
      <p:ext uri="{BB962C8B-B14F-4D97-AF65-F5344CB8AC3E}">
        <p14:creationId xmlns:p14="http://schemas.microsoft.com/office/powerpoint/2010/main" val="1266783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結果</a:t>
            </a:r>
            <a:endParaRPr sz="2650"/>
          </a:p>
        </p:txBody>
      </p:sp>
      <p:sp>
        <p:nvSpPr>
          <p:cNvPr id="202" name="Google Shape;202;p32"/>
          <p:cNvSpPr txBox="1">
            <a:spLocks noGrp="1"/>
          </p:cNvSpPr>
          <p:nvPr>
            <p:ph type="subTitle" idx="1"/>
          </p:nvPr>
        </p:nvSpPr>
        <p:spPr>
          <a:xfrm>
            <a:off x="374399" y="681300"/>
            <a:ext cx="5271718" cy="4462200"/>
          </a:xfrm>
          <a:prstGeom prst="rect">
            <a:avLst/>
          </a:prstGeom>
        </p:spPr>
        <p:txBody>
          <a:bodyPr spcFirstLastPara="1" wrap="square" lIns="91425" tIns="45700" rIns="91425" bIns="45700" anchor="t" anchorCtr="0">
            <a:noAutofit/>
          </a:bodyPr>
          <a:lstStyle/>
          <a:p>
            <a:r>
              <a:rPr lang="en-US" altLang="zh-TW" sz="1200" b="1" dirty="0"/>
              <a:t>1. </a:t>
            </a:r>
            <a:r>
              <a:rPr lang="zh-TW" altLang="en-US" sz="1200" b="1" dirty="0"/>
              <a:t>問題難度的影響（</a:t>
            </a:r>
            <a:r>
              <a:rPr lang="en-US" altLang="zh-TW" sz="1200" b="1" dirty="0"/>
              <a:t>Effect of Difficulty</a:t>
            </a:r>
            <a:r>
              <a:rPr lang="zh-TW" altLang="en-US" sz="1200" b="1" dirty="0"/>
              <a:t>）</a:t>
            </a:r>
            <a:br>
              <a:rPr lang="zh-TW" altLang="en-US" sz="1200" dirty="0"/>
            </a:br>
            <a:r>
              <a:rPr lang="en-US" altLang="zh-TW" sz="1200" dirty="0"/>
              <a:t>• </a:t>
            </a:r>
            <a:r>
              <a:rPr lang="zh-TW" altLang="en-US" sz="1200" dirty="0"/>
              <a:t>存在顯著主效應 </a:t>
            </a:r>
            <a:r>
              <a:rPr lang="en-US" altLang="zh-TW" sz="1200" dirty="0"/>
              <a:t>(F(1,44)=666.49, p&lt;.001, ηp²=.94)</a:t>
            </a:r>
            <a:r>
              <a:rPr lang="zh-TW" altLang="en-US" sz="1200" dirty="0"/>
              <a:t>。</a:t>
            </a:r>
            <a:br>
              <a:rPr lang="zh-TW" altLang="en-US" sz="1200" dirty="0"/>
            </a:br>
            <a:r>
              <a:rPr lang="zh-TW" altLang="en-US" sz="1200" dirty="0"/>
              <a:t> </a:t>
            </a:r>
            <a:r>
              <a:rPr lang="en-US" altLang="zh-TW" sz="1200" dirty="0"/>
              <a:t>– </a:t>
            </a:r>
            <a:r>
              <a:rPr lang="zh-TW" altLang="en-US" sz="1200" b="1" dirty="0"/>
              <a:t>困難問題</a:t>
            </a:r>
            <a:r>
              <a:rPr lang="zh-TW" altLang="en-US" sz="1200" dirty="0"/>
              <a:t>時，尋求 </a:t>
            </a:r>
            <a:r>
              <a:rPr lang="en-US" altLang="zh-TW" sz="1200" dirty="0"/>
              <a:t>LLM </a:t>
            </a:r>
            <a:r>
              <a:rPr lang="zh-TW" altLang="en-US" sz="1200" dirty="0"/>
              <a:t>幫助頻率顯著較高（</a:t>
            </a:r>
            <a:r>
              <a:rPr lang="en-US" altLang="zh-TW" sz="1200" dirty="0"/>
              <a:t>M=90.03%</a:t>
            </a:r>
            <a:r>
              <a:rPr lang="zh-TW" altLang="en-US" sz="1200" dirty="0"/>
              <a:t>），</a:t>
            </a:r>
            <a:br>
              <a:rPr lang="zh-TW" altLang="en-US" sz="1200" dirty="0"/>
            </a:br>
            <a:r>
              <a:rPr lang="zh-TW" altLang="en-US" sz="1200" dirty="0"/>
              <a:t> </a:t>
            </a:r>
            <a:r>
              <a:rPr lang="en-US" altLang="zh-TW" sz="1200" dirty="0"/>
              <a:t>– </a:t>
            </a:r>
            <a:r>
              <a:rPr lang="zh-TW" altLang="en-US" sz="1200" b="1" dirty="0"/>
              <a:t>簡單問題</a:t>
            </a:r>
            <a:r>
              <a:rPr lang="zh-TW" altLang="en-US" sz="1200" dirty="0"/>
              <a:t>時則明顯較低（</a:t>
            </a:r>
            <a:r>
              <a:rPr lang="en-US" altLang="zh-TW" sz="1200" dirty="0"/>
              <a:t>M=23.12%</a:t>
            </a:r>
            <a:r>
              <a:rPr lang="zh-TW" altLang="en-US" sz="1200" dirty="0"/>
              <a:t>）。</a:t>
            </a:r>
            <a:br>
              <a:rPr lang="zh-TW" altLang="en-US" sz="1200" dirty="0"/>
            </a:br>
            <a:r>
              <a:rPr lang="zh-TW" altLang="en-US" sz="1200" dirty="0"/>
              <a:t>→ 尋求協助行為幾乎完全由問題難度決定。</a:t>
            </a:r>
          </a:p>
          <a:p>
            <a:r>
              <a:rPr lang="en-US" altLang="zh-TW" sz="1200" b="1" dirty="0"/>
              <a:t>2. </a:t>
            </a:r>
            <a:r>
              <a:rPr lang="zh-TW" altLang="en-US" sz="1200" b="1" dirty="0"/>
              <a:t>幫助與信心的影響（</a:t>
            </a:r>
            <a:r>
              <a:rPr lang="en-US" altLang="zh-TW" sz="1200" b="1" dirty="0"/>
              <a:t>Effect of Help on Confidence</a:t>
            </a:r>
            <a:r>
              <a:rPr lang="zh-TW" altLang="en-US" sz="1200" b="1" dirty="0"/>
              <a:t>）</a:t>
            </a:r>
            <a:br>
              <a:rPr lang="en-US" altLang="zh-TW" sz="1200" dirty="0"/>
            </a:br>
            <a:r>
              <a:rPr lang="en-US" altLang="zh-TW" sz="1200" dirty="0"/>
              <a:t>• </a:t>
            </a:r>
            <a:r>
              <a:rPr lang="zh-TW" altLang="en-US" sz="1200" dirty="0"/>
              <a:t>是否獲得幫助的主效應顯著 </a:t>
            </a:r>
            <a:r>
              <a:rPr lang="en-US" altLang="zh-TW" sz="1200" dirty="0"/>
              <a:t>(F(1,44)=11.19, p=.002, </a:t>
            </a:r>
            <a:r>
              <a:rPr lang="el-GR" altLang="zh-TW" sz="1200" dirty="0"/>
              <a:t>η</a:t>
            </a:r>
            <a:r>
              <a:rPr lang="en-US" altLang="zh-TW" sz="1200" dirty="0"/>
              <a:t>p²=.20)</a:t>
            </a:r>
            <a:r>
              <a:rPr lang="zh-TW" altLang="en-US" sz="1200" dirty="0"/>
              <a:t>。</a:t>
            </a:r>
            <a:br>
              <a:rPr lang="zh-TW" altLang="en-US" sz="1200" dirty="0"/>
            </a:br>
            <a:r>
              <a:rPr lang="zh-TW" altLang="en-US" sz="1200" dirty="0"/>
              <a:t> </a:t>
            </a:r>
            <a:r>
              <a:rPr lang="en-US" altLang="zh-TW" sz="1200" dirty="0"/>
              <a:t>– </a:t>
            </a:r>
            <a:r>
              <a:rPr lang="zh-TW" altLang="en-US" sz="1200" b="1" dirty="0"/>
              <a:t>獲得幫助</a:t>
            </a:r>
            <a:r>
              <a:rPr lang="zh-TW" altLang="en-US" sz="1200" dirty="0"/>
              <a:t>時信心更高（</a:t>
            </a:r>
            <a:r>
              <a:rPr lang="en-US" altLang="zh-TW" sz="1200" dirty="0"/>
              <a:t>M=82.89</a:t>
            </a:r>
            <a:r>
              <a:rPr lang="zh-TW" altLang="en-US" sz="1200" dirty="0"/>
              <a:t>） ，</a:t>
            </a:r>
            <a:br>
              <a:rPr lang="zh-TW" altLang="en-US" sz="1200" dirty="0"/>
            </a:br>
            <a:r>
              <a:rPr lang="zh-TW" altLang="en-US" sz="1200" dirty="0"/>
              <a:t> </a:t>
            </a:r>
            <a:r>
              <a:rPr lang="en-US" altLang="zh-TW" sz="1200" dirty="0"/>
              <a:t>– </a:t>
            </a:r>
            <a:r>
              <a:rPr lang="zh-TW" altLang="en-US" sz="1200" b="1" dirty="0"/>
              <a:t>未獲幫助</a:t>
            </a:r>
            <a:r>
              <a:rPr lang="zh-TW" altLang="en-US" sz="1200" dirty="0"/>
              <a:t>時較低（</a:t>
            </a:r>
            <a:r>
              <a:rPr lang="en-US" altLang="zh-TW" sz="1200" dirty="0"/>
              <a:t>M=70.12</a:t>
            </a:r>
            <a:r>
              <a:rPr lang="zh-TW" altLang="en-US" sz="1200" dirty="0"/>
              <a:t>）。</a:t>
            </a:r>
            <a:br>
              <a:rPr lang="zh-TW" altLang="en-US" sz="1200" dirty="0"/>
            </a:br>
            <a:r>
              <a:rPr lang="zh-TW" altLang="en-US" sz="1200" dirty="0"/>
              <a:t>→ 向 </a:t>
            </a:r>
            <a:r>
              <a:rPr lang="en-US" altLang="zh-TW" sz="1200" dirty="0"/>
              <a:t>LLM </a:t>
            </a:r>
            <a:r>
              <a:rPr lang="zh-TW" altLang="en-US" sz="1200" dirty="0"/>
              <a:t>尋求協助可顯著提升答題信心。</a:t>
            </a:r>
            <a:endParaRPr lang="en-US" altLang="zh-TW" sz="1200" dirty="0"/>
          </a:p>
          <a:p>
            <a:endParaRPr lang="en-US" altLang="zh-TW" sz="1200" dirty="0"/>
          </a:p>
          <a:p>
            <a:endParaRPr lang="en-US" altLang="zh-TW" sz="1200" dirty="0"/>
          </a:p>
          <a:p>
            <a:endParaRPr lang="en-US" altLang="zh-TW" sz="1200" dirty="0"/>
          </a:p>
          <a:p>
            <a:endParaRPr lang="en-US" altLang="zh-TW" sz="1200" dirty="0"/>
          </a:p>
          <a:p>
            <a:r>
              <a:rPr lang="zh-TW" altLang="en-US" sz="1200" b="1" dirty="0"/>
              <a:t>總結</a:t>
            </a:r>
            <a:br>
              <a:rPr lang="zh-TW" altLang="en-US" sz="1200" dirty="0"/>
            </a:br>
            <a:r>
              <a:rPr lang="en-US" altLang="zh-TW" sz="1200" dirty="0"/>
              <a:t>• </a:t>
            </a:r>
            <a:r>
              <a:rPr lang="zh-TW" altLang="en-US" sz="1200" b="1" dirty="0"/>
              <a:t>尋求幫助行為具實用性</a:t>
            </a:r>
            <a:r>
              <a:rPr lang="zh-TW" altLang="en-US" sz="1200" dirty="0"/>
              <a:t>：取決於問題難度，與 </a:t>
            </a:r>
            <a:r>
              <a:rPr lang="en-US" altLang="zh-TW" sz="1200" dirty="0"/>
              <a:t>LLM </a:t>
            </a:r>
            <a:r>
              <a:rPr lang="zh-TW" altLang="en-US" sz="1200" dirty="0"/>
              <a:t>人格無關。</a:t>
            </a:r>
            <a:br>
              <a:rPr lang="zh-TW" altLang="en-US" sz="1200" dirty="0"/>
            </a:br>
            <a:r>
              <a:rPr lang="en-US" altLang="zh-TW" sz="1200" dirty="0"/>
              <a:t>• </a:t>
            </a:r>
            <a:r>
              <a:rPr lang="zh-TW" altLang="en-US" sz="1200" b="1" dirty="0"/>
              <a:t>信心提升反映 </a:t>
            </a:r>
            <a:r>
              <a:rPr lang="en-US" altLang="zh-TW" sz="1200" b="1" dirty="0"/>
              <a:t>LLM </a:t>
            </a:r>
            <a:r>
              <a:rPr lang="zh-TW" altLang="en-US" sz="1200" b="1" dirty="0"/>
              <a:t>權威效應</a:t>
            </a:r>
            <a:r>
              <a:rPr lang="zh-TW" altLang="en-US" sz="1200" dirty="0"/>
              <a:t>：人們傾向信任並內化 </a:t>
            </a:r>
            <a:r>
              <a:rPr lang="en-US" altLang="zh-TW" sz="1200" dirty="0"/>
              <a:t>LLM </a:t>
            </a:r>
            <a:r>
              <a:rPr lang="zh-TW" altLang="en-US" sz="1200" dirty="0"/>
              <a:t>的回答，無論其人格設定為外向或內向。</a:t>
            </a:r>
          </a:p>
          <a:p>
            <a:pPr marL="0" lvl="0" indent="0" algn="l" rtl="0">
              <a:spcBef>
                <a:spcPts val="560"/>
              </a:spcBef>
              <a:spcAft>
                <a:spcPts val="0"/>
              </a:spcAft>
              <a:buNone/>
            </a:pPr>
            <a:endParaRPr lang="zh-TW" altLang="en-US" sz="1200" b="1" dirty="0">
              <a:solidFill>
                <a:srgbClr val="131314"/>
              </a:solidFill>
              <a:highlight>
                <a:srgbClr val="FFFFFF"/>
              </a:highlight>
            </a:endParaRPr>
          </a:p>
        </p:txBody>
      </p:sp>
      <p:pic>
        <p:nvPicPr>
          <p:cNvPr id="6" name="圖片 5">
            <a:extLst>
              <a:ext uri="{FF2B5EF4-FFF2-40B4-BE49-F238E27FC236}">
                <a16:creationId xmlns:a16="http://schemas.microsoft.com/office/drawing/2014/main" id="{20FA50DF-D4EF-4030-80C0-B1B4FAD7CE6C}"/>
              </a:ext>
            </a:extLst>
          </p:cNvPr>
          <p:cNvPicPr>
            <a:picLocks noChangeAspect="1"/>
          </p:cNvPicPr>
          <p:nvPr/>
        </p:nvPicPr>
        <p:blipFill>
          <a:blip r:embed="rId3"/>
          <a:stretch>
            <a:fillRect/>
          </a:stretch>
        </p:blipFill>
        <p:spPr>
          <a:xfrm>
            <a:off x="5585152" y="681300"/>
            <a:ext cx="3558848" cy="3299746"/>
          </a:xfrm>
          <a:prstGeom prst="rect">
            <a:avLst/>
          </a:prstGeom>
        </p:spPr>
      </p:pic>
    </p:spTree>
    <p:extLst>
      <p:ext uri="{BB962C8B-B14F-4D97-AF65-F5344CB8AC3E}">
        <p14:creationId xmlns:p14="http://schemas.microsoft.com/office/powerpoint/2010/main" val="2453955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建議</a:t>
            </a:r>
            <a:endParaRPr sz="2650"/>
          </a:p>
        </p:txBody>
      </p:sp>
      <p:sp>
        <p:nvSpPr>
          <p:cNvPr id="222" name="Google Shape;222;p34"/>
          <p:cNvSpPr txBox="1">
            <a:spLocks noGrp="1"/>
          </p:cNvSpPr>
          <p:nvPr>
            <p:ph type="subTitle" idx="1"/>
          </p:nvPr>
        </p:nvSpPr>
        <p:spPr>
          <a:xfrm>
            <a:off x="640274" y="918900"/>
            <a:ext cx="8438925" cy="4224600"/>
          </a:xfrm>
          <a:prstGeom prst="rect">
            <a:avLst/>
          </a:prstGeom>
        </p:spPr>
        <p:txBody>
          <a:bodyPr spcFirstLastPara="1" wrap="square" lIns="91425" tIns="45700" rIns="91425" bIns="45700" anchor="t" anchorCtr="0">
            <a:noAutofit/>
          </a:bodyPr>
          <a:lstStyle/>
          <a:p>
            <a:pPr marL="0" lvl="0" indent="0" algn="l" rtl="0">
              <a:spcBef>
                <a:spcPts val="560"/>
              </a:spcBef>
              <a:spcAft>
                <a:spcPts val="0"/>
              </a:spcAft>
              <a:buNone/>
            </a:pPr>
            <a:r>
              <a:rPr lang="zh-TW" altLang="en-US" sz="1400" dirty="0">
                <a:latin typeface="Adobe 黑体 Std R" panose="020B0400000000000000" pitchFamily="34" charset="-122"/>
                <a:ea typeface="Adobe 黑体 Std R" panose="020B0400000000000000" pitchFamily="34" charset="-122"/>
              </a:rPr>
              <a:t>支持 </a:t>
            </a:r>
            <a:r>
              <a:rPr lang="en-US" altLang="zh-TW" sz="1400" dirty="0">
                <a:latin typeface="Adobe 黑体 Std R" panose="020B0400000000000000" pitchFamily="34" charset="-122"/>
                <a:ea typeface="Adobe 黑体 Std R" panose="020B0400000000000000" pitchFamily="34" charset="-122"/>
              </a:rPr>
              <a:t>CASA </a:t>
            </a:r>
            <a:r>
              <a:rPr lang="zh-TW" altLang="en-US" sz="1400" dirty="0">
                <a:latin typeface="Adobe 黑体 Std R" panose="020B0400000000000000" pitchFamily="34" charset="-122"/>
                <a:ea typeface="Adobe 黑体 Std R" panose="020B0400000000000000" pitchFamily="34" charset="-122"/>
              </a:rPr>
              <a:t>框架與社交處理</a:t>
            </a:r>
            <a:r>
              <a:rPr lang="en-US" altLang="zh-TW" sz="1400" dirty="0">
                <a:latin typeface="Adobe 黑体 Std R" panose="020B0400000000000000" pitchFamily="34" charset="-122"/>
                <a:ea typeface="Adobe 黑体 Std R" panose="020B0400000000000000" pitchFamily="34" charset="-122"/>
              </a:rPr>
              <a:t>: </a:t>
            </a:r>
            <a:r>
              <a:rPr lang="zh-TW" altLang="en-US" sz="1200" dirty="0">
                <a:latin typeface="Adobe 黑体 Std R" panose="020B0400000000000000" pitchFamily="34" charset="-122"/>
                <a:ea typeface="Adobe 黑体 Std R" panose="020B0400000000000000" pitchFamily="34" charset="-122"/>
              </a:rPr>
              <a:t>透過提示調整 </a:t>
            </a:r>
            <a:r>
              <a:rPr lang="en-US" altLang="zh-TW" sz="1200" dirty="0">
                <a:latin typeface="Adobe 黑体 Std R" panose="020B0400000000000000" pitchFamily="34" charset="-122"/>
                <a:ea typeface="Adobe 黑体 Std R" panose="020B0400000000000000" pitchFamily="34" charset="-122"/>
              </a:rPr>
              <a:t>LLM </a:t>
            </a:r>
            <a:r>
              <a:rPr lang="zh-TW" altLang="en-US" sz="1200" dirty="0">
                <a:latin typeface="Adobe 黑体 Std R" panose="020B0400000000000000" pitchFamily="34" charset="-122"/>
                <a:ea typeface="Adobe 黑体 Std R" panose="020B0400000000000000" pitchFamily="34" charset="-122"/>
              </a:rPr>
              <a:t>人格即可顯著影響使用者對虛擬代理的社會評價、情感體驗與互動投入，驗證 </a:t>
            </a:r>
            <a:r>
              <a:rPr lang="en-US" altLang="zh-TW" sz="1200" dirty="0">
                <a:latin typeface="Adobe 黑体 Std R" panose="020B0400000000000000" pitchFamily="34" charset="-122"/>
                <a:ea typeface="Adobe 黑体 Std R" panose="020B0400000000000000" pitchFamily="34" charset="-122"/>
              </a:rPr>
              <a:t>CASA </a:t>
            </a:r>
            <a:r>
              <a:rPr lang="zh-TW" altLang="en-US" sz="1200" dirty="0">
                <a:latin typeface="Adobe 黑体 Std R" panose="020B0400000000000000" pitchFamily="34" charset="-122"/>
                <a:ea typeface="Adobe 黑体 Std R" panose="020B0400000000000000" pitchFamily="34" charset="-122"/>
              </a:rPr>
              <a:t>框架中人機互動具人際特質的預測。</a:t>
            </a: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zh-TW" altLang="en-US" sz="1400" dirty="0">
                <a:latin typeface="Adobe 黑体 Std R" panose="020B0400000000000000" pitchFamily="34" charset="-122"/>
                <a:ea typeface="Adobe 黑体 Std R" panose="020B0400000000000000" pitchFamily="34" charset="-122"/>
              </a:rPr>
              <a:t>行為對齊</a:t>
            </a:r>
            <a:r>
              <a:rPr lang="en-US" altLang="zh-TW" sz="1400" dirty="0">
                <a:latin typeface="Adobe 黑体 Std R" panose="020B0400000000000000" pitchFamily="34" charset="-122"/>
                <a:ea typeface="Adobe 黑体 Std R" panose="020B0400000000000000" pitchFamily="34" charset="-122"/>
              </a:rPr>
              <a:t>:</a:t>
            </a:r>
            <a:r>
              <a:rPr lang="zh-TW" altLang="en-US" sz="1400" dirty="0">
                <a:latin typeface="Adobe 黑体 Std R" panose="020B0400000000000000" pitchFamily="34" charset="-122"/>
                <a:ea typeface="Adobe 黑体 Std R" panose="020B0400000000000000" pitchFamily="34" charset="-122"/>
              </a:rPr>
              <a:t> </a:t>
            </a:r>
            <a:r>
              <a:rPr lang="zh-TW" altLang="en-US" sz="1200" dirty="0">
                <a:latin typeface="Adobe 黑体 Std R" panose="020B0400000000000000" pitchFamily="34" charset="-122"/>
                <a:ea typeface="Adobe 黑体 Std R" panose="020B0400000000000000" pitchFamily="34" charset="-122"/>
              </a:rPr>
              <a:t>外向型代理能提升互動參與，顯示使用者會模仿其溝通風格，符合互動對齊模型，說明與 </a:t>
            </a:r>
            <a:r>
              <a:rPr lang="en-US" altLang="zh-TW" sz="1200" dirty="0">
                <a:latin typeface="Adobe 黑体 Std R" panose="020B0400000000000000" pitchFamily="34" charset="-122"/>
                <a:ea typeface="Adobe 黑体 Std R" panose="020B0400000000000000" pitchFamily="34" charset="-122"/>
              </a:rPr>
              <a:t>LLM </a:t>
            </a:r>
            <a:r>
              <a:rPr lang="zh-TW" altLang="en-US" sz="1200" dirty="0">
                <a:latin typeface="Adobe 黑体 Std R" panose="020B0400000000000000" pitchFamily="34" charset="-122"/>
                <a:ea typeface="Adobe 黑体 Std R" panose="020B0400000000000000" pitchFamily="34" charset="-122"/>
              </a:rPr>
              <a:t>代理的對話會引發行為適應。</a:t>
            </a: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en-US" altLang="zh-TW" sz="1400" i="0" dirty="0">
                <a:solidFill>
                  <a:srgbClr val="131314"/>
                </a:solidFill>
                <a:effectLst/>
                <a:latin typeface="Adobe 黑体 Std R" panose="020B0400000000000000" pitchFamily="34" charset="-122"/>
                <a:ea typeface="Adobe 黑体 Std R" panose="020B0400000000000000" pitchFamily="34" charset="-122"/>
              </a:rPr>
              <a:t>• </a:t>
            </a:r>
            <a:r>
              <a:rPr lang="zh-TW" altLang="en-US" sz="1400" i="0" dirty="0">
                <a:solidFill>
                  <a:srgbClr val="131314"/>
                </a:solidFill>
                <a:effectLst/>
                <a:latin typeface="Adobe 黑体 Std R" panose="020B0400000000000000" pitchFamily="34" charset="-122"/>
                <a:ea typeface="Adobe 黑体 Std R" panose="020B0400000000000000" pitchFamily="34" charset="-122"/>
              </a:rPr>
              <a:t>任務影響：</a:t>
            </a:r>
            <a:endParaRPr lang="en-US" altLang="zh-TW" sz="1400" i="0" dirty="0">
              <a:solidFill>
                <a:srgbClr val="131314"/>
              </a:solidFill>
              <a:effectLst/>
              <a:latin typeface="Adobe 黑体 Std R" panose="020B0400000000000000" pitchFamily="34" charset="-122"/>
              <a:ea typeface="Adobe 黑体 Std R" panose="020B0400000000000000" pitchFamily="34" charset="-122"/>
            </a:endParaRPr>
          </a:p>
          <a:p>
            <a:r>
              <a:rPr lang="zh-TW" altLang="en-US" sz="1400" dirty="0">
                <a:latin typeface="Adobe 黑体 Std R" panose="020B0400000000000000" pitchFamily="34" charset="-122"/>
                <a:ea typeface="Adobe 黑体 Std R" panose="020B0400000000000000" pitchFamily="34" charset="-122"/>
              </a:rPr>
              <a:t>積極評價與幫助</a:t>
            </a:r>
            <a:r>
              <a:rPr lang="en-US" altLang="zh-TW" sz="1400" dirty="0">
                <a:latin typeface="Adobe 黑体 Std R" panose="020B0400000000000000" pitchFamily="34" charset="-122"/>
                <a:ea typeface="Adobe 黑体 Std R" panose="020B0400000000000000" pitchFamily="34" charset="-122"/>
              </a:rPr>
              <a:t>:</a:t>
            </a:r>
            <a:r>
              <a:rPr lang="zh-TW" altLang="en-US" sz="1400" dirty="0">
                <a:latin typeface="Adobe 黑体 Std R" panose="020B0400000000000000" pitchFamily="34" charset="-122"/>
                <a:ea typeface="Adobe 黑体 Std R" panose="020B0400000000000000" pitchFamily="34" charset="-122"/>
              </a:rPr>
              <a:t> </a:t>
            </a:r>
            <a:r>
              <a:rPr lang="zh-TW" altLang="en-US" sz="1200" dirty="0">
                <a:latin typeface="Adobe 黑体 Std R" panose="020B0400000000000000" pitchFamily="34" charset="-122"/>
                <a:ea typeface="Adobe 黑体 Std R" panose="020B0400000000000000" pitchFamily="34" charset="-122"/>
              </a:rPr>
              <a:t>虛擬代理在知識測驗任務中獲得最高評價，顯示「從代理獲得協助」能提升其受歡迎度。</a:t>
            </a:r>
            <a:endParaRPr lang="en-US" altLang="zh-TW" sz="1200" dirty="0">
              <a:latin typeface="Adobe 黑体 Std R" panose="020B0400000000000000" pitchFamily="34" charset="-122"/>
              <a:ea typeface="Adobe 黑体 Std R" panose="020B0400000000000000" pitchFamily="34" charset="-122"/>
            </a:endParaRPr>
          </a:p>
          <a:p>
            <a:r>
              <a:rPr lang="zh-TW" altLang="en-US" sz="1400" dirty="0">
                <a:latin typeface="Adobe 黑体 Std R" panose="020B0400000000000000" pitchFamily="34" charset="-122"/>
                <a:ea typeface="Adobe 黑体 Std R" panose="020B0400000000000000" pitchFamily="34" charset="-122"/>
              </a:rPr>
              <a:t>真實性與深度對話</a:t>
            </a:r>
            <a:r>
              <a:rPr lang="en-US" altLang="zh-TW" sz="1400" dirty="0">
                <a:latin typeface="Adobe 黑体 Std R" panose="020B0400000000000000" pitchFamily="34" charset="-122"/>
                <a:ea typeface="Adobe 黑体 Std R" panose="020B0400000000000000" pitchFamily="34" charset="-122"/>
              </a:rPr>
              <a:t>:</a:t>
            </a:r>
            <a:r>
              <a:rPr lang="zh-TW" altLang="en-US" sz="1400" dirty="0">
                <a:latin typeface="Adobe 黑体 Std R" panose="020B0400000000000000" pitchFamily="34" charset="-122"/>
                <a:ea typeface="Adobe 黑体 Std R" panose="020B0400000000000000" pitchFamily="34" charset="-122"/>
              </a:rPr>
              <a:t> </a:t>
            </a:r>
            <a:r>
              <a:rPr lang="zh-TW" altLang="en-US" sz="1200" dirty="0">
                <a:latin typeface="Adobe 黑体 Std R" panose="020B0400000000000000" pitchFamily="34" charset="-122"/>
                <a:ea typeface="Adobe 黑体 Std R" panose="020B0400000000000000" pitchFamily="34" charset="-122"/>
              </a:rPr>
              <a:t>人格操縱對說服任務的影響最明顯，說明在深層對話中，代理人格對真實性與互動品質更具關鍵作用。</a:t>
            </a:r>
          </a:p>
          <a:p>
            <a:endParaRPr lang="en-US" altLang="zh-TW" sz="1200" dirty="0">
              <a:latin typeface="Adobe 黑体 Std R" panose="020B0400000000000000" pitchFamily="34" charset="-122"/>
              <a:ea typeface="Adobe 黑体 Std R" panose="020B0400000000000000" pitchFamily="34" charset="-122"/>
            </a:endParaRPr>
          </a:p>
          <a:p>
            <a:endParaRPr lang="en-US" altLang="zh-TW" sz="1200" dirty="0">
              <a:latin typeface="Adobe 黑体 Std R" panose="020B0400000000000000" pitchFamily="34" charset="-122"/>
              <a:ea typeface="Adobe 黑体 Std R" panose="020B0400000000000000" pitchFamily="34" charset="-122"/>
            </a:endParaRPr>
          </a:p>
          <a:p>
            <a:endParaRPr lang="en-US" altLang="zh-TW" sz="1200" dirty="0">
              <a:latin typeface="Adobe 黑体 Std R" panose="020B0400000000000000" pitchFamily="34" charset="-122"/>
              <a:ea typeface="Adobe 黑体 Std R" panose="020B0400000000000000" pitchFamily="34" charset="-122"/>
            </a:endParaRPr>
          </a:p>
          <a:p>
            <a:r>
              <a:rPr lang="zh-TW" altLang="en-US" sz="1400" dirty="0">
                <a:latin typeface="Adobe 黑体 Std R" panose="020B0400000000000000" pitchFamily="34" charset="-122"/>
                <a:ea typeface="Adobe 黑体 Std R" panose="020B0400000000000000" pitchFamily="34" charset="-122"/>
              </a:rPr>
              <a:t>信任與信心</a:t>
            </a:r>
            <a:r>
              <a:rPr lang="en-US" altLang="zh-TW" sz="1400" dirty="0">
                <a:latin typeface="Adobe 黑体 Std R" panose="020B0400000000000000" pitchFamily="34" charset="-122"/>
                <a:ea typeface="Adobe 黑体 Std R" panose="020B0400000000000000" pitchFamily="34" charset="-122"/>
              </a:rPr>
              <a:t>:</a:t>
            </a:r>
            <a:r>
              <a:rPr lang="zh-TW" altLang="en-US" sz="1400" dirty="0">
                <a:latin typeface="Adobe 黑体 Std R" panose="020B0400000000000000" pitchFamily="34" charset="-122"/>
                <a:ea typeface="Adobe 黑体 Std R" panose="020B0400000000000000" pitchFamily="34" charset="-122"/>
              </a:rPr>
              <a:t> </a:t>
            </a:r>
            <a:r>
              <a:rPr lang="zh-TW" altLang="en-US" sz="1200" dirty="0">
                <a:latin typeface="Adobe 黑体 Std R" panose="020B0400000000000000" pitchFamily="34" charset="-122"/>
                <a:ea typeface="Adobe 黑体 Std R" panose="020B0400000000000000" pitchFamily="34" charset="-122"/>
              </a:rPr>
              <a:t>雖然人格不影響求助行為，但參與者對 </a:t>
            </a:r>
            <a:r>
              <a:rPr lang="en-US" altLang="zh-TW" sz="1200" dirty="0">
                <a:latin typeface="Adobe 黑体 Std R" panose="020B0400000000000000" pitchFamily="34" charset="-122"/>
                <a:ea typeface="Adobe 黑体 Std R" panose="020B0400000000000000" pitchFamily="34" charset="-122"/>
              </a:rPr>
              <a:t>LLM </a:t>
            </a:r>
            <a:r>
              <a:rPr lang="zh-TW" altLang="en-US" sz="1200" dirty="0">
                <a:latin typeface="Adobe 黑体 Std R" panose="020B0400000000000000" pitchFamily="34" charset="-122"/>
                <a:ea typeface="Adobe 黑体 Std R" panose="020B0400000000000000" pitchFamily="34" charset="-122"/>
              </a:rPr>
              <a:t>回答的信任與信心更高，反映人們傾向視其回應為可信。</a:t>
            </a:r>
            <a:endParaRPr lang="en-US" altLang="zh-TW" sz="1200" dirty="0">
              <a:latin typeface="Adobe 黑体 Std R" panose="020B0400000000000000" pitchFamily="34" charset="-122"/>
              <a:ea typeface="Adobe 黑体 Std R" panose="020B0400000000000000" pitchFamily="34" charset="-122"/>
            </a:endParaRPr>
          </a:p>
          <a:p>
            <a:r>
              <a:rPr lang="zh-TW" altLang="en-US" sz="1400" dirty="0">
                <a:latin typeface="Adobe 黑体 Std R" panose="020B0400000000000000" pitchFamily="34" charset="-122"/>
                <a:ea typeface="Adobe 黑体 Std R" panose="020B0400000000000000" pitchFamily="34" charset="-122"/>
              </a:rPr>
              <a:t>應用與潛在風險</a:t>
            </a:r>
            <a:r>
              <a:rPr lang="en-US" altLang="zh-TW" sz="1400" dirty="0">
                <a:latin typeface="Adobe 黑体 Std R" panose="020B0400000000000000" pitchFamily="34" charset="-122"/>
                <a:ea typeface="Adobe 黑体 Std R" panose="020B0400000000000000" pitchFamily="34" charset="-122"/>
              </a:rPr>
              <a:t>:</a:t>
            </a:r>
            <a:r>
              <a:rPr lang="zh-TW" altLang="en-US" sz="1200" dirty="0">
                <a:latin typeface="Adobe 黑体 Std R" panose="020B0400000000000000" pitchFamily="34" charset="-122"/>
                <a:ea typeface="Adobe 黑体 Std R" panose="020B0400000000000000" pitchFamily="34" charset="-122"/>
              </a:rPr>
              <a:t>結果顯示 </a:t>
            </a:r>
            <a:r>
              <a:rPr lang="en-US" altLang="zh-TW" sz="1200" dirty="0">
                <a:latin typeface="Adobe 黑体 Std R" panose="020B0400000000000000" pitchFamily="34" charset="-122"/>
                <a:ea typeface="Adobe 黑体 Std R" panose="020B0400000000000000" pitchFamily="34" charset="-122"/>
              </a:rPr>
              <a:t>LLM </a:t>
            </a:r>
            <a:r>
              <a:rPr lang="zh-TW" altLang="en-US" sz="1200" dirty="0">
                <a:latin typeface="Adobe 黑体 Std R" panose="020B0400000000000000" pitchFamily="34" charset="-122"/>
                <a:ea typeface="Adobe 黑体 Std R" panose="020B0400000000000000" pitchFamily="34" charset="-122"/>
              </a:rPr>
              <a:t>代理在教育與醫療等領域具應用潛力，能透過個性化互動提升參與度。然而，過度依賴亦     可能引發操縱風險與削弱真實社交關係。</a:t>
            </a:r>
          </a:p>
          <a:p>
            <a:endParaRPr lang="zh-TW" altLang="en-US" sz="1200" dirty="0">
              <a:latin typeface="Adobe 黑体 Std R" panose="020B0400000000000000" pitchFamily="34" charset="-122"/>
              <a:ea typeface="Adobe 黑体 Std R" panose="020B0400000000000000" pitchFamily="34" charset="-122"/>
            </a:endParaRPr>
          </a:p>
          <a:p>
            <a:endParaRPr lang="zh-TW" altLang="en-US"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4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sz="1200" dirty="0">
              <a:solidFill>
                <a:srgbClr val="131314"/>
              </a:solidFill>
              <a:highlight>
                <a:srgbClr val="FFFFFF"/>
              </a:highlight>
              <a:latin typeface="Adobe 黑体 Std R" panose="020B0400000000000000" pitchFamily="34" charset="-122"/>
              <a:ea typeface="Adobe 黑体 Std R" panose="020B0400000000000000"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建議</a:t>
            </a:r>
            <a:endParaRPr sz="2650"/>
          </a:p>
        </p:txBody>
      </p:sp>
      <p:sp>
        <p:nvSpPr>
          <p:cNvPr id="222" name="Google Shape;222;p34"/>
          <p:cNvSpPr txBox="1">
            <a:spLocks noGrp="1"/>
          </p:cNvSpPr>
          <p:nvPr>
            <p:ph type="subTitle" idx="1"/>
          </p:nvPr>
        </p:nvSpPr>
        <p:spPr>
          <a:xfrm>
            <a:off x="640274" y="918900"/>
            <a:ext cx="8438925" cy="4224600"/>
          </a:xfrm>
          <a:prstGeom prst="rect">
            <a:avLst/>
          </a:prstGeom>
        </p:spPr>
        <p:txBody>
          <a:bodyPr spcFirstLastPara="1" wrap="square" lIns="91425" tIns="45700" rIns="91425" bIns="45700" anchor="t" anchorCtr="0">
            <a:noAutofit/>
          </a:bodyPr>
          <a:lstStyle/>
          <a:p>
            <a:pPr marL="0" lvl="0" indent="0" algn="l" rtl="0">
              <a:spcBef>
                <a:spcPts val="560"/>
              </a:spcBef>
              <a:spcAft>
                <a:spcPts val="0"/>
              </a:spcAft>
              <a:buNone/>
            </a:pPr>
            <a:r>
              <a:rPr lang="zh-TW" altLang="en-US" sz="1600" b="0" i="0" dirty="0">
                <a:solidFill>
                  <a:srgbClr val="131314"/>
                </a:solidFill>
                <a:effectLst/>
                <a:latin typeface="Adobe 黑体 Std R" panose="020B0400000000000000" pitchFamily="34" charset="-122"/>
                <a:ea typeface="Adobe 黑体 Std R" panose="020B0400000000000000" pitchFamily="34" charset="-122"/>
              </a:rPr>
              <a:t>研究限制與未來方向</a:t>
            </a:r>
            <a:r>
              <a:rPr lang="en-US" altLang="zh-TW" sz="1600" b="0" i="0" dirty="0">
                <a:solidFill>
                  <a:srgbClr val="131314"/>
                </a:solidFill>
                <a:effectLst/>
                <a:latin typeface="Adobe 黑体 Std R" panose="020B0400000000000000" pitchFamily="34" charset="-122"/>
                <a:ea typeface="Adobe 黑体 Std R" panose="020B0400000000000000" pitchFamily="34" charset="-122"/>
              </a:rPr>
              <a:t>:</a:t>
            </a:r>
          </a:p>
          <a:p>
            <a:pPr marL="0" lvl="0" indent="0" algn="l" rtl="0">
              <a:spcBef>
                <a:spcPts val="560"/>
              </a:spcBef>
              <a:spcAft>
                <a:spcPts val="0"/>
              </a:spcAft>
              <a:buNone/>
            </a:pPr>
            <a:r>
              <a:rPr lang="en-US" altLang="zh-TW" sz="1400" dirty="0">
                <a:latin typeface="Adobe 黑体 Std R" panose="020B0400000000000000" pitchFamily="34" charset="-122"/>
                <a:ea typeface="Adobe 黑体 Std R" panose="020B0400000000000000" pitchFamily="34" charset="-122"/>
              </a:rPr>
              <a:t>• </a:t>
            </a:r>
            <a:r>
              <a:rPr lang="zh-TW" altLang="en-US" sz="1400" dirty="0">
                <a:latin typeface="Adobe 黑体 Std R" panose="020B0400000000000000" pitchFamily="34" charset="-122"/>
                <a:ea typeface="Adobe 黑体 Std R" panose="020B0400000000000000" pitchFamily="34" charset="-122"/>
              </a:rPr>
              <a:t>樣本限制： </a:t>
            </a:r>
            <a:r>
              <a:rPr lang="zh-TW" altLang="en-US" sz="1200" dirty="0">
                <a:latin typeface="Adobe 黑体 Std R" panose="020B0400000000000000" pitchFamily="34" charset="-122"/>
                <a:ea typeface="Adobe 黑体 Std R" panose="020B0400000000000000" pitchFamily="34" charset="-122"/>
              </a:rPr>
              <a:t>樣本在年齡組和文化背景上受到限制，未來的研究應評估個體差異的影響。</a:t>
            </a: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en-US" altLang="zh-TW" sz="1400" dirty="0">
                <a:latin typeface="Adobe 黑体 Std R" panose="020B0400000000000000" pitchFamily="34" charset="-122"/>
                <a:ea typeface="Adobe 黑体 Std R" panose="020B0400000000000000" pitchFamily="34" charset="-122"/>
              </a:rPr>
              <a:t>• </a:t>
            </a:r>
            <a:r>
              <a:rPr lang="zh-TW" altLang="en-US" sz="1400" dirty="0">
                <a:latin typeface="Adobe 黑体 Std R" panose="020B0400000000000000" pitchFamily="34" charset="-122"/>
                <a:ea typeface="Adobe 黑体 Std R" panose="020B0400000000000000" pitchFamily="34" charset="-122"/>
              </a:rPr>
              <a:t>任務順序：</a:t>
            </a:r>
            <a:r>
              <a:rPr lang="zh-TW" altLang="en-US" sz="1200" dirty="0">
                <a:latin typeface="Adobe 黑体 Std R" panose="020B0400000000000000" pitchFamily="34" charset="-122"/>
                <a:ea typeface="Adobe 黑体 Std R" panose="020B0400000000000000" pitchFamily="34" charset="-122"/>
              </a:rPr>
              <a:t>任務以固定順序進行，可能產生延續效應。</a:t>
            </a: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en-US" altLang="zh-TW" sz="1400" dirty="0">
                <a:latin typeface="Adobe 黑体 Std R" panose="020B0400000000000000" pitchFamily="34" charset="-122"/>
                <a:ea typeface="Adobe 黑体 Std R" panose="020B0400000000000000" pitchFamily="34" charset="-122"/>
              </a:rPr>
              <a:t>• </a:t>
            </a:r>
            <a:r>
              <a:rPr lang="zh-TW" altLang="en-US" sz="1400" dirty="0">
                <a:latin typeface="Adobe 黑体 Std R" panose="020B0400000000000000" pitchFamily="34" charset="-122"/>
                <a:ea typeface="Adobe 黑体 Std R" panose="020B0400000000000000" pitchFamily="34" charset="-122"/>
              </a:rPr>
              <a:t>非語言行為：</a:t>
            </a:r>
            <a:r>
              <a:rPr lang="zh-TW" altLang="en-US" sz="1200" dirty="0">
                <a:latin typeface="Adobe 黑体 Std R" panose="020B0400000000000000" pitchFamily="34" charset="-122"/>
                <a:ea typeface="Adobe 黑体 Std R" panose="020B0400000000000000" pitchFamily="34" charset="-122"/>
              </a:rPr>
              <a:t>虛擬代理缺乏手勢與表情等非語言行為，後續研究可結合多模態互動以提升自然度。</a:t>
            </a: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lang="en-US" altLang="zh-TW" sz="1200" dirty="0">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r>
              <a:rPr lang="en-US" altLang="zh-TW" sz="1400" dirty="0">
                <a:latin typeface="Adobe 黑体 Std R" panose="020B0400000000000000" pitchFamily="34" charset="-122"/>
                <a:ea typeface="Adobe 黑体 Std R" panose="020B0400000000000000" pitchFamily="34" charset="-122"/>
              </a:rPr>
              <a:t>• </a:t>
            </a:r>
            <a:r>
              <a:rPr lang="zh-TW" altLang="en-US" sz="1400" dirty="0">
                <a:latin typeface="Adobe 黑体 Std R" panose="020B0400000000000000" pitchFamily="34" charset="-122"/>
                <a:ea typeface="Adobe 黑体 Std R" panose="020B0400000000000000" pitchFamily="34" charset="-122"/>
              </a:rPr>
              <a:t>人格操作範圍</a:t>
            </a:r>
            <a:r>
              <a:rPr lang="en-US" altLang="zh-TW" sz="1400" dirty="0">
                <a:latin typeface="Adobe 黑体 Std R" panose="020B0400000000000000" pitchFamily="34" charset="-122"/>
                <a:ea typeface="Adobe 黑体 Std R" panose="020B0400000000000000" pitchFamily="34" charset="-122"/>
              </a:rPr>
              <a:t>&amp;</a:t>
            </a:r>
            <a:r>
              <a:rPr lang="zh-TW" altLang="en-US" sz="1400" dirty="0">
                <a:latin typeface="Adobe 黑体 Std R" panose="020B0400000000000000" pitchFamily="34" charset="-122"/>
                <a:ea typeface="Adobe 黑体 Std R" panose="020B0400000000000000" pitchFamily="34" charset="-122"/>
              </a:rPr>
              <a:t>長期互動：</a:t>
            </a:r>
            <a:r>
              <a:rPr lang="zh-TW" altLang="en-US" sz="1200" dirty="0">
                <a:latin typeface="Adobe 黑体 Std R" panose="020B0400000000000000" pitchFamily="34" charset="-122"/>
                <a:ea typeface="Adobe 黑体 Std R" panose="020B0400000000000000" pitchFamily="34" charset="-122"/>
              </a:rPr>
              <a:t>人格操縱僅涵蓋部分特質，建議擴大操作範圍並進行長期互動研究，以深入理解社交歸屬與適應歷程。</a:t>
            </a:r>
            <a:endParaRPr sz="1200" dirty="0">
              <a:solidFill>
                <a:srgbClr val="131314"/>
              </a:solidFill>
              <a:highlight>
                <a:srgbClr val="FFFFFF"/>
              </a:highlight>
              <a:latin typeface="Adobe 黑体 Std R" panose="020B0400000000000000" pitchFamily="34" charset="-122"/>
              <a:ea typeface="Adobe 黑体 Std R" panose="020B0400000000000000" pitchFamily="34" charset="-122"/>
            </a:endParaRPr>
          </a:p>
        </p:txBody>
      </p:sp>
    </p:spTree>
    <p:extLst>
      <p:ext uri="{BB962C8B-B14F-4D97-AF65-F5344CB8AC3E}">
        <p14:creationId xmlns:p14="http://schemas.microsoft.com/office/powerpoint/2010/main" val="3088576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a:spLocks noGrp="1"/>
          </p:cNvSpPr>
          <p:nvPr>
            <p:ph type="ctrTitle"/>
          </p:nvPr>
        </p:nvSpPr>
        <p:spPr>
          <a:xfrm>
            <a:off x="3473575" y="1977500"/>
            <a:ext cx="17910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sz="4800"/>
              <a:t>結論</a:t>
            </a:r>
            <a:endParaRPr sz="4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7"/>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t>結論</a:t>
            </a:r>
            <a:endParaRPr sz="2650"/>
          </a:p>
        </p:txBody>
      </p:sp>
      <p:sp>
        <p:nvSpPr>
          <p:cNvPr id="239" name="Google Shape;239;p37"/>
          <p:cNvSpPr txBox="1">
            <a:spLocks noGrp="1"/>
          </p:cNvSpPr>
          <p:nvPr>
            <p:ph type="subTitle" idx="1"/>
          </p:nvPr>
        </p:nvSpPr>
        <p:spPr>
          <a:xfrm>
            <a:off x="640275" y="918900"/>
            <a:ext cx="8309400" cy="3677400"/>
          </a:xfrm>
          <a:prstGeom prst="rect">
            <a:avLst/>
          </a:prstGeom>
        </p:spPr>
        <p:txBody>
          <a:bodyPr spcFirstLastPara="1" wrap="square" lIns="91425" tIns="45700" rIns="91425" bIns="45700" anchor="t" anchorCtr="0">
            <a:noAutofit/>
          </a:bodyPr>
          <a:lstStyle/>
          <a:p>
            <a:pPr marL="0" lvl="0" indent="0" algn="l" rtl="0">
              <a:spcBef>
                <a:spcPts val="560"/>
              </a:spcBef>
              <a:spcAft>
                <a:spcPts val="0"/>
              </a:spcAft>
              <a:buNone/>
            </a:pPr>
            <a:r>
              <a:rPr lang="zh-TW" altLang="en-US" sz="1400" dirty="0">
                <a:latin typeface="Adobe 黑体 Std R" panose="020B0400000000000000" pitchFamily="34" charset="-122"/>
                <a:ea typeface="Adobe 黑体 Std R" panose="020B0400000000000000" pitchFamily="34" charset="-122"/>
              </a:rPr>
              <a:t>本研究顯示，</a:t>
            </a:r>
            <a:r>
              <a:rPr lang="en-US" altLang="zh-TW" sz="1400" dirty="0">
                <a:latin typeface="Adobe 黑体 Std R" panose="020B0400000000000000" pitchFamily="34" charset="-122"/>
                <a:ea typeface="Adobe 黑体 Std R" panose="020B0400000000000000" pitchFamily="34" charset="-122"/>
              </a:rPr>
              <a:t>LLM </a:t>
            </a:r>
            <a:r>
              <a:rPr lang="zh-TW" altLang="en-US" sz="1400" dirty="0">
                <a:latin typeface="Adobe 黑体 Std R" panose="020B0400000000000000" pitchFamily="34" charset="-122"/>
                <a:ea typeface="Adobe 黑体 Std R" panose="020B0400000000000000" pitchFamily="34" charset="-122"/>
              </a:rPr>
              <a:t>控制的實體對話代理具備可影響使用者體驗與行為的人格與溝通特徵，能真實模擬人際互動。與外向型代理互動可提升社會評價、情感體驗與參與度，且此效應跨任務一致，反映一般性的社會情感處理機制。結果對心理健康與社交互動等應用領域具有重要啟示。</a:t>
            </a:r>
            <a:endParaRPr sz="1400" b="1" dirty="0">
              <a:solidFill>
                <a:srgbClr val="131314"/>
              </a:solidFill>
              <a:highlight>
                <a:srgbClr val="FFFFFF"/>
              </a:highlight>
              <a:latin typeface="Adobe 黑体 Std R" panose="020B0400000000000000" pitchFamily="34" charset="-122"/>
              <a:ea typeface="Adobe 黑体 Std R" panose="020B0400000000000000"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7"/>
          <p:cNvSpPr txBox="1">
            <a:spLocks noGrp="1"/>
          </p:cNvSpPr>
          <p:nvPr>
            <p:ph type="ctrTitle"/>
          </p:nvPr>
        </p:nvSpPr>
        <p:spPr>
          <a:xfrm>
            <a:off x="3470650" y="0"/>
            <a:ext cx="2383200" cy="918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zh-TW" altLang="en-US" dirty="0">
                <a:latin typeface="Adobe 黑体 Std R" panose="020B0400000000000000" pitchFamily="34" charset="-122"/>
                <a:ea typeface="Adobe 黑体 Std R" panose="020B0400000000000000" pitchFamily="34" charset="-122"/>
              </a:rPr>
              <a:t>論文網址</a:t>
            </a:r>
            <a:endParaRPr sz="2650" dirty="0">
              <a:latin typeface="Adobe 黑体 Std R" panose="020B0400000000000000" pitchFamily="34" charset="-122"/>
              <a:ea typeface="Adobe 黑体 Std R" panose="020B0400000000000000" pitchFamily="34" charset="-122"/>
            </a:endParaRPr>
          </a:p>
        </p:txBody>
      </p:sp>
      <p:sp>
        <p:nvSpPr>
          <p:cNvPr id="239" name="Google Shape;239;p37"/>
          <p:cNvSpPr txBox="1">
            <a:spLocks noGrp="1"/>
          </p:cNvSpPr>
          <p:nvPr>
            <p:ph type="subTitle" idx="1"/>
          </p:nvPr>
        </p:nvSpPr>
        <p:spPr>
          <a:xfrm>
            <a:off x="640275" y="918900"/>
            <a:ext cx="8309400" cy="3677400"/>
          </a:xfrm>
          <a:prstGeom prst="rect">
            <a:avLst/>
          </a:prstGeom>
        </p:spPr>
        <p:txBody>
          <a:bodyPr spcFirstLastPara="1" wrap="square" lIns="91425" tIns="45700" rIns="91425" bIns="45700" anchor="t" anchorCtr="0">
            <a:noAutofit/>
          </a:bodyPr>
          <a:lstStyle/>
          <a:p>
            <a:pPr marL="0" lvl="0" indent="0" algn="l" rtl="0">
              <a:spcBef>
                <a:spcPts val="560"/>
              </a:spcBef>
              <a:spcAft>
                <a:spcPts val="0"/>
              </a:spcAft>
              <a:buNone/>
            </a:pPr>
            <a:r>
              <a:rPr lang="en-US" sz="1400" b="1" dirty="0">
                <a:solidFill>
                  <a:srgbClr val="131314"/>
                </a:solidFill>
                <a:highlight>
                  <a:srgbClr val="FFFFFF"/>
                </a:highlight>
                <a:latin typeface="Adobe 黑体 Std R" panose="020B0400000000000000" pitchFamily="34" charset="-122"/>
                <a:ea typeface="Adobe 黑体 Std R" panose="020B0400000000000000" pitchFamily="34" charset="-122"/>
                <a:hlinkClick r:id="rId3"/>
              </a:rPr>
              <a:t>https://www.sciencedirect.com/science/article/pii/S0747563225002067?via%3Dihub</a:t>
            </a:r>
            <a:endParaRPr lang="en-US" sz="1400" b="1" dirty="0">
              <a:solidFill>
                <a:srgbClr val="131314"/>
              </a:solidFill>
              <a:highlight>
                <a:srgbClr val="FFFFFF"/>
              </a:highlight>
              <a:latin typeface="Adobe 黑体 Std R" panose="020B0400000000000000" pitchFamily="34" charset="-122"/>
              <a:ea typeface="Adobe 黑体 Std R" panose="020B0400000000000000" pitchFamily="34" charset="-122"/>
            </a:endParaRPr>
          </a:p>
          <a:p>
            <a:pPr marL="0" lvl="0" indent="0" algn="l" rtl="0">
              <a:spcBef>
                <a:spcPts val="560"/>
              </a:spcBef>
              <a:spcAft>
                <a:spcPts val="0"/>
              </a:spcAft>
              <a:buNone/>
            </a:pPr>
            <a:endParaRPr sz="1400" b="1" dirty="0">
              <a:solidFill>
                <a:srgbClr val="131314"/>
              </a:solidFill>
              <a:highlight>
                <a:srgbClr val="FFFFFF"/>
              </a:highlight>
              <a:latin typeface="Adobe 黑体 Std R" panose="020B0400000000000000" pitchFamily="34" charset="-122"/>
              <a:ea typeface="Adobe 黑体 Std R" panose="020B0400000000000000" pitchFamily="34" charset="-122"/>
            </a:endParaRPr>
          </a:p>
        </p:txBody>
      </p:sp>
    </p:spTree>
    <p:extLst>
      <p:ext uri="{BB962C8B-B14F-4D97-AF65-F5344CB8AC3E}">
        <p14:creationId xmlns:p14="http://schemas.microsoft.com/office/powerpoint/2010/main" val="3016787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8"/>
          <p:cNvSpPr txBox="1">
            <a:spLocks noGrp="1"/>
          </p:cNvSpPr>
          <p:nvPr>
            <p:ph type="ctrTitle"/>
          </p:nvPr>
        </p:nvSpPr>
        <p:spPr>
          <a:xfrm>
            <a:off x="2594675" y="1898700"/>
            <a:ext cx="4387500" cy="1346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zh-TW" sz="4800">
                <a:solidFill>
                  <a:schemeClr val="dk1"/>
                </a:solidFill>
              </a:rPr>
              <a:t>Thank you</a:t>
            </a:r>
            <a:endParaRPr sz="4800"/>
          </a:p>
        </p:txBody>
      </p:sp>
    </p:spTree>
  </p:cSld>
  <p:clrMapOvr>
    <a:masterClrMapping/>
  </p:clrMapOvr>
</p:sld>
</file>

<file path=ppt/theme/theme1.xml><?xml version="1.0" encoding="utf-8"?>
<a:theme xmlns:a="http://schemas.openxmlformats.org/drawingml/2006/main" name="絲縷">
  <a:themeElements>
    <a:clrScheme name="絲縷">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絲縷">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絲縷">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小水滴</Template>
  <TotalTime>479</TotalTime>
  <Words>2324</Words>
  <Application>Microsoft Office PowerPoint</Application>
  <PresentationFormat>如螢幕大小 (16:9)</PresentationFormat>
  <Paragraphs>151</Paragraphs>
  <Slides>23</Slides>
  <Notes>23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23</vt:i4>
      </vt:variant>
    </vt:vector>
  </HeadingPairs>
  <TitlesOfParts>
    <vt:vector size="30" baseType="lpstr">
      <vt:lpstr>Wingdings 3</vt:lpstr>
      <vt:lpstr>Nunito</vt:lpstr>
      <vt:lpstr>Adobe 黑体 Std R</vt:lpstr>
      <vt:lpstr>Adobe 繁黑體 Std B</vt:lpstr>
      <vt:lpstr>Century Gothic</vt:lpstr>
      <vt:lpstr>Arial</vt:lpstr>
      <vt:lpstr>絲縷</vt:lpstr>
      <vt:lpstr>角色和對話任務對與LLM 控制的具身對話代理的社交互動的影響 The influence of persona and conversational task on social interactions with a LLM-controlled embodied conversational agent</vt:lpstr>
      <vt:lpstr>目錄</vt:lpstr>
      <vt:lpstr>前言</vt:lpstr>
      <vt:lpstr>前言</vt:lpstr>
      <vt:lpstr>前言</vt:lpstr>
      <vt:lpstr>系統架構</vt:lpstr>
      <vt:lpstr>系統架構</vt:lpstr>
      <vt:lpstr>系統架構</vt:lpstr>
      <vt:lpstr>實驗</vt:lpstr>
      <vt:lpstr>實驗</vt:lpstr>
      <vt:lpstr>實驗</vt:lpstr>
      <vt:lpstr>結果&amp;建議</vt:lpstr>
      <vt:lpstr>結果</vt:lpstr>
      <vt:lpstr>結果</vt:lpstr>
      <vt:lpstr>結果</vt:lpstr>
      <vt:lpstr>結果</vt:lpstr>
      <vt:lpstr>結果</vt:lpstr>
      <vt:lpstr>建議</vt:lpstr>
      <vt:lpstr>建議</vt:lpstr>
      <vt:lpstr>結論</vt:lpstr>
      <vt:lpstr>結論</vt:lpstr>
      <vt:lpstr>論文網址</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言論自由還是接觸自由緩解社交網路中惡意內容的策略     Freedom of speech or freedom of reach Strategies for mitigating malicious content in social networks</dc:title>
  <dc:creator>user</dc:creator>
  <cp:lastModifiedBy>chan weihao</cp:lastModifiedBy>
  <cp:revision>27</cp:revision>
  <dcterms:modified xsi:type="dcterms:W3CDTF">2025-10-28T06:46:14Z</dcterms:modified>
</cp:coreProperties>
</file>