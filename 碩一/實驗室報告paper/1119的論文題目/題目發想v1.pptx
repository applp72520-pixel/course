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Montserrat"/>
      <p:regular r:id="rId22"/>
      <p:bold r:id="rId23"/>
      <p:italic r:id="rId24"/>
      <p:boldItalic r:id="rId25"/>
    </p:embeddedFont>
    <p:embeddedFont>
      <p:font typeface="PT Serif"/>
      <p:regular r:id="rId26"/>
      <p:bold r:id="rId27"/>
      <p:italic r:id="rId28"/>
      <p:boldItalic r:id="rId29"/>
    </p:embeddedFont>
    <p:embeddedFont>
      <p:font typeface="Poppi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4" roundtripDataSignature="AMtx7miFo3EzPKLk9ieBmi+eVNXi6qtq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regular.fntdata"/><Relationship Id="rId21" Type="http://schemas.openxmlformats.org/officeDocument/2006/relationships/slide" Target="slides/slide16.xml"/><Relationship Id="rId24" Type="http://schemas.openxmlformats.org/officeDocument/2006/relationships/font" Target="fonts/Montserrat-italic.fntdata"/><Relationship Id="rId23"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TSerif-regular.fntdata"/><Relationship Id="rId25" Type="http://schemas.openxmlformats.org/officeDocument/2006/relationships/font" Target="fonts/Montserrat-boldItalic.fntdata"/><Relationship Id="rId28" Type="http://schemas.openxmlformats.org/officeDocument/2006/relationships/font" Target="fonts/PTSerif-italic.fntdata"/><Relationship Id="rId27" Type="http://schemas.openxmlformats.org/officeDocument/2006/relationships/font" Target="fonts/PTSerif-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TSerif-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6.xml"/><Relationship Id="rId33" Type="http://schemas.openxmlformats.org/officeDocument/2006/relationships/font" Target="fonts/Poppins-boldItalic.fntdata"/><Relationship Id="rId10" Type="http://schemas.openxmlformats.org/officeDocument/2006/relationships/slide" Target="slides/slide5.xml"/><Relationship Id="rId32" Type="http://schemas.openxmlformats.org/officeDocument/2006/relationships/font" Target="fonts/Poppins-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 name="Google Shape;2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9" name="Shape 9"/>
        <p:cNvGrpSpPr/>
        <p:nvPr/>
      </p:nvGrpSpPr>
      <p:grpSpPr>
        <a:xfrm>
          <a:off x="0" y="0"/>
          <a:ext cx="0" cy="0"/>
          <a:chOff x="0" y="0"/>
          <a:chExt cx="0" cy="0"/>
        </a:xfrm>
      </p:grpSpPr>
      <p:sp>
        <p:nvSpPr>
          <p:cNvPr id="10" name="Google Shape;10;p19"/>
          <p:cNvSpPr txBox="1"/>
          <p:nvPr>
            <p:ph idx="1" type="body"/>
          </p:nvPr>
        </p:nvSpPr>
        <p:spPr>
          <a:xfrm>
            <a:off x="626350" y="1346063"/>
            <a:ext cx="3644400" cy="3204900"/>
          </a:xfrm>
          <a:prstGeom prst="rect">
            <a:avLst/>
          </a:prstGeom>
          <a:noFill/>
          <a:ln>
            <a:noFill/>
          </a:ln>
        </p:spPr>
        <p:txBody>
          <a:bodyPr anchorCtr="0" anchor="t" bIns="91425" lIns="91425" spcFirstLastPara="1" rIns="91425" wrap="square" tIns="91425">
            <a:noAutofit/>
          </a:bodyPr>
          <a:lstStyle>
            <a:lvl1pPr indent="-355600" lvl="0" marL="457200" algn="l">
              <a:lnSpc>
                <a:spcPct val="115000"/>
              </a:lnSpc>
              <a:spcBef>
                <a:spcPts val="600"/>
              </a:spcBef>
              <a:spcAft>
                <a:spcPts val="0"/>
              </a:spcAft>
              <a:buSzPts val="2000"/>
              <a:buChar char="○"/>
              <a:defRPr sz="2000"/>
            </a:lvl1pPr>
            <a:lvl2pPr indent="-355600" lvl="1" marL="914400" algn="l">
              <a:lnSpc>
                <a:spcPct val="115000"/>
              </a:lnSpc>
              <a:spcBef>
                <a:spcPts val="0"/>
              </a:spcBef>
              <a:spcAft>
                <a:spcPts val="0"/>
              </a:spcAft>
              <a:buSzPts val="2000"/>
              <a:buChar char="□"/>
              <a:defRPr sz="2000"/>
            </a:lvl2pPr>
            <a:lvl3pPr indent="-355600" lvl="2" marL="1371600" algn="l">
              <a:lnSpc>
                <a:spcPct val="115000"/>
              </a:lnSpc>
              <a:spcBef>
                <a:spcPts val="0"/>
              </a:spcBef>
              <a:spcAft>
                <a:spcPts val="0"/>
              </a:spcAft>
              <a:buSzPts val="2000"/>
              <a:buChar char="○"/>
              <a:defRPr sz="2000"/>
            </a:lvl3pPr>
            <a:lvl4pPr indent="-355600" lvl="3" marL="1828800" algn="l">
              <a:lnSpc>
                <a:spcPct val="115000"/>
              </a:lnSpc>
              <a:spcBef>
                <a:spcPts val="0"/>
              </a:spcBef>
              <a:spcAft>
                <a:spcPts val="0"/>
              </a:spcAft>
              <a:buSzPts val="2000"/>
              <a:buChar char="□"/>
              <a:defRPr sz="2000"/>
            </a:lvl4pPr>
            <a:lvl5pPr indent="-355600" lvl="4" marL="2286000" algn="l">
              <a:lnSpc>
                <a:spcPct val="115000"/>
              </a:lnSpc>
              <a:spcBef>
                <a:spcPts val="0"/>
              </a:spcBef>
              <a:spcAft>
                <a:spcPts val="0"/>
              </a:spcAft>
              <a:buSzPts val="2000"/>
              <a:buChar char="○"/>
              <a:defRPr sz="2000"/>
            </a:lvl5pPr>
            <a:lvl6pPr indent="-355600" lvl="5" marL="2743200" algn="l">
              <a:lnSpc>
                <a:spcPct val="115000"/>
              </a:lnSpc>
              <a:spcBef>
                <a:spcPts val="0"/>
              </a:spcBef>
              <a:spcAft>
                <a:spcPts val="0"/>
              </a:spcAft>
              <a:buSzPts val="2000"/>
              <a:buChar char="■"/>
              <a:defRPr sz="2000"/>
            </a:lvl6pPr>
            <a:lvl7pPr indent="-355600" lvl="6" marL="3200400" algn="l">
              <a:lnSpc>
                <a:spcPct val="115000"/>
              </a:lnSpc>
              <a:spcBef>
                <a:spcPts val="0"/>
              </a:spcBef>
              <a:spcAft>
                <a:spcPts val="0"/>
              </a:spcAft>
              <a:buSzPts val="2000"/>
              <a:buChar char="●"/>
              <a:defRPr sz="2000"/>
            </a:lvl7pPr>
            <a:lvl8pPr indent="-355600" lvl="7" marL="3657600" algn="l">
              <a:lnSpc>
                <a:spcPct val="115000"/>
              </a:lnSpc>
              <a:spcBef>
                <a:spcPts val="0"/>
              </a:spcBef>
              <a:spcAft>
                <a:spcPts val="0"/>
              </a:spcAft>
              <a:buSzPts val="2000"/>
              <a:buChar char="○"/>
              <a:defRPr sz="2000"/>
            </a:lvl8pPr>
            <a:lvl9pPr indent="-355600" lvl="8" marL="4114800" algn="l">
              <a:lnSpc>
                <a:spcPct val="115000"/>
              </a:lnSpc>
              <a:spcBef>
                <a:spcPts val="0"/>
              </a:spcBef>
              <a:spcAft>
                <a:spcPts val="0"/>
              </a:spcAft>
              <a:buSzPts val="2000"/>
              <a:buChar char="■"/>
              <a:defRPr sz="2000"/>
            </a:lvl9pPr>
          </a:lstStyle>
          <a:p/>
        </p:txBody>
      </p:sp>
      <p:sp>
        <p:nvSpPr>
          <p:cNvPr id="11" name="Google Shape;11;p19"/>
          <p:cNvSpPr txBox="1"/>
          <p:nvPr>
            <p:ph idx="2" type="body"/>
          </p:nvPr>
        </p:nvSpPr>
        <p:spPr>
          <a:xfrm>
            <a:off x="4870698" y="1346063"/>
            <a:ext cx="3644400" cy="3204900"/>
          </a:xfrm>
          <a:prstGeom prst="rect">
            <a:avLst/>
          </a:prstGeom>
          <a:noFill/>
          <a:ln>
            <a:noFill/>
          </a:ln>
        </p:spPr>
        <p:txBody>
          <a:bodyPr anchorCtr="0" anchor="t" bIns="91425" lIns="91425" spcFirstLastPara="1" rIns="91425" wrap="square" tIns="91425">
            <a:noAutofit/>
          </a:bodyPr>
          <a:lstStyle>
            <a:lvl1pPr indent="-355600" lvl="0" marL="457200" algn="l">
              <a:lnSpc>
                <a:spcPct val="115000"/>
              </a:lnSpc>
              <a:spcBef>
                <a:spcPts val="600"/>
              </a:spcBef>
              <a:spcAft>
                <a:spcPts val="0"/>
              </a:spcAft>
              <a:buSzPts val="2000"/>
              <a:buChar char="○"/>
              <a:defRPr sz="2000"/>
            </a:lvl1pPr>
            <a:lvl2pPr indent="-355600" lvl="1" marL="914400" algn="l">
              <a:lnSpc>
                <a:spcPct val="115000"/>
              </a:lnSpc>
              <a:spcBef>
                <a:spcPts val="0"/>
              </a:spcBef>
              <a:spcAft>
                <a:spcPts val="0"/>
              </a:spcAft>
              <a:buSzPts val="2000"/>
              <a:buChar char="□"/>
              <a:defRPr sz="2000"/>
            </a:lvl2pPr>
            <a:lvl3pPr indent="-355600" lvl="2" marL="1371600" algn="l">
              <a:lnSpc>
                <a:spcPct val="115000"/>
              </a:lnSpc>
              <a:spcBef>
                <a:spcPts val="0"/>
              </a:spcBef>
              <a:spcAft>
                <a:spcPts val="0"/>
              </a:spcAft>
              <a:buSzPts val="2000"/>
              <a:buChar char="○"/>
              <a:defRPr sz="2000"/>
            </a:lvl3pPr>
            <a:lvl4pPr indent="-355600" lvl="3" marL="1828800" algn="l">
              <a:lnSpc>
                <a:spcPct val="115000"/>
              </a:lnSpc>
              <a:spcBef>
                <a:spcPts val="0"/>
              </a:spcBef>
              <a:spcAft>
                <a:spcPts val="0"/>
              </a:spcAft>
              <a:buSzPts val="2000"/>
              <a:buChar char="□"/>
              <a:defRPr sz="2000"/>
            </a:lvl4pPr>
            <a:lvl5pPr indent="-355600" lvl="4" marL="2286000" algn="l">
              <a:lnSpc>
                <a:spcPct val="115000"/>
              </a:lnSpc>
              <a:spcBef>
                <a:spcPts val="0"/>
              </a:spcBef>
              <a:spcAft>
                <a:spcPts val="0"/>
              </a:spcAft>
              <a:buSzPts val="2000"/>
              <a:buChar char="○"/>
              <a:defRPr sz="2000"/>
            </a:lvl5pPr>
            <a:lvl6pPr indent="-355600" lvl="5" marL="2743200" algn="l">
              <a:lnSpc>
                <a:spcPct val="115000"/>
              </a:lnSpc>
              <a:spcBef>
                <a:spcPts val="0"/>
              </a:spcBef>
              <a:spcAft>
                <a:spcPts val="0"/>
              </a:spcAft>
              <a:buSzPts val="2000"/>
              <a:buChar char="■"/>
              <a:defRPr sz="2000"/>
            </a:lvl6pPr>
            <a:lvl7pPr indent="-355600" lvl="6" marL="3200400" algn="l">
              <a:lnSpc>
                <a:spcPct val="115000"/>
              </a:lnSpc>
              <a:spcBef>
                <a:spcPts val="0"/>
              </a:spcBef>
              <a:spcAft>
                <a:spcPts val="0"/>
              </a:spcAft>
              <a:buSzPts val="2000"/>
              <a:buChar char="●"/>
              <a:defRPr sz="2000"/>
            </a:lvl7pPr>
            <a:lvl8pPr indent="-355600" lvl="7" marL="3657600" algn="l">
              <a:lnSpc>
                <a:spcPct val="115000"/>
              </a:lnSpc>
              <a:spcBef>
                <a:spcPts val="0"/>
              </a:spcBef>
              <a:spcAft>
                <a:spcPts val="0"/>
              </a:spcAft>
              <a:buSzPts val="2000"/>
              <a:buChar char="○"/>
              <a:defRPr sz="2000"/>
            </a:lvl8pPr>
            <a:lvl9pPr indent="-355600" lvl="8" marL="4114800" algn="l">
              <a:lnSpc>
                <a:spcPct val="115000"/>
              </a:lnSpc>
              <a:spcBef>
                <a:spcPts val="0"/>
              </a:spcBef>
              <a:spcAft>
                <a:spcPts val="0"/>
              </a:spcAft>
              <a:buSzPts val="2000"/>
              <a:buChar char="■"/>
              <a:defRPr sz="2000"/>
            </a:lvl9pPr>
          </a:lstStyle>
          <a:p/>
        </p:txBody>
      </p:sp>
      <p:sp>
        <p:nvSpPr>
          <p:cNvPr id="12" name="Google Shape;12;p19"/>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cxnSp>
        <p:nvCxnSpPr>
          <p:cNvPr id="13" name="Google Shape;13;p19"/>
          <p:cNvCxnSpPr/>
          <p:nvPr/>
        </p:nvCxnSpPr>
        <p:spPr>
          <a:xfrm rot="10800000">
            <a:off x="-23700" y="541800"/>
            <a:ext cx="2341800" cy="0"/>
          </a:xfrm>
          <a:prstGeom prst="straightConnector1">
            <a:avLst/>
          </a:prstGeom>
          <a:noFill/>
          <a:ln cap="flat" cmpd="sng" w="9525">
            <a:solidFill>
              <a:schemeClr val="dk2"/>
            </a:solidFill>
            <a:prstDash val="solid"/>
            <a:round/>
            <a:headEnd len="med" w="med" type="oval"/>
            <a:tailEnd len="sm" w="sm" type="none"/>
          </a:ln>
        </p:spPr>
      </p:cxnSp>
      <p:cxnSp>
        <p:nvCxnSpPr>
          <p:cNvPr id="14" name="Google Shape;14;p19"/>
          <p:cNvCxnSpPr/>
          <p:nvPr/>
        </p:nvCxnSpPr>
        <p:spPr>
          <a:xfrm>
            <a:off x="6825900" y="541800"/>
            <a:ext cx="2331300" cy="0"/>
          </a:xfrm>
          <a:prstGeom prst="straightConnector1">
            <a:avLst/>
          </a:prstGeom>
          <a:noFill/>
          <a:ln cap="flat" cmpd="sng" w="9525">
            <a:solidFill>
              <a:schemeClr val="dk2"/>
            </a:solidFill>
            <a:prstDash val="solid"/>
            <a:round/>
            <a:headEnd len="med" w="med" type="oval"/>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2430350" y="206000"/>
            <a:ext cx="4283400" cy="8574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chemeClr val="dk1"/>
              </a:buClr>
              <a:buSzPts val="1600"/>
              <a:buFont typeface="Montserrat"/>
              <a:buNone/>
              <a:defRPr b="1" i="0" sz="1600" u="none" cap="none" strike="noStrike">
                <a:solidFill>
                  <a:schemeClr val="dk1"/>
                </a:solidFill>
                <a:latin typeface="Montserrat"/>
                <a:ea typeface="Montserrat"/>
                <a:cs typeface="Montserrat"/>
                <a:sym typeface="Montserrat"/>
              </a:defRPr>
            </a:lvl1pPr>
            <a:lvl2pPr lvl="1" marR="0" rtl="0" algn="ctr">
              <a:lnSpc>
                <a:spcPct val="100000"/>
              </a:lnSpc>
              <a:spcBef>
                <a:spcPts val="0"/>
              </a:spcBef>
              <a:spcAft>
                <a:spcPts val="0"/>
              </a:spcAft>
              <a:buClr>
                <a:schemeClr val="dk1"/>
              </a:buClr>
              <a:buSzPts val="1600"/>
              <a:buFont typeface="Montserrat"/>
              <a:buNone/>
              <a:defRPr b="1" i="0" sz="1600" u="none" cap="none" strike="noStrike">
                <a:solidFill>
                  <a:schemeClr val="dk1"/>
                </a:solidFill>
                <a:latin typeface="Montserrat"/>
                <a:ea typeface="Montserrat"/>
                <a:cs typeface="Montserrat"/>
                <a:sym typeface="Montserrat"/>
              </a:defRPr>
            </a:lvl2pPr>
            <a:lvl3pPr lvl="2" marR="0" rtl="0" algn="ctr">
              <a:lnSpc>
                <a:spcPct val="100000"/>
              </a:lnSpc>
              <a:spcBef>
                <a:spcPts val="0"/>
              </a:spcBef>
              <a:spcAft>
                <a:spcPts val="0"/>
              </a:spcAft>
              <a:buClr>
                <a:schemeClr val="dk1"/>
              </a:buClr>
              <a:buSzPts val="1600"/>
              <a:buFont typeface="Montserrat"/>
              <a:buNone/>
              <a:defRPr b="1" i="0" sz="1600" u="none" cap="none" strike="noStrike">
                <a:solidFill>
                  <a:schemeClr val="dk1"/>
                </a:solidFill>
                <a:latin typeface="Montserrat"/>
                <a:ea typeface="Montserrat"/>
                <a:cs typeface="Montserrat"/>
                <a:sym typeface="Montserrat"/>
              </a:defRPr>
            </a:lvl3pPr>
            <a:lvl4pPr lvl="3" marR="0" rtl="0" algn="ctr">
              <a:lnSpc>
                <a:spcPct val="100000"/>
              </a:lnSpc>
              <a:spcBef>
                <a:spcPts val="0"/>
              </a:spcBef>
              <a:spcAft>
                <a:spcPts val="0"/>
              </a:spcAft>
              <a:buClr>
                <a:schemeClr val="dk1"/>
              </a:buClr>
              <a:buSzPts val="1600"/>
              <a:buFont typeface="Montserrat"/>
              <a:buNone/>
              <a:defRPr b="1" i="0" sz="1600" u="none" cap="none" strike="noStrike">
                <a:solidFill>
                  <a:schemeClr val="dk1"/>
                </a:solidFill>
                <a:latin typeface="Montserrat"/>
                <a:ea typeface="Montserrat"/>
                <a:cs typeface="Montserrat"/>
                <a:sym typeface="Montserrat"/>
              </a:defRPr>
            </a:lvl4pPr>
            <a:lvl5pPr lvl="4" marR="0" rtl="0" algn="ctr">
              <a:lnSpc>
                <a:spcPct val="100000"/>
              </a:lnSpc>
              <a:spcBef>
                <a:spcPts val="0"/>
              </a:spcBef>
              <a:spcAft>
                <a:spcPts val="0"/>
              </a:spcAft>
              <a:buClr>
                <a:schemeClr val="dk1"/>
              </a:buClr>
              <a:buSzPts val="1600"/>
              <a:buFont typeface="Montserrat"/>
              <a:buNone/>
              <a:defRPr b="1" i="0" sz="1600" u="none" cap="none" strike="noStrike">
                <a:solidFill>
                  <a:schemeClr val="dk1"/>
                </a:solidFill>
                <a:latin typeface="Montserrat"/>
                <a:ea typeface="Montserrat"/>
                <a:cs typeface="Montserrat"/>
                <a:sym typeface="Montserrat"/>
              </a:defRPr>
            </a:lvl5pPr>
            <a:lvl6pPr lvl="5" marR="0" rtl="0" algn="ctr">
              <a:lnSpc>
                <a:spcPct val="100000"/>
              </a:lnSpc>
              <a:spcBef>
                <a:spcPts val="0"/>
              </a:spcBef>
              <a:spcAft>
                <a:spcPts val="0"/>
              </a:spcAft>
              <a:buClr>
                <a:schemeClr val="dk1"/>
              </a:buClr>
              <a:buSzPts val="1600"/>
              <a:buFont typeface="Montserrat"/>
              <a:buNone/>
              <a:defRPr b="1" i="0" sz="1600" u="none" cap="none" strike="noStrike">
                <a:solidFill>
                  <a:schemeClr val="dk1"/>
                </a:solidFill>
                <a:latin typeface="Montserrat"/>
                <a:ea typeface="Montserrat"/>
                <a:cs typeface="Montserrat"/>
                <a:sym typeface="Montserrat"/>
              </a:defRPr>
            </a:lvl6pPr>
            <a:lvl7pPr lvl="6" marR="0" rtl="0" algn="ctr">
              <a:lnSpc>
                <a:spcPct val="100000"/>
              </a:lnSpc>
              <a:spcBef>
                <a:spcPts val="0"/>
              </a:spcBef>
              <a:spcAft>
                <a:spcPts val="0"/>
              </a:spcAft>
              <a:buClr>
                <a:schemeClr val="dk1"/>
              </a:buClr>
              <a:buSzPts val="1600"/>
              <a:buFont typeface="Montserrat"/>
              <a:buNone/>
              <a:defRPr b="1" i="0" sz="1600" u="none" cap="none" strike="noStrike">
                <a:solidFill>
                  <a:schemeClr val="dk1"/>
                </a:solidFill>
                <a:latin typeface="Montserrat"/>
                <a:ea typeface="Montserrat"/>
                <a:cs typeface="Montserrat"/>
                <a:sym typeface="Montserrat"/>
              </a:defRPr>
            </a:lvl7pPr>
            <a:lvl8pPr lvl="7" marR="0" rtl="0" algn="ctr">
              <a:lnSpc>
                <a:spcPct val="100000"/>
              </a:lnSpc>
              <a:spcBef>
                <a:spcPts val="0"/>
              </a:spcBef>
              <a:spcAft>
                <a:spcPts val="0"/>
              </a:spcAft>
              <a:buClr>
                <a:schemeClr val="dk1"/>
              </a:buClr>
              <a:buSzPts val="1600"/>
              <a:buFont typeface="Montserrat"/>
              <a:buNone/>
              <a:defRPr b="1" i="0" sz="1600" u="none" cap="none" strike="noStrike">
                <a:solidFill>
                  <a:schemeClr val="dk1"/>
                </a:solidFill>
                <a:latin typeface="Montserrat"/>
                <a:ea typeface="Montserrat"/>
                <a:cs typeface="Montserrat"/>
                <a:sym typeface="Montserrat"/>
              </a:defRPr>
            </a:lvl8pPr>
            <a:lvl9pPr lvl="8" marR="0" rtl="0" algn="ctr">
              <a:lnSpc>
                <a:spcPct val="100000"/>
              </a:lnSpc>
              <a:spcBef>
                <a:spcPts val="0"/>
              </a:spcBef>
              <a:spcAft>
                <a:spcPts val="0"/>
              </a:spcAft>
              <a:buClr>
                <a:schemeClr val="dk1"/>
              </a:buClr>
              <a:buSzPts val="1600"/>
              <a:buFont typeface="Montserrat"/>
              <a:buNone/>
              <a:defRPr b="1" i="0" sz="1600" u="none" cap="none" strike="noStrike">
                <a:solidFill>
                  <a:schemeClr val="dk1"/>
                </a:solidFill>
                <a:latin typeface="Montserrat"/>
                <a:ea typeface="Montserrat"/>
                <a:cs typeface="Montserrat"/>
                <a:sym typeface="Montserrat"/>
              </a:defRPr>
            </a:lvl9pPr>
          </a:lstStyle>
          <a:p/>
        </p:txBody>
      </p:sp>
      <p:sp>
        <p:nvSpPr>
          <p:cNvPr id="7" name="Google Shape;7;p17"/>
          <p:cNvSpPr txBox="1"/>
          <p:nvPr>
            <p:ph idx="1" type="body"/>
          </p:nvPr>
        </p:nvSpPr>
        <p:spPr>
          <a:xfrm>
            <a:off x="617100" y="1269863"/>
            <a:ext cx="7909800" cy="32154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15000"/>
              </a:lnSpc>
              <a:spcBef>
                <a:spcPts val="600"/>
              </a:spcBef>
              <a:spcAft>
                <a:spcPts val="0"/>
              </a:spcAft>
              <a:buClr>
                <a:schemeClr val="accent3"/>
              </a:buClr>
              <a:buSzPts val="2400"/>
              <a:buFont typeface="PT Serif"/>
              <a:buChar char="○"/>
              <a:defRPr b="0" i="0" sz="2400" u="none" cap="none" strike="noStrike">
                <a:solidFill>
                  <a:schemeClr val="dk1"/>
                </a:solidFill>
                <a:latin typeface="PT Serif"/>
                <a:ea typeface="PT Serif"/>
                <a:cs typeface="PT Serif"/>
                <a:sym typeface="PT Serif"/>
              </a:defRPr>
            </a:lvl1pPr>
            <a:lvl2pPr indent="-381000" lvl="1" marL="914400" marR="0" rtl="0" algn="l">
              <a:lnSpc>
                <a:spcPct val="115000"/>
              </a:lnSpc>
              <a:spcBef>
                <a:spcPts val="0"/>
              </a:spcBef>
              <a:spcAft>
                <a:spcPts val="0"/>
              </a:spcAft>
              <a:buClr>
                <a:schemeClr val="accent3"/>
              </a:buClr>
              <a:buSzPts val="2400"/>
              <a:buFont typeface="PT Serif"/>
              <a:buChar char="□"/>
              <a:defRPr b="0" i="0" sz="2400" u="none" cap="none" strike="noStrike">
                <a:solidFill>
                  <a:schemeClr val="dk1"/>
                </a:solidFill>
                <a:latin typeface="PT Serif"/>
                <a:ea typeface="PT Serif"/>
                <a:cs typeface="PT Serif"/>
                <a:sym typeface="PT Serif"/>
              </a:defRPr>
            </a:lvl2pPr>
            <a:lvl3pPr indent="-381000" lvl="2" marL="1371600" marR="0" rtl="0" algn="l">
              <a:lnSpc>
                <a:spcPct val="115000"/>
              </a:lnSpc>
              <a:spcBef>
                <a:spcPts val="0"/>
              </a:spcBef>
              <a:spcAft>
                <a:spcPts val="0"/>
              </a:spcAft>
              <a:buClr>
                <a:schemeClr val="accent3"/>
              </a:buClr>
              <a:buSzPts val="2400"/>
              <a:buFont typeface="PT Serif"/>
              <a:buChar char="○"/>
              <a:defRPr b="0" i="0" sz="2400" u="none" cap="none" strike="noStrike">
                <a:solidFill>
                  <a:schemeClr val="dk1"/>
                </a:solidFill>
                <a:latin typeface="PT Serif"/>
                <a:ea typeface="PT Serif"/>
                <a:cs typeface="PT Serif"/>
                <a:sym typeface="PT Serif"/>
              </a:defRPr>
            </a:lvl3pPr>
            <a:lvl4pPr indent="-381000" lvl="3" marL="1828800" marR="0" rtl="0" algn="l">
              <a:lnSpc>
                <a:spcPct val="115000"/>
              </a:lnSpc>
              <a:spcBef>
                <a:spcPts val="0"/>
              </a:spcBef>
              <a:spcAft>
                <a:spcPts val="0"/>
              </a:spcAft>
              <a:buClr>
                <a:schemeClr val="dk1"/>
              </a:buClr>
              <a:buSzPts val="2400"/>
              <a:buFont typeface="PT Serif"/>
              <a:buChar char="□"/>
              <a:defRPr b="0" i="0" sz="2400" u="none" cap="none" strike="noStrike">
                <a:solidFill>
                  <a:schemeClr val="dk1"/>
                </a:solidFill>
                <a:latin typeface="PT Serif"/>
                <a:ea typeface="PT Serif"/>
                <a:cs typeface="PT Serif"/>
                <a:sym typeface="PT Serif"/>
              </a:defRPr>
            </a:lvl4pPr>
            <a:lvl5pPr indent="-381000" lvl="4" marL="2286000" marR="0" rtl="0" algn="l">
              <a:lnSpc>
                <a:spcPct val="115000"/>
              </a:lnSpc>
              <a:spcBef>
                <a:spcPts val="0"/>
              </a:spcBef>
              <a:spcAft>
                <a:spcPts val="0"/>
              </a:spcAft>
              <a:buClr>
                <a:schemeClr val="dk1"/>
              </a:buClr>
              <a:buSzPts val="2400"/>
              <a:buFont typeface="PT Serif"/>
              <a:buChar char="○"/>
              <a:defRPr b="0" i="0" sz="2400" u="none" cap="none" strike="noStrike">
                <a:solidFill>
                  <a:schemeClr val="dk1"/>
                </a:solidFill>
                <a:latin typeface="PT Serif"/>
                <a:ea typeface="PT Serif"/>
                <a:cs typeface="PT Serif"/>
                <a:sym typeface="PT Serif"/>
              </a:defRPr>
            </a:lvl5pPr>
            <a:lvl6pPr indent="-381000" lvl="5" marL="2743200" marR="0" rtl="0" algn="l">
              <a:lnSpc>
                <a:spcPct val="115000"/>
              </a:lnSpc>
              <a:spcBef>
                <a:spcPts val="0"/>
              </a:spcBef>
              <a:spcAft>
                <a:spcPts val="0"/>
              </a:spcAft>
              <a:buClr>
                <a:schemeClr val="dk1"/>
              </a:buClr>
              <a:buSzPts val="2400"/>
              <a:buFont typeface="PT Serif"/>
              <a:buChar char="■"/>
              <a:defRPr b="0" i="0" sz="2400" u="none" cap="none" strike="noStrike">
                <a:solidFill>
                  <a:schemeClr val="dk1"/>
                </a:solidFill>
                <a:latin typeface="PT Serif"/>
                <a:ea typeface="PT Serif"/>
                <a:cs typeface="PT Serif"/>
                <a:sym typeface="PT Serif"/>
              </a:defRPr>
            </a:lvl6pPr>
            <a:lvl7pPr indent="-381000" lvl="6" marL="3200400" marR="0" rtl="0" algn="l">
              <a:lnSpc>
                <a:spcPct val="115000"/>
              </a:lnSpc>
              <a:spcBef>
                <a:spcPts val="0"/>
              </a:spcBef>
              <a:spcAft>
                <a:spcPts val="0"/>
              </a:spcAft>
              <a:buClr>
                <a:schemeClr val="dk1"/>
              </a:buClr>
              <a:buSzPts val="2400"/>
              <a:buFont typeface="PT Serif"/>
              <a:buChar char="●"/>
              <a:defRPr b="0" i="0" sz="2400" u="none" cap="none" strike="noStrike">
                <a:solidFill>
                  <a:schemeClr val="dk1"/>
                </a:solidFill>
                <a:latin typeface="PT Serif"/>
                <a:ea typeface="PT Serif"/>
                <a:cs typeface="PT Serif"/>
                <a:sym typeface="PT Serif"/>
              </a:defRPr>
            </a:lvl7pPr>
            <a:lvl8pPr indent="-381000" lvl="7" marL="3657600" marR="0" rtl="0" algn="l">
              <a:lnSpc>
                <a:spcPct val="115000"/>
              </a:lnSpc>
              <a:spcBef>
                <a:spcPts val="0"/>
              </a:spcBef>
              <a:spcAft>
                <a:spcPts val="0"/>
              </a:spcAft>
              <a:buClr>
                <a:schemeClr val="dk1"/>
              </a:buClr>
              <a:buSzPts val="2400"/>
              <a:buFont typeface="PT Serif"/>
              <a:buChar char="○"/>
              <a:defRPr b="0" i="0" sz="2400" u="none" cap="none" strike="noStrike">
                <a:solidFill>
                  <a:schemeClr val="dk1"/>
                </a:solidFill>
                <a:latin typeface="PT Serif"/>
                <a:ea typeface="PT Serif"/>
                <a:cs typeface="PT Serif"/>
                <a:sym typeface="PT Serif"/>
              </a:defRPr>
            </a:lvl8pPr>
            <a:lvl9pPr indent="-381000" lvl="8" marL="4114800" marR="0" rtl="0" algn="l">
              <a:lnSpc>
                <a:spcPct val="115000"/>
              </a:lnSpc>
              <a:spcBef>
                <a:spcPts val="0"/>
              </a:spcBef>
              <a:spcAft>
                <a:spcPts val="0"/>
              </a:spcAft>
              <a:buClr>
                <a:schemeClr val="dk1"/>
              </a:buClr>
              <a:buSzPts val="2400"/>
              <a:buFont typeface="PT Serif"/>
              <a:buChar char="■"/>
              <a:defRPr b="0" i="0" sz="2400" u="none" cap="none" strike="noStrike">
                <a:solidFill>
                  <a:schemeClr val="dk1"/>
                </a:solidFill>
                <a:latin typeface="PT Serif"/>
                <a:ea typeface="PT Serif"/>
                <a:cs typeface="PT Serif"/>
                <a:sym typeface="PT Serif"/>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about:blan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sp>
        <p:nvSpPr>
          <p:cNvPr id="19" name="Google Shape;19;p1"/>
          <p:cNvSpPr txBox="1"/>
          <p:nvPr/>
        </p:nvSpPr>
        <p:spPr>
          <a:xfrm>
            <a:off x="0" y="1254327"/>
            <a:ext cx="9143999" cy="2949570"/>
          </a:xfrm>
          <a:prstGeom prst="rect">
            <a:avLst/>
          </a:prstGeom>
          <a:noFill/>
          <a:ln>
            <a:noFill/>
          </a:ln>
        </p:spPr>
        <p:txBody>
          <a:bodyPr anchorCtr="0" anchor="t" bIns="91425" lIns="91425" spcFirstLastPara="1" rIns="91425" wrap="square" tIns="91425">
            <a:noAutofit/>
          </a:bodyPr>
          <a:lstStyle/>
          <a:p>
            <a:pPr indent="-285750" lvl="0" marL="361950" marR="0" rtl="0" algn="l">
              <a:lnSpc>
                <a:spcPct val="100000"/>
              </a:lnSpc>
              <a:spcBef>
                <a:spcPts val="400"/>
              </a:spcBef>
              <a:spcAft>
                <a:spcPts val="0"/>
              </a:spcAft>
              <a:buClr>
                <a:srgbClr val="333333"/>
              </a:buClr>
              <a:buSzPts val="1600"/>
              <a:buFont typeface="PT Serif"/>
              <a:buChar char="#"/>
            </a:pPr>
            <a:r>
              <a:rPr b="0" i="0" lang="en-US" sz="1600" u="none" cap="none" strike="noStrike">
                <a:solidFill>
                  <a:srgbClr val="333333"/>
                </a:solidFill>
                <a:latin typeface="PT Serif"/>
                <a:ea typeface="PT Serif"/>
                <a:cs typeface="PT Serif"/>
                <a:sym typeface="PT Serif"/>
              </a:rPr>
              <a:t>User-centered LLM interaction: a combination of needs satisfaction and expert assessment</a:t>
            </a:r>
            <a:endParaRPr/>
          </a:p>
          <a:p>
            <a:pPr indent="0" lvl="0" marL="76200" marR="0" rtl="0" algn="l">
              <a:lnSpc>
                <a:spcPct val="100000"/>
              </a:lnSpc>
              <a:spcBef>
                <a:spcPts val="400"/>
              </a:spcBef>
              <a:spcAft>
                <a:spcPts val="0"/>
              </a:spcAft>
              <a:buNone/>
            </a:pPr>
            <a:r>
              <a:rPr b="0" i="0" lang="en-US" sz="1600" u="none" cap="none" strike="noStrike">
                <a:solidFill>
                  <a:srgbClr val="333333"/>
                </a:solidFill>
                <a:latin typeface="PT Serif"/>
                <a:ea typeface="PT Serif"/>
                <a:cs typeface="PT Serif"/>
                <a:sym typeface="PT Serif"/>
              </a:rPr>
              <a:t>     （主題：用戶 ；議題：評估） </a:t>
            </a:r>
            <a:r>
              <a:rPr b="0" i="0" lang="en-US" sz="1600" u="none" cap="none" strike="noStrike">
                <a:solidFill>
                  <a:srgbClr val="FF0000"/>
                </a:solidFill>
                <a:latin typeface="PT Serif"/>
                <a:ea typeface="PT Serif"/>
                <a:cs typeface="PT Serif"/>
                <a:sym typeface="PT Serif"/>
              </a:rPr>
              <a:t>LLM</a:t>
            </a:r>
            <a:endParaRPr b="0" i="0" sz="1600" u="none" cap="none" strike="noStrike">
              <a:solidFill>
                <a:srgbClr val="FF0000"/>
              </a:solidFill>
              <a:latin typeface="PT Serif"/>
              <a:ea typeface="PT Serif"/>
              <a:cs typeface="PT Serif"/>
              <a:sym typeface="PT Serif"/>
            </a:endParaRPr>
          </a:p>
          <a:p>
            <a:pPr indent="-184150" lvl="0" marL="361950" marR="0" rtl="0" algn="just">
              <a:lnSpc>
                <a:spcPct val="100000"/>
              </a:lnSpc>
              <a:spcBef>
                <a:spcPts val="400"/>
              </a:spcBef>
              <a:spcAft>
                <a:spcPts val="0"/>
              </a:spcAft>
              <a:buClr>
                <a:srgbClr val="000000"/>
              </a:buClr>
              <a:buSzPts val="1600"/>
              <a:buFont typeface="PT Serif"/>
              <a:buNone/>
            </a:pPr>
            <a:r>
              <a:t/>
            </a:r>
            <a:endParaRPr b="0" i="0" sz="1600" u="none" cap="none" strike="noStrike">
              <a:solidFill>
                <a:srgbClr val="333333"/>
              </a:solidFill>
              <a:latin typeface="PT Serif"/>
              <a:ea typeface="PT Serif"/>
              <a:cs typeface="PT Serif"/>
              <a:sym typeface="PT Serif"/>
            </a:endParaRPr>
          </a:p>
          <a:p>
            <a:pPr indent="-285750" lvl="0" marL="361950" marR="0" rtl="0" algn="just">
              <a:lnSpc>
                <a:spcPct val="100000"/>
              </a:lnSpc>
              <a:spcBef>
                <a:spcPts val="400"/>
              </a:spcBef>
              <a:spcAft>
                <a:spcPts val="0"/>
              </a:spcAft>
              <a:buClr>
                <a:srgbClr val="333333"/>
              </a:buClr>
              <a:buSzPts val="1600"/>
              <a:buFont typeface="PT Serif"/>
              <a:buChar char="#"/>
            </a:pPr>
            <a:r>
              <a:rPr b="0" i="0" lang="en-US" sz="1600" u="none" cap="none" strike="noStrike">
                <a:solidFill>
                  <a:srgbClr val="333333"/>
                </a:solidFill>
                <a:latin typeface="PT Serif"/>
                <a:ea typeface="PT Serif"/>
                <a:cs typeface="PT Serif"/>
                <a:sym typeface="PT Serif"/>
              </a:rPr>
              <a:t>Deconstructing the LLM supply chain: trust, values ​​and ethical considerations</a:t>
            </a:r>
            <a:endParaRPr/>
          </a:p>
          <a:p>
            <a:pPr indent="0" lvl="0" marL="76200" marR="0" rtl="0" algn="just">
              <a:lnSpc>
                <a:spcPct val="100000"/>
              </a:lnSpc>
              <a:spcBef>
                <a:spcPts val="400"/>
              </a:spcBef>
              <a:spcAft>
                <a:spcPts val="0"/>
              </a:spcAft>
              <a:buNone/>
            </a:pPr>
            <a:r>
              <a:rPr b="0" i="0" lang="en-US" sz="1600" u="none" cap="none" strike="noStrike">
                <a:solidFill>
                  <a:srgbClr val="333333"/>
                </a:solidFill>
                <a:latin typeface="PT Serif"/>
                <a:ea typeface="PT Serif"/>
                <a:cs typeface="PT Serif"/>
                <a:sym typeface="PT Serif"/>
              </a:rPr>
              <a:t>     （主題：供應鏈 ；議題：評估） </a:t>
            </a:r>
            <a:r>
              <a:rPr b="0" i="0" lang="en-US" sz="1600" u="none" cap="none" strike="noStrike">
                <a:solidFill>
                  <a:srgbClr val="FF0000"/>
                </a:solidFill>
                <a:latin typeface="PT Serif"/>
                <a:ea typeface="PT Serif"/>
                <a:cs typeface="PT Serif"/>
                <a:sym typeface="PT Serif"/>
              </a:rPr>
              <a:t>Values</a:t>
            </a:r>
            <a:endParaRPr b="0" i="0" sz="1600" u="none" cap="none" strike="noStrike">
              <a:solidFill>
                <a:srgbClr val="333333"/>
              </a:solidFill>
              <a:latin typeface="PT Serif"/>
              <a:ea typeface="PT Serif"/>
              <a:cs typeface="PT Serif"/>
              <a:sym typeface="PT Serif"/>
            </a:endParaRPr>
          </a:p>
          <a:p>
            <a:pPr indent="-184150" lvl="0" marL="361950" marR="0" rtl="0" algn="just">
              <a:lnSpc>
                <a:spcPct val="100000"/>
              </a:lnSpc>
              <a:spcBef>
                <a:spcPts val="400"/>
              </a:spcBef>
              <a:spcAft>
                <a:spcPts val="0"/>
              </a:spcAft>
              <a:buClr>
                <a:srgbClr val="000000"/>
              </a:buClr>
              <a:buSzPts val="1600"/>
              <a:buFont typeface="PT Serif"/>
              <a:buNone/>
            </a:pPr>
            <a:r>
              <a:t/>
            </a:r>
            <a:endParaRPr b="0" i="0" sz="1600" u="none" cap="none" strike="noStrike">
              <a:solidFill>
                <a:srgbClr val="333333"/>
              </a:solidFill>
              <a:latin typeface="PT Serif"/>
              <a:ea typeface="PT Serif"/>
              <a:cs typeface="PT Serif"/>
              <a:sym typeface="PT Serif"/>
            </a:endParaRPr>
          </a:p>
          <a:p>
            <a:pPr indent="-285750" lvl="0" marL="361950" marR="0" rtl="0" algn="just">
              <a:lnSpc>
                <a:spcPct val="100000"/>
              </a:lnSpc>
              <a:spcBef>
                <a:spcPts val="400"/>
              </a:spcBef>
              <a:spcAft>
                <a:spcPts val="0"/>
              </a:spcAft>
              <a:buClr>
                <a:srgbClr val="333333"/>
              </a:buClr>
              <a:buSzPts val="1600"/>
              <a:buFont typeface="PT Serif"/>
              <a:buChar char="#"/>
            </a:pPr>
            <a:r>
              <a:rPr b="0" i="0" lang="en-US" sz="1600" u="none" cap="none" strike="noStrike">
                <a:solidFill>
                  <a:srgbClr val="333333"/>
                </a:solidFill>
                <a:latin typeface="PT Serif"/>
                <a:ea typeface="PT Serif"/>
                <a:cs typeface="PT Serif"/>
                <a:sym typeface="PT Serif"/>
              </a:rPr>
              <a:t>Smart classification and personalized recommendations for e-commerce platforms</a:t>
            </a:r>
            <a:endParaRPr/>
          </a:p>
          <a:p>
            <a:pPr indent="0" lvl="0" marL="76200" marR="0" rtl="0" algn="just">
              <a:lnSpc>
                <a:spcPct val="100000"/>
              </a:lnSpc>
              <a:spcBef>
                <a:spcPts val="400"/>
              </a:spcBef>
              <a:spcAft>
                <a:spcPts val="0"/>
              </a:spcAft>
              <a:buNone/>
            </a:pPr>
            <a:r>
              <a:rPr b="0" i="0" lang="en-US" sz="1600" u="none" cap="none" strike="noStrike">
                <a:solidFill>
                  <a:srgbClr val="333333"/>
                </a:solidFill>
                <a:latin typeface="PT Serif"/>
                <a:ea typeface="PT Serif"/>
                <a:cs typeface="PT Serif"/>
                <a:sym typeface="PT Serif"/>
              </a:rPr>
              <a:t>     （主題：平台 ；議題：推薦）</a:t>
            </a:r>
            <a:r>
              <a:rPr b="0" i="0" lang="en-US" sz="1600" u="none" cap="none" strike="noStrike">
                <a:solidFill>
                  <a:srgbClr val="FF0000"/>
                </a:solidFill>
                <a:latin typeface="PT Serif"/>
                <a:ea typeface="PT Serif"/>
                <a:cs typeface="PT Serif"/>
                <a:sym typeface="PT Serif"/>
              </a:rPr>
              <a:t>Business</a:t>
            </a:r>
            <a:endParaRPr b="0" i="0" sz="1600" u="none" cap="none" strike="noStrike">
              <a:solidFill>
                <a:srgbClr val="FF0000"/>
              </a:solidFill>
              <a:latin typeface="PT Serif"/>
              <a:ea typeface="PT Serif"/>
              <a:cs typeface="PT Serif"/>
              <a:sym typeface="PT Serif"/>
            </a:endParaRPr>
          </a:p>
          <a:p>
            <a:pPr indent="-184150" lvl="0" marL="361950" marR="0" rtl="0" algn="just">
              <a:lnSpc>
                <a:spcPct val="100000"/>
              </a:lnSpc>
              <a:spcBef>
                <a:spcPts val="400"/>
              </a:spcBef>
              <a:spcAft>
                <a:spcPts val="0"/>
              </a:spcAft>
              <a:buClr>
                <a:srgbClr val="000000"/>
              </a:buClr>
              <a:buSzPts val="1600"/>
              <a:buFont typeface="PT Serif"/>
              <a:buNone/>
            </a:pPr>
            <a:r>
              <a:t/>
            </a:r>
            <a:endParaRPr b="0" i="0" sz="1600" u="none" cap="none" strike="noStrike">
              <a:solidFill>
                <a:srgbClr val="333333"/>
              </a:solidFill>
              <a:latin typeface="PT Serif"/>
              <a:ea typeface="PT Serif"/>
              <a:cs typeface="PT Serif"/>
              <a:sym typeface="PT Serif"/>
            </a:endParaRPr>
          </a:p>
          <a:p>
            <a:pPr indent="0" lvl="0" marL="76200" marR="0" rtl="0" algn="just">
              <a:lnSpc>
                <a:spcPct val="100000"/>
              </a:lnSpc>
              <a:spcBef>
                <a:spcPts val="400"/>
              </a:spcBef>
              <a:spcAft>
                <a:spcPts val="0"/>
              </a:spcAft>
              <a:buNone/>
            </a:pPr>
            <a:r>
              <a:t/>
            </a:r>
            <a:endParaRPr b="0" i="0" sz="1600" u="none" cap="none" strike="noStrike">
              <a:solidFill>
                <a:srgbClr val="333333"/>
              </a:solidFill>
              <a:latin typeface="PT Serif"/>
              <a:ea typeface="PT Serif"/>
              <a:cs typeface="PT Serif"/>
              <a:sym typeface="PT Serif"/>
            </a:endParaRPr>
          </a:p>
          <a:p>
            <a:pPr indent="-184150" lvl="0" marL="361950" marR="0" rtl="0" algn="just">
              <a:lnSpc>
                <a:spcPct val="100000"/>
              </a:lnSpc>
              <a:spcBef>
                <a:spcPts val="400"/>
              </a:spcBef>
              <a:spcAft>
                <a:spcPts val="0"/>
              </a:spcAft>
              <a:buClr>
                <a:srgbClr val="000000"/>
              </a:buClr>
              <a:buSzPts val="1600"/>
              <a:buFont typeface="PT Serif"/>
              <a:buNone/>
            </a:pPr>
            <a:r>
              <a:t/>
            </a:r>
            <a:endParaRPr b="0" i="0" sz="1600" u="none" cap="none" strike="noStrike">
              <a:solidFill>
                <a:srgbClr val="333333"/>
              </a:solidFill>
              <a:latin typeface="PT Serif"/>
              <a:ea typeface="PT Serif"/>
              <a:cs typeface="PT Serif"/>
              <a:sym typeface="PT Serif"/>
            </a:endParaRPr>
          </a:p>
          <a:p>
            <a:pPr indent="-184150" lvl="0" marL="361950" marR="0" rtl="0" algn="just">
              <a:lnSpc>
                <a:spcPct val="100000"/>
              </a:lnSpc>
              <a:spcBef>
                <a:spcPts val="400"/>
              </a:spcBef>
              <a:spcAft>
                <a:spcPts val="0"/>
              </a:spcAft>
              <a:buClr>
                <a:srgbClr val="000000"/>
              </a:buClr>
              <a:buSzPts val="1600"/>
              <a:buFont typeface="PT Serif"/>
              <a:buNone/>
            </a:pPr>
            <a:r>
              <a:t/>
            </a:r>
            <a:endParaRPr b="0" i="0" sz="1600" u="none" cap="none" strike="noStrike">
              <a:solidFill>
                <a:srgbClr val="333333"/>
              </a:solidFill>
              <a:latin typeface="PT Serif"/>
              <a:ea typeface="PT Serif"/>
              <a:cs typeface="PT Serif"/>
              <a:sym typeface="PT Serif"/>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cxnSp>
        <p:nvCxnSpPr>
          <p:cNvPr id="24" name="Google Shape;24;p2"/>
          <p:cNvCxnSpPr/>
          <p:nvPr/>
        </p:nvCxnSpPr>
        <p:spPr>
          <a:xfrm rot="10800000">
            <a:off x="2588100" y="3488719"/>
            <a:ext cx="3967800" cy="0"/>
          </a:xfrm>
          <a:prstGeom prst="straightConnector1">
            <a:avLst/>
          </a:prstGeom>
          <a:noFill/>
          <a:ln cap="flat" cmpd="sng" w="9525">
            <a:solidFill>
              <a:srgbClr val="1C1C19"/>
            </a:solidFill>
            <a:prstDash val="solid"/>
            <a:round/>
            <a:headEnd len="med" w="med" type="oval"/>
            <a:tailEnd len="med" w="med" type="oval"/>
          </a:ln>
        </p:spPr>
      </p:cxnSp>
      <p:sp>
        <p:nvSpPr>
          <p:cNvPr id="25" name="Google Shape;25;p2"/>
          <p:cNvSpPr txBox="1"/>
          <p:nvPr/>
        </p:nvSpPr>
        <p:spPr>
          <a:xfrm>
            <a:off x="-519545" y="1839413"/>
            <a:ext cx="10099963" cy="1159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2800" u="none" cap="none" strike="noStrike">
                <a:solidFill>
                  <a:srgbClr val="000000"/>
                </a:solidFill>
                <a:latin typeface="Poppins"/>
                <a:ea typeface="Poppins"/>
                <a:cs typeface="Poppins"/>
                <a:sym typeface="Poppins"/>
              </a:rPr>
              <a:t>User-centered LLM interaction: a combination of needs satisfaction and expert assessment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3"/>
          <p:cNvSpPr txBox="1"/>
          <p:nvPr>
            <p:ph idx="1" type="body"/>
          </p:nvPr>
        </p:nvSpPr>
        <p:spPr>
          <a:xfrm>
            <a:off x="0" y="964049"/>
            <a:ext cx="9028853" cy="3812500"/>
          </a:xfrm>
          <a:prstGeom prst="rect">
            <a:avLst/>
          </a:prstGeom>
          <a:noFill/>
          <a:ln>
            <a:noFill/>
          </a:ln>
        </p:spPr>
        <p:txBody>
          <a:bodyPr anchorCtr="0" anchor="t" bIns="91425" lIns="91425" spcFirstLastPara="1" rIns="91425" wrap="square" tIns="91425">
            <a:noAutofit/>
          </a:bodyPr>
          <a:lstStyle/>
          <a:p>
            <a:pPr indent="0" lvl="1" marL="533400" rtl="0" algn="just">
              <a:lnSpc>
                <a:spcPct val="115000"/>
              </a:lnSpc>
              <a:spcBef>
                <a:spcPts val="400"/>
              </a:spcBef>
              <a:spcAft>
                <a:spcPts val="0"/>
              </a:spcAft>
              <a:buClr>
                <a:srgbClr val="00B0F0"/>
              </a:buClr>
              <a:buSzPts val="1400"/>
              <a:buNone/>
            </a:pPr>
            <a:r>
              <a:rPr b="1" i="1" lang="en-US" sz="1400" u="sng">
                <a:solidFill>
                  <a:srgbClr val="00B0F0"/>
                </a:solidFill>
                <a:hlinkClick r:id="rId3">
                  <a:extLst>
                    <a:ext uri="{A12FA001-AC4F-418D-AE19-62706E023703}">
                      <ahyp:hlinkClr val="tx"/>
                    </a:ext>
                  </a:extLst>
                </a:hlinkClick>
              </a:rPr>
              <a:t># Understanding User Experience in Large Language Model Interactions</a:t>
            </a:r>
            <a:endParaRPr b="1" i="1" sz="1600">
              <a:solidFill>
                <a:srgbClr val="00B0F0"/>
              </a:solidFill>
              <a:latin typeface="PT Serif"/>
              <a:ea typeface="PT Serif"/>
              <a:cs typeface="PT Serif"/>
              <a:sym typeface="PT Serif"/>
            </a:endParaRPr>
          </a:p>
          <a:p>
            <a:pPr indent="-285750" lvl="1" marL="819150" rtl="0" algn="just">
              <a:lnSpc>
                <a:spcPct val="115000"/>
              </a:lnSpc>
              <a:spcBef>
                <a:spcPts val="400"/>
              </a:spcBef>
              <a:spcAft>
                <a:spcPts val="0"/>
              </a:spcAft>
              <a:buClr>
                <a:srgbClr val="333333"/>
              </a:buClr>
              <a:buSzPts val="1200"/>
              <a:buFont typeface="PT Serif"/>
              <a:buChar char="•"/>
            </a:pPr>
            <a:r>
              <a:rPr lang="en-US" sz="1200">
                <a:solidFill>
                  <a:srgbClr val="333333"/>
                </a:solidFill>
                <a:latin typeface="PT Serif"/>
                <a:ea typeface="PT Serif"/>
                <a:cs typeface="PT Serif"/>
                <a:sym typeface="PT Serif"/>
              </a:rPr>
              <a:t>Most existing LLM evaluation methods use LLM as an independent individual to evaluate its capabilities, ignoring the role of LLM as a user-centered service system in human-machine collaboration.</a:t>
            </a:r>
            <a:endParaRPr/>
          </a:p>
          <a:p>
            <a:pPr indent="-285750" lvl="1" marL="819150" rtl="0" algn="just">
              <a:lnSpc>
                <a:spcPct val="115000"/>
              </a:lnSpc>
              <a:spcBef>
                <a:spcPts val="400"/>
              </a:spcBef>
              <a:spcAft>
                <a:spcPts val="0"/>
              </a:spcAft>
              <a:buClr>
                <a:srgbClr val="333333"/>
              </a:buClr>
              <a:buSzPts val="1200"/>
              <a:buFont typeface="PT Serif"/>
              <a:buChar char="•"/>
            </a:pPr>
            <a:r>
              <a:rPr lang="en-US" sz="1200">
                <a:solidFill>
                  <a:srgbClr val="333333"/>
                </a:solidFill>
                <a:latin typeface="PT Serif"/>
                <a:ea typeface="PT Serif"/>
                <a:cs typeface="PT Serif"/>
                <a:sym typeface="PT Serif"/>
              </a:rPr>
              <a:t>Existing LLMs perform well in handling information retrieval and word processing tasks, but </a:t>
            </a:r>
            <a:r>
              <a:rPr lang="en-US" sz="1200">
                <a:solidFill>
                  <a:srgbClr val="FF0000"/>
                </a:solidFill>
                <a:latin typeface="PT Serif"/>
                <a:ea typeface="PT Serif"/>
                <a:cs typeface="PT Serif"/>
                <a:sym typeface="PT Serif"/>
              </a:rPr>
              <a:t>still need improvement when creativity or domain-specific problem solving is required</a:t>
            </a:r>
            <a:r>
              <a:rPr lang="en-US" sz="1200">
                <a:solidFill>
                  <a:srgbClr val="333333"/>
                </a:solidFill>
                <a:latin typeface="PT Serif"/>
                <a:ea typeface="PT Serif"/>
                <a:cs typeface="PT Serif"/>
                <a:sym typeface="PT Serif"/>
              </a:rPr>
              <a:t>.</a:t>
            </a:r>
            <a:endParaRPr/>
          </a:p>
          <a:p>
            <a:pPr indent="0" lvl="1" marL="533400" rtl="0" algn="just">
              <a:lnSpc>
                <a:spcPct val="115000"/>
              </a:lnSpc>
              <a:spcBef>
                <a:spcPts val="400"/>
              </a:spcBef>
              <a:spcAft>
                <a:spcPts val="0"/>
              </a:spcAft>
              <a:buClr>
                <a:schemeClr val="dk1"/>
              </a:buClr>
              <a:buSzPts val="1200"/>
              <a:buNone/>
            </a:pPr>
            <a:r>
              <a:t/>
            </a:r>
            <a:endParaRPr sz="1200">
              <a:solidFill>
                <a:srgbClr val="333333"/>
              </a:solidFill>
              <a:latin typeface="PT Serif"/>
              <a:ea typeface="PT Serif"/>
              <a:cs typeface="PT Serif"/>
              <a:sym typeface="PT Serif"/>
            </a:endParaRPr>
          </a:p>
          <a:p>
            <a:pPr indent="0" lvl="1" marL="533400" rtl="0" algn="just">
              <a:lnSpc>
                <a:spcPct val="115000"/>
              </a:lnSpc>
              <a:spcBef>
                <a:spcPts val="400"/>
              </a:spcBef>
              <a:spcAft>
                <a:spcPts val="0"/>
              </a:spcAft>
              <a:buClr>
                <a:srgbClr val="00B0F0"/>
              </a:buClr>
              <a:buSzPts val="1400"/>
              <a:buNone/>
            </a:pPr>
            <a:r>
              <a:rPr b="1" i="1" lang="en-US" sz="1400" u="sng">
                <a:solidFill>
                  <a:srgbClr val="00B0F0"/>
                </a:solidFill>
                <a:latin typeface="PT Serif"/>
                <a:ea typeface="PT Serif"/>
                <a:cs typeface="PT Serif"/>
                <a:sym typeface="PT Serif"/>
                <a:hlinkClick r:id="rId4">
                  <a:extLst>
                    <a:ext uri="{A12FA001-AC4F-418D-AE19-62706E023703}">
                      <ahyp:hlinkClr val="tx"/>
                    </a:ext>
                  </a:extLst>
                </a:hlinkClick>
              </a:rPr>
              <a:t># Comparing Criteria Development Across Domain Experts, LayUsers, Andy Models in Large Language Model Evaluation</a:t>
            </a:r>
            <a:endParaRPr b="1" i="1" sz="1400">
              <a:solidFill>
                <a:srgbClr val="00B0F0"/>
              </a:solidFill>
              <a:latin typeface="PT Serif"/>
              <a:ea typeface="PT Serif"/>
              <a:cs typeface="PT Serif"/>
              <a:sym typeface="PT Serif"/>
            </a:endParaRPr>
          </a:p>
          <a:p>
            <a:pPr indent="-285750" lvl="1" marL="819150" rtl="0" algn="just">
              <a:lnSpc>
                <a:spcPct val="115000"/>
              </a:lnSpc>
              <a:spcBef>
                <a:spcPts val="400"/>
              </a:spcBef>
              <a:spcAft>
                <a:spcPts val="0"/>
              </a:spcAft>
              <a:buClr>
                <a:srgbClr val="333333"/>
              </a:buClr>
              <a:buSzPts val="1200"/>
              <a:buFont typeface="PT Serif"/>
              <a:buChar char="•"/>
            </a:pPr>
            <a:r>
              <a:rPr b="0" i="0" lang="en-US" sz="1200">
                <a:solidFill>
                  <a:srgbClr val="333333"/>
                </a:solidFill>
                <a:latin typeface="PT Serif"/>
                <a:ea typeface="PT Serif"/>
                <a:cs typeface="PT Serif"/>
                <a:sym typeface="PT Serif"/>
              </a:rPr>
              <a:t>Domain experts demonstrate a higher level of detail and specificity in setting evaluation criteria. They are able to use their expertise to develop more detailed, knowledge-based standards, whereas lay users and large language models (LLMs) tend to propose more general standards.</a:t>
            </a:r>
            <a:endParaRPr/>
          </a:p>
          <a:p>
            <a:pPr indent="-285750" lvl="1" marL="819150" rtl="0" algn="just">
              <a:lnSpc>
                <a:spcPct val="115000"/>
              </a:lnSpc>
              <a:spcBef>
                <a:spcPts val="400"/>
              </a:spcBef>
              <a:spcAft>
                <a:spcPts val="0"/>
              </a:spcAft>
              <a:buClr>
                <a:schemeClr val="dk2"/>
              </a:buClr>
              <a:buSzPts val="1200"/>
              <a:buFont typeface="PT Serif"/>
              <a:buChar char="•"/>
            </a:pPr>
            <a:r>
              <a:rPr lang="en-US" sz="1200">
                <a:solidFill>
                  <a:schemeClr val="dk2"/>
                </a:solidFill>
                <a:latin typeface="PT Serif"/>
                <a:ea typeface="PT Serif"/>
                <a:cs typeface="PT Serif"/>
                <a:sym typeface="PT Serif"/>
              </a:rPr>
              <a:t>Lay users </a:t>
            </a:r>
            <a:r>
              <a:rPr lang="en-US" sz="1200">
                <a:solidFill>
                  <a:srgbClr val="FF0000"/>
                </a:solidFill>
                <a:latin typeface="PT Serif"/>
                <a:ea typeface="PT Serif"/>
                <a:cs typeface="PT Serif"/>
                <a:sym typeface="PT Serif"/>
              </a:rPr>
              <a:t>place more emphasis on presenting information in an easy-to-understand manner</a:t>
            </a:r>
            <a:r>
              <a:rPr lang="en-US" sz="1200">
                <a:solidFill>
                  <a:schemeClr val="dk2"/>
                </a:solidFill>
                <a:latin typeface="PT Serif"/>
                <a:ea typeface="PT Serif"/>
                <a:cs typeface="PT Serif"/>
                <a:sym typeface="PT Serif"/>
              </a:rPr>
              <a:t>, and they pay more attention to layout and format than domain experts and LLMs. They often propose standards aimed at improving the readability of the output, such as using bullet points or clear headings/headings.</a:t>
            </a:r>
            <a:endParaRPr sz="1200">
              <a:solidFill>
                <a:schemeClr val="dk2"/>
              </a:solidFill>
              <a:latin typeface="PT Serif"/>
              <a:ea typeface="PT Serif"/>
              <a:cs typeface="PT Serif"/>
              <a:sym typeface="PT Serif"/>
            </a:endParaRPr>
          </a:p>
        </p:txBody>
      </p:sp>
      <p:sp>
        <p:nvSpPr>
          <p:cNvPr id="31" name="Google Shape;31;p3"/>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Evaluation optimization</a:t>
            </a:r>
            <a:endParaRPr sz="2000">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4"/>
          <p:cNvSpPr txBox="1"/>
          <p:nvPr>
            <p:ph idx="1" type="body"/>
          </p:nvPr>
        </p:nvSpPr>
        <p:spPr>
          <a:xfrm>
            <a:off x="325100" y="1346063"/>
            <a:ext cx="4246900" cy="32049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600"/>
              </a:spcBef>
              <a:spcAft>
                <a:spcPts val="0"/>
              </a:spcAft>
              <a:buClr>
                <a:schemeClr val="dk1"/>
              </a:buClr>
              <a:buSzPts val="1400"/>
              <a:buFont typeface="PT Serif"/>
              <a:buChar char="#"/>
            </a:pPr>
            <a:r>
              <a:rPr lang="en-US" sz="1400"/>
              <a:t>Existing assessment systems and tools are primarily aimed at developers and designers, who may lack domain-specific expertise or a lay user perspective.</a:t>
            </a:r>
            <a:endParaRPr/>
          </a:p>
          <a:p>
            <a:pPr indent="-355600" lvl="0" marL="457200" rtl="0" algn="just">
              <a:lnSpc>
                <a:spcPct val="115000"/>
              </a:lnSpc>
              <a:spcBef>
                <a:spcPts val="600"/>
              </a:spcBef>
              <a:spcAft>
                <a:spcPts val="0"/>
              </a:spcAft>
              <a:buClr>
                <a:schemeClr val="dk1"/>
              </a:buClr>
              <a:buSzPts val="1400"/>
              <a:buFont typeface="PT Serif"/>
              <a:buChar char="#"/>
            </a:pPr>
            <a:r>
              <a:rPr lang="en-US" sz="1400"/>
              <a:t>The evaluation process focuses primarily on the technical performance of the model and ignores lay user needs for output clarity, readability, and ease of use.</a:t>
            </a:r>
            <a:endParaRPr/>
          </a:p>
          <a:p>
            <a:pPr indent="0" lvl="0" marL="101600" rtl="0" algn="just">
              <a:lnSpc>
                <a:spcPct val="115000"/>
              </a:lnSpc>
              <a:spcBef>
                <a:spcPts val="600"/>
              </a:spcBef>
              <a:spcAft>
                <a:spcPts val="0"/>
              </a:spcAft>
              <a:buClr>
                <a:schemeClr val="dk1"/>
              </a:buClr>
              <a:buSzPts val="1400"/>
              <a:buNone/>
            </a:pPr>
            <a:r>
              <a:t/>
            </a:r>
            <a:endParaRPr sz="1400"/>
          </a:p>
          <a:p>
            <a:pPr indent="-266700" lvl="0" marL="457200" rtl="0" algn="just">
              <a:lnSpc>
                <a:spcPct val="115000"/>
              </a:lnSpc>
              <a:spcBef>
                <a:spcPts val="600"/>
              </a:spcBef>
              <a:spcAft>
                <a:spcPts val="0"/>
              </a:spcAft>
              <a:buClr>
                <a:schemeClr val="dk1"/>
              </a:buClr>
              <a:buSzPts val="1400"/>
              <a:buFont typeface="PT Serif"/>
              <a:buNone/>
            </a:pPr>
            <a:r>
              <a:t/>
            </a:r>
            <a:endParaRPr sz="1400"/>
          </a:p>
          <a:p>
            <a:pPr indent="-279400" lvl="0" marL="457200" rtl="0" algn="l">
              <a:lnSpc>
                <a:spcPct val="115000"/>
              </a:lnSpc>
              <a:spcBef>
                <a:spcPts val="600"/>
              </a:spcBef>
              <a:spcAft>
                <a:spcPts val="0"/>
              </a:spcAft>
              <a:buClr>
                <a:schemeClr val="dk1"/>
              </a:buClr>
              <a:buSzPts val="1200"/>
              <a:buFont typeface="PT Serif"/>
              <a:buNone/>
            </a:pPr>
            <a:r>
              <a:t/>
            </a:r>
            <a:endParaRPr sz="1200"/>
          </a:p>
        </p:txBody>
      </p:sp>
      <p:sp>
        <p:nvSpPr>
          <p:cNvPr id="37" name="Google Shape;37;p4"/>
          <p:cNvSpPr txBox="1"/>
          <p:nvPr>
            <p:ph idx="2" type="body"/>
          </p:nvPr>
        </p:nvSpPr>
        <p:spPr>
          <a:xfrm>
            <a:off x="4566896" y="1346063"/>
            <a:ext cx="4252004" cy="32049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600"/>
              </a:spcBef>
              <a:spcAft>
                <a:spcPts val="0"/>
              </a:spcAft>
              <a:buClr>
                <a:schemeClr val="dk1"/>
              </a:buClr>
              <a:buSzPts val="1400"/>
              <a:buFont typeface="PT Serif"/>
              <a:buChar char="#"/>
            </a:pPr>
            <a:r>
              <a:rPr lang="en-US" sz="1400"/>
              <a:t>The evaluation process focuses primarily on the technical performance of the model and ignores lay user needs for output clarity, readability, and ease of use.</a:t>
            </a:r>
            <a:endParaRPr sz="1200"/>
          </a:p>
          <a:p>
            <a:pPr indent="-355600" lvl="0" marL="457200" rtl="0" algn="just">
              <a:lnSpc>
                <a:spcPct val="115000"/>
              </a:lnSpc>
              <a:spcBef>
                <a:spcPts val="600"/>
              </a:spcBef>
              <a:spcAft>
                <a:spcPts val="0"/>
              </a:spcAft>
              <a:buClr>
                <a:schemeClr val="dk1"/>
              </a:buClr>
              <a:buSzPts val="1400"/>
              <a:buFont typeface="PT Serif"/>
              <a:buChar char="#"/>
            </a:pPr>
            <a:r>
              <a:rPr lang="en-US" sz="1400"/>
              <a:t>Develop tools and systems to support the development of assessment standards.</a:t>
            </a:r>
            <a:endParaRPr sz="1200"/>
          </a:p>
          <a:p>
            <a:pPr indent="-279400" lvl="1" marL="914400" rtl="0" algn="just">
              <a:lnSpc>
                <a:spcPct val="115000"/>
              </a:lnSpc>
              <a:spcBef>
                <a:spcPts val="0"/>
              </a:spcBef>
              <a:spcAft>
                <a:spcPts val="0"/>
              </a:spcAft>
              <a:buClr>
                <a:schemeClr val="dk1"/>
              </a:buClr>
              <a:buSzPts val="1200"/>
              <a:buFont typeface="PT Serif"/>
              <a:buNone/>
            </a:pPr>
            <a:r>
              <a:t/>
            </a:r>
            <a:endParaRPr sz="1200"/>
          </a:p>
          <a:p>
            <a:pPr indent="-279400" lvl="1" marL="914400" rtl="0" algn="just">
              <a:lnSpc>
                <a:spcPct val="115000"/>
              </a:lnSpc>
              <a:spcBef>
                <a:spcPts val="0"/>
              </a:spcBef>
              <a:spcAft>
                <a:spcPts val="0"/>
              </a:spcAft>
              <a:buClr>
                <a:schemeClr val="dk1"/>
              </a:buClr>
              <a:buSzPts val="1200"/>
              <a:buFont typeface="PT Serif"/>
              <a:buNone/>
            </a:pPr>
            <a:r>
              <a:t/>
            </a:r>
            <a:endParaRPr sz="1200"/>
          </a:p>
          <a:p>
            <a:pPr indent="-279400" lvl="1" marL="914400" rtl="0" algn="just">
              <a:lnSpc>
                <a:spcPct val="115000"/>
              </a:lnSpc>
              <a:spcBef>
                <a:spcPts val="0"/>
              </a:spcBef>
              <a:spcAft>
                <a:spcPts val="0"/>
              </a:spcAft>
              <a:buClr>
                <a:schemeClr val="dk1"/>
              </a:buClr>
              <a:buSzPts val="1200"/>
              <a:buFont typeface="PT Serif"/>
              <a:buNone/>
            </a:pPr>
            <a:r>
              <a:t/>
            </a:r>
            <a:endParaRPr sz="1200"/>
          </a:p>
          <a:p>
            <a:pPr indent="-279400" lvl="1" marL="914400" rtl="0" algn="just">
              <a:lnSpc>
                <a:spcPct val="115000"/>
              </a:lnSpc>
              <a:spcBef>
                <a:spcPts val="0"/>
              </a:spcBef>
              <a:spcAft>
                <a:spcPts val="0"/>
              </a:spcAft>
              <a:buClr>
                <a:schemeClr val="dk1"/>
              </a:buClr>
              <a:buSzPts val="1200"/>
              <a:buFont typeface="PT Serif"/>
              <a:buNone/>
            </a:pPr>
            <a:r>
              <a:t/>
            </a:r>
            <a:endParaRPr sz="1200"/>
          </a:p>
          <a:p>
            <a:pPr indent="-279400" lvl="0" marL="457200" rtl="0" algn="just">
              <a:lnSpc>
                <a:spcPct val="115000"/>
              </a:lnSpc>
              <a:spcBef>
                <a:spcPts val="600"/>
              </a:spcBef>
              <a:spcAft>
                <a:spcPts val="0"/>
              </a:spcAft>
              <a:buClr>
                <a:schemeClr val="dk1"/>
              </a:buClr>
              <a:buSzPts val="1200"/>
              <a:buFont typeface="PT Serif"/>
              <a:buNone/>
            </a:pPr>
            <a:r>
              <a:t/>
            </a:r>
            <a:endParaRPr sz="1200"/>
          </a:p>
          <a:p>
            <a:pPr indent="-279400" lvl="0" marL="457200" rtl="0" algn="just">
              <a:lnSpc>
                <a:spcPct val="115000"/>
              </a:lnSpc>
              <a:spcBef>
                <a:spcPts val="600"/>
              </a:spcBef>
              <a:spcAft>
                <a:spcPts val="0"/>
              </a:spcAft>
              <a:buClr>
                <a:schemeClr val="dk1"/>
              </a:buClr>
              <a:buSzPts val="1200"/>
              <a:buFont typeface="PT Serif"/>
              <a:buNone/>
            </a:pPr>
            <a:r>
              <a:t/>
            </a:r>
            <a:endParaRPr sz="1200"/>
          </a:p>
        </p:txBody>
      </p:sp>
      <p:sp>
        <p:nvSpPr>
          <p:cNvPr id="38" name="Google Shape;38;p4"/>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As-Is To-Be</a:t>
            </a:r>
            <a:endParaRPr sz="2000">
              <a:latin typeface="Poppins"/>
              <a:ea typeface="Poppins"/>
              <a:cs typeface="Poppins"/>
              <a:sym typeface="Poppins"/>
            </a:endParaRPr>
          </a:p>
        </p:txBody>
      </p:sp>
      <p:sp>
        <p:nvSpPr>
          <p:cNvPr id="39" name="Google Shape;39;p4"/>
          <p:cNvSpPr txBox="1"/>
          <p:nvPr/>
        </p:nvSpPr>
        <p:spPr>
          <a:xfrm>
            <a:off x="626350" y="832086"/>
            <a:ext cx="3644400" cy="513977"/>
          </a:xfrm>
          <a:prstGeom prst="rect">
            <a:avLst/>
          </a:prstGeom>
          <a:noFill/>
          <a:ln>
            <a:noFill/>
          </a:ln>
        </p:spPr>
        <p:txBody>
          <a:bodyPr anchorCtr="0" anchor="t" bIns="91425" lIns="91425" spcFirstLastPara="1" rIns="91425" wrap="square" tIns="91425">
            <a:noAutofit/>
          </a:bodyPr>
          <a:lstStyle/>
          <a:p>
            <a:pPr indent="0" lvl="0" marL="101600" marR="0" rtl="0" algn="ctr">
              <a:lnSpc>
                <a:spcPct val="115000"/>
              </a:lnSpc>
              <a:spcBef>
                <a:spcPts val="600"/>
              </a:spcBef>
              <a:spcAft>
                <a:spcPts val="0"/>
              </a:spcAft>
              <a:buClr>
                <a:schemeClr val="dk1"/>
              </a:buClr>
              <a:buSzPts val="1800"/>
              <a:buFont typeface="PT Serif"/>
              <a:buNone/>
            </a:pPr>
            <a:r>
              <a:rPr b="1" i="0" lang="en-US" sz="1800" u="sng" cap="none" strike="noStrike">
                <a:solidFill>
                  <a:schemeClr val="dk1"/>
                </a:solidFill>
                <a:latin typeface="PT Serif"/>
                <a:ea typeface="PT Serif"/>
                <a:cs typeface="PT Serif"/>
                <a:sym typeface="PT Serif"/>
              </a:rPr>
              <a:t>#As-Is</a:t>
            </a:r>
            <a:endParaRPr b="1" i="0" sz="1800" u="sng" cap="none" strike="noStrike">
              <a:solidFill>
                <a:schemeClr val="dk1"/>
              </a:solidFill>
              <a:latin typeface="PT Serif"/>
              <a:ea typeface="PT Serif"/>
              <a:cs typeface="PT Serif"/>
              <a:sym typeface="PT Serif"/>
            </a:endParaRPr>
          </a:p>
        </p:txBody>
      </p:sp>
      <p:sp>
        <p:nvSpPr>
          <p:cNvPr id="40" name="Google Shape;40;p4"/>
          <p:cNvSpPr txBox="1"/>
          <p:nvPr/>
        </p:nvSpPr>
        <p:spPr>
          <a:xfrm>
            <a:off x="4870698" y="832086"/>
            <a:ext cx="3644400" cy="513977"/>
          </a:xfrm>
          <a:prstGeom prst="rect">
            <a:avLst/>
          </a:prstGeom>
          <a:noFill/>
          <a:ln>
            <a:noFill/>
          </a:ln>
        </p:spPr>
        <p:txBody>
          <a:bodyPr anchorCtr="0" anchor="t" bIns="91425" lIns="91425" spcFirstLastPara="1" rIns="91425" wrap="square" tIns="91425">
            <a:noAutofit/>
          </a:bodyPr>
          <a:lstStyle/>
          <a:p>
            <a:pPr indent="0" lvl="0" marL="101600" marR="0" rtl="0" algn="ctr">
              <a:lnSpc>
                <a:spcPct val="115000"/>
              </a:lnSpc>
              <a:spcBef>
                <a:spcPts val="600"/>
              </a:spcBef>
              <a:spcAft>
                <a:spcPts val="0"/>
              </a:spcAft>
              <a:buClr>
                <a:schemeClr val="dk1"/>
              </a:buClr>
              <a:buSzPts val="1800"/>
              <a:buFont typeface="PT Serif"/>
              <a:buNone/>
            </a:pPr>
            <a:r>
              <a:rPr b="1" i="0" lang="en-US" sz="1800" u="sng" cap="none" strike="noStrike">
                <a:solidFill>
                  <a:schemeClr val="dk1"/>
                </a:solidFill>
                <a:latin typeface="PT Serif"/>
                <a:ea typeface="PT Serif"/>
                <a:cs typeface="PT Serif"/>
                <a:sym typeface="PT Serif"/>
              </a:rPr>
              <a:t>#To-Be</a:t>
            </a:r>
            <a:endParaRPr b="1" i="0" sz="1800" u="sng" cap="none" strike="noStrike">
              <a:solidFill>
                <a:schemeClr val="dk1"/>
              </a:solidFill>
              <a:latin typeface="PT Serif"/>
              <a:ea typeface="PT Serif"/>
              <a:cs typeface="PT Serif"/>
              <a:sym typeface="PT Serif"/>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5"/>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Possible Framework</a:t>
            </a:r>
            <a:endParaRPr sz="2000">
              <a:latin typeface="Poppins"/>
              <a:ea typeface="Poppins"/>
              <a:cs typeface="Poppins"/>
              <a:sym typeface="Poppins"/>
            </a:endParaRPr>
          </a:p>
        </p:txBody>
      </p:sp>
      <p:pic>
        <p:nvPicPr>
          <p:cNvPr id="46" name="Google Shape;46;p5"/>
          <p:cNvPicPr preferRelativeResize="0"/>
          <p:nvPr/>
        </p:nvPicPr>
        <p:blipFill rotWithShape="1">
          <a:blip r:embed="rId3">
            <a:alphaModFix/>
          </a:blip>
          <a:srcRect b="0" l="0" r="0" t="0"/>
          <a:stretch/>
        </p:blipFill>
        <p:spPr>
          <a:xfrm>
            <a:off x="0" y="1221054"/>
            <a:ext cx="9144000" cy="33109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 name="Shape 50"/>
        <p:cNvGrpSpPr/>
        <p:nvPr/>
      </p:nvGrpSpPr>
      <p:grpSpPr>
        <a:xfrm>
          <a:off x="0" y="0"/>
          <a:ext cx="0" cy="0"/>
          <a:chOff x="0" y="0"/>
          <a:chExt cx="0" cy="0"/>
        </a:xfrm>
      </p:grpSpPr>
      <p:sp>
        <p:nvSpPr>
          <p:cNvPr id="51" name="Google Shape;51;p6"/>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Overview</a:t>
            </a:r>
            <a:endParaRPr sz="2000">
              <a:latin typeface="Poppins"/>
              <a:ea typeface="Poppins"/>
              <a:cs typeface="Poppins"/>
              <a:sym typeface="Poppins"/>
            </a:endParaRPr>
          </a:p>
        </p:txBody>
      </p:sp>
      <p:sp>
        <p:nvSpPr>
          <p:cNvPr id="52" name="Google Shape;52;p6"/>
          <p:cNvSpPr txBox="1"/>
          <p:nvPr>
            <p:ph idx="1" type="body"/>
          </p:nvPr>
        </p:nvSpPr>
        <p:spPr>
          <a:xfrm>
            <a:off x="617100" y="1269863"/>
            <a:ext cx="7909800" cy="3215400"/>
          </a:xfrm>
          <a:prstGeom prst="rect">
            <a:avLst/>
          </a:prstGeom>
          <a:noFill/>
          <a:ln>
            <a:noFill/>
          </a:ln>
        </p:spPr>
        <p:txBody>
          <a:bodyPr anchorCtr="0" anchor="t" bIns="91425" lIns="91425" spcFirstLastPara="1" rIns="91425" wrap="square" tIns="91425">
            <a:noAutofit/>
          </a:bodyPr>
          <a:lstStyle/>
          <a:p>
            <a:pPr indent="-171450" lvl="1" marL="704850" rtl="0" algn="l">
              <a:lnSpc>
                <a:spcPct val="115000"/>
              </a:lnSpc>
              <a:spcBef>
                <a:spcPts val="600"/>
              </a:spcBef>
              <a:spcAft>
                <a:spcPts val="0"/>
              </a:spcAft>
              <a:buClr>
                <a:schemeClr val="dk1"/>
              </a:buClr>
              <a:buSzPts val="1200"/>
              <a:buFont typeface="Poppins"/>
              <a:buChar char="#"/>
            </a:pPr>
            <a:r>
              <a:rPr lang="en-US" sz="1200">
                <a:latin typeface="PT Serif"/>
                <a:ea typeface="PT Serif"/>
                <a:cs typeface="PT Serif"/>
                <a:sym typeface="PT Serif"/>
              </a:rPr>
              <a:t>使用者期望大型語言模型在哪些方面進行改進?</a:t>
            </a:r>
            <a:endParaRPr/>
          </a:p>
          <a:p>
            <a:pPr indent="-171450" lvl="1" marL="704850" rtl="0" algn="l">
              <a:lnSpc>
                <a:spcPct val="115000"/>
              </a:lnSpc>
              <a:spcBef>
                <a:spcPts val="600"/>
              </a:spcBef>
              <a:spcAft>
                <a:spcPts val="0"/>
              </a:spcAft>
              <a:buClr>
                <a:schemeClr val="dk1"/>
              </a:buClr>
              <a:buSzPts val="1200"/>
              <a:buFont typeface="Poppins"/>
              <a:buChar char="#"/>
            </a:pPr>
            <a:r>
              <a:rPr lang="en-US" sz="1200">
                <a:latin typeface="PT Serif"/>
                <a:ea typeface="PT Serif"/>
                <a:cs typeface="PT Serif"/>
                <a:sym typeface="PT Serif"/>
              </a:rPr>
              <a:t>開發有效的使用者模型，捕捉使用者的興趣、需求和偏好?</a:t>
            </a:r>
            <a:endParaRPr/>
          </a:p>
          <a:p>
            <a:pPr indent="-171450" lvl="1" marL="704850" rtl="0" algn="l">
              <a:lnSpc>
                <a:spcPct val="115000"/>
              </a:lnSpc>
              <a:spcBef>
                <a:spcPts val="600"/>
              </a:spcBef>
              <a:spcAft>
                <a:spcPts val="0"/>
              </a:spcAft>
              <a:buClr>
                <a:schemeClr val="dk1"/>
              </a:buClr>
              <a:buSzPts val="1200"/>
              <a:buFont typeface="Poppins"/>
              <a:buChar char="#"/>
            </a:pPr>
            <a:r>
              <a:rPr lang="en-US" sz="1200">
                <a:latin typeface="PT Serif"/>
                <a:ea typeface="PT Serif"/>
                <a:cs typeface="PT Serif"/>
                <a:sym typeface="PT Serif"/>
              </a:rPr>
              <a:t>設計可適應的模型架構，根據使用者特徵調整輸出內容?</a:t>
            </a:r>
            <a:endParaRPr/>
          </a:p>
          <a:p>
            <a:pPr indent="-171450" lvl="1" marL="704850" rtl="0" algn="l">
              <a:lnSpc>
                <a:spcPct val="115000"/>
              </a:lnSpc>
              <a:spcBef>
                <a:spcPts val="600"/>
              </a:spcBef>
              <a:spcAft>
                <a:spcPts val="0"/>
              </a:spcAft>
              <a:buClr>
                <a:schemeClr val="dk1"/>
              </a:buClr>
              <a:buSzPts val="1200"/>
              <a:buFont typeface="Poppins"/>
              <a:buChar char="#"/>
            </a:pPr>
            <a:r>
              <a:rPr lang="en-US" sz="1200">
                <a:latin typeface="PT Serif"/>
                <a:ea typeface="PT Serif"/>
                <a:cs typeface="PT Serif"/>
                <a:sym typeface="PT Serif"/>
              </a:rPr>
              <a:t>針對外行使用者設計簡單的使用教學?</a:t>
            </a:r>
            <a:endParaRPr/>
          </a:p>
          <a:p>
            <a:pPr indent="-171450" lvl="1" marL="704850" rtl="0" algn="l">
              <a:lnSpc>
                <a:spcPct val="115000"/>
              </a:lnSpc>
              <a:spcBef>
                <a:spcPts val="600"/>
              </a:spcBef>
              <a:spcAft>
                <a:spcPts val="0"/>
              </a:spcAft>
              <a:buClr>
                <a:schemeClr val="dk1"/>
              </a:buClr>
              <a:buSzPts val="1200"/>
              <a:buFont typeface="Poppins"/>
              <a:buChar char="#"/>
            </a:pPr>
            <a:r>
              <a:rPr lang="en-US" sz="1200">
                <a:latin typeface="PT Serif"/>
                <a:ea typeface="PT Serif"/>
                <a:cs typeface="PT Serif"/>
                <a:sym typeface="PT Serif"/>
              </a:rPr>
              <a:t>建立相關論壇(類似 GPTs)，以便更有效率收集使用心得?</a:t>
            </a:r>
            <a:endParaRPr/>
          </a:p>
          <a:p>
            <a:pPr indent="-95250" lvl="1" marL="704850" rtl="0" algn="l">
              <a:lnSpc>
                <a:spcPct val="115000"/>
              </a:lnSpc>
              <a:spcBef>
                <a:spcPts val="600"/>
              </a:spcBef>
              <a:spcAft>
                <a:spcPts val="0"/>
              </a:spcAft>
              <a:buClr>
                <a:schemeClr val="dk1"/>
              </a:buClr>
              <a:buSzPts val="1200"/>
              <a:buFont typeface="Poppins"/>
              <a:buNone/>
            </a:pPr>
            <a:r>
              <a:t/>
            </a:r>
            <a:endParaRPr sz="1200">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cxnSp>
        <p:nvCxnSpPr>
          <p:cNvPr id="57" name="Google Shape;57;p7"/>
          <p:cNvCxnSpPr/>
          <p:nvPr/>
        </p:nvCxnSpPr>
        <p:spPr>
          <a:xfrm rot="10800000">
            <a:off x="2588100" y="3488719"/>
            <a:ext cx="3967800" cy="0"/>
          </a:xfrm>
          <a:prstGeom prst="straightConnector1">
            <a:avLst/>
          </a:prstGeom>
          <a:noFill/>
          <a:ln cap="flat" cmpd="sng" w="9525">
            <a:solidFill>
              <a:srgbClr val="1C1C19"/>
            </a:solidFill>
            <a:prstDash val="solid"/>
            <a:round/>
            <a:headEnd len="med" w="med" type="oval"/>
            <a:tailEnd len="med" w="med" type="oval"/>
          </a:ln>
        </p:spPr>
      </p:cxnSp>
      <p:sp>
        <p:nvSpPr>
          <p:cNvPr id="58" name="Google Shape;58;p7"/>
          <p:cNvSpPr txBox="1"/>
          <p:nvPr/>
        </p:nvSpPr>
        <p:spPr>
          <a:xfrm>
            <a:off x="0" y="1839413"/>
            <a:ext cx="9144000" cy="1159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3200" u="none" cap="none" strike="noStrike">
                <a:solidFill>
                  <a:srgbClr val="000000"/>
                </a:solidFill>
                <a:latin typeface="Poppins"/>
                <a:ea typeface="Poppins"/>
                <a:cs typeface="Poppins"/>
                <a:sym typeface="Poppins"/>
              </a:rPr>
              <a:t>Deconstructing the LLM supply chain: trust, values ​​and ethical considerations</a:t>
            </a:r>
            <a:endParaRPr b="1" i="0" sz="3200" u="none" cap="none" strike="noStrik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8"/>
          <p:cNvSpPr txBox="1"/>
          <p:nvPr>
            <p:ph idx="1" type="body"/>
          </p:nvPr>
        </p:nvSpPr>
        <p:spPr>
          <a:xfrm>
            <a:off x="0" y="964049"/>
            <a:ext cx="9144000" cy="3812500"/>
          </a:xfrm>
          <a:prstGeom prst="rect">
            <a:avLst/>
          </a:prstGeom>
          <a:noFill/>
          <a:ln>
            <a:noFill/>
          </a:ln>
        </p:spPr>
        <p:txBody>
          <a:bodyPr anchorCtr="0" anchor="t" bIns="91425" lIns="91425" spcFirstLastPara="1" rIns="91425" wrap="square" tIns="91425">
            <a:noAutofit/>
          </a:bodyPr>
          <a:lstStyle/>
          <a:p>
            <a:pPr indent="0" lvl="1" marL="533400" rtl="0" algn="just">
              <a:lnSpc>
                <a:spcPct val="115000"/>
              </a:lnSpc>
              <a:spcBef>
                <a:spcPts val="400"/>
              </a:spcBef>
              <a:spcAft>
                <a:spcPts val="0"/>
              </a:spcAft>
              <a:buClr>
                <a:srgbClr val="00B0F0"/>
              </a:buClr>
              <a:buSzPts val="1400"/>
              <a:buNone/>
            </a:pPr>
            <a:r>
              <a:rPr b="1" i="1" lang="en-US" sz="1400" u="sng">
                <a:solidFill>
                  <a:srgbClr val="00B0F0"/>
                </a:solidFill>
                <a:latin typeface="PT Serif"/>
                <a:ea typeface="PT Serif"/>
                <a:cs typeface="PT Serif"/>
                <a:sym typeface="PT Serif"/>
                <a:hlinkClick r:id="rId3">
                  <a:extLst>
                    <a:ext uri="{A12FA001-AC4F-418D-AE19-62706E023703}">
                      <ahyp:hlinkClr val="tx"/>
                    </a:ext>
                  </a:extLst>
                </a:hlinkClick>
              </a:rPr>
              <a:t># LocalValueBench: A Collaboratively Built and Extensible Benchmark for Evaluating Localized Value</a:t>
            </a:r>
            <a:endParaRPr/>
          </a:p>
          <a:p>
            <a:pPr indent="0" lvl="1" marL="533400" rtl="0" algn="just">
              <a:lnSpc>
                <a:spcPct val="115000"/>
              </a:lnSpc>
              <a:spcBef>
                <a:spcPts val="400"/>
              </a:spcBef>
              <a:spcAft>
                <a:spcPts val="0"/>
              </a:spcAft>
              <a:buClr>
                <a:srgbClr val="00B0F0"/>
              </a:buClr>
              <a:buSzPts val="1400"/>
              <a:buNone/>
            </a:pPr>
            <a:r>
              <a:rPr b="1" i="1" lang="en-US" sz="1400" u="sng">
                <a:solidFill>
                  <a:srgbClr val="00B0F0"/>
                </a:solidFill>
                <a:latin typeface="PT Serif"/>
                <a:ea typeface="PT Serif"/>
                <a:cs typeface="PT Serif"/>
                <a:sym typeface="PT Serif"/>
                <a:hlinkClick r:id="rId4">
                  <a:extLst>
                    <a:ext uri="{A12FA001-AC4F-418D-AE19-62706E023703}">
                      <ahyp:hlinkClr val="tx"/>
                    </a:ext>
                  </a:extLst>
                </a:hlinkClick>
              </a:rPr>
              <a:t>   Alignment and Ethical Safety in Large Language Models</a:t>
            </a:r>
            <a:endParaRPr b="1" i="1" sz="1400">
              <a:solidFill>
                <a:srgbClr val="00B0F0"/>
              </a:solidFill>
              <a:latin typeface="PT Serif"/>
              <a:ea typeface="PT Serif"/>
              <a:cs typeface="PT Serif"/>
              <a:sym typeface="PT Serif"/>
            </a:endParaRPr>
          </a:p>
          <a:p>
            <a:pPr indent="0" lvl="1" marL="533400" rtl="0" algn="just">
              <a:lnSpc>
                <a:spcPct val="115000"/>
              </a:lnSpc>
              <a:spcBef>
                <a:spcPts val="400"/>
              </a:spcBef>
              <a:spcAft>
                <a:spcPts val="0"/>
              </a:spcAft>
              <a:buClr>
                <a:schemeClr val="dk1"/>
              </a:buClr>
              <a:buSzPts val="1200"/>
              <a:buNone/>
            </a:pPr>
            <a:r>
              <a:t/>
            </a:r>
            <a:endParaRPr sz="1200">
              <a:solidFill>
                <a:schemeClr val="dk1"/>
              </a:solidFill>
              <a:latin typeface="PT Serif"/>
              <a:ea typeface="PT Serif"/>
              <a:cs typeface="PT Serif"/>
              <a:sym typeface="PT Serif"/>
            </a:endParaRPr>
          </a:p>
          <a:p>
            <a:pPr indent="-285750" lvl="1" marL="819150" rtl="0" algn="just">
              <a:lnSpc>
                <a:spcPct val="115000"/>
              </a:lnSpc>
              <a:spcBef>
                <a:spcPts val="400"/>
              </a:spcBef>
              <a:spcAft>
                <a:spcPts val="0"/>
              </a:spcAft>
              <a:buClr>
                <a:schemeClr val="dk1"/>
              </a:buClr>
              <a:buSzPts val="1200"/>
              <a:buFont typeface="PT Serif"/>
              <a:buChar char="•"/>
            </a:pPr>
            <a:r>
              <a:rPr lang="en-US" sz="1200">
                <a:solidFill>
                  <a:schemeClr val="dk1"/>
                </a:solidFill>
                <a:latin typeface="PT Serif"/>
                <a:ea typeface="PT Serif"/>
                <a:cs typeface="PT Serif"/>
                <a:sym typeface="PT Serif"/>
              </a:rPr>
              <a:t>Not all large language models (LLMs) are consistent with local Australian values. The research results show that there are differences in the extent to which three commercial LLMs (GPT-4, Gemini 1.5 Pro and Claude 3 Sonet) understand and follow Australian local values ​​in different ethical situations. This may be because</a:t>
            </a:r>
            <a:r>
              <a:rPr lang="en-US" sz="1200">
                <a:solidFill>
                  <a:srgbClr val="FF0000"/>
                </a:solidFill>
                <a:latin typeface="PT Serif"/>
                <a:ea typeface="PT Serif"/>
                <a:cs typeface="PT Serif"/>
                <a:sym typeface="PT Serif"/>
              </a:rPr>
              <a:t> their training data is more biased toward American culture</a:t>
            </a:r>
            <a:r>
              <a:rPr lang="en-US" sz="1200">
                <a:solidFill>
                  <a:schemeClr val="dk1"/>
                </a:solidFill>
                <a:latin typeface="PT Serif"/>
                <a:ea typeface="PT Serif"/>
                <a:cs typeface="PT Serif"/>
                <a:sym typeface="PT Serif"/>
              </a:rPr>
              <a:t>.</a:t>
            </a:r>
            <a:endParaRPr/>
          </a:p>
          <a:p>
            <a:pPr indent="-285750" lvl="1" marL="819150" rtl="0" algn="just">
              <a:lnSpc>
                <a:spcPct val="115000"/>
              </a:lnSpc>
              <a:spcBef>
                <a:spcPts val="400"/>
              </a:spcBef>
              <a:spcAft>
                <a:spcPts val="0"/>
              </a:spcAft>
              <a:buClr>
                <a:srgbClr val="FF0000"/>
              </a:buClr>
              <a:buSzPts val="1200"/>
              <a:buFont typeface="PT Serif"/>
              <a:buChar char="•"/>
            </a:pPr>
            <a:r>
              <a:rPr lang="en-US" sz="1200">
                <a:solidFill>
                  <a:srgbClr val="FF0000"/>
                </a:solidFill>
                <a:latin typeface="PT Serif"/>
                <a:ea typeface="PT Serif"/>
                <a:cs typeface="PT Serif"/>
                <a:sym typeface="PT Serif"/>
              </a:rPr>
              <a:t>LLM demonstrates low consistency with Australian values ​​on certain issues</a:t>
            </a:r>
            <a:r>
              <a:rPr lang="en-US" sz="1200">
                <a:solidFill>
                  <a:schemeClr val="dk1"/>
                </a:solidFill>
                <a:latin typeface="PT Serif"/>
                <a:ea typeface="PT Serif"/>
                <a:cs typeface="PT Serif"/>
                <a:sym typeface="PT Serif"/>
              </a:rPr>
              <a:t>. For example, GPT-4 scored particularly poorly in the "same-sex marriage" category and even refused to answer interrogation questions. Gemini 1.5 Pro declined to respond to questions in the "death penalty" category. Claude 3 Sonet also shows some inconsistencies in terms of "weapons" and "forced voting".</a:t>
            </a:r>
            <a:endParaRPr/>
          </a:p>
          <a:p>
            <a:pPr indent="-285750" lvl="1" marL="819150" rtl="0" algn="just">
              <a:lnSpc>
                <a:spcPct val="115000"/>
              </a:lnSpc>
              <a:spcBef>
                <a:spcPts val="400"/>
              </a:spcBef>
              <a:spcAft>
                <a:spcPts val="0"/>
              </a:spcAft>
              <a:buClr>
                <a:srgbClr val="FF0000"/>
              </a:buClr>
              <a:buSzPts val="1200"/>
              <a:buFont typeface="PT Serif"/>
              <a:buChar char="•"/>
            </a:pPr>
            <a:r>
              <a:rPr lang="en-US" sz="1200">
                <a:solidFill>
                  <a:srgbClr val="FF0000"/>
                </a:solidFill>
                <a:latin typeface="PT Serif"/>
                <a:ea typeface="PT Serif"/>
                <a:cs typeface="PT Serif"/>
                <a:sym typeface="PT Serif"/>
              </a:rPr>
              <a:t>The Claude 3 Sonet performed best in the overall evaluation</a:t>
            </a:r>
            <a:r>
              <a:rPr lang="en-US" sz="1200">
                <a:solidFill>
                  <a:schemeClr val="dk1"/>
                </a:solidFill>
                <a:latin typeface="PT Serif"/>
                <a:ea typeface="PT Serif"/>
                <a:cs typeface="PT Serif"/>
                <a:sym typeface="PT Serif"/>
              </a:rPr>
              <a:t>. It has the highest average score (3.725) and the smallest standard deviation of ratings, indicating that its response is most in line with local Australian values ​​and has received relatively consistent positive reviews from reviewers.</a:t>
            </a:r>
            <a:endParaRPr sz="1200">
              <a:solidFill>
                <a:srgbClr val="FF0000"/>
              </a:solidFill>
              <a:latin typeface="PT Serif"/>
              <a:ea typeface="PT Serif"/>
              <a:cs typeface="PT Serif"/>
              <a:sym typeface="PT Serif"/>
            </a:endParaRPr>
          </a:p>
        </p:txBody>
      </p:sp>
      <p:sp>
        <p:nvSpPr>
          <p:cNvPr id="64" name="Google Shape;64;p8"/>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Evaluation optimization</a:t>
            </a:r>
            <a:endParaRPr sz="2000">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9"/>
          <p:cNvSpPr txBox="1"/>
          <p:nvPr>
            <p:ph idx="1" type="body"/>
          </p:nvPr>
        </p:nvSpPr>
        <p:spPr>
          <a:xfrm>
            <a:off x="325100" y="1346063"/>
            <a:ext cx="4246900" cy="32049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600"/>
              </a:spcBef>
              <a:spcAft>
                <a:spcPts val="0"/>
              </a:spcAft>
              <a:buClr>
                <a:schemeClr val="dk1"/>
              </a:buClr>
              <a:buSzPts val="1200"/>
              <a:buFont typeface="PT Serif"/>
              <a:buChar char="#"/>
            </a:pPr>
            <a:r>
              <a:rPr lang="en-US" sz="1200"/>
              <a:t>Large-scale language model benchmarks currently on the market mainly reflect the values ​​of English or Simplified Chinese culture, and do not take into account the diversity of other cultures and legal jurisdictions.</a:t>
            </a:r>
            <a:endParaRPr/>
          </a:p>
          <a:p>
            <a:pPr indent="-355600" lvl="0" marL="457200" rtl="0" algn="just">
              <a:lnSpc>
                <a:spcPct val="115000"/>
              </a:lnSpc>
              <a:spcBef>
                <a:spcPts val="600"/>
              </a:spcBef>
              <a:spcAft>
                <a:spcPts val="0"/>
              </a:spcAft>
              <a:buClr>
                <a:schemeClr val="dk1"/>
              </a:buClr>
              <a:buSzPts val="1200"/>
              <a:buFont typeface="PT Serif"/>
              <a:buChar char="#"/>
            </a:pPr>
            <a:r>
              <a:rPr lang="en-US" sz="1200"/>
              <a:t>When deploying LLMs in different sociocultural contexts, there are issues of aligning local values ​​and ethical standards. Many LLMs are not adequately aligned with local ethical standards, which can lead to cultural insensitivity and value deviation.</a:t>
            </a:r>
            <a:endParaRPr/>
          </a:p>
          <a:p>
            <a:pPr indent="-279400" lvl="0" marL="457200" rtl="0" algn="l">
              <a:lnSpc>
                <a:spcPct val="115000"/>
              </a:lnSpc>
              <a:spcBef>
                <a:spcPts val="600"/>
              </a:spcBef>
              <a:spcAft>
                <a:spcPts val="0"/>
              </a:spcAft>
              <a:buClr>
                <a:schemeClr val="dk1"/>
              </a:buClr>
              <a:buSzPts val="1200"/>
              <a:buFont typeface="PT Serif"/>
              <a:buNone/>
            </a:pPr>
            <a:r>
              <a:t/>
            </a:r>
            <a:endParaRPr sz="1200"/>
          </a:p>
        </p:txBody>
      </p:sp>
      <p:sp>
        <p:nvSpPr>
          <p:cNvPr id="70" name="Google Shape;70;p9"/>
          <p:cNvSpPr txBox="1"/>
          <p:nvPr>
            <p:ph idx="2" type="body"/>
          </p:nvPr>
        </p:nvSpPr>
        <p:spPr>
          <a:xfrm>
            <a:off x="4870698" y="1346063"/>
            <a:ext cx="3644400" cy="32049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600"/>
              </a:spcBef>
              <a:spcAft>
                <a:spcPts val="0"/>
              </a:spcAft>
              <a:buClr>
                <a:schemeClr val="dk1"/>
              </a:buClr>
              <a:buSzPts val="1200"/>
              <a:buFont typeface="PT Serif"/>
              <a:buChar char="#"/>
            </a:pPr>
            <a:r>
              <a:rPr lang="en-US" sz="1200"/>
              <a:t>Throught the development of localized value benchmarks, it becomes a globally scalable tool to help regulatory agencies in various countries design LLm assessment benchmarks that are consistent with their own cultural and legel backgrounds.</a:t>
            </a:r>
            <a:endParaRPr/>
          </a:p>
          <a:p>
            <a:pPr indent="-355600" lvl="0" marL="457200" rtl="0" algn="just">
              <a:lnSpc>
                <a:spcPct val="115000"/>
              </a:lnSpc>
              <a:spcBef>
                <a:spcPts val="600"/>
              </a:spcBef>
              <a:spcAft>
                <a:spcPts val="0"/>
              </a:spcAft>
              <a:buClr>
                <a:schemeClr val="dk1"/>
              </a:buClr>
              <a:buSzPts val="1200"/>
              <a:buFont typeface="PT Serif"/>
              <a:buChar char="#"/>
            </a:pPr>
            <a:r>
              <a:rPr lang="en-US" sz="1200"/>
              <a:t>By applying the latest technologies (such as RAG, RLHF, etc.), LLM's response flexibility and value alignment ability in dealing with complex ethical situations are further improved to achieve long-term ethical and cultural adaptability.</a:t>
            </a:r>
            <a:endParaRPr/>
          </a:p>
          <a:p>
            <a:pPr indent="-279400" lvl="1" marL="914400" rtl="0" algn="just">
              <a:lnSpc>
                <a:spcPct val="115000"/>
              </a:lnSpc>
              <a:spcBef>
                <a:spcPts val="0"/>
              </a:spcBef>
              <a:spcAft>
                <a:spcPts val="0"/>
              </a:spcAft>
              <a:buClr>
                <a:schemeClr val="dk1"/>
              </a:buClr>
              <a:buSzPts val="1200"/>
              <a:buFont typeface="PT Serif"/>
              <a:buNone/>
            </a:pPr>
            <a:r>
              <a:t/>
            </a:r>
            <a:endParaRPr sz="1200"/>
          </a:p>
          <a:p>
            <a:pPr indent="-279400" lvl="1" marL="914400" rtl="0" algn="just">
              <a:lnSpc>
                <a:spcPct val="115000"/>
              </a:lnSpc>
              <a:spcBef>
                <a:spcPts val="0"/>
              </a:spcBef>
              <a:spcAft>
                <a:spcPts val="0"/>
              </a:spcAft>
              <a:buClr>
                <a:schemeClr val="dk1"/>
              </a:buClr>
              <a:buSzPts val="1200"/>
              <a:buFont typeface="PT Serif"/>
              <a:buNone/>
            </a:pPr>
            <a:r>
              <a:t/>
            </a:r>
            <a:endParaRPr sz="1200"/>
          </a:p>
          <a:p>
            <a:pPr indent="-279400" lvl="0" marL="457200" rtl="0" algn="just">
              <a:lnSpc>
                <a:spcPct val="115000"/>
              </a:lnSpc>
              <a:spcBef>
                <a:spcPts val="600"/>
              </a:spcBef>
              <a:spcAft>
                <a:spcPts val="0"/>
              </a:spcAft>
              <a:buClr>
                <a:schemeClr val="dk1"/>
              </a:buClr>
              <a:buSzPts val="1200"/>
              <a:buFont typeface="PT Serif"/>
              <a:buNone/>
            </a:pPr>
            <a:r>
              <a:t/>
            </a:r>
            <a:endParaRPr sz="1200"/>
          </a:p>
          <a:p>
            <a:pPr indent="-279400" lvl="0" marL="457200" rtl="0" algn="just">
              <a:lnSpc>
                <a:spcPct val="115000"/>
              </a:lnSpc>
              <a:spcBef>
                <a:spcPts val="600"/>
              </a:spcBef>
              <a:spcAft>
                <a:spcPts val="0"/>
              </a:spcAft>
              <a:buClr>
                <a:schemeClr val="dk1"/>
              </a:buClr>
              <a:buSzPts val="1200"/>
              <a:buFont typeface="PT Serif"/>
              <a:buNone/>
            </a:pPr>
            <a:r>
              <a:t/>
            </a:r>
            <a:endParaRPr sz="1200"/>
          </a:p>
        </p:txBody>
      </p:sp>
      <p:sp>
        <p:nvSpPr>
          <p:cNvPr id="71" name="Google Shape;71;p9"/>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As-Is To-Be</a:t>
            </a:r>
            <a:endParaRPr sz="2000">
              <a:latin typeface="Poppins"/>
              <a:ea typeface="Poppins"/>
              <a:cs typeface="Poppins"/>
              <a:sym typeface="Poppins"/>
            </a:endParaRPr>
          </a:p>
        </p:txBody>
      </p:sp>
      <p:sp>
        <p:nvSpPr>
          <p:cNvPr id="72" name="Google Shape;72;p9"/>
          <p:cNvSpPr txBox="1"/>
          <p:nvPr/>
        </p:nvSpPr>
        <p:spPr>
          <a:xfrm>
            <a:off x="626350" y="832086"/>
            <a:ext cx="3644400" cy="513977"/>
          </a:xfrm>
          <a:prstGeom prst="rect">
            <a:avLst/>
          </a:prstGeom>
          <a:noFill/>
          <a:ln>
            <a:noFill/>
          </a:ln>
        </p:spPr>
        <p:txBody>
          <a:bodyPr anchorCtr="0" anchor="t" bIns="91425" lIns="91425" spcFirstLastPara="1" rIns="91425" wrap="square" tIns="91425">
            <a:noAutofit/>
          </a:bodyPr>
          <a:lstStyle/>
          <a:p>
            <a:pPr indent="0" lvl="0" marL="101600" marR="0" rtl="0" algn="ctr">
              <a:lnSpc>
                <a:spcPct val="115000"/>
              </a:lnSpc>
              <a:spcBef>
                <a:spcPts val="600"/>
              </a:spcBef>
              <a:spcAft>
                <a:spcPts val="0"/>
              </a:spcAft>
              <a:buClr>
                <a:schemeClr val="dk1"/>
              </a:buClr>
              <a:buSzPts val="1800"/>
              <a:buFont typeface="PT Serif"/>
              <a:buNone/>
            </a:pPr>
            <a:r>
              <a:rPr b="1" i="0" lang="en-US" sz="1800" u="sng" cap="none" strike="noStrike">
                <a:solidFill>
                  <a:schemeClr val="dk1"/>
                </a:solidFill>
                <a:latin typeface="PT Serif"/>
                <a:ea typeface="PT Serif"/>
                <a:cs typeface="PT Serif"/>
                <a:sym typeface="PT Serif"/>
              </a:rPr>
              <a:t>#As-Is</a:t>
            </a:r>
            <a:endParaRPr b="1" i="0" sz="1800" u="sng" cap="none" strike="noStrike">
              <a:solidFill>
                <a:schemeClr val="dk1"/>
              </a:solidFill>
              <a:latin typeface="PT Serif"/>
              <a:ea typeface="PT Serif"/>
              <a:cs typeface="PT Serif"/>
              <a:sym typeface="PT Serif"/>
            </a:endParaRPr>
          </a:p>
        </p:txBody>
      </p:sp>
      <p:sp>
        <p:nvSpPr>
          <p:cNvPr id="73" name="Google Shape;73;p9"/>
          <p:cNvSpPr txBox="1"/>
          <p:nvPr/>
        </p:nvSpPr>
        <p:spPr>
          <a:xfrm>
            <a:off x="4870698" y="832086"/>
            <a:ext cx="3644400" cy="513977"/>
          </a:xfrm>
          <a:prstGeom prst="rect">
            <a:avLst/>
          </a:prstGeom>
          <a:noFill/>
          <a:ln>
            <a:noFill/>
          </a:ln>
        </p:spPr>
        <p:txBody>
          <a:bodyPr anchorCtr="0" anchor="t" bIns="91425" lIns="91425" spcFirstLastPara="1" rIns="91425" wrap="square" tIns="91425">
            <a:noAutofit/>
          </a:bodyPr>
          <a:lstStyle/>
          <a:p>
            <a:pPr indent="0" lvl="0" marL="101600" marR="0" rtl="0" algn="ctr">
              <a:lnSpc>
                <a:spcPct val="115000"/>
              </a:lnSpc>
              <a:spcBef>
                <a:spcPts val="600"/>
              </a:spcBef>
              <a:spcAft>
                <a:spcPts val="0"/>
              </a:spcAft>
              <a:buClr>
                <a:schemeClr val="dk1"/>
              </a:buClr>
              <a:buSzPts val="1800"/>
              <a:buFont typeface="PT Serif"/>
              <a:buNone/>
            </a:pPr>
            <a:r>
              <a:rPr b="1" i="0" lang="en-US" sz="1800" u="sng" cap="none" strike="noStrike">
                <a:solidFill>
                  <a:schemeClr val="dk1"/>
                </a:solidFill>
                <a:latin typeface="PT Serif"/>
                <a:ea typeface="PT Serif"/>
                <a:cs typeface="PT Serif"/>
                <a:sym typeface="PT Serif"/>
              </a:rPr>
              <a:t>#To-Be</a:t>
            </a:r>
            <a:endParaRPr b="1" i="0" sz="1800" u="sng" cap="none" strike="noStrike">
              <a:solidFill>
                <a:schemeClr val="dk1"/>
              </a:solidFill>
              <a:latin typeface="PT Serif"/>
              <a:ea typeface="PT Serif"/>
              <a:cs typeface="PT Serif"/>
              <a:sym typeface="PT Serif"/>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0"/>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Framework</a:t>
            </a:r>
            <a:endParaRPr sz="2000">
              <a:latin typeface="Poppins"/>
              <a:ea typeface="Poppins"/>
              <a:cs typeface="Poppins"/>
              <a:sym typeface="Poppins"/>
            </a:endParaRPr>
          </a:p>
        </p:txBody>
      </p:sp>
      <p:pic>
        <p:nvPicPr>
          <p:cNvPr id="79" name="Google Shape;79;p10"/>
          <p:cNvPicPr preferRelativeResize="0"/>
          <p:nvPr/>
        </p:nvPicPr>
        <p:blipFill rotWithShape="1">
          <a:blip r:embed="rId3">
            <a:alphaModFix/>
          </a:blip>
          <a:srcRect b="0" l="0" r="0" t="0"/>
          <a:stretch/>
        </p:blipFill>
        <p:spPr>
          <a:xfrm>
            <a:off x="626533" y="800101"/>
            <a:ext cx="7890933" cy="40511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 name="Shape 83"/>
        <p:cNvGrpSpPr/>
        <p:nvPr/>
      </p:nvGrpSpPr>
      <p:grpSpPr>
        <a:xfrm>
          <a:off x="0" y="0"/>
          <a:ext cx="0" cy="0"/>
          <a:chOff x="0" y="0"/>
          <a:chExt cx="0" cy="0"/>
        </a:xfrm>
      </p:grpSpPr>
      <p:sp>
        <p:nvSpPr>
          <p:cNvPr id="84" name="Google Shape;84;p11"/>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Overview</a:t>
            </a:r>
            <a:endParaRPr sz="2000">
              <a:latin typeface="Poppins"/>
              <a:ea typeface="Poppins"/>
              <a:cs typeface="Poppins"/>
              <a:sym typeface="Poppins"/>
            </a:endParaRPr>
          </a:p>
        </p:txBody>
      </p:sp>
      <p:sp>
        <p:nvSpPr>
          <p:cNvPr id="85" name="Google Shape;85;p11"/>
          <p:cNvSpPr txBox="1"/>
          <p:nvPr>
            <p:ph idx="1" type="body"/>
          </p:nvPr>
        </p:nvSpPr>
        <p:spPr>
          <a:xfrm>
            <a:off x="617100" y="1269863"/>
            <a:ext cx="7909800" cy="3215400"/>
          </a:xfrm>
          <a:prstGeom prst="rect">
            <a:avLst/>
          </a:prstGeom>
          <a:noFill/>
          <a:ln>
            <a:noFill/>
          </a:ln>
        </p:spPr>
        <p:txBody>
          <a:bodyPr anchorCtr="0" anchor="t" bIns="91425" lIns="91425" spcFirstLastPara="1" rIns="91425" wrap="square" tIns="91425">
            <a:noAutofit/>
          </a:bodyPr>
          <a:lstStyle/>
          <a:p>
            <a:pPr indent="-171450" lvl="1" marL="704850" rtl="0" algn="l">
              <a:lnSpc>
                <a:spcPct val="115000"/>
              </a:lnSpc>
              <a:spcBef>
                <a:spcPts val="600"/>
              </a:spcBef>
              <a:spcAft>
                <a:spcPts val="0"/>
              </a:spcAft>
              <a:buClr>
                <a:schemeClr val="dk1"/>
              </a:buClr>
              <a:buSzPts val="1200"/>
              <a:buFont typeface="Poppins"/>
              <a:buChar char="#"/>
            </a:pPr>
            <a:r>
              <a:rPr lang="en-US" sz="1200">
                <a:latin typeface="PT Serif"/>
                <a:ea typeface="PT Serif"/>
                <a:cs typeface="PT Serif"/>
                <a:sym typeface="PT Serif"/>
              </a:rPr>
              <a:t>在不同社會文化環境中部署 LLM 需要嚴格審查，如何確保它們符合當地價值觀和道德標準?</a:t>
            </a:r>
            <a:endParaRPr/>
          </a:p>
          <a:p>
            <a:pPr indent="-171450" lvl="1" marL="704850" rtl="0" algn="l">
              <a:lnSpc>
                <a:spcPct val="115000"/>
              </a:lnSpc>
              <a:spcBef>
                <a:spcPts val="600"/>
              </a:spcBef>
              <a:spcAft>
                <a:spcPts val="0"/>
              </a:spcAft>
              <a:buClr>
                <a:schemeClr val="dk1"/>
              </a:buClr>
              <a:buSzPts val="1200"/>
              <a:buFont typeface="Poppins"/>
              <a:buChar char="#"/>
            </a:pPr>
            <a:r>
              <a:rPr lang="en-US" sz="1200">
                <a:latin typeface="PT Serif"/>
                <a:ea typeface="PT Serif"/>
                <a:cs typeface="PT Serif"/>
                <a:sym typeface="PT Serif"/>
              </a:rPr>
              <a:t>整合 RAG、RLHF 和 MoE 等先進 LLM 技術是否可以進一步增強 LLM 的當地價值觀一致性?</a:t>
            </a:r>
            <a:endParaRPr/>
          </a:p>
          <a:p>
            <a:pPr indent="-171450" lvl="1" marL="704850" rtl="0" algn="l">
              <a:lnSpc>
                <a:spcPct val="115000"/>
              </a:lnSpc>
              <a:spcBef>
                <a:spcPts val="600"/>
              </a:spcBef>
              <a:spcAft>
                <a:spcPts val="0"/>
              </a:spcAft>
              <a:buClr>
                <a:schemeClr val="dk1"/>
              </a:buClr>
              <a:buSzPts val="1200"/>
              <a:buFont typeface="Poppins"/>
              <a:buChar char="#"/>
            </a:pPr>
            <a:r>
              <a:rPr lang="en-US" sz="1200">
                <a:latin typeface="PT Serif"/>
                <a:ea typeface="PT Serif"/>
                <a:cs typeface="PT Serif"/>
                <a:sym typeface="PT Serif"/>
              </a:rPr>
              <a:t>持續審查 LLM 的安全性、法律合規性和對文化多樣性的尊重</a:t>
            </a:r>
            <a:endParaRPr sz="1200">
              <a:latin typeface="PT Serif"/>
              <a:ea typeface="PT Serif"/>
              <a:cs typeface="PT Serif"/>
              <a:sym typeface="PT Serif"/>
            </a:endParaRPr>
          </a:p>
          <a:p>
            <a:pPr indent="0" lvl="1" marL="533400" rtl="0" algn="l">
              <a:lnSpc>
                <a:spcPct val="115000"/>
              </a:lnSpc>
              <a:spcBef>
                <a:spcPts val="600"/>
              </a:spcBef>
              <a:spcAft>
                <a:spcPts val="0"/>
              </a:spcAft>
              <a:buClr>
                <a:schemeClr val="dk1"/>
              </a:buClr>
              <a:buSzPts val="1200"/>
              <a:buNone/>
            </a:pPr>
            <a:r>
              <a:rPr lang="en-US" sz="1200">
                <a:latin typeface="PT Serif"/>
                <a:ea typeface="PT Serif"/>
                <a:cs typeface="PT Serif"/>
                <a:sym typeface="PT Serif"/>
              </a:rPr>
              <a:t>     。建立國家法規資料庫?        </a:t>
            </a:r>
            <a:endParaRPr sz="1200">
              <a:latin typeface="PT Serif"/>
              <a:ea typeface="PT Serif"/>
              <a:cs typeface="PT Serif"/>
              <a:sym typeface="PT Serif"/>
            </a:endParaRPr>
          </a:p>
          <a:p>
            <a:pPr indent="-95250" lvl="1" marL="704850" rtl="0" algn="l">
              <a:lnSpc>
                <a:spcPct val="115000"/>
              </a:lnSpc>
              <a:spcBef>
                <a:spcPts val="600"/>
              </a:spcBef>
              <a:spcAft>
                <a:spcPts val="0"/>
              </a:spcAft>
              <a:buClr>
                <a:schemeClr val="dk1"/>
              </a:buClr>
              <a:buSzPts val="1200"/>
              <a:buFont typeface="Poppins"/>
              <a:buNone/>
            </a:pPr>
            <a:r>
              <a:t/>
            </a:r>
            <a:endParaRPr sz="12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cxnSp>
        <p:nvCxnSpPr>
          <p:cNvPr id="90" name="Google Shape;90;p12"/>
          <p:cNvCxnSpPr/>
          <p:nvPr/>
        </p:nvCxnSpPr>
        <p:spPr>
          <a:xfrm rot="10800000">
            <a:off x="2588100" y="3488719"/>
            <a:ext cx="3967800" cy="0"/>
          </a:xfrm>
          <a:prstGeom prst="straightConnector1">
            <a:avLst/>
          </a:prstGeom>
          <a:noFill/>
          <a:ln cap="flat" cmpd="sng" w="9525">
            <a:solidFill>
              <a:srgbClr val="1C1C19"/>
            </a:solidFill>
            <a:prstDash val="solid"/>
            <a:round/>
            <a:headEnd len="med" w="med" type="oval"/>
            <a:tailEnd len="med" w="med" type="oval"/>
          </a:ln>
        </p:spPr>
      </p:cxnSp>
      <p:sp>
        <p:nvSpPr>
          <p:cNvPr id="91" name="Google Shape;91;p12"/>
          <p:cNvSpPr txBox="1"/>
          <p:nvPr/>
        </p:nvSpPr>
        <p:spPr>
          <a:xfrm>
            <a:off x="0" y="1839413"/>
            <a:ext cx="9144000" cy="1159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3200" u="none" cap="none" strike="noStrike">
                <a:solidFill>
                  <a:srgbClr val="000000"/>
                </a:solidFill>
                <a:latin typeface="Poppins"/>
                <a:ea typeface="Poppins"/>
                <a:cs typeface="Poppins"/>
                <a:sym typeface="Poppins"/>
              </a:rPr>
              <a:t>Smart classification and personalized</a:t>
            </a:r>
            <a:endParaRPr/>
          </a:p>
          <a:p>
            <a:pPr indent="0" lvl="0" marL="0" marR="0" rtl="0" algn="ctr">
              <a:lnSpc>
                <a:spcPct val="100000"/>
              </a:lnSpc>
              <a:spcBef>
                <a:spcPts val="0"/>
              </a:spcBef>
              <a:spcAft>
                <a:spcPts val="0"/>
              </a:spcAft>
              <a:buNone/>
            </a:pPr>
            <a:r>
              <a:rPr b="1" i="0" lang="en-US" sz="3200" u="none" cap="none" strike="noStrike">
                <a:solidFill>
                  <a:srgbClr val="000000"/>
                </a:solidFill>
                <a:latin typeface="Poppins"/>
                <a:ea typeface="Poppins"/>
                <a:cs typeface="Poppins"/>
                <a:sym typeface="Poppins"/>
              </a:rPr>
              <a:t>           recommendations for e-commerce</a:t>
            </a:r>
            <a:endParaRPr/>
          </a:p>
          <a:p>
            <a:pPr indent="0" lvl="0" marL="0" marR="0" rtl="0" algn="ctr">
              <a:lnSpc>
                <a:spcPct val="100000"/>
              </a:lnSpc>
              <a:spcBef>
                <a:spcPts val="0"/>
              </a:spcBef>
              <a:spcAft>
                <a:spcPts val="0"/>
              </a:spcAft>
              <a:buNone/>
            </a:pPr>
            <a:r>
              <a:rPr b="1" i="0" lang="en-US" sz="3200" u="none" cap="none" strike="noStrike">
                <a:solidFill>
                  <a:srgbClr val="000000"/>
                </a:solidFill>
                <a:latin typeface="Poppins"/>
                <a:ea typeface="Poppins"/>
                <a:cs typeface="Poppins"/>
                <a:sym typeface="Poppins"/>
              </a:rPr>
              <a:t> platforms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idx="1" type="body"/>
          </p:nvPr>
        </p:nvSpPr>
        <p:spPr>
          <a:xfrm>
            <a:off x="60959" y="964049"/>
            <a:ext cx="9008533" cy="3812500"/>
          </a:xfrm>
          <a:prstGeom prst="rect">
            <a:avLst/>
          </a:prstGeom>
          <a:noFill/>
          <a:ln>
            <a:noFill/>
          </a:ln>
        </p:spPr>
        <p:txBody>
          <a:bodyPr anchorCtr="0" anchor="t" bIns="91425" lIns="91425" spcFirstLastPara="1" rIns="91425" wrap="square" tIns="91425">
            <a:noAutofit/>
          </a:bodyPr>
          <a:lstStyle/>
          <a:p>
            <a:pPr indent="-171450" lvl="0" marL="247650" rtl="0" algn="just">
              <a:lnSpc>
                <a:spcPct val="115000"/>
              </a:lnSpc>
              <a:spcBef>
                <a:spcPts val="400"/>
              </a:spcBef>
              <a:spcAft>
                <a:spcPts val="0"/>
              </a:spcAft>
              <a:buClr>
                <a:srgbClr val="00B0F0"/>
              </a:buClr>
              <a:buSzPts val="1400"/>
              <a:buFont typeface="PT Serif"/>
              <a:buChar char="#"/>
            </a:pPr>
            <a:r>
              <a:rPr b="1" i="1" lang="en-US" sz="1400" u="sng">
                <a:solidFill>
                  <a:srgbClr val="00B0F0"/>
                </a:solidFill>
                <a:hlinkClick r:id="rId3">
                  <a:extLst>
                    <a:ext uri="{A12FA001-AC4F-418D-AE19-62706E023703}">
                      <ahyp:hlinkClr val="tx"/>
                    </a:ext>
                  </a:extLst>
                </a:hlinkClick>
              </a:rPr>
              <a:t>Intelligent Classification and Personalized Recommendation of E-commerce Products Based on Machine Learning</a:t>
            </a:r>
            <a:endParaRPr b="1" i="1" sz="1400">
              <a:solidFill>
                <a:srgbClr val="00B0F0"/>
              </a:solidFill>
            </a:endParaRPr>
          </a:p>
          <a:p>
            <a:pPr indent="-82550" lvl="0" marL="247650" rtl="0" algn="just">
              <a:lnSpc>
                <a:spcPct val="115000"/>
              </a:lnSpc>
              <a:spcBef>
                <a:spcPts val="400"/>
              </a:spcBef>
              <a:spcAft>
                <a:spcPts val="0"/>
              </a:spcAft>
              <a:buClr>
                <a:schemeClr val="dk1"/>
              </a:buClr>
              <a:buSzPts val="1400"/>
              <a:buFont typeface="PT Serif"/>
              <a:buNone/>
            </a:pPr>
            <a:r>
              <a:t/>
            </a:r>
            <a:endParaRPr b="1" i="1" sz="1400">
              <a:solidFill>
                <a:srgbClr val="00B0F0"/>
              </a:solidFill>
            </a:endParaRPr>
          </a:p>
          <a:p>
            <a:pPr indent="-285750" lvl="1" marL="819150" rtl="0" algn="just">
              <a:lnSpc>
                <a:spcPct val="115000"/>
              </a:lnSpc>
              <a:spcBef>
                <a:spcPts val="400"/>
              </a:spcBef>
              <a:spcAft>
                <a:spcPts val="0"/>
              </a:spcAft>
              <a:buClr>
                <a:srgbClr val="FF0000"/>
              </a:buClr>
              <a:buSzPts val="1200"/>
              <a:buFont typeface="PT Serif"/>
              <a:buChar char="•"/>
            </a:pPr>
            <a:r>
              <a:rPr lang="en-US" sz="1200">
                <a:solidFill>
                  <a:srgbClr val="FF0000"/>
                </a:solidFill>
                <a:latin typeface="PT Serif"/>
                <a:ea typeface="PT Serif"/>
                <a:cs typeface="PT Serif"/>
                <a:sym typeface="PT Serif"/>
              </a:rPr>
              <a:t>Traditional e-commerce </a:t>
            </a:r>
            <a:r>
              <a:rPr lang="en-US" sz="1200">
                <a:solidFill>
                  <a:srgbClr val="333333"/>
                </a:solidFill>
                <a:latin typeface="PT Serif"/>
                <a:ea typeface="PT Serif"/>
                <a:cs typeface="PT Serif"/>
                <a:sym typeface="PT Serif"/>
              </a:rPr>
              <a:t>product classification systems have problems of </a:t>
            </a:r>
            <a:r>
              <a:rPr lang="en-US" sz="1200">
                <a:solidFill>
                  <a:srgbClr val="FF0000"/>
                </a:solidFill>
                <a:latin typeface="PT Serif"/>
                <a:ea typeface="PT Serif"/>
                <a:cs typeface="PT Serif"/>
                <a:sym typeface="PT Serif"/>
              </a:rPr>
              <a:t>inefficiency</a:t>
            </a:r>
            <a:r>
              <a:rPr lang="en-US" sz="1200">
                <a:solidFill>
                  <a:srgbClr val="333333"/>
                </a:solidFill>
                <a:latin typeface="PT Serif"/>
                <a:ea typeface="PT Serif"/>
                <a:cs typeface="PT Serif"/>
                <a:sym typeface="PT Serif"/>
              </a:rPr>
              <a:t> and </a:t>
            </a:r>
            <a:r>
              <a:rPr lang="en-US" sz="1200">
                <a:solidFill>
                  <a:srgbClr val="FF0000"/>
                </a:solidFill>
                <a:latin typeface="PT Serif"/>
                <a:ea typeface="PT Serif"/>
                <a:cs typeface="PT Serif"/>
                <a:sym typeface="PT Serif"/>
              </a:rPr>
              <a:t>inaccurate</a:t>
            </a:r>
            <a:r>
              <a:rPr lang="en-US" sz="1200">
                <a:solidFill>
                  <a:srgbClr val="333333"/>
                </a:solidFill>
                <a:latin typeface="PT Serif"/>
                <a:ea typeface="PT Serif"/>
                <a:cs typeface="PT Serif"/>
                <a:sym typeface="PT Serif"/>
              </a:rPr>
              <a:t> </a:t>
            </a:r>
            <a:r>
              <a:rPr lang="en-US" sz="1200">
                <a:solidFill>
                  <a:srgbClr val="FF0000"/>
                </a:solidFill>
                <a:latin typeface="PT Serif"/>
                <a:ea typeface="PT Serif"/>
                <a:cs typeface="PT Serif"/>
                <a:sym typeface="PT Serif"/>
              </a:rPr>
              <a:t>classification</a:t>
            </a:r>
            <a:r>
              <a:rPr lang="en-US" sz="1200">
                <a:solidFill>
                  <a:srgbClr val="333333"/>
                </a:solidFill>
                <a:latin typeface="PT Serif"/>
                <a:ea typeface="PT Serif"/>
                <a:cs typeface="PT Serif"/>
                <a:sym typeface="PT Serif"/>
              </a:rPr>
              <a:t>. Especially when processing a large number of products and user data, the system's response speed may slow down.</a:t>
            </a:r>
            <a:endParaRPr/>
          </a:p>
          <a:p>
            <a:pPr indent="-285750" lvl="1" marL="819150" rtl="0" algn="just">
              <a:lnSpc>
                <a:spcPct val="115000"/>
              </a:lnSpc>
              <a:spcBef>
                <a:spcPts val="400"/>
              </a:spcBef>
              <a:spcAft>
                <a:spcPts val="0"/>
              </a:spcAft>
              <a:buClr>
                <a:srgbClr val="FF0000"/>
              </a:buClr>
              <a:buSzPts val="1200"/>
              <a:buFont typeface="PT Serif"/>
              <a:buChar char="•"/>
            </a:pPr>
            <a:r>
              <a:rPr lang="en-US" sz="1200">
                <a:solidFill>
                  <a:srgbClr val="FF0000"/>
                </a:solidFill>
                <a:latin typeface="PT Serif"/>
                <a:ea typeface="PT Serif"/>
                <a:cs typeface="PT Serif"/>
                <a:sym typeface="PT Serif"/>
              </a:rPr>
              <a:t>Personalized recommendation system </a:t>
            </a:r>
            <a:r>
              <a:rPr lang="en-US" sz="1200">
                <a:solidFill>
                  <a:srgbClr val="333333"/>
                </a:solidFill>
                <a:latin typeface="PT Serif"/>
                <a:ea typeface="PT Serif"/>
                <a:cs typeface="PT Serif"/>
                <a:sym typeface="PT Serif"/>
              </a:rPr>
              <a:t>is the key technology to solve these problems. It can be applied to various recommendation scenarios such as e-commerce, content information, video, and advertising.</a:t>
            </a:r>
            <a:endParaRPr/>
          </a:p>
          <a:p>
            <a:pPr indent="-285750" lvl="1" marL="819150" rtl="0" algn="just">
              <a:lnSpc>
                <a:spcPct val="115000"/>
              </a:lnSpc>
              <a:spcBef>
                <a:spcPts val="400"/>
              </a:spcBef>
              <a:spcAft>
                <a:spcPts val="0"/>
              </a:spcAft>
              <a:buClr>
                <a:srgbClr val="333333"/>
              </a:buClr>
              <a:buSzPts val="1200"/>
              <a:buFont typeface="PT Serif"/>
              <a:buChar char="•"/>
            </a:pPr>
            <a:r>
              <a:rPr lang="en-US" sz="1200">
                <a:solidFill>
                  <a:srgbClr val="333333"/>
                </a:solidFill>
                <a:latin typeface="PT Serif"/>
                <a:ea typeface="PT Serif"/>
                <a:cs typeface="PT Serif"/>
                <a:sym typeface="PT Serif"/>
              </a:rPr>
              <a:t>By combining the BERT model and the nearest neighbor algorithm, an effective personalized recommendation system can be designed.</a:t>
            </a:r>
            <a:endParaRPr/>
          </a:p>
        </p:txBody>
      </p:sp>
      <p:sp>
        <p:nvSpPr>
          <p:cNvPr id="97" name="Google Shape;97;p13"/>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Evaluation optimization</a:t>
            </a:r>
            <a:endParaRPr sz="2000">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ph idx="1" type="body"/>
          </p:nvPr>
        </p:nvSpPr>
        <p:spPr>
          <a:xfrm>
            <a:off x="626350" y="1346063"/>
            <a:ext cx="3644400" cy="32049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600"/>
              </a:spcBef>
              <a:spcAft>
                <a:spcPts val="0"/>
              </a:spcAft>
              <a:buClr>
                <a:schemeClr val="dk1"/>
              </a:buClr>
              <a:buSzPts val="1400"/>
              <a:buFont typeface="PT Serif"/>
              <a:buChar char="#"/>
            </a:pPr>
            <a:r>
              <a:rPr lang="en-US" sz="1400"/>
              <a:t>Currently, e-commerce mainly relies on static product information (such as price, brand, etc.) for classified display. Although it is helpful to find products, it is inefficient and may not be classified accurately under large-scale data.</a:t>
            </a:r>
            <a:endParaRPr/>
          </a:p>
          <a:p>
            <a:pPr indent="-355600" lvl="0" marL="457200" rtl="0" algn="just">
              <a:lnSpc>
                <a:spcPct val="115000"/>
              </a:lnSpc>
              <a:spcBef>
                <a:spcPts val="600"/>
              </a:spcBef>
              <a:spcAft>
                <a:spcPts val="0"/>
              </a:spcAft>
              <a:buClr>
                <a:schemeClr val="dk1"/>
              </a:buClr>
              <a:buSzPts val="1400"/>
              <a:buFont typeface="PT Serif"/>
              <a:buChar char="#"/>
            </a:pPr>
            <a:r>
              <a:rPr lang="en-US" sz="1400"/>
              <a:t>Existing recommendation systems faces challenges such as data privacy, algorithm bias, scalability and cold start.</a:t>
            </a:r>
            <a:endParaRPr/>
          </a:p>
          <a:p>
            <a:pPr indent="-279400" lvl="0" marL="457200" rtl="0" algn="l">
              <a:lnSpc>
                <a:spcPct val="115000"/>
              </a:lnSpc>
              <a:spcBef>
                <a:spcPts val="600"/>
              </a:spcBef>
              <a:spcAft>
                <a:spcPts val="0"/>
              </a:spcAft>
              <a:buClr>
                <a:schemeClr val="dk1"/>
              </a:buClr>
              <a:buSzPts val="1200"/>
              <a:buFont typeface="PT Serif"/>
              <a:buNone/>
            </a:pPr>
            <a:r>
              <a:t/>
            </a:r>
            <a:endParaRPr sz="1200"/>
          </a:p>
        </p:txBody>
      </p:sp>
      <p:sp>
        <p:nvSpPr>
          <p:cNvPr id="103" name="Google Shape;103;p14"/>
          <p:cNvSpPr txBox="1"/>
          <p:nvPr>
            <p:ph idx="2" type="body"/>
          </p:nvPr>
        </p:nvSpPr>
        <p:spPr>
          <a:xfrm>
            <a:off x="4870698" y="1346063"/>
            <a:ext cx="3644400" cy="32049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600"/>
              </a:spcBef>
              <a:spcAft>
                <a:spcPts val="0"/>
              </a:spcAft>
              <a:buClr>
                <a:schemeClr val="dk1"/>
              </a:buClr>
              <a:buSzPts val="1400"/>
              <a:buFont typeface="PT Serif"/>
              <a:buChar char="#"/>
            </a:pPr>
            <a:r>
              <a:rPr lang="en-US" sz="1400"/>
              <a:t>Use the BERT model to improve recommendation accuracy, and recommend products more accurately through semantic understanding and nearest neighbor algorithms.</a:t>
            </a:r>
            <a:endParaRPr/>
          </a:p>
          <a:p>
            <a:pPr indent="-355600" lvl="0" marL="457200" rtl="0" algn="just">
              <a:lnSpc>
                <a:spcPct val="115000"/>
              </a:lnSpc>
              <a:spcBef>
                <a:spcPts val="600"/>
              </a:spcBef>
              <a:spcAft>
                <a:spcPts val="0"/>
              </a:spcAft>
              <a:buClr>
                <a:schemeClr val="dk1"/>
              </a:buClr>
              <a:buSzPts val="1400"/>
              <a:buFont typeface="PT Serif"/>
              <a:buChar char="#"/>
            </a:pPr>
            <a:r>
              <a:rPr lang="en-US" sz="1400"/>
              <a:t>The system provides innovative solutions to challenges such as cold start and scalability, and ensures ease of use and scalability.</a:t>
            </a:r>
            <a:endParaRPr/>
          </a:p>
          <a:p>
            <a:pPr indent="0" lvl="1" marL="558800" rtl="0" algn="just">
              <a:lnSpc>
                <a:spcPct val="115000"/>
              </a:lnSpc>
              <a:spcBef>
                <a:spcPts val="0"/>
              </a:spcBef>
              <a:spcAft>
                <a:spcPts val="0"/>
              </a:spcAft>
              <a:buClr>
                <a:schemeClr val="dk1"/>
              </a:buClr>
              <a:buSzPts val="1400"/>
              <a:buNone/>
            </a:pPr>
            <a:r>
              <a:t/>
            </a:r>
            <a:endParaRPr sz="1400"/>
          </a:p>
          <a:p>
            <a:pPr indent="-279400" lvl="1" marL="914400" rtl="0" algn="just">
              <a:lnSpc>
                <a:spcPct val="115000"/>
              </a:lnSpc>
              <a:spcBef>
                <a:spcPts val="0"/>
              </a:spcBef>
              <a:spcAft>
                <a:spcPts val="0"/>
              </a:spcAft>
              <a:buClr>
                <a:schemeClr val="dk1"/>
              </a:buClr>
              <a:buSzPts val="1200"/>
              <a:buFont typeface="PT Serif"/>
              <a:buNone/>
            </a:pPr>
            <a:r>
              <a:t/>
            </a:r>
            <a:endParaRPr sz="1200"/>
          </a:p>
          <a:p>
            <a:pPr indent="-279400" lvl="0" marL="457200" rtl="0" algn="just">
              <a:lnSpc>
                <a:spcPct val="115000"/>
              </a:lnSpc>
              <a:spcBef>
                <a:spcPts val="600"/>
              </a:spcBef>
              <a:spcAft>
                <a:spcPts val="0"/>
              </a:spcAft>
              <a:buClr>
                <a:schemeClr val="dk1"/>
              </a:buClr>
              <a:buSzPts val="1200"/>
              <a:buFont typeface="PT Serif"/>
              <a:buNone/>
            </a:pPr>
            <a:r>
              <a:t/>
            </a:r>
            <a:endParaRPr sz="1200"/>
          </a:p>
          <a:p>
            <a:pPr indent="-279400" lvl="0" marL="457200" rtl="0" algn="just">
              <a:lnSpc>
                <a:spcPct val="115000"/>
              </a:lnSpc>
              <a:spcBef>
                <a:spcPts val="600"/>
              </a:spcBef>
              <a:spcAft>
                <a:spcPts val="0"/>
              </a:spcAft>
              <a:buClr>
                <a:schemeClr val="dk1"/>
              </a:buClr>
              <a:buSzPts val="1200"/>
              <a:buFont typeface="PT Serif"/>
              <a:buNone/>
            </a:pPr>
            <a:r>
              <a:t/>
            </a:r>
            <a:endParaRPr sz="1200"/>
          </a:p>
        </p:txBody>
      </p:sp>
      <p:sp>
        <p:nvSpPr>
          <p:cNvPr id="104" name="Google Shape;104;p14"/>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As-Is To-Be</a:t>
            </a:r>
            <a:endParaRPr sz="2000">
              <a:latin typeface="Poppins"/>
              <a:ea typeface="Poppins"/>
              <a:cs typeface="Poppins"/>
              <a:sym typeface="Poppins"/>
            </a:endParaRPr>
          </a:p>
        </p:txBody>
      </p:sp>
      <p:sp>
        <p:nvSpPr>
          <p:cNvPr id="105" name="Google Shape;105;p14"/>
          <p:cNvSpPr txBox="1"/>
          <p:nvPr/>
        </p:nvSpPr>
        <p:spPr>
          <a:xfrm>
            <a:off x="626350" y="832086"/>
            <a:ext cx="3644400" cy="513977"/>
          </a:xfrm>
          <a:prstGeom prst="rect">
            <a:avLst/>
          </a:prstGeom>
          <a:noFill/>
          <a:ln>
            <a:noFill/>
          </a:ln>
        </p:spPr>
        <p:txBody>
          <a:bodyPr anchorCtr="0" anchor="t" bIns="91425" lIns="91425" spcFirstLastPara="1" rIns="91425" wrap="square" tIns="91425">
            <a:noAutofit/>
          </a:bodyPr>
          <a:lstStyle/>
          <a:p>
            <a:pPr indent="0" lvl="0" marL="101600" marR="0" rtl="0" algn="ctr">
              <a:lnSpc>
                <a:spcPct val="115000"/>
              </a:lnSpc>
              <a:spcBef>
                <a:spcPts val="600"/>
              </a:spcBef>
              <a:spcAft>
                <a:spcPts val="0"/>
              </a:spcAft>
              <a:buClr>
                <a:schemeClr val="dk1"/>
              </a:buClr>
              <a:buSzPts val="1800"/>
              <a:buFont typeface="PT Serif"/>
              <a:buNone/>
            </a:pPr>
            <a:r>
              <a:rPr b="1" i="0" lang="en-US" sz="1800" u="sng" cap="none" strike="noStrike">
                <a:solidFill>
                  <a:schemeClr val="dk1"/>
                </a:solidFill>
                <a:latin typeface="PT Serif"/>
                <a:ea typeface="PT Serif"/>
                <a:cs typeface="PT Serif"/>
                <a:sym typeface="PT Serif"/>
              </a:rPr>
              <a:t>#As-Is</a:t>
            </a:r>
            <a:endParaRPr b="1" i="0" sz="1800" u="sng" cap="none" strike="noStrike">
              <a:solidFill>
                <a:schemeClr val="dk1"/>
              </a:solidFill>
              <a:latin typeface="PT Serif"/>
              <a:ea typeface="PT Serif"/>
              <a:cs typeface="PT Serif"/>
              <a:sym typeface="PT Serif"/>
            </a:endParaRPr>
          </a:p>
        </p:txBody>
      </p:sp>
      <p:sp>
        <p:nvSpPr>
          <p:cNvPr id="106" name="Google Shape;106;p14"/>
          <p:cNvSpPr txBox="1"/>
          <p:nvPr/>
        </p:nvSpPr>
        <p:spPr>
          <a:xfrm>
            <a:off x="4870698" y="832086"/>
            <a:ext cx="3644400" cy="513977"/>
          </a:xfrm>
          <a:prstGeom prst="rect">
            <a:avLst/>
          </a:prstGeom>
          <a:noFill/>
          <a:ln>
            <a:noFill/>
          </a:ln>
        </p:spPr>
        <p:txBody>
          <a:bodyPr anchorCtr="0" anchor="t" bIns="91425" lIns="91425" spcFirstLastPara="1" rIns="91425" wrap="square" tIns="91425">
            <a:noAutofit/>
          </a:bodyPr>
          <a:lstStyle/>
          <a:p>
            <a:pPr indent="0" lvl="0" marL="101600" marR="0" rtl="0" algn="ctr">
              <a:lnSpc>
                <a:spcPct val="115000"/>
              </a:lnSpc>
              <a:spcBef>
                <a:spcPts val="600"/>
              </a:spcBef>
              <a:spcAft>
                <a:spcPts val="0"/>
              </a:spcAft>
              <a:buClr>
                <a:schemeClr val="dk1"/>
              </a:buClr>
              <a:buSzPts val="1800"/>
              <a:buFont typeface="PT Serif"/>
              <a:buNone/>
            </a:pPr>
            <a:r>
              <a:rPr b="1" i="0" lang="en-US" sz="1800" u="sng" cap="none" strike="noStrike">
                <a:solidFill>
                  <a:schemeClr val="dk1"/>
                </a:solidFill>
                <a:latin typeface="PT Serif"/>
                <a:ea typeface="PT Serif"/>
                <a:cs typeface="PT Serif"/>
                <a:sym typeface="PT Serif"/>
              </a:rPr>
              <a:t>#To-Be</a:t>
            </a:r>
            <a:endParaRPr b="1" i="0" sz="1800" u="sng" cap="none" strike="noStrike">
              <a:solidFill>
                <a:schemeClr val="dk1"/>
              </a:solidFill>
              <a:latin typeface="PT Serif"/>
              <a:ea typeface="PT Serif"/>
              <a:cs typeface="PT Serif"/>
              <a:sym typeface="PT Serif"/>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Framework</a:t>
            </a:r>
            <a:endParaRPr sz="2000">
              <a:latin typeface="Poppins"/>
              <a:ea typeface="Poppins"/>
              <a:cs typeface="Poppins"/>
              <a:sym typeface="Poppins"/>
            </a:endParaRPr>
          </a:p>
        </p:txBody>
      </p:sp>
      <p:pic>
        <p:nvPicPr>
          <p:cNvPr id="112" name="Google Shape;112;p15"/>
          <p:cNvPicPr preferRelativeResize="0"/>
          <p:nvPr/>
        </p:nvPicPr>
        <p:blipFill rotWithShape="1">
          <a:blip r:embed="rId3">
            <a:alphaModFix/>
          </a:blip>
          <a:srcRect b="0" l="0" r="0" t="0"/>
          <a:stretch/>
        </p:blipFill>
        <p:spPr>
          <a:xfrm>
            <a:off x="1791510" y="763030"/>
            <a:ext cx="5560980" cy="438047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2318100" y="113175"/>
            <a:ext cx="45078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sz="2000">
                <a:latin typeface="Poppins"/>
                <a:ea typeface="Poppins"/>
                <a:cs typeface="Poppins"/>
                <a:sym typeface="Poppins"/>
              </a:rPr>
              <a:t>Overview</a:t>
            </a:r>
            <a:endParaRPr sz="2000">
              <a:latin typeface="Poppins"/>
              <a:ea typeface="Poppins"/>
              <a:cs typeface="Poppins"/>
              <a:sym typeface="Poppins"/>
            </a:endParaRPr>
          </a:p>
        </p:txBody>
      </p:sp>
      <p:sp>
        <p:nvSpPr>
          <p:cNvPr id="118" name="Google Shape;118;p16"/>
          <p:cNvSpPr txBox="1"/>
          <p:nvPr>
            <p:ph idx="1" type="body"/>
          </p:nvPr>
        </p:nvSpPr>
        <p:spPr>
          <a:xfrm>
            <a:off x="617100" y="1269863"/>
            <a:ext cx="7909800" cy="3215400"/>
          </a:xfrm>
          <a:prstGeom prst="rect">
            <a:avLst/>
          </a:prstGeom>
          <a:noFill/>
          <a:ln>
            <a:noFill/>
          </a:ln>
        </p:spPr>
        <p:txBody>
          <a:bodyPr anchorCtr="0" anchor="t" bIns="91425" lIns="91425" spcFirstLastPara="1" rIns="91425" wrap="square" tIns="91425">
            <a:noAutofit/>
          </a:bodyPr>
          <a:lstStyle/>
          <a:p>
            <a:pPr indent="-171450" lvl="1" marL="704850" rtl="0" algn="l">
              <a:lnSpc>
                <a:spcPct val="115000"/>
              </a:lnSpc>
              <a:spcBef>
                <a:spcPts val="600"/>
              </a:spcBef>
              <a:spcAft>
                <a:spcPts val="0"/>
              </a:spcAft>
              <a:buClr>
                <a:schemeClr val="dk1"/>
              </a:buClr>
              <a:buSzPts val="1200"/>
              <a:buFont typeface="Poppins"/>
              <a:buChar char="#"/>
            </a:pPr>
            <a:r>
              <a:rPr lang="en-US" sz="1200">
                <a:latin typeface="PT Serif"/>
                <a:ea typeface="PT Serif"/>
                <a:cs typeface="PT Serif"/>
                <a:sym typeface="PT Serif"/>
              </a:rPr>
              <a:t>是否能應用到蝦皮、PChome、</a:t>
            </a:r>
            <a:r>
              <a:rPr lang="en-US" sz="1200">
                <a:latin typeface="Arial"/>
                <a:ea typeface="Arial"/>
                <a:cs typeface="Arial"/>
                <a:sym typeface="Arial"/>
              </a:rPr>
              <a:t>淘寶</a:t>
            </a:r>
            <a:r>
              <a:rPr lang="en-US" sz="1200">
                <a:latin typeface="PT Serif"/>
                <a:ea typeface="PT Serif"/>
                <a:cs typeface="PT Serif"/>
                <a:sym typeface="PT Serif"/>
              </a:rPr>
              <a:t>等台灣人常用的電商平台?</a:t>
            </a:r>
            <a:endParaRPr/>
          </a:p>
          <a:p>
            <a:pPr indent="-171450" lvl="1" marL="704850" rtl="0" algn="l">
              <a:lnSpc>
                <a:spcPct val="115000"/>
              </a:lnSpc>
              <a:spcBef>
                <a:spcPts val="600"/>
              </a:spcBef>
              <a:spcAft>
                <a:spcPts val="0"/>
              </a:spcAft>
              <a:buClr>
                <a:schemeClr val="dk1"/>
              </a:buClr>
              <a:buSzPts val="1200"/>
              <a:buFont typeface="Poppins"/>
              <a:buChar char="#"/>
            </a:pPr>
            <a:r>
              <a:rPr lang="en-US" sz="1200"/>
              <a:t>如何將BERT模型的推薦系統應用拓展到電子商務以外的場景，如社交媒體和內容推送平台？</a:t>
            </a:r>
            <a:r>
              <a:rPr lang="en-US" sz="1200">
                <a:latin typeface="PT Serif"/>
                <a:ea typeface="PT Serif"/>
                <a:cs typeface="PT Serif"/>
                <a:sym typeface="PT Serif"/>
              </a:rPr>
              <a:t>設計可適應的模型架構，根據使用者特徵調整輸出內容?</a:t>
            </a:r>
            <a:endParaRPr/>
          </a:p>
          <a:p>
            <a:pPr indent="-171450" lvl="1" marL="704850" rtl="0" algn="l">
              <a:lnSpc>
                <a:spcPct val="115000"/>
              </a:lnSpc>
              <a:spcBef>
                <a:spcPts val="600"/>
              </a:spcBef>
              <a:spcAft>
                <a:spcPts val="0"/>
              </a:spcAft>
              <a:buClr>
                <a:schemeClr val="dk1"/>
              </a:buClr>
              <a:buSzPts val="1200"/>
              <a:buFont typeface="Poppins"/>
              <a:buChar char="#"/>
            </a:pPr>
            <a:r>
              <a:rPr lang="en-US" sz="1200"/>
              <a:t>除了使用BERT模型和近鄰算法，是否有其他新穎的方法可以更有效地解決新用戶、新產品和新場景的問題？</a:t>
            </a:r>
            <a:endParaRPr sz="1200"/>
          </a:p>
          <a:p>
            <a:pPr indent="-171450" lvl="1" marL="704850" rtl="0" algn="l">
              <a:lnSpc>
                <a:spcPct val="115000"/>
              </a:lnSpc>
              <a:spcBef>
                <a:spcPts val="600"/>
              </a:spcBef>
              <a:spcAft>
                <a:spcPts val="0"/>
              </a:spcAft>
              <a:buClr>
                <a:schemeClr val="dk1"/>
              </a:buClr>
              <a:buSzPts val="1200"/>
              <a:buFont typeface="Poppins"/>
              <a:buChar char="#"/>
            </a:pPr>
            <a:r>
              <a:rPr lang="en-US" sz="1200"/>
              <a:t>如何平衡個性化推薦和商業廣告之間的需求，既提升用戶體驗又最大化商業利潤？</a:t>
            </a:r>
            <a:endParaRPr sz="1400">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Beatrice template">
  <a:themeElements>
    <a:clrScheme name="Custom 347">
      <a:dk1>
        <a:srgbClr val="1D1D1B"/>
      </a:dk1>
      <a:lt1>
        <a:srgbClr val="F3EFEA"/>
      </a:lt1>
      <a:dk2>
        <a:srgbClr val="434343"/>
      </a:dk2>
      <a:lt2>
        <a:srgbClr val="FFFFFF"/>
      </a:lt2>
      <a:accent1>
        <a:srgbClr val="8F7B87"/>
      </a:accent1>
      <a:accent2>
        <a:srgbClr val="A797A1"/>
      </a:accent2>
      <a:accent3>
        <a:srgbClr val="C0B5BC"/>
      </a:accent3>
      <a:accent4>
        <a:srgbClr val="E4DDE1"/>
      </a:accent4>
      <a:accent5>
        <a:srgbClr val="EFECED"/>
      </a:accent5>
      <a:accent6>
        <a:srgbClr val="F3EFEA"/>
      </a:accent6>
      <a:hlink>
        <a:srgbClr val="1D1D1B"/>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Tony Wu</dc:creator>
</cp:coreProperties>
</file>