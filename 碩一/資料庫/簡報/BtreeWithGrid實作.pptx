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309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84" autoAdjust="0"/>
  </p:normalViewPr>
  <p:slideViewPr>
    <p:cSldViewPr>
      <p:cViewPr varScale="1">
        <p:scale>
          <a:sx n="102" d="100"/>
          <a:sy n="102" d="100"/>
        </p:scale>
        <p:origin x="48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4A7FE-F357-45BA-B656-29725B511DD6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E695B-A28C-405A-9871-088FF68FA32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A2F16-3614-4EB4-BB78-694B126EE33F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75F3E-D194-4352-BEF8-6F75B2EFF23B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561C-7AF8-4E78-8DB6-0195C6984578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CEC0-9083-4E34-B67B-1EBE5D749192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722F-3510-4782-B7EC-4A8F4A1F97F6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C32B-5DB2-4128-82A0-BC941DA26AF2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8BD4-0C53-47B4-916C-839535788131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3D7D-715B-4BA7-AFC9-FF4B9378FF6D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886-1669-48D9-AC36-F403A124DAEF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AF11-980E-48AB-A5C1-FB9636DB3B9B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62CF-9FAE-47DE-8E28-A7DB449233DA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E86C69E-E342-4D3F-821F-FAD619D24BC6}" type="datetime1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Index Structures for Spatial Data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FA669-5CD8-4A06-A37C-2326AD4D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CFBDB8-D0BD-4855-84AB-7EA0B3C1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4CB849-0A5E-47C9-AB80-6A1E4B53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25D195-418E-4BD7-9A52-22F50C9E37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Focus on single key attribute:</a:t>
            </a:r>
          </a:p>
          <a:p>
            <a:pPr lvl="1"/>
            <a:r>
              <a:rPr lang="en-US" altLang="zh-TW" dirty="0"/>
              <a:t>E.g., primary key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05969B7-9D5C-4FEA-A7C9-40A0F06AE208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319811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57864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276153-3C82-43D6-84AA-D5AD3E60986B}"/>
              </a:ext>
            </a:extLst>
          </p:cNvPr>
          <p:cNvGraphicFramePr>
            <a:graphicFrameLocks noGrp="1"/>
          </p:cNvGraphicFramePr>
          <p:nvPr/>
        </p:nvGraphicFramePr>
        <p:xfrm>
          <a:off x="199126" y="4169986"/>
          <a:ext cx="13531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14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193E0AAA-FC77-4264-8FE3-804CC65380D9}"/>
              </a:ext>
            </a:extLst>
          </p:cNvPr>
          <p:cNvGraphicFramePr>
            <a:graphicFrameLocks noGrp="1"/>
          </p:cNvGraphicFramePr>
          <p:nvPr/>
        </p:nvGraphicFramePr>
        <p:xfrm>
          <a:off x="4553357" y="2474671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AA2C297D-3358-4677-B545-A3CE54F08118}"/>
              </a:ext>
            </a:extLst>
          </p:cNvPr>
          <p:cNvGraphicFramePr>
            <a:graphicFrameLocks noGrp="1"/>
          </p:cNvGraphicFramePr>
          <p:nvPr/>
        </p:nvGraphicFramePr>
        <p:xfrm>
          <a:off x="6714966" y="3121338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24531ECD-1704-4985-912A-ECDDFE9178BE}"/>
              </a:ext>
            </a:extLst>
          </p:cNvPr>
          <p:cNvCxnSpPr>
            <a:cxnSpLocks/>
          </p:cNvCxnSpPr>
          <p:nvPr/>
        </p:nvCxnSpPr>
        <p:spPr>
          <a:xfrm>
            <a:off x="603504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表格 46">
            <a:extLst>
              <a:ext uri="{FF2B5EF4-FFF2-40B4-BE49-F238E27FC236}">
                <a16:creationId xmlns:a16="http://schemas.microsoft.com/office/drawing/2014/main" id="{511F3ADB-C6B7-4057-92C2-EF53D621531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5018023"/>
          <a:ext cx="8363269" cy="76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12">
                  <a:extLst>
                    <a:ext uri="{9D8B030D-6E8A-4147-A177-3AD203B41FA5}">
                      <a16:colId xmlns:a16="http://schemas.microsoft.com/office/drawing/2014/main" val="1373443593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04541271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6623687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99501370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258573512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862103018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750979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75773603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391257905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510932776"/>
                    </a:ext>
                  </a:extLst>
                </a:gridCol>
              </a:tblGrid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4387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54505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42D54B-6C02-4C10-9E54-4486668FC417}"/>
              </a:ext>
            </a:extLst>
          </p:cNvPr>
          <p:cNvSpPr txBox="1"/>
          <p:nvPr/>
        </p:nvSpPr>
        <p:spPr>
          <a:xfrm>
            <a:off x="3645912" y="5739832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555AB9A-A0A7-46AF-BA84-A969B8766FDA}"/>
              </a:ext>
            </a:extLst>
          </p:cNvPr>
          <p:cNvSpPr txBox="1"/>
          <p:nvPr/>
        </p:nvSpPr>
        <p:spPr>
          <a:xfrm>
            <a:off x="5710274" y="2427522"/>
            <a:ext cx="106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child ptr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F646BFE-D86F-4917-AC31-229BCF56A401}"/>
              </a:ext>
            </a:extLst>
          </p:cNvPr>
          <p:cNvSpPr txBox="1"/>
          <p:nvPr/>
        </p:nvSpPr>
        <p:spPr>
          <a:xfrm>
            <a:off x="1232830" y="4601784"/>
            <a:ext cx="113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record ptr</a:t>
            </a:r>
            <a:endParaRPr lang="zh-TW" altLang="en-US" sz="2000" dirty="0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AD5908ED-7938-4805-AA1E-87CDB896666C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416317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4BEE22DB-7C84-4518-AF8A-F527FF968F1E}"/>
              </a:ext>
            </a:extLst>
          </p:cNvPr>
          <p:cNvGraphicFramePr>
            <a:graphicFrameLocks noGrp="1"/>
          </p:cNvGraphicFramePr>
          <p:nvPr/>
        </p:nvGraphicFramePr>
        <p:xfrm>
          <a:off x="3409780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974D10BD-8311-4029-84FD-295FFCDF6041}"/>
              </a:ext>
            </a:extLst>
          </p:cNvPr>
          <p:cNvGraphicFramePr>
            <a:graphicFrameLocks noGrp="1"/>
          </p:cNvGraphicFramePr>
          <p:nvPr/>
        </p:nvGraphicFramePr>
        <p:xfrm>
          <a:off x="5094165" y="4145029"/>
          <a:ext cx="2162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4358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2463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06E4EAE-8DD3-49FD-A783-F20552A4DB3F}"/>
              </a:ext>
            </a:extLst>
          </p:cNvPr>
          <p:cNvGraphicFramePr>
            <a:graphicFrameLocks noGrp="1"/>
          </p:cNvGraphicFramePr>
          <p:nvPr/>
        </p:nvGraphicFramePr>
        <p:xfrm>
          <a:off x="7433574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240D4C9-3869-4313-B90C-9272A49945F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481045" y="2643209"/>
            <a:ext cx="2192207" cy="55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00A470E-A5D5-4020-939C-98852F5833C1}"/>
              </a:ext>
            </a:extLst>
          </p:cNvPr>
          <p:cNvCxnSpPr>
            <a:endCxn id="13" idx="0"/>
          </p:cNvCxnSpPr>
          <p:nvPr/>
        </p:nvCxnSpPr>
        <p:spPr>
          <a:xfrm>
            <a:off x="5292080" y="2643209"/>
            <a:ext cx="1852781" cy="47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5B46250-D28D-469A-BAA4-A306E047D6FF}"/>
              </a:ext>
            </a:extLst>
          </p:cNvPr>
          <p:cNvCxnSpPr>
            <a:endCxn id="7" idx="0"/>
          </p:cNvCxnSpPr>
          <p:nvPr/>
        </p:nvCxnSpPr>
        <p:spPr>
          <a:xfrm flipH="1">
            <a:off x="875718" y="3383535"/>
            <a:ext cx="959978" cy="786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4C0C3FC-E7D5-41C4-BE43-52A9992D2E23}"/>
              </a:ext>
            </a:extLst>
          </p:cNvPr>
          <p:cNvCxnSpPr/>
          <p:nvPr/>
        </p:nvCxnSpPr>
        <p:spPr>
          <a:xfrm>
            <a:off x="2481045" y="3383535"/>
            <a:ext cx="74731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E350E8E-A0F4-4573-9EFE-1616DD603CCD}"/>
              </a:ext>
            </a:extLst>
          </p:cNvPr>
          <p:cNvCxnSpPr>
            <a:endCxn id="45" idx="0"/>
          </p:cNvCxnSpPr>
          <p:nvPr/>
        </p:nvCxnSpPr>
        <p:spPr>
          <a:xfrm>
            <a:off x="3126394" y="3383535"/>
            <a:ext cx="1039036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20BA678F-00B9-48E4-AD44-A40DD11EEFB5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175570" y="3337025"/>
            <a:ext cx="602774" cy="808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96879564-6820-4708-A33C-2ABC8E66C83B}"/>
              </a:ext>
            </a:extLst>
          </p:cNvPr>
          <p:cNvCxnSpPr>
            <a:endCxn id="51" idx="0"/>
          </p:cNvCxnSpPr>
          <p:nvPr/>
        </p:nvCxnSpPr>
        <p:spPr>
          <a:xfrm>
            <a:off x="7433574" y="3306758"/>
            <a:ext cx="755650" cy="838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B4B33B15-DB28-4A3A-BAFB-46B9CFC9C1D8}"/>
              </a:ext>
            </a:extLst>
          </p:cNvPr>
          <p:cNvCxnSpPr>
            <a:cxnSpLocks/>
          </p:cNvCxnSpPr>
          <p:nvPr/>
        </p:nvCxnSpPr>
        <p:spPr>
          <a:xfrm>
            <a:off x="125963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49B2124C-3AE4-44BF-A2AE-5413F3635AED}"/>
              </a:ext>
            </a:extLst>
          </p:cNvPr>
          <p:cNvCxnSpPr>
            <a:cxnSpLocks/>
          </p:cNvCxnSpPr>
          <p:nvPr/>
        </p:nvCxnSpPr>
        <p:spPr>
          <a:xfrm>
            <a:off x="7956376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36180187-4DA0-4A5C-BEF2-233D6C56E02E}"/>
              </a:ext>
            </a:extLst>
          </p:cNvPr>
          <p:cNvCxnSpPr>
            <a:cxnSpLocks/>
          </p:cNvCxnSpPr>
          <p:nvPr/>
        </p:nvCxnSpPr>
        <p:spPr>
          <a:xfrm>
            <a:off x="858570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4ABCF19-B308-4270-9870-F306CCC8425F}"/>
              </a:ext>
            </a:extLst>
          </p:cNvPr>
          <p:cNvSpPr txBox="1"/>
          <p:nvPr/>
        </p:nvSpPr>
        <p:spPr>
          <a:xfrm>
            <a:off x="4245118" y="4485352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68EE52C-75B3-4C93-B90D-FE2C701D72A3}"/>
              </a:ext>
            </a:extLst>
          </p:cNvPr>
          <p:cNvSpPr txBox="1"/>
          <p:nvPr/>
        </p:nvSpPr>
        <p:spPr>
          <a:xfrm>
            <a:off x="2576209" y="4510025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5E14491-841B-452D-83D1-9C7E23B5604C}"/>
              </a:ext>
            </a:extLst>
          </p:cNvPr>
          <p:cNvSpPr txBox="1"/>
          <p:nvPr/>
        </p:nvSpPr>
        <p:spPr>
          <a:xfrm>
            <a:off x="6175430" y="4474559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5EE8D6C0-A7C6-4037-AACC-D4EFEAF2D08C}"/>
              </a:ext>
            </a:extLst>
          </p:cNvPr>
          <p:cNvCxnSpPr>
            <a:endCxn id="37" idx="1"/>
          </p:cNvCxnSpPr>
          <p:nvPr/>
        </p:nvCxnSpPr>
        <p:spPr>
          <a:xfrm>
            <a:off x="1403648" y="4348595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9D3035DB-D0F1-4189-98ED-5CEBA16AC62B}"/>
              </a:ext>
            </a:extLst>
          </p:cNvPr>
          <p:cNvCxnSpPr/>
          <p:nvPr/>
        </p:nvCxnSpPr>
        <p:spPr>
          <a:xfrm>
            <a:off x="3088033" y="4330449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65FA490A-C1E3-401A-99AD-4EEF0381EEAD}"/>
              </a:ext>
            </a:extLst>
          </p:cNvPr>
          <p:cNvCxnSpPr/>
          <p:nvPr/>
        </p:nvCxnSpPr>
        <p:spPr>
          <a:xfrm>
            <a:off x="4772418" y="433874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4B4EB484-B1C1-4541-BE27-430D570CE392}"/>
              </a:ext>
            </a:extLst>
          </p:cNvPr>
          <p:cNvCxnSpPr/>
          <p:nvPr/>
        </p:nvCxnSpPr>
        <p:spPr>
          <a:xfrm>
            <a:off x="7111827" y="432348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31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EA7644-EE06-4185-9E56-D01EBE0C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建構 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C421EA-A21C-43D5-B086-BAA1779D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C9DF2E-4B45-4B60-B343-929DC65E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F97BEF-417E-49B3-92DB-11E0F77D13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employee.txt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tuples: 64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1 ~ 64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Employee_01~64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birth: between 1970/01/01 and 2000/12/31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 {TPE, NTPC, TXG, TNN, KHH}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C3C78C7-56E7-42E2-A651-E6FFDEE30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1826"/>
            <a:ext cx="4352411" cy="315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5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311792-4EDD-4D9F-BFF0-31F934C9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r>
              <a:rPr lang="zh-TW" altLang="en-US" dirty="0"/>
              <a:t>建構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43FB1A-5D58-484C-8C5C-FE829301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6C31-ABD2-4955-B210-EDFE18FE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750407-D5C0-4B75-B603-8FF9C3C07D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Input:</a:t>
            </a:r>
          </a:p>
          <a:p>
            <a:pPr lvl="1"/>
            <a:r>
              <a:rPr lang="en-US" altLang="zh-TW" dirty="0"/>
              <a:t>employee.txt</a:t>
            </a:r>
          </a:p>
          <a:p>
            <a:r>
              <a:rPr lang="en-US" altLang="zh-TW" dirty="0"/>
              <a:t>Output: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BPlusTree.txt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tree.png</a:t>
            </a:r>
          </a:p>
          <a:p>
            <a:pPr lvl="1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185FDD7-C1C5-4BCB-A55B-8F6C7FBB5F69}"/>
              </a:ext>
            </a:extLst>
          </p:cNvPr>
          <p:cNvCxnSpPr/>
          <p:nvPr/>
        </p:nvCxnSpPr>
        <p:spPr>
          <a:xfrm flipV="1">
            <a:off x="3347864" y="2852936"/>
            <a:ext cx="864096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4838C0A-12C7-47E5-BFB8-BACC54E098B8}"/>
              </a:ext>
            </a:extLst>
          </p:cNvPr>
          <p:cNvCxnSpPr>
            <a:cxnSpLocks/>
          </p:cNvCxnSpPr>
          <p:nvPr/>
        </p:nvCxnSpPr>
        <p:spPr>
          <a:xfrm>
            <a:off x="2339752" y="3705897"/>
            <a:ext cx="144016" cy="595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A4445182-5FAC-4C59-ACAD-FC54AAF8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230" y="1124744"/>
            <a:ext cx="4486387" cy="30150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3BC1778-D34C-4527-B0BC-B689B181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331101"/>
            <a:ext cx="5610944" cy="21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6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51BC9-B0FB-40EF-967F-720FB8D0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資料搜尋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B250E1-64DD-467D-89A5-924CB6CB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03032E-6A96-42A9-BA71-A7A1C36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6AA03C-84A8-4EBA-AC2B-8DF9E154EA7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Input:</a:t>
            </a:r>
          </a:p>
          <a:p>
            <a:pPr lvl="1"/>
            <a:r>
              <a:rPr lang="en-US" altLang="zh-TW" dirty="0"/>
              <a:t>employee.txt</a:t>
            </a:r>
          </a:p>
          <a:p>
            <a:pPr lvl="1"/>
            <a:r>
              <a:rPr lang="en-US" altLang="zh-TW" dirty="0"/>
              <a:t>BPlusTree.txt</a:t>
            </a:r>
          </a:p>
          <a:p>
            <a:pPr lvl="1"/>
            <a:r>
              <a:rPr lang="en-US" altLang="zh-TW" dirty="0"/>
              <a:t>id </a:t>
            </a:r>
            <a:r>
              <a:rPr lang="zh-TW" altLang="en-US" dirty="0"/>
              <a:t>值</a:t>
            </a:r>
            <a:endParaRPr lang="en-US" altLang="zh-TW" dirty="0"/>
          </a:p>
          <a:p>
            <a:r>
              <a:rPr lang="en-US" altLang="zh-TW" dirty="0"/>
              <a:t>Output:</a:t>
            </a:r>
          </a:p>
          <a:p>
            <a:pPr lvl="1"/>
            <a:r>
              <a:rPr lang="zh-TW" altLang="en-US" dirty="0"/>
              <a:t>符合的</a:t>
            </a:r>
            <a:r>
              <a:rPr lang="en-US" altLang="zh-TW" dirty="0"/>
              <a:t>tuple</a:t>
            </a:r>
          </a:p>
          <a:p>
            <a:pPr lvl="1"/>
            <a:r>
              <a:rPr lang="en-US" altLang="zh-TW" dirty="0"/>
              <a:t>search.png</a:t>
            </a:r>
          </a:p>
          <a:p>
            <a:pPr lvl="1"/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3E0CE63-E199-42F6-849F-2286276CECF1}"/>
              </a:ext>
            </a:extLst>
          </p:cNvPr>
          <p:cNvCxnSpPr/>
          <p:nvPr/>
        </p:nvCxnSpPr>
        <p:spPr>
          <a:xfrm flipV="1">
            <a:off x="3203848" y="2924944"/>
            <a:ext cx="64807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54EB11E-32DE-4639-BCEA-2CAC441FB54A}"/>
              </a:ext>
            </a:extLst>
          </p:cNvPr>
          <p:cNvCxnSpPr/>
          <p:nvPr/>
        </p:nvCxnSpPr>
        <p:spPr>
          <a:xfrm>
            <a:off x="2051720" y="4653136"/>
            <a:ext cx="648072" cy="39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0BD7A608-0BF6-4CBE-B790-4489D23F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431071"/>
            <a:ext cx="5584674" cy="13651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390C56-6F0F-4861-9533-9F5994607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733" y="3804207"/>
            <a:ext cx="5483041" cy="286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5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66872-C93C-4831-9ADD-C1BBA922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data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92A5BC8-E649-45F6-9150-A5E562A6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4AABC2-C119-4E23-B230-CC0C292F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FE3A625-1E5F-479A-B0F1-7E6F9DB6DF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Contains basic attributes</a:t>
            </a:r>
          </a:p>
          <a:p>
            <a:r>
              <a:rPr lang="en-US" altLang="zh-TW" dirty="0"/>
              <a:t>Includes </a:t>
            </a:r>
            <a:r>
              <a:rPr lang="en-US" altLang="zh-TW" dirty="0">
                <a:solidFill>
                  <a:srgbClr val="FF0000"/>
                </a:solidFill>
              </a:rPr>
              <a:t>spatial coordinates </a:t>
            </a:r>
          </a:p>
          <a:p>
            <a:pPr lvl="1"/>
            <a:r>
              <a:rPr lang="en-US" altLang="zh-TW" dirty="0"/>
              <a:t>E.g., latitude, longitude</a:t>
            </a:r>
          </a:p>
          <a:p>
            <a:r>
              <a:rPr lang="en-US" altLang="zh-TW" dirty="0"/>
              <a:t>Supports spatial queries</a:t>
            </a:r>
          </a:p>
        </p:txBody>
      </p:sp>
    </p:spTree>
    <p:extLst>
      <p:ext uri="{BB962C8B-B14F-4D97-AF65-F5344CB8AC3E}">
        <p14:creationId xmlns:p14="http://schemas.microsoft.com/office/powerpoint/2010/main" val="273488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68FF7-51C9-4181-A874-6543264B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queries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FB694D-30FF-47A0-9146-E239F6A1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D635DB-2924-47C1-B75E-40B95F5D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E301F7-D82D-42D5-81F4-88846C58F5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Point query:</a:t>
            </a:r>
          </a:p>
          <a:p>
            <a:pPr lvl="1"/>
            <a:r>
              <a:rPr lang="en-US" altLang="zh-TW" dirty="0"/>
              <a:t>Find the object located at a specific point.</a:t>
            </a:r>
          </a:p>
          <a:p>
            <a:r>
              <a:rPr lang="en-US" altLang="zh-TW" dirty="0"/>
              <a:t>Range query:</a:t>
            </a:r>
          </a:p>
          <a:p>
            <a:pPr lvl="1"/>
            <a:r>
              <a:rPr lang="en-US" altLang="zh-TW" dirty="0"/>
              <a:t>Retrieve objects within a given area or distance</a:t>
            </a:r>
          </a:p>
          <a:p>
            <a:r>
              <a:rPr lang="en-US" altLang="zh-TW" dirty="0"/>
              <a:t>Nearest neighbor query:</a:t>
            </a:r>
          </a:p>
          <a:p>
            <a:pPr lvl="1"/>
            <a:r>
              <a:rPr lang="en-US" altLang="zh-TW" dirty="0"/>
              <a:t>Find the closest object(s) to a given location.</a:t>
            </a:r>
          </a:p>
          <a:p>
            <a:r>
              <a:rPr lang="en-US" altLang="zh-TW" dirty="0"/>
              <a:t>Skyline query:</a:t>
            </a:r>
          </a:p>
          <a:p>
            <a:pPr lvl="1"/>
            <a:r>
              <a:rPr lang="en-US" altLang="zh-TW" dirty="0"/>
              <a:t>Retrieve objects that are not dominated by others in all dimensions.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309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58BBC7-52CD-46D7-AC0D-79794E16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Index structures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18DAE-D681-4F3A-BFE4-457DCD83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DD746F-3734-4ADA-9B02-31A32F8A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425485-7D9B-4E8B-AFAC-F7076164D8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How to index spatial data using 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</a:p>
          <a:p>
            <a:pPr lvl="1"/>
            <a:r>
              <a:rPr lang="en-US" altLang="zh-TW" dirty="0"/>
              <a:t>Supports spatial queries 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2C2D10E4-5F66-412C-B25E-500B9C6918C8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319811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57864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E20B447-230E-44F3-861B-1141184F4C51}"/>
              </a:ext>
            </a:extLst>
          </p:cNvPr>
          <p:cNvGraphicFramePr>
            <a:graphicFrameLocks noGrp="1"/>
          </p:cNvGraphicFramePr>
          <p:nvPr/>
        </p:nvGraphicFramePr>
        <p:xfrm>
          <a:off x="199126" y="4169986"/>
          <a:ext cx="13531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14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665CAF4B-7C1B-4FCF-8D46-C009F6F5C313}"/>
              </a:ext>
            </a:extLst>
          </p:cNvPr>
          <p:cNvGraphicFramePr>
            <a:graphicFrameLocks noGrp="1"/>
          </p:cNvGraphicFramePr>
          <p:nvPr/>
        </p:nvGraphicFramePr>
        <p:xfrm>
          <a:off x="4553357" y="2474671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85FFBE47-0A34-4C4B-B048-EA84DDFAB2F1}"/>
              </a:ext>
            </a:extLst>
          </p:cNvPr>
          <p:cNvGraphicFramePr>
            <a:graphicFrameLocks noGrp="1"/>
          </p:cNvGraphicFramePr>
          <p:nvPr/>
        </p:nvGraphicFramePr>
        <p:xfrm>
          <a:off x="6714966" y="3121338"/>
          <a:ext cx="8597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8713012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5254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B65165E-F9D1-4599-90BD-9802EB048692}"/>
              </a:ext>
            </a:extLst>
          </p:cNvPr>
          <p:cNvCxnSpPr>
            <a:cxnSpLocks/>
          </p:cNvCxnSpPr>
          <p:nvPr/>
        </p:nvCxnSpPr>
        <p:spPr>
          <a:xfrm>
            <a:off x="603504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表格 46">
            <a:extLst>
              <a:ext uri="{FF2B5EF4-FFF2-40B4-BE49-F238E27FC236}">
                <a16:creationId xmlns:a16="http://schemas.microsoft.com/office/drawing/2014/main" id="{9348EC7F-C73B-4132-83E8-42A169B4E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08503"/>
              </p:ext>
            </p:extLst>
          </p:nvPr>
        </p:nvGraphicFramePr>
        <p:xfrm>
          <a:off x="457200" y="5018023"/>
          <a:ext cx="8363269" cy="76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12">
                  <a:extLst>
                    <a:ext uri="{9D8B030D-6E8A-4147-A177-3AD203B41FA5}">
                      <a16:colId xmlns:a16="http://schemas.microsoft.com/office/drawing/2014/main" val="1373443593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04541271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6623687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99501370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258573512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862103018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4075097984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757736037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391257905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3510932776"/>
                    </a:ext>
                  </a:extLst>
                </a:gridCol>
              </a:tblGrid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(x, y)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4387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545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6A76AA-88C4-4F89-88F8-B1ECD3FDDD15}"/>
              </a:ext>
            </a:extLst>
          </p:cNvPr>
          <p:cNvSpPr txBox="1"/>
          <p:nvPr/>
        </p:nvSpPr>
        <p:spPr>
          <a:xfrm>
            <a:off x="3645912" y="5739832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Employee</a:t>
            </a:r>
            <a:endParaRPr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C2AC53-C156-4183-8BED-A8D91211C3BC}"/>
              </a:ext>
            </a:extLst>
          </p:cNvPr>
          <p:cNvSpPr txBox="1"/>
          <p:nvPr/>
        </p:nvSpPr>
        <p:spPr>
          <a:xfrm>
            <a:off x="5710274" y="2427522"/>
            <a:ext cx="106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child ptr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C25F261-07A1-4CB0-A9DA-0DF6BDADFAA2}"/>
              </a:ext>
            </a:extLst>
          </p:cNvPr>
          <p:cNvSpPr txBox="1"/>
          <p:nvPr/>
        </p:nvSpPr>
        <p:spPr>
          <a:xfrm>
            <a:off x="1232830" y="4601784"/>
            <a:ext cx="113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record ptr</a:t>
            </a:r>
            <a:endParaRPr lang="zh-TW" altLang="en-US" sz="2000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ECDD1F9-1EBF-43C8-81DC-BCDA462B4846}"/>
              </a:ext>
            </a:extLst>
          </p:cNvPr>
          <p:cNvGraphicFramePr>
            <a:graphicFrameLocks noGrp="1"/>
          </p:cNvGraphicFramePr>
          <p:nvPr/>
        </p:nvGraphicFramePr>
        <p:xfrm>
          <a:off x="1725395" y="4163175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6E6C5A6-B409-4213-B161-372103D71508}"/>
              </a:ext>
            </a:extLst>
          </p:cNvPr>
          <p:cNvGraphicFramePr>
            <a:graphicFrameLocks noGrp="1"/>
          </p:cNvGraphicFramePr>
          <p:nvPr/>
        </p:nvGraphicFramePr>
        <p:xfrm>
          <a:off x="3409780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32A1C2F-7841-4F9E-B76E-09C476318C12}"/>
              </a:ext>
            </a:extLst>
          </p:cNvPr>
          <p:cNvGraphicFramePr>
            <a:graphicFrameLocks noGrp="1"/>
          </p:cNvGraphicFramePr>
          <p:nvPr/>
        </p:nvGraphicFramePr>
        <p:xfrm>
          <a:off x="5094165" y="4145029"/>
          <a:ext cx="2162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4358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2463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99DF723-D534-452E-B5C8-B64A6CE49D2E}"/>
              </a:ext>
            </a:extLst>
          </p:cNvPr>
          <p:cNvGraphicFramePr>
            <a:graphicFrameLocks noGrp="1"/>
          </p:cNvGraphicFramePr>
          <p:nvPr/>
        </p:nvGraphicFramePr>
        <p:xfrm>
          <a:off x="7433574" y="4145029"/>
          <a:ext cx="15113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679540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9049565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788846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22750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7163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23549"/>
                  </a:ext>
                </a:extLst>
              </a:tr>
            </a:tbl>
          </a:graphicData>
        </a:graphic>
      </p:graphicFrame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7044CBF-F7A1-46AE-9031-7226E6901530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481045" y="2643209"/>
            <a:ext cx="2192207" cy="55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76BE47-656C-406B-BBE6-CFB2BD4FD34C}"/>
              </a:ext>
            </a:extLst>
          </p:cNvPr>
          <p:cNvCxnSpPr>
            <a:endCxn id="9" idx="0"/>
          </p:cNvCxnSpPr>
          <p:nvPr/>
        </p:nvCxnSpPr>
        <p:spPr>
          <a:xfrm>
            <a:off x="5292080" y="2643209"/>
            <a:ext cx="1852781" cy="47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D69DE07-096C-422D-B14A-2379CC045E17}"/>
              </a:ext>
            </a:extLst>
          </p:cNvPr>
          <p:cNvCxnSpPr>
            <a:endCxn id="7" idx="0"/>
          </p:cNvCxnSpPr>
          <p:nvPr/>
        </p:nvCxnSpPr>
        <p:spPr>
          <a:xfrm flipH="1">
            <a:off x="875718" y="3383535"/>
            <a:ext cx="959978" cy="786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54AAA05-ECB4-4E36-BBC9-751384F4EF74}"/>
              </a:ext>
            </a:extLst>
          </p:cNvPr>
          <p:cNvCxnSpPr/>
          <p:nvPr/>
        </p:nvCxnSpPr>
        <p:spPr>
          <a:xfrm>
            <a:off x="2481045" y="3383535"/>
            <a:ext cx="74731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D033F57-3149-4063-B9DE-0DB399AF3DDC}"/>
              </a:ext>
            </a:extLst>
          </p:cNvPr>
          <p:cNvCxnSpPr>
            <a:endCxn id="16" idx="0"/>
          </p:cNvCxnSpPr>
          <p:nvPr/>
        </p:nvCxnSpPr>
        <p:spPr>
          <a:xfrm>
            <a:off x="3126394" y="3383535"/>
            <a:ext cx="1039036" cy="76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47FA30F3-62D9-4EB2-8EF3-3EA5396DE006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6175570" y="3337025"/>
            <a:ext cx="602774" cy="808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0AF9CC29-C76F-4AA1-B4E0-CEAED1C7C7F8}"/>
              </a:ext>
            </a:extLst>
          </p:cNvPr>
          <p:cNvCxnSpPr>
            <a:endCxn id="18" idx="0"/>
          </p:cNvCxnSpPr>
          <p:nvPr/>
        </p:nvCxnSpPr>
        <p:spPr>
          <a:xfrm>
            <a:off x="7433574" y="3306758"/>
            <a:ext cx="755650" cy="838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DA86B6B-DCFD-4830-9824-2A9162586369}"/>
              </a:ext>
            </a:extLst>
          </p:cNvPr>
          <p:cNvCxnSpPr>
            <a:cxnSpLocks/>
          </p:cNvCxnSpPr>
          <p:nvPr/>
        </p:nvCxnSpPr>
        <p:spPr>
          <a:xfrm>
            <a:off x="125963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5DD0A1B-5D71-4B79-94CD-87450BCB256A}"/>
              </a:ext>
            </a:extLst>
          </p:cNvPr>
          <p:cNvCxnSpPr>
            <a:cxnSpLocks/>
          </p:cNvCxnSpPr>
          <p:nvPr/>
        </p:nvCxnSpPr>
        <p:spPr>
          <a:xfrm>
            <a:off x="7956376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BFEF66D-B5E8-4F5B-9A31-F1A904B129AA}"/>
              </a:ext>
            </a:extLst>
          </p:cNvPr>
          <p:cNvCxnSpPr>
            <a:cxnSpLocks/>
          </p:cNvCxnSpPr>
          <p:nvPr/>
        </p:nvCxnSpPr>
        <p:spPr>
          <a:xfrm>
            <a:off x="8585702" y="4451065"/>
            <a:ext cx="0" cy="56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901661-47A1-4174-93A7-2914977BF5DD}"/>
              </a:ext>
            </a:extLst>
          </p:cNvPr>
          <p:cNvSpPr txBox="1"/>
          <p:nvPr/>
        </p:nvSpPr>
        <p:spPr>
          <a:xfrm>
            <a:off x="4245118" y="4485352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92336E6-B0CD-48A6-948D-20F312D3836B}"/>
              </a:ext>
            </a:extLst>
          </p:cNvPr>
          <p:cNvSpPr txBox="1"/>
          <p:nvPr/>
        </p:nvSpPr>
        <p:spPr>
          <a:xfrm>
            <a:off x="2576209" y="4510025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0E0D858-76B2-4893-BCFB-F8338023C02B}"/>
              </a:ext>
            </a:extLst>
          </p:cNvPr>
          <p:cNvSpPr txBox="1"/>
          <p:nvPr/>
        </p:nvSpPr>
        <p:spPr>
          <a:xfrm>
            <a:off x="6175430" y="4474559"/>
            <a:ext cx="51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…</a:t>
            </a:r>
            <a:endParaRPr lang="zh-TW" altLang="en-US" sz="3200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9999794-9B09-45E1-99F9-E1A3C4959935}"/>
              </a:ext>
            </a:extLst>
          </p:cNvPr>
          <p:cNvCxnSpPr>
            <a:endCxn id="15" idx="1"/>
          </p:cNvCxnSpPr>
          <p:nvPr/>
        </p:nvCxnSpPr>
        <p:spPr>
          <a:xfrm>
            <a:off x="1403648" y="4348595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9AD6835-DA19-4626-9D9B-E0AAEE702EC9}"/>
              </a:ext>
            </a:extLst>
          </p:cNvPr>
          <p:cNvCxnSpPr/>
          <p:nvPr/>
        </p:nvCxnSpPr>
        <p:spPr>
          <a:xfrm>
            <a:off x="3088033" y="4330449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6876E759-2CDE-42C2-88A0-16D68E608F82}"/>
              </a:ext>
            </a:extLst>
          </p:cNvPr>
          <p:cNvCxnSpPr/>
          <p:nvPr/>
        </p:nvCxnSpPr>
        <p:spPr>
          <a:xfrm>
            <a:off x="4772418" y="433874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C0946FB8-B745-4EAC-89A4-80B38DBE4284}"/>
              </a:ext>
            </a:extLst>
          </p:cNvPr>
          <p:cNvCxnSpPr/>
          <p:nvPr/>
        </p:nvCxnSpPr>
        <p:spPr>
          <a:xfrm>
            <a:off x="7111827" y="4323480"/>
            <a:ext cx="321747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3F1C092-F66E-4BB2-9AE0-90C4466E5B14}"/>
              </a:ext>
            </a:extLst>
          </p:cNvPr>
          <p:cNvSpPr txBox="1"/>
          <p:nvPr/>
        </p:nvSpPr>
        <p:spPr>
          <a:xfrm>
            <a:off x="4733196" y="2643209"/>
            <a:ext cx="4252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solidFill>
                  <a:srgbClr val="FF0000"/>
                </a:solidFill>
              </a:rPr>
              <a:t>?</a:t>
            </a:r>
            <a:endParaRPr lang="zh-TW" altLang="en-US" sz="9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96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55A9F2-115C-4DFC-8A0F-2197583F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points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BFC576-77D3-4512-B14F-8564FFFE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266128-D6CE-4957-A2B9-BFCA6A2E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E38692D-7819-4746-B79C-6BBDEA184DD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6064" y="1447800"/>
            <a:ext cx="7772400" cy="4933528"/>
          </a:xfrm>
        </p:spPr>
        <p:txBody>
          <a:bodyPr>
            <a:normAutofit/>
          </a:bodyPr>
          <a:lstStyle/>
          <a:p>
            <a:r>
              <a:rPr lang="en-US" altLang="zh-TW" dirty="0"/>
              <a:t>Generating data set: </a:t>
            </a:r>
            <a:r>
              <a:rPr lang="en-US" altLang="zh-TW" dirty="0">
                <a:solidFill>
                  <a:srgbClr val="FF0000"/>
                </a:solidFill>
              </a:rPr>
              <a:t>Points.txt</a:t>
            </a:r>
          </a:p>
          <a:p>
            <a:pPr lvl="1"/>
            <a:r>
              <a:rPr lang="en-US" altLang="zh-TW" dirty="0"/>
              <a:t>Data Space: 400 × 400 (divide into 8 × 8 grids)</a:t>
            </a:r>
          </a:p>
          <a:p>
            <a:pPr lvl="1"/>
            <a:r>
              <a:rPr lang="en-US" altLang="zh-TW" dirty="0"/>
              <a:t>Number of points: 256</a:t>
            </a:r>
          </a:p>
          <a:p>
            <a:pPr lvl="1"/>
            <a:r>
              <a:rPr lang="en-US" altLang="zh-TW" dirty="0"/>
              <a:t>Attributes:</a:t>
            </a:r>
          </a:p>
          <a:p>
            <a:pPr lvl="2"/>
            <a:r>
              <a:rPr lang="en-US" altLang="zh-TW" dirty="0" err="1"/>
              <a:t>p_id</a:t>
            </a:r>
            <a:r>
              <a:rPr lang="en-US" altLang="zh-TW" dirty="0"/>
              <a:t>: 1 ~ 256</a:t>
            </a:r>
          </a:p>
          <a:p>
            <a:pPr lvl="2"/>
            <a:r>
              <a:rPr lang="en-US" altLang="zh-TW" dirty="0"/>
              <a:t>name: P1 ~ P256</a:t>
            </a:r>
          </a:p>
          <a:p>
            <a:pPr lvl="2"/>
            <a:r>
              <a:rPr lang="en-US" altLang="zh-TW" dirty="0"/>
              <a:t>x, y: randomly generated coordinates inside each grid</a:t>
            </a:r>
          </a:p>
          <a:p>
            <a:pPr lvl="2"/>
            <a:r>
              <a:rPr lang="en-US" altLang="zh-TW" dirty="0"/>
              <a:t>class: {restaurant, hotel, theater}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Note:</a:t>
            </a:r>
            <a:r>
              <a:rPr lang="en-US" altLang="zh-TW" dirty="0"/>
              <a:t> each grid contains 4 randomly generated points</a:t>
            </a:r>
          </a:p>
          <a:p>
            <a:pPr lvl="2"/>
            <a:r>
              <a:rPr lang="en-US" altLang="zh-TW" dirty="0"/>
              <a:t>P1~P4 =&gt; grid 1</a:t>
            </a:r>
          </a:p>
          <a:p>
            <a:pPr lvl="2"/>
            <a:r>
              <a:rPr lang="en-US" altLang="zh-TW" dirty="0"/>
              <a:t>P5~P8 =&gt; grid 2</a:t>
            </a:r>
          </a:p>
          <a:p>
            <a:pPr lvl="2"/>
            <a:r>
              <a:rPr lang="en-US" altLang="zh-TW" dirty="0"/>
              <a:t>…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6B59C58-57FD-41CC-9E1B-C3172DCB1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17" y="5027364"/>
            <a:ext cx="4847781" cy="164676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06F6768-8DD8-4E54-85C0-81BA01972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7" y="1556792"/>
            <a:ext cx="2185617" cy="1872208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A9A5AD7F-CF1F-430E-9E97-23E65198002F}"/>
              </a:ext>
            </a:extLst>
          </p:cNvPr>
          <p:cNvSpPr txBox="1"/>
          <p:nvPr/>
        </p:nvSpPr>
        <p:spPr>
          <a:xfrm>
            <a:off x="6444208" y="66147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Points.png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6B6F3F0-EE97-4D47-B6AE-1A39BB954A7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524328" y="1196752"/>
            <a:ext cx="37272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94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221D9-5359-4C08-98B4-161AAFE4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Index for spatial data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5686ABF-852F-416B-9FE6-F0AF9145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409515-EAAE-4E9C-BD34-3E21B214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C900DE-333A-4FB6-813F-602439351F0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Mapping two-dimensional data onto a one-dimensional space: </a:t>
            </a:r>
            <a:r>
              <a:rPr lang="en-US" altLang="zh-TW" dirty="0">
                <a:solidFill>
                  <a:srgbClr val="FF0000"/>
                </a:solidFill>
              </a:rPr>
              <a:t>PointWithGrid.txt</a:t>
            </a:r>
          </a:p>
          <a:p>
            <a:pPr lvl="1"/>
            <a:r>
              <a:rPr lang="en-US" altLang="zh-TW" dirty="0"/>
              <a:t>Divide into 8 × 8 grids</a:t>
            </a:r>
          </a:p>
          <a:p>
            <a:pPr lvl="1"/>
            <a:r>
              <a:rPr lang="en-US" altLang="zh-TW" dirty="0"/>
              <a:t>Assign an ID to each grid (g_id 1 ~ 64)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DBEC0DF-073F-4825-BE0B-308347E6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228585"/>
            <a:ext cx="6325483" cy="2791215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474118CF-2AF5-47B5-A106-6064B922C24C}"/>
              </a:ext>
            </a:extLst>
          </p:cNvPr>
          <p:cNvSpPr/>
          <p:nvPr/>
        </p:nvSpPr>
        <p:spPr>
          <a:xfrm>
            <a:off x="1956848" y="3068960"/>
            <a:ext cx="1102984" cy="31413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4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D4577F-DF81-4270-A4AE-D8CDD6565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Building B</a:t>
            </a:r>
            <a:r>
              <a:rPr lang="en-US" altLang="zh-TW" baseline="30000" dirty="0"/>
              <a:t>+</a:t>
            </a:r>
            <a:r>
              <a:rPr lang="en-US" altLang="zh-TW" dirty="0"/>
              <a:t>-tree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E96D85-9AC6-4408-A7C3-7C6BE607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ED196B-B7DA-4FC5-A3A4-991C2B21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9BFC2B6-48F2-4145-B316-C354FA829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6" y="1926467"/>
            <a:ext cx="8796887" cy="269877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20DC77E-5A3A-43B7-9FD3-5BBDFCDF06BF}"/>
              </a:ext>
            </a:extLst>
          </p:cNvPr>
          <p:cNvSpPr txBox="1"/>
          <p:nvPr/>
        </p:nvSpPr>
        <p:spPr>
          <a:xfrm>
            <a:off x="3832784" y="5565832"/>
            <a:ext cx="511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Example: g_id 64 </a:t>
            </a:r>
            <a:r>
              <a:rPr lang="zh-TW" altLang="en-US" sz="2400" dirty="0"/>
              <a:t>在第</a:t>
            </a:r>
            <a:r>
              <a:rPr lang="en-US" altLang="zh-TW" sz="2400" dirty="0"/>
              <a:t>254</a:t>
            </a:r>
            <a:r>
              <a:rPr lang="zh-TW" altLang="en-US" sz="2400" dirty="0"/>
              <a:t>列 </a:t>
            </a:r>
            <a:r>
              <a:rPr lang="en-US" altLang="zh-TW" sz="2400" dirty="0"/>
              <a:t>(</a:t>
            </a:r>
            <a:r>
              <a:rPr lang="zh-TW" altLang="en-US" sz="2400" dirty="0"/>
              <a:t>列編號從</a:t>
            </a:r>
            <a:r>
              <a:rPr lang="en-US" altLang="zh-TW" sz="2400" dirty="0"/>
              <a:t>0</a:t>
            </a:r>
            <a:r>
              <a:rPr lang="zh-TW" altLang="en-US" sz="2400" dirty="0"/>
              <a:t>開始</a:t>
            </a:r>
            <a:r>
              <a:rPr lang="en-US" altLang="zh-TW" sz="2400" dirty="0"/>
              <a:t>)</a:t>
            </a:r>
            <a:r>
              <a:rPr lang="zh-TW" altLang="en-US" sz="2400" dirty="0"/>
              <a:t>，包含</a:t>
            </a:r>
            <a:r>
              <a:rPr lang="en-US" altLang="zh-TW" sz="2400" dirty="0"/>
              <a:t>4</a:t>
            </a:r>
            <a:r>
              <a:rPr lang="zh-TW" altLang="en-US" sz="2400" dirty="0"/>
              <a:t>個物體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1E8753E-7387-4D08-A12D-6B9CE2BC8228}"/>
              </a:ext>
            </a:extLst>
          </p:cNvPr>
          <p:cNvCxnSpPr>
            <a:cxnSpLocks/>
          </p:cNvCxnSpPr>
          <p:nvPr/>
        </p:nvCxnSpPr>
        <p:spPr>
          <a:xfrm flipV="1">
            <a:off x="7236296" y="4625246"/>
            <a:ext cx="864096" cy="89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36518CA3-169C-4667-B73E-0441D7F615AF}"/>
              </a:ext>
            </a:extLst>
          </p:cNvPr>
          <p:cNvSpPr/>
          <p:nvPr/>
        </p:nvSpPr>
        <p:spPr>
          <a:xfrm>
            <a:off x="7452319" y="4437112"/>
            <a:ext cx="1493033" cy="3199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D03DFB4-927F-4194-B3BB-08230E68264F}"/>
              </a:ext>
            </a:extLst>
          </p:cNvPr>
          <p:cNvSpPr txBox="1"/>
          <p:nvPr/>
        </p:nvSpPr>
        <p:spPr>
          <a:xfrm>
            <a:off x="461097" y="5186940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BTreeGrid.txt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內容版面配置區 4">
            <a:extLst>
              <a:ext uri="{FF2B5EF4-FFF2-40B4-BE49-F238E27FC236}">
                <a16:creationId xmlns:a16="http://schemas.microsoft.com/office/drawing/2014/main" id="{1250A8E1-8E89-4083-90D8-C759A081D9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en-US" altLang="zh-TW" dirty="0"/>
              <a:t>Loading </a:t>
            </a:r>
            <a:r>
              <a:rPr lang="en-US" altLang="zh-TW" dirty="0">
                <a:solidFill>
                  <a:srgbClr val="FF0000"/>
                </a:solidFill>
              </a:rPr>
              <a:t>PointWithGrid.txt </a:t>
            </a:r>
            <a:r>
              <a:rPr lang="en-US" altLang="zh-TW" dirty="0"/>
              <a:t>and generating </a:t>
            </a:r>
            <a:r>
              <a:rPr lang="en-US" altLang="zh-TW" dirty="0">
                <a:solidFill>
                  <a:srgbClr val="FF0000"/>
                </a:solidFill>
              </a:rPr>
              <a:t>BTreeGrid.txt</a:t>
            </a:r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F0B84E3-74A1-4D60-9839-76AAB3B8B7BC}"/>
              </a:ext>
            </a:extLst>
          </p:cNvPr>
          <p:cNvCxnSpPr/>
          <p:nvPr/>
        </p:nvCxnSpPr>
        <p:spPr>
          <a:xfrm flipV="1">
            <a:off x="1475656" y="4725144"/>
            <a:ext cx="432048" cy="408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02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75F83-2F4D-462D-89C5-D08CF1D5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Point Search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796ACA1-28D0-4F26-8180-46E54FC0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40D077-6413-42E4-B2CA-19E15986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DB10F75-C546-4DC7-B66D-C511F4E4241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Loading: BTreeGrid.txt and PointWithGrid.txt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EA7210D-00F2-41D8-BC10-6653B766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750382"/>
            <a:ext cx="5950877" cy="372008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7610169-2702-458A-9BF1-28999BEBC1C9}"/>
              </a:ext>
            </a:extLst>
          </p:cNvPr>
          <p:cNvSpPr/>
          <p:nvPr/>
        </p:nvSpPr>
        <p:spPr>
          <a:xfrm>
            <a:off x="2411760" y="2750382"/>
            <a:ext cx="1656184" cy="6066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57BF13-E5C6-4429-8F60-300CC545A5FC}"/>
              </a:ext>
            </a:extLst>
          </p:cNvPr>
          <p:cNvSpPr/>
          <p:nvPr/>
        </p:nvSpPr>
        <p:spPr>
          <a:xfrm>
            <a:off x="2411760" y="3356992"/>
            <a:ext cx="5950877" cy="31134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360BF2-87A7-4ACD-99BC-FD32F000C048}"/>
              </a:ext>
            </a:extLst>
          </p:cNvPr>
          <p:cNvSpPr txBox="1"/>
          <p:nvPr/>
        </p:nvSpPr>
        <p:spPr>
          <a:xfrm>
            <a:off x="1151493" y="234888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Input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3C54E16-3A4C-4B68-B06F-632E3BD169D5}"/>
              </a:ext>
            </a:extLst>
          </p:cNvPr>
          <p:cNvSpPr txBox="1"/>
          <p:nvPr/>
        </p:nvSpPr>
        <p:spPr>
          <a:xfrm>
            <a:off x="1115616" y="404745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Output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88CB7B3-67A0-4610-BF96-71605980C27D}"/>
              </a:ext>
            </a:extLst>
          </p:cNvPr>
          <p:cNvCxnSpPr/>
          <p:nvPr/>
        </p:nvCxnSpPr>
        <p:spPr>
          <a:xfrm>
            <a:off x="1979712" y="2708920"/>
            <a:ext cx="36004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C2ED7CC-A1B4-43AE-8524-78034F0BE988}"/>
              </a:ext>
            </a:extLst>
          </p:cNvPr>
          <p:cNvCxnSpPr/>
          <p:nvPr/>
        </p:nvCxnSpPr>
        <p:spPr>
          <a:xfrm>
            <a:off x="1979712" y="4509121"/>
            <a:ext cx="360040" cy="288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84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FC032BE-D0CC-45A2-BDEB-9ADC26F24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002" y="1021713"/>
            <a:ext cx="2281989" cy="214179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6511E1F-45C8-4EBD-AC5D-F8E96ED4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Range Search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FF6C5B-E69C-427B-9141-2E213E7E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Yuan-Ko Huang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A17B58-3AFE-47E4-BF54-A7109F83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6B140A-EDC2-41B7-9ACD-C721D5234D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Loading: BTreeGrid.txt and PointWithGrid.txt</a:t>
            </a:r>
          </a:p>
          <a:p>
            <a:pPr lvl="1"/>
            <a:r>
              <a:rPr lang="en-US" altLang="zh-TW" dirty="0"/>
              <a:t>Input: left, down, right, up</a:t>
            </a:r>
          </a:p>
          <a:p>
            <a:pPr lvl="1"/>
            <a:r>
              <a:rPr lang="en-US" altLang="zh-TW" dirty="0"/>
              <a:t>Output: </a:t>
            </a:r>
            <a:r>
              <a:rPr lang="en-US" altLang="zh-TW" dirty="0">
                <a:solidFill>
                  <a:srgbClr val="FF0000"/>
                </a:solidFill>
              </a:rPr>
              <a:t>search_process.txt, search_process.png 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33066D9-27EB-47E2-A5D1-A789D2FAB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7" y="2924944"/>
            <a:ext cx="4025437" cy="292950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7D6999D-A08B-42A0-87E2-84B4A4AE453D}"/>
              </a:ext>
            </a:extLst>
          </p:cNvPr>
          <p:cNvSpPr txBox="1"/>
          <p:nvPr/>
        </p:nvSpPr>
        <p:spPr>
          <a:xfrm>
            <a:off x="6214764" y="742379"/>
            <a:ext cx="260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search_process.png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5DABEF6-BB69-4522-8279-B6D2D4904D60}"/>
              </a:ext>
            </a:extLst>
          </p:cNvPr>
          <p:cNvCxnSpPr>
            <a:cxnSpLocks/>
          </p:cNvCxnSpPr>
          <p:nvPr/>
        </p:nvCxnSpPr>
        <p:spPr>
          <a:xfrm>
            <a:off x="7668344" y="1204044"/>
            <a:ext cx="0" cy="496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2EF3FE7-E759-44A1-97BF-944BB0C2D75B}"/>
              </a:ext>
            </a:extLst>
          </p:cNvPr>
          <p:cNvSpPr txBox="1"/>
          <p:nvPr/>
        </p:nvSpPr>
        <p:spPr>
          <a:xfrm>
            <a:off x="755576" y="5788967"/>
            <a:ext cx="260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search_process.txt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9C99373-8BDB-4D7D-88E6-DDEA8466682E}"/>
              </a:ext>
            </a:extLst>
          </p:cNvPr>
          <p:cNvCxnSpPr/>
          <p:nvPr/>
        </p:nvCxnSpPr>
        <p:spPr>
          <a:xfrm flipV="1">
            <a:off x="3048040" y="5682578"/>
            <a:ext cx="596280" cy="34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3EB98200-BF6A-41C0-BFA0-593091CC3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432" y="3315911"/>
            <a:ext cx="3009234" cy="303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5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21925</TotalTime>
  <Words>508</Words>
  <Application>Microsoft Office PowerPoint</Application>
  <PresentationFormat>如螢幕大小 (4:3)</PresentationFormat>
  <Paragraphs>148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Calibri</vt:lpstr>
      <vt:lpstr>Franklin Gothic Book</vt:lpstr>
      <vt:lpstr>Perpetua</vt:lpstr>
      <vt:lpstr>Times New Roman</vt:lpstr>
      <vt:lpstr>Wingdings 2</vt:lpstr>
      <vt:lpstr>公正</vt:lpstr>
      <vt:lpstr>Index Structures for Spatial Data</vt:lpstr>
      <vt:lpstr>B+-tree</vt:lpstr>
      <vt:lpstr>B+-tree建構 (1)</vt:lpstr>
      <vt:lpstr>B+-tree建構 (2)</vt:lpstr>
      <vt:lpstr>資料搜尋</vt:lpstr>
      <vt:lpstr>Spatial data</vt:lpstr>
      <vt:lpstr>Spatial queries</vt:lpstr>
      <vt:lpstr>Index structures</vt:lpstr>
      <vt:lpstr>Spatial points</vt:lpstr>
      <vt:lpstr>Index for spatial data</vt:lpstr>
      <vt:lpstr>Building B+-tree</vt:lpstr>
      <vt:lpstr>Point Search</vt:lpstr>
      <vt:lpstr>Range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巨量時空資料庫之管理與查詢</dc:title>
  <dc:creator>USER</dc:creator>
  <cp:lastModifiedBy>User</cp:lastModifiedBy>
  <cp:revision>663</cp:revision>
  <dcterms:created xsi:type="dcterms:W3CDTF">2015-11-19T05:10:42Z</dcterms:created>
  <dcterms:modified xsi:type="dcterms:W3CDTF">2025-10-13T01:03:13Z</dcterms:modified>
</cp:coreProperties>
</file>