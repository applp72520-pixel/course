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18" autoAdjust="0"/>
  </p:normalViewPr>
  <p:slideViewPr>
    <p:cSldViewPr snapToGrid="0">
      <p:cViewPr varScale="1">
        <p:scale>
          <a:sx n="113" d="100"/>
          <a:sy n="113" d="100"/>
        </p:scale>
        <p:origin x="474" y="96"/>
      </p:cViewPr>
      <p:guideLst/>
    </p:cSldViewPr>
  </p:slideViewPr>
  <p:notesTextViewPr>
    <p:cViewPr>
      <p:scale>
        <a:sx n="1" d="1"/>
        <a:sy n="1" d="1"/>
      </p:scale>
      <p:origin x="0" y="-306"/>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系統分層與資料流呈現方式參考：基於大語言模型與知識圖譜的醫療問答系統.pptx，第10與15頁。</a:t>
            </a:r>
          </a:p>
          <a:p>
            <a:r>
              <a:rPr dirty="0" err="1"/>
              <a:t>圖示取自使用者提供的</a:t>
            </a:r>
            <a:r>
              <a:rPr dirty="0"/>
              <a:t> LLM 輔助中西醫知識圖譜問答系統.pptx，第17頁。</a:t>
            </a:r>
          </a:p>
          <a:p>
            <a:r>
              <a:rPr dirty="0" err="1"/>
              <a:t>流程內容依本簡報中的西醫與中醫資料前處理、檢索、生成及評估設定整理</a:t>
            </a:r>
            <a:r>
              <a:rPr dirty="0"/>
              <a:t>。</a:t>
            </a:r>
          </a:p>
          <a:p>
            <a:r>
              <a:rPr dirty="0" err="1"/>
              <a:t>一般民眾盲測問卷為研究最後階段，與自動評分分開呈現</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SNOMED International. SNOMED CT Release File Specification (Release Format 2). https://docs.snomed.org/snomed-ct-specifications/snomed-ct-release-file-specification</a:t>
            </a:r>
          </a:p>
          <a:p>
            <a:r>
              <a:t>本頁以白話方式摘要Concept、Description與Relationship三類RF2資料的用途。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流程內容由使用者提供；第28頁依本簡報既有版型整理為可編輯流程圖。</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流程內容由使用者提供；第38頁依本簡報既有版型整理為可編輯流程圖。</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DE6C17-4DBC-496F-9113-74BE677D90A0}"/>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2C7DED79-C57C-4D86-8F4D-2BBE05F51C9E}"/>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BF55869-593F-41A6-BCC1-F1C63E79360A}"/>
              </a:ext>
            </a:extLst>
          </p:cNvPr>
          <p:cNvSpPr>
            <a:spLocks noGrp="1"/>
          </p:cNvSpPr>
          <p:nvPr>
            <p:ph type="ctrTitle"/>
          </p:nvPr>
        </p:nvSpPr>
        <p:spPr>
          <a:xfrm>
            <a:off x="1097280" y="758952"/>
            <a:ext cx="10058400" cy="3566160"/>
          </a:xfrm>
        </p:spPr>
        <p:txBody>
          <a:bodyPr anchor="b">
            <a:normAutofit/>
          </a:bodyPr>
          <a:lstStyle>
            <a:lvl1pPr algn="l">
              <a:lnSpc>
                <a:spcPct val="85000"/>
              </a:lnSpc>
              <a:buNone/>
              <a:defRPr sz="8000" spc="-50" baseline="0">
                <a:solidFill>
                  <a:schemeClr val="tx1">
                    <a:lumMod val="85000"/>
                    <a:lumOff val="15000"/>
                  </a:schemeClr>
                </a:solidFill>
              </a:defRPr>
            </a:lvl1pPr>
          </a:lstStyle>
          <a:p>
            <a:r>
              <a:t>按一下以編輯母片標題樣式</a:t>
            </a:r>
          </a:p>
        </p:txBody>
      </p:sp>
      <p:sp>
        <p:nvSpPr>
          <p:cNvPr id="3" name="Subtitle 2">
            <a:extLst>
              <a:ext uri="{FF2B5EF4-FFF2-40B4-BE49-F238E27FC236}">
                <a16:creationId xmlns:a16="http://schemas.microsoft.com/office/drawing/2014/main" id="{7BE36A5B-79F6-4079-BBCE-CBB4A54C087F}"/>
              </a:ext>
            </a:extLst>
          </p:cNvPr>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ea typeface="+mj-lt"/>
                <a:cs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t>按一下以編輯母片子標題樣式</a:t>
            </a:r>
          </a:p>
        </p:txBody>
      </p:sp>
      <p:sp>
        <p:nvSpPr>
          <p:cNvPr id="4" name="Date Placeholder 3">
            <a:extLst>
              <a:ext uri="{FF2B5EF4-FFF2-40B4-BE49-F238E27FC236}">
                <a16:creationId xmlns:a16="http://schemas.microsoft.com/office/drawing/2014/main" id="{68315B99-76D7-40A0-AAC0-475FEEA2BC63}"/>
              </a:ext>
            </a:extLst>
          </p:cNvPr>
          <p:cNvSpPr>
            <a:spLocks noGrp="1"/>
          </p:cNvSpPr>
          <p:nvPr>
            <p:ph type="dt" idx="10"/>
          </p:nvPr>
        </p:nvSpPr>
        <p:spPr/>
        <p:txBody>
          <a:body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E21C29CA-9023-4111-A8E3-696DB097432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A6884FE-ECF4-47B6-8A26-3768F12C9BC3}"/>
              </a:ext>
            </a:extLst>
          </p:cNvPr>
          <p:cNvSpPr>
            <a:spLocks noGrp="1"/>
          </p:cNvSpPr>
          <p:nvPr>
            <p:ph type="sldNum" idx="12"/>
          </p:nvPr>
        </p:nvSpPr>
        <p:spPr/>
        <p:txBody>
          <a:bodyPr/>
          <a:lstStyle/>
          <a:p>
            <a:fld id="{A368EC49-D7C7-4373-ABBB-5543BDFB6AA4}" type="slidenum">
              <a:t>‹#›</a:t>
            </a:fld>
            <a:endParaRPr/>
          </a:p>
        </p:txBody>
      </p:sp>
      <p:sp>
        <p:nvSpPr>
          <p:cNvPr id="9" name="Straight Connector 8">
            <a:extLst>
              <a:ext uri="{FF2B5EF4-FFF2-40B4-BE49-F238E27FC236}">
                <a16:creationId xmlns:a16="http://schemas.microsoft.com/office/drawing/2014/main" id="{A6CE7F6E-898C-4B3E-BB79-53E4C407C6E4}"/>
              </a:ext>
            </a:extLst>
          </p:cNvPr>
          <p:cNvSpPr>
            <a:spLocks noGrp="1"/>
          </p:cNvSpPr>
          <p:nvPr/>
        </p:nv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CFD9-195A-4DA0-9A98-BAEA33A0E53B}"/>
              </a:ext>
            </a:extLst>
          </p:cNvPr>
          <p:cNvSpPr>
            <a:spLocks noGrp="1"/>
          </p:cNvSpPr>
          <p:nvPr>
            <p:ph type="title"/>
          </p:nvPr>
        </p:nvSpPr>
        <p:spPr/>
        <p:txBody>
          <a:bodyPr/>
          <a:lstStyle>
            <a:lvl1pPr marL="0">
              <a:buNone/>
              <a:defRPr/>
            </a:lvl1pPr>
          </a:lstStyle>
          <a:p>
            <a:r>
              <a:t>按一下以編輯母片標題樣式</a:t>
            </a:r>
          </a:p>
        </p:txBody>
      </p:sp>
      <p:sp>
        <p:nvSpPr>
          <p:cNvPr id="3" name="Content Placeholder 2">
            <a:extLst>
              <a:ext uri="{FF2B5EF4-FFF2-40B4-BE49-F238E27FC236}">
                <a16:creationId xmlns:a16="http://schemas.microsoft.com/office/drawing/2014/main" id="{B51B3932-DA93-4CE9-9E65-E62DB33DF8D0}"/>
              </a:ext>
            </a:extLst>
          </p:cNvPr>
          <p:cNvSpPr>
            <a:spLocks noGrp="1"/>
          </p:cNvSpPr>
          <p:nvPr>
            <p:ph idx="1"/>
          </p:nvPr>
        </p:nvSpPr>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Date Placeholder 3">
            <a:extLst>
              <a:ext uri="{FF2B5EF4-FFF2-40B4-BE49-F238E27FC236}">
                <a16:creationId xmlns:a16="http://schemas.microsoft.com/office/drawing/2014/main" id="{38159F32-40E5-4DEE-9A71-EC595810CD74}"/>
              </a:ext>
            </a:extLst>
          </p:cNvPr>
          <p:cNvSpPr>
            <a:spLocks noGrp="1"/>
          </p:cNvSpPr>
          <p:nvPr>
            <p:ph type="dt" idx="10"/>
          </p:nvPr>
        </p:nvSpPr>
        <p:spPr/>
        <p:txBody>
          <a:body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D131CA61-5305-468E-BFBF-5AF5F42402D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A024A6-BCBD-4E2F-85F3-8046B8AB205F}"/>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EBE634A-23CF-4B89-81E7-CFC24E528A19}"/>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75B4C851-35E5-4BC1-A90C-988C6A695816}"/>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8C9537A-D139-4F5B-8840-9BA9C75B7126}"/>
              </a:ext>
            </a:extLst>
          </p:cNvPr>
          <p:cNvSpPr>
            <a:spLocks noGrp="1"/>
          </p:cNvSpPr>
          <p:nvPr>
            <p:ph type="title"/>
          </p:nvPr>
        </p:nvSpPr>
        <p:spPr>
          <a:xfrm>
            <a:off x="1097280" y="758952"/>
            <a:ext cx="10058400" cy="3566160"/>
          </a:xfrm>
        </p:spPr>
        <p:txBody>
          <a:bodyPr anchor="b">
            <a:normAutofit/>
          </a:bodyPr>
          <a:lstStyle>
            <a:lvl1pPr>
              <a:lnSpc>
                <a:spcPct val="85000"/>
              </a:lnSpc>
              <a:buNone/>
              <a:defRPr sz="8000" b="0">
                <a:solidFill>
                  <a:schemeClr val="tx1">
                    <a:lumMod val="85000"/>
                    <a:lumOff val="15000"/>
                  </a:schemeClr>
                </a:solidFill>
              </a:defRPr>
            </a:lvl1pPr>
          </a:lstStyle>
          <a:p>
            <a:r>
              <a:t>按一下以編輯母片標題樣式</a:t>
            </a:r>
          </a:p>
        </p:txBody>
      </p:sp>
      <p:sp>
        <p:nvSpPr>
          <p:cNvPr id="3" name="Text Placeholder 2">
            <a:extLst>
              <a:ext uri="{FF2B5EF4-FFF2-40B4-BE49-F238E27FC236}">
                <a16:creationId xmlns:a16="http://schemas.microsoft.com/office/drawing/2014/main" id="{E7EEFA5D-C621-4437-8CD7-3A8D94664393}"/>
              </a:ext>
            </a:extLst>
          </p:cNvPr>
          <p:cNvSpPr>
            <a:spLocks noGrp="1"/>
          </p:cNvSpPr>
          <p:nvPr>
            <p:ph type="body" idx="1"/>
          </p:nvPr>
        </p:nvSpPr>
        <p:spPr>
          <a:xfrm>
            <a:off x="1097280" y="4453128"/>
            <a:ext cx="10058400" cy="1143000"/>
          </a:xfrm>
        </p:spPr>
        <p:txBody>
          <a:bodyPr lIns="91440" rIns="91440" anchor="t">
            <a:normAutofit/>
          </a:bodyPr>
          <a:lstStyle>
            <a:lvl1pPr marL="0" indent="0">
              <a:buNone/>
              <a:defRPr sz="2400" cap="all" spc="200" baseline="0">
                <a:solidFill>
                  <a:schemeClr val="tx2"/>
                </a:solidFill>
                <a:latin typeface="+mj-lt"/>
                <a:ea typeface="+mj-lt"/>
                <a:cs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按一下以編輯母片文字樣式</a:t>
            </a:r>
          </a:p>
        </p:txBody>
      </p:sp>
      <p:sp>
        <p:nvSpPr>
          <p:cNvPr id="4" name="Date Placeholder 3">
            <a:extLst>
              <a:ext uri="{FF2B5EF4-FFF2-40B4-BE49-F238E27FC236}">
                <a16:creationId xmlns:a16="http://schemas.microsoft.com/office/drawing/2014/main" id="{52C5DE3D-D9AA-4978-899E-3E12C7E693DD}"/>
              </a:ext>
            </a:extLst>
          </p:cNvPr>
          <p:cNvSpPr>
            <a:spLocks noGrp="1"/>
          </p:cNvSpPr>
          <p:nvPr>
            <p:ph type="dt" idx="10"/>
          </p:nvPr>
        </p:nvSpPr>
        <p:spPr/>
        <p:txBody>
          <a:body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7D2EF04E-F932-48E2-AB15-0CDD3DE1029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B025CB4-AA8B-4594-B783-19D562527BB7}"/>
              </a:ext>
            </a:extLst>
          </p:cNvPr>
          <p:cNvSpPr>
            <a:spLocks noGrp="1"/>
          </p:cNvSpPr>
          <p:nvPr>
            <p:ph type="sldNum" idx="12"/>
          </p:nvPr>
        </p:nvSpPr>
        <p:spPr/>
        <p:txBody>
          <a:bodyPr/>
          <a:lstStyle/>
          <a:p>
            <a:fld id="{A368EC49-D7C7-4373-ABBB-5543BDFB6AA4}" type="slidenum">
              <a:t>‹#›</a:t>
            </a:fld>
            <a:endParaRPr/>
          </a:p>
        </p:txBody>
      </p:sp>
      <p:sp>
        <p:nvSpPr>
          <p:cNvPr id="9" name="Straight Connector 8">
            <a:extLst>
              <a:ext uri="{FF2B5EF4-FFF2-40B4-BE49-F238E27FC236}">
                <a16:creationId xmlns:a16="http://schemas.microsoft.com/office/drawing/2014/main" id="{96660AC3-C660-47DB-90F7-BDE97C068EDF}"/>
              </a:ext>
            </a:extLst>
          </p:cNvPr>
          <p:cNvSpPr>
            <a:spLocks noGrp="1"/>
          </p:cNvSpPr>
          <p:nvPr/>
        </p:nv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F867C9D-F808-4A57-8C7C-2E3B235D1235}"/>
              </a:ext>
            </a:extLst>
          </p:cNvPr>
          <p:cNvSpPr>
            <a:spLocks noGrp="1"/>
          </p:cNvSpPr>
          <p:nvPr>
            <p:ph type="title"/>
          </p:nvPr>
        </p:nvSpPr>
        <p:spPr>
          <a:xfrm>
            <a:off x="1097280" y="286603"/>
            <a:ext cx="10058400" cy="1450757"/>
          </a:xfrm>
        </p:spPr>
        <p:txBody>
          <a:bodyPr/>
          <a:lstStyle/>
          <a:p>
            <a:r>
              <a:t>按一下以編輯母片標題樣式</a:t>
            </a:r>
          </a:p>
        </p:txBody>
      </p:sp>
      <p:sp>
        <p:nvSpPr>
          <p:cNvPr id="3" name="Content Placeholder 2">
            <a:extLst>
              <a:ext uri="{FF2B5EF4-FFF2-40B4-BE49-F238E27FC236}">
                <a16:creationId xmlns:a16="http://schemas.microsoft.com/office/drawing/2014/main" id="{725E5D15-A403-4AA7-B0E8-1F23BE5CD7DF}"/>
              </a:ext>
            </a:extLst>
          </p:cNvPr>
          <p:cNvSpPr>
            <a:spLocks noGrp="1"/>
          </p:cNvSpPr>
          <p:nvPr>
            <p:ph idx="1"/>
          </p:nvPr>
        </p:nvSpPr>
        <p:spPr>
          <a:xfrm>
            <a:off x="1097279" y="1845734"/>
            <a:ext cx="4937760" cy="4023360"/>
          </a:xfrm>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Content Placeholder 3">
            <a:extLst>
              <a:ext uri="{FF2B5EF4-FFF2-40B4-BE49-F238E27FC236}">
                <a16:creationId xmlns:a16="http://schemas.microsoft.com/office/drawing/2014/main" id="{87CF4061-4D90-48C2-AA7D-C7A9E993690A}"/>
              </a:ext>
            </a:extLst>
          </p:cNvPr>
          <p:cNvSpPr>
            <a:spLocks noGrp="1"/>
          </p:cNvSpPr>
          <p:nvPr>
            <p:ph idx="2"/>
          </p:nvPr>
        </p:nvSpPr>
        <p:spPr>
          <a:xfrm>
            <a:off x="6217920" y="1845735"/>
            <a:ext cx="4937760" cy="4023360"/>
          </a:xfrm>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5" name="Date Placeholder 4">
            <a:extLst>
              <a:ext uri="{FF2B5EF4-FFF2-40B4-BE49-F238E27FC236}">
                <a16:creationId xmlns:a16="http://schemas.microsoft.com/office/drawing/2014/main" id="{1E4FB2B2-D7B3-4B7D-A422-647B4B2640CE}"/>
              </a:ext>
            </a:extLst>
          </p:cNvPr>
          <p:cNvSpPr>
            <a:spLocks noGrp="1"/>
          </p:cNvSpPr>
          <p:nvPr>
            <p:ph type="dt" idx="10"/>
          </p:nvPr>
        </p:nvSpPr>
        <p:spPr/>
        <p:txBody>
          <a:bodyPr/>
          <a:lstStyle/>
          <a:p>
            <a:fld id="{CD99E4E6-3E77-4A8E-B4E5-7BB1E384EA1E}" type="datetimeFigureOut">
              <a:t>2026/10/14</a:t>
            </a:fld>
            <a:endParaRPr/>
          </a:p>
        </p:txBody>
      </p:sp>
      <p:sp>
        <p:nvSpPr>
          <p:cNvPr id="6" name="Footer Placeholder 5">
            <a:extLst>
              <a:ext uri="{FF2B5EF4-FFF2-40B4-BE49-F238E27FC236}">
                <a16:creationId xmlns:a16="http://schemas.microsoft.com/office/drawing/2014/main" id="{DB1E7B3E-E233-4B6E-A6A3-6D015191978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58A5FA-A4E9-4EC0-AF0E-6056D8E1F1E6}"/>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8E10CE9-0A90-40F2-9A0C-FF21C95C85FF}"/>
              </a:ext>
            </a:extLst>
          </p:cNvPr>
          <p:cNvSpPr>
            <a:spLocks noGrp="1"/>
          </p:cNvSpPr>
          <p:nvPr>
            <p:ph type="title"/>
          </p:nvPr>
        </p:nvSpPr>
        <p:spPr>
          <a:xfrm>
            <a:off x="1097280" y="286603"/>
            <a:ext cx="10058400" cy="1450757"/>
          </a:xfrm>
        </p:spPr>
        <p:txBody>
          <a:bodyPr/>
          <a:lstStyle/>
          <a:p>
            <a:r>
              <a:t>按一下以編輯母片標題樣式</a:t>
            </a:r>
          </a:p>
        </p:txBody>
      </p:sp>
      <p:sp>
        <p:nvSpPr>
          <p:cNvPr id="3" name="Text Placeholder 2">
            <a:extLst>
              <a:ext uri="{FF2B5EF4-FFF2-40B4-BE49-F238E27FC236}">
                <a16:creationId xmlns:a16="http://schemas.microsoft.com/office/drawing/2014/main" id="{FFE8B0A0-F530-481B-8380-4C13D2CB3030}"/>
              </a:ext>
            </a:extLst>
          </p:cNvPr>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按一下以編輯母片文字樣式</a:t>
            </a:r>
          </a:p>
        </p:txBody>
      </p:sp>
      <p:sp>
        <p:nvSpPr>
          <p:cNvPr id="4" name="Content Placeholder 3">
            <a:extLst>
              <a:ext uri="{FF2B5EF4-FFF2-40B4-BE49-F238E27FC236}">
                <a16:creationId xmlns:a16="http://schemas.microsoft.com/office/drawing/2014/main" id="{2DC6ABCF-F940-45F7-AA41-618654CF5C1E}"/>
              </a:ext>
            </a:extLst>
          </p:cNvPr>
          <p:cNvSpPr>
            <a:spLocks noGrp="1"/>
          </p:cNvSpPr>
          <p:nvPr>
            <p:ph idx="2"/>
          </p:nvPr>
        </p:nvSpPr>
        <p:spPr>
          <a:xfrm>
            <a:off x="1097280" y="2582334"/>
            <a:ext cx="4937760" cy="3378200"/>
          </a:xfrm>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5" name="Text Placeholder 4">
            <a:extLst>
              <a:ext uri="{FF2B5EF4-FFF2-40B4-BE49-F238E27FC236}">
                <a16:creationId xmlns:a16="http://schemas.microsoft.com/office/drawing/2014/main" id="{1B25CB4B-C7ED-440E-903B-6AC393BCC436}"/>
              </a:ext>
            </a:extLst>
          </p:cNvPr>
          <p:cNvSpPr>
            <a:spLocks noGrp="1"/>
          </p:cNvSpPr>
          <p:nvPr>
            <p:ph type="body"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按一下以編輯母片文字樣式</a:t>
            </a:r>
          </a:p>
        </p:txBody>
      </p:sp>
      <p:sp>
        <p:nvSpPr>
          <p:cNvPr id="6" name="Content Placeholder 5">
            <a:extLst>
              <a:ext uri="{FF2B5EF4-FFF2-40B4-BE49-F238E27FC236}">
                <a16:creationId xmlns:a16="http://schemas.microsoft.com/office/drawing/2014/main" id="{67E23A93-AC2E-4AF8-B3A4-48128AC08872}"/>
              </a:ext>
            </a:extLst>
          </p:cNvPr>
          <p:cNvSpPr>
            <a:spLocks noGrp="1"/>
          </p:cNvSpPr>
          <p:nvPr>
            <p:ph idx="4"/>
          </p:nvPr>
        </p:nvSpPr>
        <p:spPr>
          <a:xfrm>
            <a:off x="6217920" y="2582334"/>
            <a:ext cx="4937760" cy="3378200"/>
          </a:xfrm>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7" name="Date Placeholder 6">
            <a:extLst>
              <a:ext uri="{FF2B5EF4-FFF2-40B4-BE49-F238E27FC236}">
                <a16:creationId xmlns:a16="http://schemas.microsoft.com/office/drawing/2014/main" id="{6FD2D362-9026-4B0C-B43F-AE8EA7F36A25}"/>
              </a:ext>
            </a:extLst>
          </p:cNvPr>
          <p:cNvSpPr>
            <a:spLocks noGrp="1"/>
          </p:cNvSpPr>
          <p:nvPr>
            <p:ph type="dt" idx="10"/>
          </p:nvPr>
        </p:nvSpPr>
        <p:spPr/>
        <p:txBody>
          <a:bodyPr/>
          <a:lstStyle/>
          <a:p>
            <a:fld id="{CD99E4E6-3E77-4A8E-B4E5-7BB1E384EA1E}" type="datetimeFigureOut">
              <a:t>2026/10/14</a:t>
            </a:fld>
            <a:endParaRPr/>
          </a:p>
        </p:txBody>
      </p:sp>
      <p:sp>
        <p:nvSpPr>
          <p:cNvPr id="8" name="Footer Placeholder 7">
            <a:extLst>
              <a:ext uri="{FF2B5EF4-FFF2-40B4-BE49-F238E27FC236}">
                <a16:creationId xmlns:a16="http://schemas.microsoft.com/office/drawing/2014/main" id="{33C0E31E-D2D8-41F1-81C7-B8DD7D1616C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43CA7FA-83B0-425F-A77D-1C3BD249488B}"/>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C023-ECDD-4885-808E-8973A41AAEA2}"/>
              </a:ext>
            </a:extLst>
          </p:cNvPr>
          <p:cNvSpPr>
            <a:spLocks noGrp="1"/>
          </p:cNvSpPr>
          <p:nvPr>
            <p:ph type="title"/>
          </p:nvPr>
        </p:nvSpPr>
        <p:spPr/>
        <p:txBody>
          <a:bodyPr/>
          <a:lstStyle/>
          <a:p>
            <a:r>
              <a:t>按一下以編輯母片標題樣式</a:t>
            </a:r>
          </a:p>
        </p:txBody>
      </p:sp>
      <p:sp>
        <p:nvSpPr>
          <p:cNvPr id="3" name="Date Placeholder 2">
            <a:extLst>
              <a:ext uri="{FF2B5EF4-FFF2-40B4-BE49-F238E27FC236}">
                <a16:creationId xmlns:a16="http://schemas.microsoft.com/office/drawing/2014/main" id="{B7522074-BCFD-4425-B500-B4657D014DB7}"/>
              </a:ext>
            </a:extLst>
          </p:cNvPr>
          <p:cNvSpPr>
            <a:spLocks noGrp="1"/>
          </p:cNvSpPr>
          <p:nvPr>
            <p:ph type="dt" idx="10"/>
          </p:nvPr>
        </p:nvSpPr>
        <p:spPr/>
        <p:txBody>
          <a:bodyPr/>
          <a:lstStyle/>
          <a:p>
            <a:fld id="{CD99E4E6-3E77-4A8E-B4E5-7BB1E384EA1E}" type="datetimeFigureOut">
              <a:t>2026/10/14</a:t>
            </a:fld>
            <a:endParaRPr/>
          </a:p>
        </p:txBody>
      </p:sp>
      <p:sp>
        <p:nvSpPr>
          <p:cNvPr id="4" name="Footer Placeholder 3">
            <a:extLst>
              <a:ext uri="{FF2B5EF4-FFF2-40B4-BE49-F238E27FC236}">
                <a16:creationId xmlns:a16="http://schemas.microsoft.com/office/drawing/2014/main" id="{A3564717-344A-4C15-8BFE-19F44B00F57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E1260CD4-FDA3-4CC7-99D7-93A6CF86085A}"/>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4899AA-99FA-494D-8D3C-58F70025DBBE}"/>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156A6E1E-44D8-4716-AE70-94402E27A8A1}"/>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CD7F1454-C809-4B95-B041-40F547279B33}"/>
              </a:ext>
            </a:extLst>
          </p:cNvPr>
          <p:cNvSpPr>
            <a:spLocks noGrp="1"/>
          </p:cNvSpPr>
          <p:nvPr>
            <p:ph type="dt" idx="10"/>
          </p:nvPr>
        </p:nvSpPr>
        <p:spPr/>
        <p:txBody>
          <a:bodyPr/>
          <a:lstStyle/>
          <a:p>
            <a:fld id="{CD99E4E6-3E77-4A8E-B4E5-7BB1E384EA1E}" type="datetimeFigureOut">
              <a:t>2026/10/14</a:t>
            </a:fld>
            <a:endParaRPr/>
          </a:p>
        </p:txBody>
      </p:sp>
      <p:sp>
        <p:nvSpPr>
          <p:cNvPr id="8" name="Footer Placeholder 7">
            <a:extLst>
              <a:ext uri="{FF2B5EF4-FFF2-40B4-BE49-F238E27FC236}">
                <a16:creationId xmlns:a16="http://schemas.microsoft.com/office/drawing/2014/main" id="{7B6092D5-8EEF-48AD-B1FD-AEB37E548FED}"/>
              </a:ext>
            </a:extLst>
          </p:cNvPr>
          <p:cNvSpPr>
            <a:spLocks noGrp="1"/>
          </p:cNvSpPr>
          <p:nvPr>
            <p:ph type="ftr" idx="11"/>
          </p:nvPr>
        </p:nvSpPr>
        <p:spPr/>
        <p:txBody>
          <a:bodyPr/>
          <a:lstStyle>
            <a:lvl1pPr>
              <a:buNone/>
              <a:defRPr>
                <a:solidFill>
                  <a:srgbClr val="FFFFFF"/>
                </a:solidFill>
              </a:defRPr>
            </a:lvl1pPr>
          </a:lstStyle>
          <a:p>
            <a:endParaRPr/>
          </a:p>
        </p:txBody>
      </p:sp>
      <p:sp>
        <p:nvSpPr>
          <p:cNvPr id="9" name="Slide Number Placeholder 8">
            <a:extLst>
              <a:ext uri="{FF2B5EF4-FFF2-40B4-BE49-F238E27FC236}">
                <a16:creationId xmlns:a16="http://schemas.microsoft.com/office/drawing/2014/main" id="{197DF43D-9402-46F2-8616-A9297F877530}"/>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3551DF-E1EF-4548-B7A6-C1DE2ECC90A9}"/>
              </a:ext>
            </a:extLst>
          </p:cNvPr>
          <p:cNvSpPr>
            <a:spLocks noGrp="1"/>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5600550-7692-4FF1-BAC5-3A49CE7A0637}"/>
              </a:ext>
            </a:extLst>
          </p:cNvPr>
          <p:cNvSpPr>
            <a:spLocks noGrp="1"/>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C67E41E-5E1C-4908-8A53-6F0B5CBE2632}"/>
              </a:ext>
            </a:extLst>
          </p:cNvPr>
          <p:cNvSpPr>
            <a:spLocks noGrp="1"/>
          </p:cNvSpPr>
          <p:nvPr>
            <p:ph type="title"/>
          </p:nvPr>
        </p:nvSpPr>
        <p:spPr>
          <a:xfrm>
            <a:off x="457200" y="594359"/>
            <a:ext cx="3200400" cy="2286000"/>
          </a:xfrm>
        </p:spPr>
        <p:txBody>
          <a:bodyPr anchor="b">
            <a:normAutofit/>
          </a:bodyPr>
          <a:lstStyle>
            <a:lvl1pPr>
              <a:buNone/>
              <a:defRPr sz="3600" b="0">
                <a:solidFill>
                  <a:srgbClr val="FFFFFF"/>
                </a:solidFill>
              </a:defRPr>
            </a:lvl1pPr>
          </a:lstStyle>
          <a:p>
            <a:r>
              <a:t>按一下以編輯母片標題樣式</a:t>
            </a:r>
          </a:p>
        </p:txBody>
      </p:sp>
      <p:sp>
        <p:nvSpPr>
          <p:cNvPr id="3" name="Content Placeholder 2">
            <a:extLst>
              <a:ext uri="{FF2B5EF4-FFF2-40B4-BE49-F238E27FC236}">
                <a16:creationId xmlns:a16="http://schemas.microsoft.com/office/drawing/2014/main" id="{197B935F-B098-4A59-9F80-9D62436F423A}"/>
              </a:ext>
            </a:extLst>
          </p:cNvPr>
          <p:cNvSpPr>
            <a:spLocks noGrp="1"/>
          </p:cNvSpPr>
          <p:nvPr>
            <p:ph idx="1"/>
          </p:nvPr>
        </p:nvSpPr>
        <p:spPr>
          <a:xfrm>
            <a:off x="4800600" y="731520"/>
            <a:ext cx="6492240" cy="5257800"/>
          </a:xfrm>
        </p:spPr>
        <p:txBody>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Text Placeholder 3">
            <a:extLst>
              <a:ext uri="{FF2B5EF4-FFF2-40B4-BE49-F238E27FC236}">
                <a16:creationId xmlns:a16="http://schemas.microsoft.com/office/drawing/2014/main" id="{96C82C43-5633-47A2-B658-712C98C371E7}"/>
              </a:ext>
            </a:extLst>
          </p:cNvPr>
          <p:cNvSpPr>
            <a:spLocks noGrp="1"/>
          </p:cNvSpPr>
          <p:nvPr>
            <p:ph type="body"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按一下以編輯母片文字樣式</a:t>
            </a:r>
          </a:p>
        </p:txBody>
      </p:sp>
      <p:sp>
        <p:nvSpPr>
          <p:cNvPr id="5" name="Date Placeholder 4">
            <a:extLst>
              <a:ext uri="{FF2B5EF4-FFF2-40B4-BE49-F238E27FC236}">
                <a16:creationId xmlns:a16="http://schemas.microsoft.com/office/drawing/2014/main" id="{85D20F5F-A41A-4B40-BD62-B28B7388B88F}"/>
              </a:ext>
            </a:extLst>
          </p:cNvPr>
          <p:cNvSpPr>
            <a:spLocks noGrp="1"/>
          </p:cNvSpPr>
          <p:nvPr>
            <p:ph type="dt" idx="10"/>
          </p:nvPr>
        </p:nvSpPr>
        <p:spPr>
          <a:xfrm>
            <a:off x="465512" y="6459785"/>
            <a:ext cx="2618510" cy="365125"/>
          </a:xfrm>
        </p:spPr>
        <p:txBody>
          <a:bodyPr/>
          <a:lstStyle>
            <a:lvl1pPr algn="l">
              <a:buNone/>
              <a:defRPr/>
            </a:lvl1pPr>
          </a:lstStyle>
          <a:p>
            <a:fld id="{CD99E4E6-3E77-4A8E-B4E5-7BB1E384EA1E}" type="datetimeFigureOut">
              <a:t>2026/10/14</a:t>
            </a:fld>
            <a:endParaRPr/>
          </a:p>
        </p:txBody>
      </p:sp>
      <p:sp>
        <p:nvSpPr>
          <p:cNvPr id="6" name="Footer Placeholder 5">
            <a:extLst>
              <a:ext uri="{FF2B5EF4-FFF2-40B4-BE49-F238E27FC236}">
                <a16:creationId xmlns:a16="http://schemas.microsoft.com/office/drawing/2014/main" id="{37C3FF56-73E3-4A4D-894A-546656FA9ABD}"/>
              </a:ext>
            </a:extLst>
          </p:cNvPr>
          <p:cNvSpPr>
            <a:spLocks noGrp="1"/>
          </p:cNvSpPr>
          <p:nvPr>
            <p:ph type="ftr" idx="11"/>
          </p:nvPr>
        </p:nvSpPr>
        <p:spPr>
          <a:xfrm>
            <a:off x="4800600" y="6459785"/>
            <a:ext cx="4648200" cy="365125"/>
          </a:xfrm>
        </p:spPr>
        <p:txBody>
          <a:bodyPr/>
          <a:lstStyle>
            <a:lvl1pPr algn="l">
              <a:buNone/>
              <a:defRPr>
                <a:solidFill>
                  <a:schemeClr val="tx2"/>
                </a:solidFill>
              </a:defRPr>
            </a:lvl1pPr>
          </a:lstStyle>
          <a:p>
            <a:endParaRPr/>
          </a:p>
        </p:txBody>
      </p:sp>
      <p:sp>
        <p:nvSpPr>
          <p:cNvPr id="7" name="Slide Number Placeholder 6">
            <a:extLst>
              <a:ext uri="{FF2B5EF4-FFF2-40B4-BE49-F238E27FC236}">
                <a16:creationId xmlns:a16="http://schemas.microsoft.com/office/drawing/2014/main" id="{C50B175B-B6A1-4C15-A898-5EE836FD7613}"/>
              </a:ext>
            </a:extLst>
          </p:cNvPr>
          <p:cNvSpPr>
            <a:spLocks noGrp="1"/>
          </p:cNvSpPr>
          <p:nvPr>
            <p:ph type="sldNum" idx="12"/>
          </p:nvPr>
        </p:nvSpPr>
        <p:spPr/>
        <p:txBody>
          <a:bodyPr/>
          <a:lstStyle>
            <a:lvl1pPr>
              <a:buNone/>
              <a:defRPr>
                <a:solidFill>
                  <a:schemeClr val="tx2"/>
                </a:solidFill>
              </a:defRPr>
            </a:lvl1pPr>
          </a:lstStyle>
          <a:p>
            <a:fld id="{A368EC49-D7C7-4373-ABBB-5543BDFB6AA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853717-6A82-42DA-89C5-D748B616A00F}"/>
              </a:ext>
            </a:extLst>
          </p:cNvPr>
          <p:cNvSpPr>
            <a:spLocks noGrp="1"/>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C5220A44-62D6-497C-84FB-9CECB3EDAA15}"/>
              </a:ext>
            </a:extLst>
          </p:cNvPr>
          <p:cNvSpPr>
            <a:spLocks noGrp="1"/>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0AACF8-0DF4-4B3B-8376-EC51581CAD44}"/>
              </a:ext>
            </a:extLst>
          </p:cNvPr>
          <p:cNvSpPr>
            <a:spLocks noGrp="1"/>
          </p:cNvSpPr>
          <p:nvPr>
            <p:ph type="title"/>
          </p:nvPr>
        </p:nvSpPr>
        <p:spPr>
          <a:xfrm>
            <a:off x="1097280" y="5074920"/>
            <a:ext cx="10113264" cy="822960"/>
          </a:xfrm>
        </p:spPr>
        <p:txBody>
          <a:bodyPr lIns="91440" tIns="0" rIns="91440" bIns="0" anchor="b">
            <a:noAutofit/>
          </a:bodyPr>
          <a:lstStyle>
            <a:lvl1pPr>
              <a:buNone/>
              <a:defRPr sz="3600" b="0">
                <a:solidFill>
                  <a:srgbClr val="FFFFFF"/>
                </a:solidFill>
              </a:defRPr>
            </a:lvl1pPr>
          </a:lstStyle>
          <a:p>
            <a:r>
              <a:t>按一下以編輯母片標題樣式</a:t>
            </a:r>
          </a:p>
        </p:txBody>
      </p:sp>
      <p:sp>
        <p:nvSpPr>
          <p:cNvPr id="3" name="Picture Placeholder 2">
            <a:extLst>
              <a:ext uri="{FF2B5EF4-FFF2-40B4-BE49-F238E27FC236}">
                <a16:creationId xmlns:a16="http://schemas.microsoft.com/office/drawing/2014/main" id="{1ED450FF-BFAD-4FF8-8795-297F20F00819}"/>
              </a:ext>
            </a:extLst>
          </p:cNvPr>
          <p:cNvSpPr>
            <a:spLocks noGrp="1"/>
          </p:cNvSpPr>
          <p:nvPr>
            <p:ph type="pic" idx="1"/>
          </p:nvPr>
        </p:nvSpPr>
        <p:spPr>
          <a:xfrm>
            <a:off x="15" y="0"/>
            <a:ext cx="12191985" cy="4915076"/>
          </a:xfrm>
          <a:prstGeom prst="rect">
            <a:avLst/>
          </a:prstGeo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按一下圖示以新增圖片</a:t>
            </a:r>
          </a:p>
        </p:txBody>
      </p:sp>
      <p:sp>
        <p:nvSpPr>
          <p:cNvPr id="4" name="Text Placeholder 3">
            <a:extLst>
              <a:ext uri="{FF2B5EF4-FFF2-40B4-BE49-F238E27FC236}">
                <a16:creationId xmlns:a16="http://schemas.microsoft.com/office/drawing/2014/main" id="{3728CDD8-4802-4568-8F13-6E44F1A8591F}"/>
              </a:ext>
            </a:extLst>
          </p:cNvPr>
          <p:cNvSpPr>
            <a:spLocks noGrp="1"/>
          </p:cNvSpPr>
          <p:nvPr>
            <p:ph type="body"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按一下以編輯母片文字樣式</a:t>
            </a:r>
          </a:p>
        </p:txBody>
      </p:sp>
      <p:sp>
        <p:nvSpPr>
          <p:cNvPr id="5" name="Date Placeholder 4">
            <a:extLst>
              <a:ext uri="{FF2B5EF4-FFF2-40B4-BE49-F238E27FC236}">
                <a16:creationId xmlns:a16="http://schemas.microsoft.com/office/drawing/2014/main" id="{DA6072D7-E3C6-4E96-A65F-C69C55BC496E}"/>
              </a:ext>
            </a:extLst>
          </p:cNvPr>
          <p:cNvSpPr>
            <a:spLocks noGrp="1"/>
          </p:cNvSpPr>
          <p:nvPr>
            <p:ph type="dt" idx="10"/>
          </p:nvPr>
        </p:nvSpPr>
        <p:spPr/>
        <p:txBody>
          <a:bodyPr/>
          <a:lstStyle/>
          <a:p>
            <a:fld id="{CD99E4E6-3E77-4A8E-B4E5-7BB1E384EA1E}" type="datetimeFigureOut">
              <a:t>2026/10/14</a:t>
            </a:fld>
            <a:endParaRPr/>
          </a:p>
        </p:txBody>
      </p:sp>
      <p:sp>
        <p:nvSpPr>
          <p:cNvPr id="6" name="Footer Placeholder 5">
            <a:extLst>
              <a:ext uri="{FF2B5EF4-FFF2-40B4-BE49-F238E27FC236}">
                <a16:creationId xmlns:a16="http://schemas.microsoft.com/office/drawing/2014/main" id="{FB6D10C3-B1DE-43FA-B687-511D7772424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629A65C-704F-48EC-9038-0838677C32AF}"/>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BCEC-A44C-4703-A9C0-521C93825E91}"/>
              </a:ext>
            </a:extLst>
          </p:cNvPr>
          <p:cNvSpPr>
            <a:spLocks noGrp="1"/>
          </p:cNvSpPr>
          <p:nvPr>
            <p:ph type="title"/>
          </p:nvPr>
        </p:nvSpPr>
        <p:spPr/>
        <p:txBody>
          <a:bodyPr/>
          <a:lstStyle/>
          <a:p>
            <a:r>
              <a:t>按一下以編輯母片標題樣式</a:t>
            </a:r>
          </a:p>
        </p:txBody>
      </p:sp>
      <p:sp>
        <p:nvSpPr>
          <p:cNvPr id="3" name="Vertical Text Placeholder 2">
            <a:extLst>
              <a:ext uri="{FF2B5EF4-FFF2-40B4-BE49-F238E27FC236}">
                <a16:creationId xmlns:a16="http://schemas.microsoft.com/office/drawing/2014/main" id="{69C99CF1-49D6-4432-9F7C-B26870ED1A38}"/>
              </a:ext>
            </a:extLst>
          </p:cNvPr>
          <p:cNvSpPr>
            <a:spLocks noGrp="1"/>
          </p:cNvSpPr>
          <p:nvPr>
            <p:ph type="body" idx="1"/>
          </p:nvPr>
        </p:nvSpPr>
        <p:spPr/>
        <p:txBody>
          <a:bodyPr vert="eaVert" lIns="45720" tIns="0" rIns="45720" bIns="0"/>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Date Placeholder 3">
            <a:extLst>
              <a:ext uri="{FF2B5EF4-FFF2-40B4-BE49-F238E27FC236}">
                <a16:creationId xmlns:a16="http://schemas.microsoft.com/office/drawing/2014/main" id="{F6E828AA-1F5D-498C-8037-C83B4CDC2659}"/>
              </a:ext>
            </a:extLst>
          </p:cNvPr>
          <p:cNvSpPr>
            <a:spLocks noGrp="1"/>
          </p:cNvSpPr>
          <p:nvPr>
            <p:ph type="dt" idx="10"/>
          </p:nvPr>
        </p:nvSpPr>
        <p:spPr/>
        <p:txBody>
          <a:body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59BF0C31-0648-400E-914E-3FB9D130A8A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944B4AD-1D28-4BAE-9298-55F35FFD67A8}"/>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7C6065-E1BF-4FEB-BCDC-F7E344FBA9C1}"/>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1744D342-EDCD-42A5-B1DB-9D8D8AFD5019}"/>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52C99D55-9087-4429-9DD0-0DC75151AF1B}"/>
              </a:ext>
            </a:extLst>
          </p:cNvPr>
          <p:cNvSpPr>
            <a:spLocks noGrp="1"/>
          </p:cNvSpPr>
          <p:nvPr>
            <p:ph type="title"/>
          </p:nvPr>
        </p:nvSpPr>
        <p:spPr>
          <a:xfrm>
            <a:off x="8724900" y="414778"/>
            <a:ext cx="2628900" cy="5757421"/>
          </a:xfrm>
        </p:spPr>
        <p:txBody>
          <a:bodyPr vert="eaVert"/>
          <a:lstStyle/>
          <a:p>
            <a:r>
              <a:t>按一下以編輯母片標題樣式</a:t>
            </a:r>
          </a:p>
        </p:txBody>
      </p:sp>
      <p:sp>
        <p:nvSpPr>
          <p:cNvPr id="3" name="Vertical Text Placeholder 2">
            <a:extLst>
              <a:ext uri="{FF2B5EF4-FFF2-40B4-BE49-F238E27FC236}">
                <a16:creationId xmlns:a16="http://schemas.microsoft.com/office/drawing/2014/main" id="{B7024012-C8CE-4816-BF12-E7CA7B955A1F}"/>
              </a:ext>
            </a:extLst>
          </p:cNvPr>
          <p:cNvSpPr>
            <a:spLocks noGrp="1"/>
          </p:cNvSpPr>
          <p:nvPr>
            <p:ph type="body" idx="1"/>
          </p:nvPr>
        </p:nvSpPr>
        <p:spPr>
          <a:xfrm>
            <a:off x="838200" y="414778"/>
            <a:ext cx="7734300" cy="5757422"/>
          </a:xfrm>
        </p:spPr>
        <p:txBody>
          <a:bodyPr vert="eaVert" lIns="45720" tIns="0" rIns="45720" bIns="0"/>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Date Placeholder 3">
            <a:extLst>
              <a:ext uri="{FF2B5EF4-FFF2-40B4-BE49-F238E27FC236}">
                <a16:creationId xmlns:a16="http://schemas.microsoft.com/office/drawing/2014/main" id="{4CA5B4CE-24BC-45A5-B2C8-98C471F2CFD1}"/>
              </a:ext>
            </a:extLst>
          </p:cNvPr>
          <p:cNvSpPr>
            <a:spLocks noGrp="1"/>
          </p:cNvSpPr>
          <p:nvPr>
            <p:ph type="dt" idx="10"/>
          </p:nvPr>
        </p:nvSpPr>
        <p:spPr/>
        <p:txBody>
          <a:body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B123DA78-42EA-4DB3-9D93-0EE59E9164B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613608E-12D6-49E1-BB81-6F9A952FEC4D}"/>
              </a:ext>
            </a:extLst>
          </p:cNvPr>
          <p:cNvSpPr>
            <a:spLocks noGrp="1"/>
          </p:cNvSpPr>
          <p:nvPr>
            <p:ph type="sldNum" idx="12"/>
          </p:nvPr>
        </p:nvSpPr>
        <p:spPr/>
        <p:txBody>
          <a:bodyPr/>
          <a:lstStyle/>
          <a:p>
            <a:fld id="{A368EC49-D7C7-4373-ABBB-5543BDFB6AA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6055B-D30F-4B7A-A922-C742FB6084B1}"/>
              </a:ext>
            </a:extLst>
          </p:cNvPr>
          <p:cNvSpPr>
            <a:spLocks noGrp="1"/>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8D16E522-5C63-4C3A-BF6B-E801DFF7CD7F}"/>
              </a:ext>
            </a:extLst>
          </p:cNvPr>
          <p:cNvSpPr>
            <a:spLocks noGrp="1"/>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8071BCF4-0648-4A83-B857-4A2F2F3653EE}"/>
              </a:ext>
            </a:extLst>
          </p:cNvPr>
          <p:cNvSpPr>
            <a:spLocks noGrp="1"/>
          </p:cNvSpPr>
          <p:nvPr>
            <p:ph type="title"/>
          </p:nvPr>
        </p:nvSpPr>
        <p:spPr>
          <a:xfrm>
            <a:off x="1097280" y="286603"/>
            <a:ext cx="10058400" cy="1450757"/>
          </a:xfrm>
          <a:prstGeom prst="rect">
            <a:avLst/>
          </a:prstGeom>
        </p:spPr>
        <p:txBody>
          <a:bodyPr vert="horz" lIns="91440" tIns="45720" rIns="91440" bIns="45720" anchor="b">
            <a:normAutofit/>
          </a:bodyPr>
          <a:lstStyle/>
          <a:p>
            <a:r>
              <a:t>按一下以編輯母片標題樣式</a:t>
            </a:r>
          </a:p>
        </p:txBody>
      </p:sp>
      <p:sp>
        <p:nvSpPr>
          <p:cNvPr id="3" name="Text Placeholder 2">
            <a:extLst>
              <a:ext uri="{FF2B5EF4-FFF2-40B4-BE49-F238E27FC236}">
                <a16:creationId xmlns:a16="http://schemas.microsoft.com/office/drawing/2014/main" id="{FD7E0DEA-D3B1-44CF-95C5-E27CC0771346}"/>
              </a:ext>
            </a:extLst>
          </p:cNvPr>
          <p:cNvSpPr>
            <a:spLocks noGrp="1"/>
          </p:cNvSpPr>
          <p:nvPr>
            <p:ph type="body" idx="1"/>
          </p:nvPr>
        </p:nvSpPr>
        <p:spPr>
          <a:xfrm>
            <a:off x="1097280" y="1845734"/>
            <a:ext cx="10058400" cy="4023360"/>
          </a:xfrm>
          <a:prstGeom prst="rect">
            <a:avLst/>
          </a:prstGeom>
        </p:spPr>
        <p:txBody>
          <a:bodyPr vert="horz" lIns="0" tIns="45720" rIns="0" bIns="45720">
            <a:normAutofit/>
          </a:bodyPr>
          <a:lstStyle/>
          <a:p>
            <a:pPr lvl="0">
              <a:buNone/>
            </a:pPr>
            <a:r>
              <a:t>按一下以編輯母片文字樣式</a:t>
            </a:r>
          </a:p>
          <a:p>
            <a:pPr lvl="1">
              <a:buNone/>
            </a:pPr>
            <a:r>
              <a:t>第二層</a:t>
            </a:r>
          </a:p>
          <a:p>
            <a:pPr lvl="2">
              <a:buNone/>
            </a:pPr>
            <a:r>
              <a:t>第三層</a:t>
            </a:r>
          </a:p>
          <a:p>
            <a:pPr lvl="3">
              <a:buNone/>
            </a:pPr>
            <a:r>
              <a:t>第四層</a:t>
            </a:r>
          </a:p>
          <a:p>
            <a:pPr lvl="4">
              <a:buNone/>
            </a:pPr>
            <a:r>
              <a:t>第五層</a:t>
            </a:r>
          </a:p>
        </p:txBody>
      </p:sp>
      <p:sp>
        <p:nvSpPr>
          <p:cNvPr id="4" name="Date Placeholder 3">
            <a:extLst>
              <a:ext uri="{FF2B5EF4-FFF2-40B4-BE49-F238E27FC236}">
                <a16:creationId xmlns:a16="http://schemas.microsoft.com/office/drawing/2014/main" id="{2D0D601B-6F7F-4972-B6FF-5D370DE10753}"/>
              </a:ext>
            </a:extLst>
          </p:cNvPr>
          <p:cNvSpPr>
            <a:spLocks noGrp="1"/>
          </p:cNvSpPr>
          <p:nvPr>
            <p:ph type="dt" idx="2"/>
          </p:nvPr>
        </p:nvSpPr>
        <p:spPr>
          <a:xfrm>
            <a:off x="1097280" y="6459785"/>
            <a:ext cx="2472271" cy="365125"/>
          </a:xfrm>
          <a:prstGeom prst="rect">
            <a:avLst/>
          </a:prstGeom>
        </p:spPr>
        <p:txBody>
          <a:bodyPr vert="horz" lIns="91440" tIns="45720" rIns="91440" bIns="45720" anchor="ctr"/>
          <a:lstStyle>
            <a:lvl1pPr algn="l">
              <a:buNone/>
              <a:defRPr sz="900">
                <a:solidFill>
                  <a:srgbClr val="FFFFFF"/>
                </a:solidFill>
              </a:defRPr>
            </a:lvl1pPr>
          </a:lstStyle>
          <a:p>
            <a:fld id="{CD99E4E6-3E77-4A8E-B4E5-7BB1E384EA1E}" type="datetimeFigureOut">
              <a:t>2026/10/14</a:t>
            </a:fld>
            <a:endParaRPr/>
          </a:p>
        </p:txBody>
      </p:sp>
      <p:sp>
        <p:nvSpPr>
          <p:cNvPr id="5" name="Footer Placeholder 4">
            <a:extLst>
              <a:ext uri="{FF2B5EF4-FFF2-40B4-BE49-F238E27FC236}">
                <a16:creationId xmlns:a16="http://schemas.microsoft.com/office/drawing/2014/main" id="{A9D5F2C2-7226-4D81-8AF2-F8505ECDFE69}"/>
              </a:ext>
            </a:extLst>
          </p:cNvPr>
          <p:cNvSpPr>
            <a:spLocks noGrp="1"/>
          </p:cNvSpPr>
          <p:nvPr>
            <p:ph type="ftr" idx="3"/>
          </p:nvPr>
        </p:nvSpPr>
        <p:spPr>
          <a:xfrm>
            <a:off x="3686185" y="6459785"/>
            <a:ext cx="4822804" cy="365125"/>
          </a:xfrm>
          <a:prstGeom prst="rect">
            <a:avLst/>
          </a:prstGeom>
        </p:spPr>
        <p:txBody>
          <a:bodyPr vert="horz" lIns="91440" tIns="45720" rIns="91440" bIns="45720" anchor="ctr"/>
          <a:lstStyle>
            <a:lvl1pPr algn="ctr">
              <a:buNone/>
              <a:defRPr sz="900" cap="all" baseline="0">
                <a:solidFill>
                  <a:srgbClr val="FFFFFF"/>
                </a:solidFill>
              </a:defRPr>
            </a:lvl1pPr>
          </a:lstStyle>
          <a:p>
            <a:endParaRPr/>
          </a:p>
        </p:txBody>
      </p:sp>
      <p:sp>
        <p:nvSpPr>
          <p:cNvPr id="6" name="Slide Number Placeholder 5">
            <a:extLst>
              <a:ext uri="{FF2B5EF4-FFF2-40B4-BE49-F238E27FC236}">
                <a16:creationId xmlns:a16="http://schemas.microsoft.com/office/drawing/2014/main" id="{51AE12B6-B8DD-41C7-8291-8CF57207A747}"/>
              </a:ext>
            </a:extLst>
          </p:cNvPr>
          <p:cNvSpPr>
            <a:spLocks noGrp="1"/>
          </p:cNvSpPr>
          <p:nvPr>
            <p:ph type="sldNum" idx="4"/>
          </p:nvPr>
        </p:nvSpPr>
        <p:spPr>
          <a:xfrm>
            <a:off x="9900458" y="6459785"/>
            <a:ext cx="1312025" cy="365125"/>
          </a:xfrm>
          <a:prstGeom prst="rect">
            <a:avLst/>
          </a:prstGeom>
        </p:spPr>
        <p:txBody>
          <a:bodyPr vert="horz" lIns="91440" tIns="45720" rIns="91440" bIns="45720" anchor="ctr"/>
          <a:lstStyle>
            <a:lvl1pPr algn="r">
              <a:buNone/>
              <a:defRPr sz="1050">
                <a:solidFill>
                  <a:srgbClr val="FFFFFF"/>
                </a:solidFill>
              </a:defRPr>
            </a:lvl1pPr>
          </a:lstStyle>
          <a:p>
            <a:fld id="{A368EC49-D7C7-4373-ABBB-5543BDFB6AA4}" type="slidenum">
              <a:t>‹#›</a:t>
            </a:fld>
            <a:endParaRPr/>
          </a:p>
        </p:txBody>
      </p:sp>
      <p:sp>
        <p:nvSpPr>
          <p:cNvPr id="10" name="Straight Connector 9">
            <a:extLst>
              <a:ext uri="{FF2B5EF4-FFF2-40B4-BE49-F238E27FC236}">
                <a16:creationId xmlns:a16="http://schemas.microsoft.com/office/drawing/2014/main" id="{080A5B9D-EE9F-45CC-9240-E0D4D3BA88BF}"/>
              </a:ext>
            </a:extLst>
          </p:cNvPr>
          <p:cNvSpPr>
            <a:spLocks noGrp="1"/>
          </p:cNvSpPr>
          <p:nvPr/>
        </p:nv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85000"/>
        </a:lnSpc>
        <a:spcBef>
          <a:spcPct val="0"/>
        </a:spcBef>
        <a:buNone/>
        <a:defRPr sz="4800" kern="1200" spc="-50" baseline="0">
          <a:solidFill>
            <a:schemeClr val="tx1">
              <a:lumMod val="75000"/>
              <a:lumOff val="25000"/>
            </a:schemeClr>
          </a:solidFill>
          <a:latin typeface="+mj-lt"/>
          <a:ea typeface="+mj-lt"/>
          <a:cs typeface="+mj-lt"/>
        </a:defRPr>
      </a:lvl1pPr>
    </p:titleStyle>
    <p:body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D190E5-A533-E703-9A83-C9C4A69B5F62}"/>
              </a:ext>
            </a:extLst>
          </p:cNvPr>
          <p:cNvSpPr>
            <a:spLocks noGrp="1"/>
          </p:cNvSpPr>
          <p:nvPr>
            <p:ph type="ctrTitle"/>
          </p:nvPr>
        </p:nvSpPr>
        <p:spPr>
          <a:xfrm>
            <a:off x="3019214" y="1334685"/>
            <a:ext cx="6471919" cy="925915"/>
          </a:xfrm>
        </p:spPr>
        <p:txBody>
          <a:bodyPr>
            <a:normAutofit/>
          </a:bodyPr>
          <a:lstStyle/>
          <a:p>
            <a:pPr algn="ctr">
              <a:buNone/>
            </a:pPr>
            <a:r>
              <a:rPr sz="2800"/>
              <a:t>檢索增強大型語言模型在中醫辨證與西醫健康資訊問答之應用與評估</a:t>
            </a:r>
          </a:p>
        </p:txBody>
      </p:sp>
      <p:sp>
        <p:nvSpPr>
          <p:cNvPr id="3" name="副標題 2">
            <a:extLst>
              <a:ext uri="{FF2B5EF4-FFF2-40B4-BE49-F238E27FC236}">
                <a16:creationId xmlns:a16="http://schemas.microsoft.com/office/drawing/2014/main" id="{A007B91B-3E59-C88B-DFD7-B8373DCC3625}"/>
              </a:ext>
            </a:extLst>
          </p:cNvPr>
          <p:cNvSpPr>
            <a:spLocks noGrp="1"/>
          </p:cNvSpPr>
          <p:nvPr>
            <p:ph type="subTitle" idx="1"/>
          </p:nvPr>
        </p:nvSpPr>
        <p:spPr>
          <a:xfrm>
            <a:off x="1225973" y="2652220"/>
            <a:ext cx="10058400" cy="1143000"/>
          </a:xfrm>
        </p:spPr>
        <p:txBody>
          <a:bodyPr/>
          <a:lstStyle/>
          <a:p>
            <a:pPr algn="ctr">
              <a:buNone/>
              <a:defRPr sz="1350" b="1">
                <a:solidFill>
                  <a:srgbClr val="5E6670"/>
                </a:solidFill>
              </a:defRPr>
            </a:pPr>
            <a:r>
              <a:rPr sz="2400"/>
              <a:t>研究生:陳先正</a:t>
            </a:r>
          </a:p>
          <a:p>
            <a:pPr algn="ctr">
              <a:buNone/>
              <a:defRPr sz="1350" b="1">
                <a:solidFill>
                  <a:srgbClr val="5E6670"/>
                </a:solidFill>
              </a:defRPr>
            </a:pPr>
            <a:r>
              <a:rPr sz="2400"/>
              <a:t>指導教授:林聯發 博士</a:t>
            </a:r>
            <a:endParaRPr/>
          </a:p>
        </p:txBody>
      </p:sp>
    </p:spTree>
    <p:extLst>
      <p:ext uri="{BB962C8B-B14F-4D97-AF65-F5344CB8AC3E}">
        <p14:creationId xmlns:p14="http://schemas.microsoft.com/office/powerpoint/2010/main" val="2944349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80" y="481298"/>
            <a:ext cx="9088088" cy="797147"/>
          </a:xfrm>
        </p:spPr>
        <p:txBody>
          <a:bodyPr>
            <a:normAutofit/>
          </a:bodyPr>
          <a:lstStyle/>
          <a:p>
            <a:r>
              <a:rPr sz="3600"/>
              <a:t>研究背景</a:t>
            </a:r>
          </a:p>
        </p:txBody>
      </p:sp>
      <p:sp>
        <p:nvSpPr>
          <p:cNvPr id="4" name="Rectangle 1">
            <a:extLst>
              <a:ext uri="{FF2B5EF4-FFF2-40B4-BE49-F238E27FC236}">
                <a16:creationId xmlns:a16="http://schemas.microsoft.com/office/drawing/2014/main" id="{DC08B195-9782-9FF2-CB05-0749CF5F53B2}"/>
              </a:ext>
            </a:extLst>
          </p:cNvPr>
          <p:cNvSpPr>
            <a:spLocks noGrp="1"/>
          </p:cNvSpPr>
          <p:nvPr>
            <p:ph idx="1"/>
          </p:nvPr>
        </p:nvSpPr>
        <p:spPr>
          <a:xfrm>
            <a:off x="1165013" y="1951672"/>
            <a:ext cx="8105987" cy="1477328"/>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None/>
            </a:pPr>
            <a:endParaRPr sz="18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a:ln>
                  <a:noFill/>
                </a:ln>
                <a:solidFill>
                  <a:schemeClr val="tx1"/>
                </a:solidFill>
                <a:latin typeface="Arial"/>
                <a:ea typeface="Arial"/>
                <a:cs typeface="Arial"/>
              </a:rPr>
              <a:t>大型語言模型能快速回答健康問題，文字也容易閱讀。</a:t>
            </a:r>
          </a:p>
          <a:p>
            <a:pPr marL="0" marR="0" lvl="0" indent="0" algn="l" defTabSz="914400">
              <a:lnSpc>
                <a:spcPct val="100000"/>
              </a:lnSpc>
              <a:spcBef>
                <a:spcPct val="0"/>
              </a:spcBef>
              <a:spcAft>
                <a:spcPct val="0"/>
              </a:spcAft>
              <a:buClrTx/>
              <a:buSzTx/>
              <a:buFontTx/>
              <a:buChar char="•"/>
            </a:pPr>
            <a:r>
              <a:rPr sz="1800" b="0" i="0" u="none" cap="none">
                <a:ln>
                  <a:noFill/>
                </a:ln>
                <a:solidFill>
                  <a:schemeClr val="tx1"/>
                </a:solidFill>
                <a:latin typeface="Arial"/>
                <a:ea typeface="Arial"/>
                <a:cs typeface="Arial"/>
              </a:rPr>
              <a:t>但模型可能提供沒有資料支持的內容，使用者也不容易確認答案來源。</a:t>
            </a:r>
          </a:p>
          <a:p>
            <a:pPr marL="0" marR="0" lvl="0" indent="0" algn="l" defTabSz="914400">
              <a:lnSpc>
                <a:spcPct val="100000"/>
              </a:lnSpc>
              <a:spcBef>
                <a:spcPct val="0"/>
              </a:spcBef>
              <a:spcAft>
                <a:spcPct val="0"/>
              </a:spcAft>
              <a:buClrTx/>
              <a:buSzTx/>
              <a:buFontTx/>
              <a:buChar char="•"/>
            </a:pPr>
            <a:r>
              <a:rPr sz="1800" b="0" i="0" u="none" cap="none">
                <a:ln>
                  <a:noFill/>
                </a:ln>
                <a:solidFill>
                  <a:schemeClr val="tx1"/>
                </a:solidFill>
                <a:latin typeface="Arial"/>
                <a:ea typeface="Arial"/>
                <a:cs typeface="Arial"/>
              </a:rPr>
              <a:t>檢索增強生成會先尋找相關病例或健康資料，再讓模型根據資料回答。</a:t>
            </a:r>
          </a:p>
          <a:p>
            <a:pPr marL="0" marR="0" lvl="0" indent="0" algn="l" defTabSz="914400">
              <a:lnSpc>
                <a:spcPct val="100000"/>
              </a:lnSpc>
              <a:spcBef>
                <a:spcPct val="0"/>
              </a:spcBef>
              <a:spcAft>
                <a:spcPct val="0"/>
              </a:spcAft>
              <a:buClrTx/>
              <a:buSzTx/>
              <a:buFontTx/>
              <a:buChar char="•"/>
            </a:pPr>
            <a:r>
              <a:rPr sz="1800" b="0" i="0" u="none" cap="none">
                <a:ln>
                  <a:noFill/>
                </a:ln>
                <a:solidFill>
                  <a:schemeClr val="tx1"/>
                </a:solidFill>
                <a:latin typeface="Arial"/>
                <a:ea typeface="Arial"/>
                <a:cs typeface="Arial"/>
              </a:rPr>
              <a:t>本研究分別應用於中醫辨證與西醫健康資訊問答。 </a:t>
            </a:r>
          </a:p>
        </p:txBody>
      </p:sp>
    </p:spTree>
    <p:extLst>
      <p:ext uri="{BB962C8B-B14F-4D97-AF65-F5344CB8AC3E}">
        <p14:creationId xmlns:p14="http://schemas.microsoft.com/office/powerpoint/2010/main" val="397458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80" y="481298"/>
            <a:ext cx="9088088" cy="797147"/>
          </a:xfrm>
        </p:spPr>
        <p:txBody>
          <a:bodyPr>
            <a:normAutofit/>
          </a:bodyPr>
          <a:lstStyle/>
          <a:p>
            <a:r>
              <a:rPr sz="3600"/>
              <a:t>研究動機</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097280" y="1997840"/>
            <a:ext cx="8173720" cy="2862322"/>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一般使用者除了需要容易理解的答案，也需要可靠且可查證的資訊</a:t>
            </a:r>
            <a:r>
              <a:rPr sz="1800" b="0" i="0" u="none" cap="none" dirty="0">
                <a:ln>
                  <a:noFill/>
                </a:ln>
                <a:solidFill>
                  <a:schemeClr val="tx1"/>
                </a:solidFill>
                <a:latin typeface="Arial"/>
                <a:ea typeface="Arial"/>
                <a:cs typeface="Arial"/>
              </a:rPr>
              <a:t>。</a:t>
            </a: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加入外部資料不一定能讓回答變好，效果取決於檢索資料是否真正相關</a:t>
            </a:r>
            <a:r>
              <a:rPr sz="1800" b="0" i="0" u="none" cap="none" dirty="0">
                <a:ln>
                  <a:noFill/>
                </a:ln>
                <a:solidFill>
                  <a:schemeClr val="tx1"/>
                </a:solidFill>
                <a:latin typeface="Arial"/>
                <a:ea typeface="Arial"/>
                <a:cs typeface="Arial"/>
              </a:rPr>
              <a:t>。</a:t>
            </a: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因此，本研究比較</a:t>
            </a:r>
            <a:r>
              <a:rPr sz="1800" b="0" i="0" u="none" cap="none" dirty="0">
                <a:ln>
                  <a:noFill/>
                </a:ln>
                <a:solidFill>
                  <a:schemeClr val="tx1"/>
                </a:solidFill>
                <a:latin typeface="Arial"/>
                <a:ea typeface="Arial"/>
                <a:cs typeface="Arial"/>
              </a:rPr>
              <a:t>：</a:t>
            </a: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A組：純大型語言模型</a:t>
            </a:r>
            <a:endParaRPr sz="1800" b="0" i="0" u="none" cap="none"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B組：大型語言模型＋外部資料檢索</a:t>
            </a: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8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800" b="0" i="0" u="none" cap="none" dirty="0" err="1">
                <a:ln>
                  <a:noFill/>
                </a:ln>
                <a:solidFill>
                  <a:schemeClr val="tx1"/>
                </a:solidFill>
                <a:latin typeface="Arial"/>
                <a:ea typeface="Arial"/>
                <a:cs typeface="Arial"/>
              </a:rPr>
              <a:t>目的是確認加入病例或可信健康資訊後，能否提升回答品質與資料可信度</a:t>
            </a:r>
            <a:r>
              <a:rPr sz="1800" b="0" i="0" u="none" cap="none" dirty="0">
                <a:ln>
                  <a:noFill/>
                </a:ln>
                <a:solidFill>
                  <a:schemeClr val="tx1"/>
                </a:solidFill>
                <a:latin typeface="Arial"/>
                <a:ea typeface="Arial"/>
                <a:cs typeface="Arial"/>
              </a:rPr>
              <a:t>。</a:t>
            </a:r>
          </a:p>
        </p:txBody>
      </p:sp>
    </p:spTree>
    <p:extLst>
      <p:ext uri="{BB962C8B-B14F-4D97-AF65-F5344CB8AC3E}">
        <p14:creationId xmlns:p14="http://schemas.microsoft.com/office/powerpoint/2010/main" val="1149801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80" y="481298"/>
            <a:ext cx="9088088" cy="797147"/>
          </a:xfrm>
        </p:spPr>
        <p:txBody>
          <a:bodyPr>
            <a:normAutofit/>
          </a:bodyPr>
          <a:lstStyle/>
          <a:p>
            <a:r>
              <a:rPr sz="3600"/>
              <a:t>目前研究面對的問題</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097279" y="1767607"/>
            <a:ext cx="10315788" cy="4524315"/>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問題一：純LLM的回答缺少可確認的依據</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純LLM可以直接回答問題，但使用者通常不知道</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答案根據什麼資料產生</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回答是否符合資料集標準答案</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模型是否加入了來源沒有提到的內容</a:t>
            </a:r>
            <a:r>
              <a:rPr sz="1600" b="0" i="0" u="none" cap="none" dirty="0">
                <a:ln>
                  <a:noFill/>
                </a:ln>
                <a:solidFill>
                  <a:schemeClr val="tx1"/>
                </a:solidFill>
                <a:latin typeface="Arial"/>
                <a:ea typeface="Arial"/>
                <a:cs typeface="Arial"/>
              </a:rPr>
              <a:t>。</a:t>
            </a: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因此需要比較「純LLM」與「有外部資料輔助的LLM</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問題二：加入檢索不一定就會改善回答</a:t>
            </a: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檢索系統可能找出相關資料，也可能只找到文字相似、實際判斷卻不同的資料</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例如中醫病例可能症狀相似，但病機或證型不同。因此不能直接假設檢索一定有效，必須透過實驗驗證</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問題三：不同任務需要不同的外部資料</a:t>
            </a:r>
            <a:endParaRPr sz="1600" b="0" i="0" u="none" cap="none"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本研究處理兩個獨立任務</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中醫辨證需要參考相似病例</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西醫健康問答需要參考標準術語及可信健康資訊</a:t>
            </a:r>
            <a:r>
              <a:rPr sz="1600" b="0" i="0" u="none" cap="none" dirty="0">
                <a:ln>
                  <a:noFill/>
                </a:ln>
                <a:solidFill>
                  <a:schemeClr val="tx1"/>
                </a:solidFill>
                <a:latin typeface="Arial"/>
                <a:ea typeface="Arial"/>
                <a:cs typeface="Arial"/>
              </a:rPr>
              <a:t>。</a:t>
            </a:r>
          </a:p>
        </p:txBody>
      </p:sp>
    </p:spTree>
    <p:extLst>
      <p:ext uri="{BB962C8B-B14F-4D97-AF65-F5344CB8AC3E}">
        <p14:creationId xmlns:p14="http://schemas.microsoft.com/office/powerpoint/2010/main" val="99087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80" y="481298"/>
            <a:ext cx="9088088" cy="797147"/>
          </a:xfrm>
        </p:spPr>
        <p:txBody>
          <a:bodyPr>
            <a:normAutofit/>
          </a:bodyPr>
          <a:lstStyle/>
          <a:p>
            <a:r>
              <a:rPr sz="3600"/>
              <a:t>研究主線問題</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097279" y="2136938"/>
            <a:ext cx="10315788" cy="3785652"/>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在使用相同大型語言模型的情況下，加入外部資料檢索是否能改善中醫辨證及西醫健康資訊問答的回答品質</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RQ1：中醫辨證</a:t>
            </a: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在TCMEval-SDT中，加入訓練病例檢索後，模型在臨床資訊抽取、病機選擇、證型選擇及解釋生成方面，是否優於純LLM</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RQ2：西醫健康資訊問答</a:t>
            </a: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加入SNOMED</a:t>
            </a:r>
            <a:r>
              <a:rPr sz="1600" b="0" i="0" u="none" cap="none" dirty="0">
                <a:ln>
                  <a:noFill/>
                </a:ln>
                <a:solidFill>
                  <a:schemeClr val="tx1"/>
                </a:solidFill>
                <a:latin typeface="Arial"/>
                <a:ea typeface="Arial"/>
                <a:cs typeface="Arial"/>
              </a:rPr>
              <a:t> </a:t>
            </a:r>
            <a:r>
              <a:rPr sz="1600" b="0" i="0" u="none" cap="none" dirty="0" err="1">
                <a:ln>
                  <a:noFill/>
                </a:ln>
                <a:solidFill>
                  <a:schemeClr val="tx1"/>
                </a:solidFill>
                <a:latin typeface="Arial"/>
                <a:ea typeface="Arial"/>
                <a:cs typeface="Arial"/>
              </a:rPr>
              <a:t>CT與MedlinePlus資料後，模型能否產生事實涵蓋較完整、較有證據支持、具有正確來源且容易理解的健康資訊回答</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RQ3：檢索效果為什麼不同</a:t>
            </a: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檢索資料的相關程度，是否會影響檢索增強模型的最終回答品質</a:t>
            </a:r>
            <a:r>
              <a:rPr sz="1600" b="0" i="0" u="none" cap="none" dirty="0">
                <a:ln>
                  <a:noFill/>
                </a:ln>
                <a:solidFill>
                  <a:schemeClr val="tx1"/>
                </a:solidFill>
                <a:latin typeface="Arial"/>
                <a:ea typeface="Arial"/>
                <a:cs typeface="Arial"/>
              </a:rPr>
              <a:t>？</a:t>
            </a:r>
          </a:p>
          <a:p>
            <a:pPr marL="0" marR="0" lvl="0" indent="0" algn="l" defTabSz="914400">
              <a:lnSpc>
                <a:spcPct val="100000"/>
              </a:lnSpc>
              <a:spcBef>
                <a:spcPct val="0"/>
              </a:spcBef>
              <a:spcAft>
                <a:spcPct val="0"/>
              </a:spcAft>
              <a:buClrTx/>
              <a:buSzTx/>
              <a:buFontTx/>
              <a:buChar char="•"/>
            </a:pPr>
            <a:endParaRPr sz="1600" b="0" i="0" u="none" cap="none" baseline="0" dirty="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r>
              <a:rPr sz="1600" b="0" i="0" u="none" cap="none" dirty="0">
                <a:ln>
                  <a:noFill/>
                </a:ln>
                <a:solidFill>
                  <a:schemeClr val="tx1"/>
                </a:solidFill>
                <a:latin typeface="Arial"/>
                <a:ea typeface="Arial"/>
                <a:cs typeface="Arial"/>
              </a:rPr>
              <a:t>RQ4：一般使用者評價</a:t>
            </a:r>
          </a:p>
          <a:p>
            <a:pPr marL="0" marR="0" lvl="0" indent="0" algn="l" defTabSz="914400">
              <a:lnSpc>
                <a:spcPct val="100000"/>
              </a:lnSpc>
              <a:spcBef>
                <a:spcPct val="0"/>
              </a:spcBef>
              <a:spcAft>
                <a:spcPct val="0"/>
              </a:spcAft>
              <a:buClrTx/>
              <a:buSzTx/>
              <a:buFontTx/>
              <a:buChar char="•"/>
            </a:pPr>
            <a:r>
              <a:rPr sz="1600" b="0" i="0" u="none" cap="none" dirty="0" err="1">
                <a:ln>
                  <a:noFill/>
                </a:ln>
                <a:solidFill>
                  <a:schemeClr val="tx1"/>
                </a:solidFill>
                <a:latin typeface="Arial"/>
                <a:ea typeface="Arial"/>
                <a:cs typeface="Arial"/>
              </a:rPr>
              <a:t>一般使用者是否認為加入外部資料的回答比較容易理解、完整且值得信任</a:t>
            </a:r>
            <a:r>
              <a:rPr sz="1600" b="0" i="0" u="none" cap="none" dirty="0">
                <a:ln>
                  <a:noFill/>
                </a:ln>
                <a:solidFill>
                  <a:schemeClr val="tx1"/>
                </a:solidFill>
                <a:latin typeface="Arial"/>
                <a:ea typeface="Arial"/>
                <a:cs typeface="Arial"/>
              </a:rPr>
              <a:t>？</a:t>
            </a:r>
          </a:p>
        </p:txBody>
      </p:sp>
    </p:spTree>
    <p:extLst>
      <p:ext uri="{BB962C8B-B14F-4D97-AF65-F5344CB8AC3E}">
        <p14:creationId xmlns:p14="http://schemas.microsoft.com/office/powerpoint/2010/main" val="350242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1">
            <a:extLst>
              <a:ext uri="{FF2B5EF4-FFF2-40B4-BE49-F238E27FC236}">
                <a16:creationId xmlns:a16="http://schemas.microsoft.com/office/drawing/2014/main" id="{505DC023-ECDD-4885-808E-8973A41AAEA2}"/>
              </a:ext>
            </a:extLst>
          </p:cNvPr>
          <p:cNvSpPr>
            <a:spLocks noGrp="1"/>
          </p:cNvSpPr>
          <p:nvPr>
            <p:ph type="title"/>
          </p:nvPr>
        </p:nvSpPr>
        <p:spPr>
          <a:xfrm>
            <a:off x="1097280" y="481298"/>
            <a:ext cx="9088088" cy="797147"/>
          </a:xfrm>
        </p:spPr>
        <p:txBody>
          <a:bodyPr/>
          <a:lstStyle/>
          <a:p>
            <a:r>
              <a:t>完整系統架構</a:t>
            </a:r>
          </a:p>
        </p:txBody>
      </p:sp>
      <p:sp>
        <p:nvSpPr>
          <p:cNvPr id="57" name="矩形 56">
            <a:extLst>
              <a:ext uri="{FF2B5EF4-FFF2-40B4-BE49-F238E27FC236}">
                <a16:creationId xmlns:a16="http://schemas.microsoft.com/office/drawing/2014/main" id="{F51EA395-4160-449D-A4D1-66A6DEF3F2C1}"/>
              </a:ext>
            </a:extLst>
          </p:cNvPr>
          <p:cNvSpPr>
            <a:spLocks noGrp="1"/>
          </p:cNvSpPr>
          <p:nvPr/>
        </p:nvSpPr>
        <p:spPr>
          <a:xfrm>
            <a:off x="523875" y="1751747"/>
            <a:ext cx="6324600" cy="209550"/>
          </a:xfrm>
          <a:prstGeom prst="rect">
            <a:avLst/>
          </a:prstGeom>
          <a:noFill/>
          <a:ln w="0">
            <a:noFill/>
          </a:ln>
        </p:spPr>
        <p:txBody>
          <a:bodyPr wrap="square" lIns="47625" tIns="28575" rIns="47625" bIns="28575" anchor="ctr">
            <a:noAutofit/>
          </a:bodyPr>
          <a:lstStyle/>
          <a:p>
            <a:pPr algn="l">
              <a:buNone/>
              <a:defRPr sz="975" b="1">
                <a:solidFill>
                  <a:srgbClr val="865640"/>
                </a:solidFill>
                <a:latin typeface="Calibri"/>
                <a:ea typeface="Calibri"/>
                <a:cs typeface="Calibri"/>
              </a:defRPr>
            </a:pPr>
            <a:r>
              <a:rPr sz="975" b="1">
                <a:solidFill>
                  <a:srgbClr val="865640"/>
                </a:solidFill>
                <a:latin typeface="Calibri"/>
                <a:ea typeface="Calibri"/>
                <a:cs typeface="Calibri"/>
              </a:rPr>
              <a:t>離線資料建置</a:t>
            </a:r>
          </a:p>
        </p:txBody>
      </p:sp>
      <p:sp>
        <p:nvSpPr>
          <p:cNvPr id="58" name="矩形 57">
            <a:extLst>
              <a:ext uri="{FF2B5EF4-FFF2-40B4-BE49-F238E27FC236}">
                <a16:creationId xmlns:a16="http://schemas.microsoft.com/office/drawing/2014/main" id="{0F04CF3A-9862-416B-9039-BF9518949594}"/>
              </a:ext>
            </a:extLst>
          </p:cNvPr>
          <p:cNvSpPr>
            <a:spLocks noGrp="1"/>
          </p:cNvSpPr>
          <p:nvPr/>
        </p:nvSpPr>
        <p:spPr>
          <a:xfrm>
            <a:off x="523875" y="1961297"/>
            <a:ext cx="6324600" cy="19050"/>
          </a:xfrm>
          <a:prstGeom prst="rect">
            <a:avLst/>
          </a:prstGeom>
          <a:solidFill>
            <a:srgbClr val="865640"/>
          </a:solidFill>
          <a:ln w="0">
            <a:solidFill>
              <a:srgbClr val="865640"/>
            </a:solidFill>
          </a:ln>
        </p:spPr>
      </p:sp>
      <p:sp>
        <p:nvSpPr>
          <p:cNvPr id="59" name="矩形 58">
            <a:extLst>
              <a:ext uri="{FF2B5EF4-FFF2-40B4-BE49-F238E27FC236}">
                <a16:creationId xmlns:a16="http://schemas.microsoft.com/office/drawing/2014/main" id="{E8392CD4-68AB-4E25-B9A5-1B9220376C8D}"/>
              </a:ext>
            </a:extLst>
          </p:cNvPr>
          <p:cNvSpPr>
            <a:spLocks noGrp="1"/>
          </p:cNvSpPr>
          <p:nvPr/>
        </p:nvSpPr>
        <p:spPr>
          <a:xfrm>
            <a:off x="7298111" y="1751747"/>
            <a:ext cx="4067175" cy="209550"/>
          </a:xfrm>
          <a:prstGeom prst="rect">
            <a:avLst/>
          </a:prstGeom>
          <a:noFill/>
          <a:ln w="0">
            <a:noFill/>
          </a:ln>
        </p:spPr>
        <p:txBody>
          <a:bodyPr wrap="square" lIns="47625" tIns="28575" rIns="47625" bIns="28575" anchor="ctr">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線上問題處理與輸出</a:t>
            </a:r>
          </a:p>
        </p:txBody>
      </p:sp>
      <p:sp>
        <p:nvSpPr>
          <p:cNvPr id="60" name="矩形 59">
            <a:extLst>
              <a:ext uri="{FF2B5EF4-FFF2-40B4-BE49-F238E27FC236}">
                <a16:creationId xmlns:a16="http://schemas.microsoft.com/office/drawing/2014/main" id="{C2BED3C3-B585-40BB-8E29-87B50C11E661}"/>
              </a:ext>
            </a:extLst>
          </p:cNvPr>
          <p:cNvSpPr>
            <a:spLocks noGrp="1"/>
          </p:cNvSpPr>
          <p:nvPr/>
        </p:nvSpPr>
        <p:spPr>
          <a:xfrm>
            <a:off x="7296150" y="1961297"/>
            <a:ext cx="4067175" cy="19050"/>
          </a:xfrm>
          <a:prstGeom prst="rect">
            <a:avLst/>
          </a:prstGeom>
          <a:solidFill>
            <a:srgbClr val="E48312"/>
          </a:solidFill>
          <a:ln w="0">
            <a:solidFill>
              <a:srgbClr val="E48312"/>
            </a:solidFill>
          </a:ln>
        </p:spPr>
      </p:sp>
      <p:sp>
        <p:nvSpPr>
          <p:cNvPr id="61" name="矩形 60">
            <a:extLst>
              <a:ext uri="{FF2B5EF4-FFF2-40B4-BE49-F238E27FC236}">
                <a16:creationId xmlns:a16="http://schemas.microsoft.com/office/drawing/2014/main" id="{8E5B02FD-909B-49E7-B363-B7030620E7A6}"/>
              </a:ext>
            </a:extLst>
          </p:cNvPr>
          <p:cNvSpPr>
            <a:spLocks noGrp="1"/>
          </p:cNvSpPr>
          <p:nvPr/>
        </p:nvSpPr>
        <p:spPr>
          <a:xfrm>
            <a:off x="523875" y="2037497"/>
            <a:ext cx="1809750" cy="238125"/>
          </a:xfrm>
          <a:prstGeom prst="rect">
            <a:avLst/>
          </a:prstGeom>
          <a:noFill/>
          <a:ln w="0">
            <a:noFill/>
          </a:ln>
        </p:spPr>
        <p:txBody>
          <a:bodyPr wrap="square" lIns="47625" tIns="28575" rIns="47625" bIns="28575" anchor="ctr">
            <a:noAutofit/>
          </a:bodyPr>
          <a:lstStyle/>
          <a:p>
            <a:pPr algn="ctr">
              <a:buNone/>
              <a:defRPr sz="900" b="1">
                <a:solidFill>
                  <a:srgbClr val="865640"/>
                </a:solidFill>
                <a:latin typeface="Calibri"/>
                <a:ea typeface="Calibri"/>
                <a:cs typeface="Calibri"/>
              </a:defRPr>
            </a:pPr>
            <a:r>
              <a:rPr sz="900" b="1">
                <a:solidFill>
                  <a:srgbClr val="865640"/>
                </a:solidFill>
                <a:latin typeface="Calibri"/>
                <a:ea typeface="Calibri"/>
                <a:cs typeface="Calibri"/>
              </a:rPr>
              <a:t>01  原始資料集</a:t>
            </a:r>
          </a:p>
        </p:txBody>
      </p:sp>
      <p:sp>
        <p:nvSpPr>
          <p:cNvPr id="62" name="矩形 61">
            <a:extLst>
              <a:ext uri="{FF2B5EF4-FFF2-40B4-BE49-F238E27FC236}">
                <a16:creationId xmlns:a16="http://schemas.microsoft.com/office/drawing/2014/main" id="{853F26A6-6740-4420-A3E6-47DDCCD744D9}"/>
              </a:ext>
            </a:extLst>
          </p:cNvPr>
          <p:cNvSpPr>
            <a:spLocks noGrp="1"/>
          </p:cNvSpPr>
          <p:nvPr/>
        </p:nvSpPr>
        <p:spPr>
          <a:xfrm>
            <a:off x="2781300" y="2037497"/>
            <a:ext cx="1809750" cy="238125"/>
          </a:xfrm>
          <a:prstGeom prst="rect">
            <a:avLst/>
          </a:prstGeom>
          <a:noFill/>
          <a:ln w="0">
            <a:noFill/>
          </a:ln>
        </p:spPr>
        <p:txBody>
          <a:bodyPr wrap="square" lIns="47625" tIns="28575" rIns="47625" bIns="28575" anchor="ctr">
            <a:noAutofit/>
          </a:bodyPr>
          <a:lstStyle/>
          <a:p>
            <a:pPr algn="ctr">
              <a:buNone/>
              <a:defRPr sz="900" b="1">
                <a:solidFill>
                  <a:srgbClr val="865640"/>
                </a:solidFill>
                <a:latin typeface="Calibri"/>
                <a:ea typeface="Calibri"/>
                <a:cs typeface="Calibri"/>
              </a:defRPr>
            </a:pPr>
            <a:r>
              <a:rPr sz="900" b="1">
                <a:solidFill>
                  <a:srgbClr val="865640"/>
                </a:solidFill>
                <a:latin typeface="Calibri"/>
                <a:ea typeface="Calibri"/>
                <a:cs typeface="Calibri"/>
              </a:rPr>
              <a:t>02  資料前處理</a:t>
            </a:r>
          </a:p>
        </p:txBody>
      </p:sp>
      <p:sp>
        <p:nvSpPr>
          <p:cNvPr id="63" name="矩形 62">
            <a:extLst>
              <a:ext uri="{FF2B5EF4-FFF2-40B4-BE49-F238E27FC236}">
                <a16:creationId xmlns:a16="http://schemas.microsoft.com/office/drawing/2014/main" id="{B81E4109-C473-4F8F-93A6-06DF39096B60}"/>
              </a:ext>
            </a:extLst>
          </p:cNvPr>
          <p:cNvSpPr>
            <a:spLocks noGrp="1"/>
          </p:cNvSpPr>
          <p:nvPr/>
        </p:nvSpPr>
        <p:spPr>
          <a:xfrm>
            <a:off x="5038725" y="2037497"/>
            <a:ext cx="1809750" cy="238125"/>
          </a:xfrm>
          <a:prstGeom prst="rect">
            <a:avLst/>
          </a:prstGeom>
          <a:noFill/>
          <a:ln w="0">
            <a:noFill/>
          </a:ln>
        </p:spPr>
        <p:txBody>
          <a:bodyPr wrap="square" lIns="47625" tIns="28575" rIns="47625" bIns="28575" anchor="ctr">
            <a:noAutofit/>
          </a:bodyPr>
          <a:lstStyle/>
          <a:p>
            <a:pPr algn="ctr">
              <a:buNone/>
              <a:defRPr sz="900" b="1">
                <a:solidFill>
                  <a:srgbClr val="865640"/>
                </a:solidFill>
                <a:latin typeface="Calibri"/>
                <a:ea typeface="Calibri"/>
                <a:cs typeface="Calibri"/>
              </a:defRPr>
            </a:pPr>
            <a:r>
              <a:rPr sz="900" b="1">
                <a:solidFill>
                  <a:srgbClr val="865640"/>
                </a:solidFill>
                <a:latin typeface="Calibri"/>
                <a:ea typeface="Calibri"/>
                <a:cs typeface="Calibri"/>
              </a:rPr>
              <a:t>03  知識／檢索庫</a:t>
            </a:r>
          </a:p>
        </p:txBody>
      </p:sp>
      <p:sp>
        <p:nvSpPr>
          <p:cNvPr id="64" name="矩形 63">
            <a:extLst>
              <a:ext uri="{FF2B5EF4-FFF2-40B4-BE49-F238E27FC236}">
                <a16:creationId xmlns:a16="http://schemas.microsoft.com/office/drawing/2014/main" id="{CF2D9F34-E577-4699-AD41-2CED58D3EE62}"/>
              </a:ext>
            </a:extLst>
          </p:cNvPr>
          <p:cNvSpPr>
            <a:spLocks noGrp="1"/>
          </p:cNvSpPr>
          <p:nvPr/>
        </p:nvSpPr>
        <p:spPr>
          <a:xfrm>
            <a:off x="7296150" y="2037497"/>
            <a:ext cx="1809750" cy="238125"/>
          </a:xfrm>
          <a:prstGeom prst="rect">
            <a:avLst/>
          </a:prstGeom>
          <a:noFill/>
          <a:ln w="0">
            <a:noFill/>
          </a:ln>
        </p:spPr>
        <p:txBody>
          <a:bodyPr wrap="square" lIns="47625" tIns="28575" rIns="47625" bIns="28575" anchor="ctr">
            <a:noAutofit/>
          </a:bodyPr>
          <a:lstStyle/>
          <a:p>
            <a:pPr algn="ctr">
              <a:buNone/>
              <a:defRPr sz="900" b="1">
                <a:solidFill>
                  <a:srgbClr val="6F6F6F"/>
                </a:solidFill>
                <a:latin typeface="Calibri"/>
                <a:ea typeface="Calibri"/>
                <a:cs typeface="Calibri"/>
              </a:defRPr>
            </a:pPr>
            <a:r>
              <a:rPr sz="900" b="1">
                <a:solidFill>
                  <a:srgbClr val="6F6F6F"/>
                </a:solidFill>
                <a:latin typeface="Calibri"/>
                <a:ea typeface="Calibri"/>
                <a:cs typeface="Calibri"/>
              </a:rPr>
              <a:t>04  問題與檢索</a:t>
            </a:r>
          </a:p>
        </p:txBody>
      </p:sp>
      <p:sp>
        <p:nvSpPr>
          <p:cNvPr id="65" name="矩形 64">
            <a:extLst>
              <a:ext uri="{FF2B5EF4-FFF2-40B4-BE49-F238E27FC236}">
                <a16:creationId xmlns:a16="http://schemas.microsoft.com/office/drawing/2014/main" id="{C65B7D95-A1E1-460B-B066-9FF5E4E3C29D}"/>
              </a:ext>
            </a:extLst>
          </p:cNvPr>
          <p:cNvSpPr>
            <a:spLocks noGrp="1"/>
          </p:cNvSpPr>
          <p:nvPr/>
        </p:nvSpPr>
        <p:spPr>
          <a:xfrm>
            <a:off x="9553575" y="2037497"/>
            <a:ext cx="1809750" cy="238125"/>
          </a:xfrm>
          <a:prstGeom prst="rect">
            <a:avLst/>
          </a:prstGeom>
          <a:noFill/>
          <a:ln w="0">
            <a:noFill/>
          </a:ln>
        </p:spPr>
        <p:txBody>
          <a:bodyPr wrap="square" lIns="47625" tIns="28575" rIns="47625" bIns="28575" anchor="ctr">
            <a:noAutofit/>
          </a:bodyPr>
          <a:lstStyle/>
          <a:p>
            <a:pPr algn="ctr">
              <a:buNone/>
              <a:defRPr sz="900" b="1">
                <a:solidFill>
                  <a:srgbClr val="6F6F6F"/>
                </a:solidFill>
                <a:latin typeface="Calibri"/>
                <a:ea typeface="Calibri"/>
                <a:cs typeface="Calibri"/>
              </a:defRPr>
            </a:pPr>
            <a:r>
              <a:rPr sz="900" b="1">
                <a:solidFill>
                  <a:srgbClr val="6F6F6F"/>
                </a:solidFill>
                <a:latin typeface="Calibri"/>
                <a:ea typeface="Calibri"/>
                <a:cs typeface="Calibri"/>
              </a:rPr>
              <a:t>05  LLM回答與評估</a:t>
            </a:r>
          </a:p>
        </p:txBody>
      </p:sp>
      <p:sp>
        <p:nvSpPr>
          <p:cNvPr id="66" name="矩形 65">
            <a:extLst>
              <a:ext uri="{FF2B5EF4-FFF2-40B4-BE49-F238E27FC236}">
                <a16:creationId xmlns:a16="http://schemas.microsoft.com/office/drawing/2014/main" id="{8B4B8597-133C-40AF-B8A3-BF26A8C5CFD7}"/>
              </a:ext>
            </a:extLst>
          </p:cNvPr>
          <p:cNvSpPr>
            <a:spLocks noGrp="1"/>
          </p:cNvSpPr>
          <p:nvPr/>
        </p:nvSpPr>
        <p:spPr>
          <a:xfrm>
            <a:off x="161925" y="2818547"/>
            <a:ext cx="304800" cy="495300"/>
          </a:xfrm>
          <a:prstGeom prst="rect">
            <a:avLst/>
          </a:prstGeom>
          <a:noFill/>
          <a:ln w="0">
            <a:noFill/>
          </a:ln>
        </p:spPr>
        <p:txBody>
          <a:bodyPr wrap="square" lIns="47625" tIns="28575" rIns="47625" bIns="28575" anchor="ctr">
            <a:noAutofit/>
          </a:bodyPr>
          <a:lstStyle/>
          <a:p>
            <a:pPr algn="ctr">
              <a:buNone/>
              <a:defRPr sz="1350" b="1">
                <a:solidFill>
                  <a:srgbClr val="4F9FC8"/>
                </a:solidFill>
                <a:latin typeface="Calibri"/>
                <a:ea typeface="Calibri"/>
                <a:cs typeface="Calibri"/>
              </a:defRPr>
            </a:pPr>
            <a:r>
              <a:rPr sz="1350" b="1">
                <a:solidFill>
                  <a:srgbClr val="4F9FC8"/>
                </a:solidFill>
                <a:latin typeface="Calibri"/>
                <a:ea typeface="Calibri"/>
                <a:cs typeface="Calibri"/>
              </a:rPr>
              <a:t>西醫</a:t>
            </a:r>
          </a:p>
        </p:txBody>
      </p:sp>
      <p:sp>
        <p:nvSpPr>
          <p:cNvPr id="67" name="矩形 66">
            <a:extLst>
              <a:ext uri="{FF2B5EF4-FFF2-40B4-BE49-F238E27FC236}">
                <a16:creationId xmlns:a16="http://schemas.microsoft.com/office/drawing/2014/main" id="{84AE26A8-AFE5-41B0-94F4-A2DED804F0BB}"/>
              </a:ext>
            </a:extLst>
          </p:cNvPr>
          <p:cNvSpPr>
            <a:spLocks noGrp="1"/>
          </p:cNvSpPr>
          <p:nvPr/>
        </p:nvSpPr>
        <p:spPr>
          <a:xfrm>
            <a:off x="161925" y="4704497"/>
            <a:ext cx="304800" cy="495300"/>
          </a:xfrm>
          <a:prstGeom prst="rect">
            <a:avLst/>
          </a:prstGeom>
          <a:noFill/>
          <a:ln w="0">
            <a:noFill/>
          </a:ln>
        </p:spPr>
        <p:txBody>
          <a:bodyPr wrap="square" lIns="47625" tIns="28575" rIns="47625" bIns="28575" anchor="ctr">
            <a:noAutofit/>
          </a:bodyPr>
          <a:lstStyle/>
          <a:p>
            <a:pPr algn="ctr">
              <a:buNone/>
              <a:defRPr sz="1350" b="1">
                <a:solidFill>
                  <a:srgbClr val="5CA884"/>
                </a:solidFill>
                <a:latin typeface="Calibri"/>
                <a:ea typeface="Calibri"/>
                <a:cs typeface="Calibri"/>
              </a:defRPr>
            </a:pPr>
            <a:r>
              <a:rPr sz="1350" b="1">
                <a:solidFill>
                  <a:srgbClr val="5CA884"/>
                </a:solidFill>
                <a:latin typeface="Calibri"/>
                <a:ea typeface="Calibri"/>
                <a:cs typeface="Calibri"/>
              </a:rPr>
              <a:t>中醫</a:t>
            </a:r>
          </a:p>
        </p:txBody>
      </p:sp>
      <p:sp>
        <p:nvSpPr>
          <p:cNvPr id="68" name="矩形: 圓角 67">
            <a:extLst>
              <a:ext uri="{FF2B5EF4-FFF2-40B4-BE49-F238E27FC236}">
                <a16:creationId xmlns:a16="http://schemas.microsoft.com/office/drawing/2014/main" id="{5F9228F9-A09F-4BC9-A242-0BFC30BAC642}"/>
              </a:ext>
            </a:extLst>
          </p:cNvPr>
          <p:cNvSpPr>
            <a:spLocks noGrp="1"/>
          </p:cNvSpPr>
          <p:nvPr/>
        </p:nvSpPr>
        <p:spPr>
          <a:xfrm>
            <a:off x="523875" y="2361347"/>
            <a:ext cx="1809750" cy="1447800"/>
          </a:xfrm>
          <a:prstGeom prst="roundRect">
            <a:avLst>
              <a:gd name="adj" fmla="val 5263"/>
            </a:avLst>
          </a:prstGeom>
          <a:solidFill>
            <a:srgbClr val="EAF5FA"/>
          </a:solidFill>
          <a:ln w="11906">
            <a:solidFill>
              <a:srgbClr val="4F9FC8"/>
            </a:solidFill>
          </a:ln>
        </p:spPr>
      </p:sp>
      <p:pic>
        <p:nvPicPr>
          <p:cNvPr id="154" name="圖片 142"/>
          <p:cNvPicPr>
            <a:picLocks noChangeAspect="1"/>
          </p:cNvPicPr>
          <p:nvPr/>
        </p:nvPicPr>
        <p:blipFill>
          <a:blip r:embed="rId3"/>
          <a:stretch/>
        </p:blipFill>
        <p:spPr>
          <a:xfrm>
            <a:off x="647700" y="2485172"/>
            <a:ext cx="323850" cy="323850"/>
          </a:xfrm>
          <a:prstGeom prst="rect">
            <a:avLst/>
          </a:prstGeom>
        </p:spPr>
      </p:pic>
      <p:sp>
        <p:nvSpPr>
          <p:cNvPr id="70" name="矩形 69">
            <a:extLst>
              <a:ext uri="{FF2B5EF4-FFF2-40B4-BE49-F238E27FC236}">
                <a16:creationId xmlns:a16="http://schemas.microsoft.com/office/drawing/2014/main" id="{CC979F6B-E7DA-4517-866E-716F350807A4}"/>
              </a:ext>
            </a:extLst>
          </p:cNvPr>
          <p:cNvSpPr>
            <a:spLocks noGrp="1"/>
          </p:cNvSpPr>
          <p:nvPr/>
        </p:nvSpPr>
        <p:spPr>
          <a:xfrm>
            <a:off x="1019175" y="2466122"/>
            <a:ext cx="1200150" cy="342900"/>
          </a:xfrm>
          <a:prstGeom prst="rect">
            <a:avLst/>
          </a:prstGeom>
          <a:noFill/>
          <a:ln w="0">
            <a:noFill/>
          </a:ln>
        </p:spPr>
        <p:txBody>
          <a:bodyPr wrap="square" lIns="47625" tIns="28575" rIns="47625" bIns="28575" anchor="ctr">
            <a:noAutofit/>
          </a:bodyPr>
          <a:lstStyle/>
          <a:p>
            <a:pPr algn="l">
              <a:buNone/>
              <a:defRPr sz="1125" b="1">
                <a:solidFill>
                  <a:srgbClr val="4F9FC8"/>
                </a:solidFill>
                <a:latin typeface="Calibri"/>
                <a:ea typeface="Calibri"/>
                <a:cs typeface="Calibri"/>
              </a:defRPr>
            </a:pPr>
            <a:r>
              <a:rPr sz="1125" b="1">
                <a:solidFill>
                  <a:srgbClr val="4F9FC8"/>
                </a:solidFill>
                <a:latin typeface="Calibri"/>
                <a:ea typeface="Calibri"/>
                <a:cs typeface="Calibri"/>
              </a:rPr>
              <a:t>西醫資料來源</a:t>
            </a:r>
          </a:p>
        </p:txBody>
      </p:sp>
      <p:sp>
        <p:nvSpPr>
          <p:cNvPr id="71" name="矩形 70">
            <a:extLst>
              <a:ext uri="{FF2B5EF4-FFF2-40B4-BE49-F238E27FC236}">
                <a16:creationId xmlns:a16="http://schemas.microsoft.com/office/drawing/2014/main" id="{6F0C9F89-E5D6-4117-A938-6C1FA674F018}"/>
              </a:ext>
            </a:extLst>
          </p:cNvPr>
          <p:cNvSpPr>
            <a:spLocks noGrp="1"/>
          </p:cNvSpPr>
          <p:nvPr/>
        </p:nvSpPr>
        <p:spPr>
          <a:xfrm>
            <a:off x="666750" y="2837597"/>
            <a:ext cx="1524000" cy="19050"/>
          </a:xfrm>
          <a:prstGeom prst="rect">
            <a:avLst/>
          </a:prstGeom>
          <a:solidFill>
            <a:srgbClr val="4F9FC8"/>
          </a:solidFill>
          <a:ln w="0">
            <a:solidFill>
              <a:srgbClr val="4F9FC8"/>
            </a:solidFill>
          </a:ln>
        </p:spPr>
      </p:sp>
      <p:sp>
        <p:nvSpPr>
          <p:cNvPr id="72" name="矩形 71">
            <a:extLst>
              <a:ext uri="{FF2B5EF4-FFF2-40B4-BE49-F238E27FC236}">
                <a16:creationId xmlns:a16="http://schemas.microsoft.com/office/drawing/2014/main" id="{50607E63-6871-4C1C-86F7-32D5FBC513B7}"/>
              </a:ext>
            </a:extLst>
          </p:cNvPr>
          <p:cNvSpPr>
            <a:spLocks noGrp="1"/>
          </p:cNvSpPr>
          <p:nvPr/>
        </p:nvSpPr>
        <p:spPr>
          <a:xfrm>
            <a:off x="619125" y="291379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MedlinePlus XML</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SNOMED CT三類資料</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概念、描述與關係</a:t>
            </a:r>
          </a:p>
        </p:txBody>
      </p:sp>
      <p:sp>
        <p:nvSpPr>
          <p:cNvPr id="73" name="矩形: 圓角 72">
            <a:extLst>
              <a:ext uri="{FF2B5EF4-FFF2-40B4-BE49-F238E27FC236}">
                <a16:creationId xmlns:a16="http://schemas.microsoft.com/office/drawing/2014/main" id="{64B6D10F-D0A7-458A-BDC6-E0D413ED97EE}"/>
              </a:ext>
            </a:extLst>
          </p:cNvPr>
          <p:cNvSpPr>
            <a:spLocks noGrp="1"/>
          </p:cNvSpPr>
          <p:nvPr/>
        </p:nvSpPr>
        <p:spPr>
          <a:xfrm>
            <a:off x="2781300" y="2361347"/>
            <a:ext cx="1809750" cy="1447800"/>
          </a:xfrm>
          <a:prstGeom prst="roundRect">
            <a:avLst>
              <a:gd name="adj" fmla="val 5263"/>
            </a:avLst>
          </a:prstGeom>
          <a:solidFill>
            <a:srgbClr val="EAF5FA"/>
          </a:solidFill>
          <a:ln w="11906">
            <a:solidFill>
              <a:srgbClr val="4F9FC8"/>
            </a:solidFill>
          </a:ln>
        </p:spPr>
      </p:sp>
      <p:pic>
        <p:nvPicPr>
          <p:cNvPr id="159" name="圖片 147"/>
          <p:cNvPicPr>
            <a:picLocks noChangeAspect="1"/>
          </p:cNvPicPr>
          <p:nvPr/>
        </p:nvPicPr>
        <p:blipFill>
          <a:blip r:embed="rId4"/>
          <a:stretch/>
        </p:blipFill>
        <p:spPr>
          <a:xfrm>
            <a:off x="2905125" y="2485172"/>
            <a:ext cx="323850" cy="323850"/>
          </a:xfrm>
          <a:prstGeom prst="rect">
            <a:avLst/>
          </a:prstGeom>
        </p:spPr>
      </p:pic>
      <p:sp>
        <p:nvSpPr>
          <p:cNvPr id="75" name="矩形 74">
            <a:extLst>
              <a:ext uri="{FF2B5EF4-FFF2-40B4-BE49-F238E27FC236}">
                <a16:creationId xmlns:a16="http://schemas.microsoft.com/office/drawing/2014/main" id="{DA046D65-EF9D-4259-AAF1-59BCFDA5A255}"/>
              </a:ext>
            </a:extLst>
          </p:cNvPr>
          <p:cNvSpPr>
            <a:spLocks noGrp="1"/>
          </p:cNvSpPr>
          <p:nvPr/>
        </p:nvSpPr>
        <p:spPr>
          <a:xfrm>
            <a:off x="3276600" y="2466122"/>
            <a:ext cx="1200150" cy="342900"/>
          </a:xfrm>
          <a:prstGeom prst="rect">
            <a:avLst/>
          </a:prstGeom>
          <a:noFill/>
          <a:ln w="0">
            <a:noFill/>
          </a:ln>
        </p:spPr>
        <p:txBody>
          <a:bodyPr wrap="square" lIns="47625" tIns="28575" rIns="47625" bIns="28575" anchor="ctr">
            <a:noAutofit/>
          </a:bodyPr>
          <a:lstStyle/>
          <a:p>
            <a:pPr algn="l">
              <a:buNone/>
              <a:defRPr sz="1125" b="1">
                <a:solidFill>
                  <a:srgbClr val="4F9FC8"/>
                </a:solidFill>
                <a:latin typeface="Calibri"/>
                <a:ea typeface="Calibri"/>
                <a:cs typeface="Calibri"/>
              </a:defRPr>
            </a:pPr>
            <a:r>
              <a:rPr sz="1125" b="1">
                <a:solidFill>
                  <a:srgbClr val="4F9FC8"/>
                </a:solidFill>
                <a:latin typeface="Calibri"/>
                <a:ea typeface="Calibri"/>
                <a:cs typeface="Calibri"/>
              </a:rPr>
              <a:t>清理與對照</a:t>
            </a:r>
          </a:p>
        </p:txBody>
      </p:sp>
      <p:sp>
        <p:nvSpPr>
          <p:cNvPr id="76" name="矩形 75">
            <a:extLst>
              <a:ext uri="{FF2B5EF4-FFF2-40B4-BE49-F238E27FC236}">
                <a16:creationId xmlns:a16="http://schemas.microsoft.com/office/drawing/2014/main" id="{62A1ADCE-C590-46D6-8B6A-44EA659E4EF0}"/>
              </a:ext>
            </a:extLst>
          </p:cNvPr>
          <p:cNvSpPr>
            <a:spLocks noGrp="1"/>
          </p:cNvSpPr>
          <p:nvPr/>
        </p:nvSpPr>
        <p:spPr>
          <a:xfrm>
            <a:off x="2924175" y="2837597"/>
            <a:ext cx="1524000" cy="19050"/>
          </a:xfrm>
          <a:prstGeom prst="rect">
            <a:avLst/>
          </a:prstGeom>
          <a:solidFill>
            <a:srgbClr val="4F9FC8"/>
          </a:solidFill>
          <a:ln w="0">
            <a:solidFill>
              <a:srgbClr val="4F9FC8"/>
            </a:solidFill>
          </a:ln>
        </p:spPr>
      </p:sp>
      <p:sp>
        <p:nvSpPr>
          <p:cNvPr id="77" name="矩形 76">
            <a:extLst>
              <a:ext uri="{FF2B5EF4-FFF2-40B4-BE49-F238E27FC236}">
                <a16:creationId xmlns:a16="http://schemas.microsoft.com/office/drawing/2014/main" id="{AAE135CD-F723-46C2-8730-C6B1229213D5}"/>
              </a:ext>
            </a:extLst>
          </p:cNvPr>
          <p:cNvSpPr>
            <a:spLocks noGrp="1"/>
          </p:cNvSpPr>
          <p:nvPr/>
        </p:nvSpPr>
        <p:spPr>
          <a:xfrm>
            <a:off x="2876550" y="291379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解析XML並保留英文主題</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整理有效概念、名稱與關係</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MedlinePlus Connect確認</a:t>
            </a:r>
          </a:p>
        </p:txBody>
      </p:sp>
      <p:sp>
        <p:nvSpPr>
          <p:cNvPr id="78" name="矩形: 圓角 77">
            <a:extLst>
              <a:ext uri="{FF2B5EF4-FFF2-40B4-BE49-F238E27FC236}">
                <a16:creationId xmlns:a16="http://schemas.microsoft.com/office/drawing/2014/main" id="{B87579A6-BE05-4BCA-B434-87C776A41E62}"/>
              </a:ext>
            </a:extLst>
          </p:cNvPr>
          <p:cNvSpPr>
            <a:spLocks noGrp="1"/>
          </p:cNvSpPr>
          <p:nvPr/>
        </p:nvSpPr>
        <p:spPr>
          <a:xfrm>
            <a:off x="5038725" y="2361347"/>
            <a:ext cx="1809750" cy="1447800"/>
          </a:xfrm>
          <a:prstGeom prst="roundRect">
            <a:avLst>
              <a:gd name="adj" fmla="val 5263"/>
            </a:avLst>
          </a:prstGeom>
          <a:solidFill>
            <a:srgbClr val="EAF5FA"/>
          </a:solidFill>
          <a:ln w="11906">
            <a:solidFill>
              <a:srgbClr val="4F9FC8"/>
            </a:solidFill>
          </a:ln>
        </p:spPr>
      </p:sp>
      <p:pic>
        <p:nvPicPr>
          <p:cNvPr id="164" name="圖片 152"/>
          <p:cNvPicPr>
            <a:picLocks noChangeAspect="1"/>
          </p:cNvPicPr>
          <p:nvPr/>
        </p:nvPicPr>
        <p:blipFill>
          <a:blip r:embed="rId5"/>
          <a:stretch/>
        </p:blipFill>
        <p:spPr>
          <a:xfrm>
            <a:off x="5162550" y="2485172"/>
            <a:ext cx="323850" cy="323850"/>
          </a:xfrm>
          <a:prstGeom prst="rect">
            <a:avLst/>
          </a:prstGeom>
        </p:spPr>
      </p:pic>
      <p:sp>
        <p:nvSpPr>
          <p:cNvPr id="80" name="矩形 79">
            <a:extLst>
              <a:ext uri="{FF2B5EF4-FFF2-40B4-BE49-F238E27FC236}">
                <a16:creationId xmlns:a16="http://schemas.microsoft.com/office/drawing/2014/main" id="{3372D3FB-DFAB-4B98-908C-A7682F34F12C}"/>
              </a:ext>
            </a:extLst>
          </p:cNvPr>
          <p:cNvSpPr>
            <a:spLocks noGrp="1"/>
          </p:cNvSpPr>
          <p:nvPr/>
        </p:nvSpPr>
        <p:spPr>
          <a:xfrm>
            <a:off x="5534025" y="2466122"/>
            <a:ext cx="1200150" cy="342900"/>
          </a:xfrm>
          <a:prstGeom prst="rect">
            <a:avLst/>
          </a:prstGeom>
          <a:noFill/>
          <a:ln w="0">
            <a:noFill/>
          </a:ln>
        </p:spPr>
        <p:txBody>
          <a:bodyPr wrap="square" lIns="47625" tIns="28575" rIns="47625" bIns="28575" anchor="ctr">
            <a:noAutofit/>
          </a:bodyPr>
          <a:lstStyle/>
          <a:p>
            <a:pPr algn="l">
              <a:buNone/>
              <a:defRPr sz="1125" b="1">
                <a:solidFill>
                  <a:srgbClr val="4F9FC8"/>
                </a:solidFill>
                <a:latin typeface="Calibri"/>
                <a:ea typeface="Calibri"/>
                <a:cs typeface="Calibri"/>
              </a:defRPr>
            </a:pPr>
            <a:r>
              <a:rPr sz="1125" b="1">
                <a:solidFill>
                  <a:srgbClr val="4F9FC8"/>
                </a:solidFill>
                <a:latin typeface="Calibri"/>
                <a:ea typeface="Calibri"/>
                <a:cs typeface="Calibri"/>
              </a:rPr>
              <a:t>西醫證據庫</a:t>
            </a:r>
          </a:p>
        </p:txBody>
      </p:sp>
      <p:sp>
        <p:nvSpPr>
          <p:cNvPr id="81" name="矩形 80">
            <a:extLst>
              <a:ext uri="{FF2B5EF4-FFF2-40B4-BE49-F238E27FC236}">
                <a16:creationId xmlns:a16="http://schemas.microsoft.com/office/drawing/2014/main" id="{BD36DF86-D373-4C67-A67F-DEBFF052016E}"/>
              </a:ext>
            </a:extLst>
          </p:cNvPr>
          <p:cNvSpPr>
            <a:spLocks noGrp="1"/>
          </p:cNvSpPr>
          <p:nvPr/>
        </p:nvSpPr>
        <p:spPr>
          <a:xfrm>
            <a:off x="5181600" y="2837597"/>
            <a:ext cx="1524000" cy="19050"/>
          </a:xfrm>
          <a:prstGeom prst="rect">
            <a:avLst/>
          </a:prstGeom>
          <a:solidFill>
            <a:srgbClr val="4F9FC8"/>
          </a:solidFill>
          <a:ln w="0">
            <a:solidFill>
              <a:srgbClr val="4F9FC8"/>
            </a:solidFill>
          </a:ln>
        </p:spPr>
      </p:sp>
      <p:sp>
        <p:nvSpPr>
          <p:cNvPr id="82" name="矩形 81">
            <a:extLst>
              <a:ext uri="{FF2B5EF4-FFF2-40B4-BE49-F238E27FC236}">
                <a16:creationId xmlns:a16="http://schemas.microsoft.com/office/drawing/2014/main" id="{B7C43C5D-8B1B-49D3-B99E-B840C918F771}"/>
              </a:ext>
            </a:extLst>
          </p:cNvPr>
          <p:cNvSpPr>
            <a:spLocks noGrp="1"/>
          </p:cNvSpPr>
          <p:nvPr/>
        </p:nvSpPr>
        <p:spPr>
          <a:xfrm>
            <a:off x="5133975" y="291379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516個合格健康主題</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SNOMED CT對照</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MedlinePlus摘要與來源網址</a:t>
            </a:r>
          </a:p>
        </p:txBody>
      </p:sp>
      <p:sp>
        <p:nvSpPr>
          <p:cNvPr id="83" name="矩形: 圓角 82">
            <a:extLst>
              <a:ext uri="{FF2B5EF4-FFF2-40B4-BE49-F238E27FC236}">
                <a16:creationId xmlns:a16="http://schemas.microsoft.com/office/drawing/2014/main" id="{2AE7E7E6-6A13-4900-8904-C5BEFE10D20C}"/>
              </a:ext>
            </a:extLst>
          </p:cNvPr>
          <p:cNvSpPr>
            <a:spLocks noGrp="1"/>
          </p:cNvSpPr>
          <p:nvPr/>
        </p:nvSpPr>
        <p:spPr>
          <a:xfrm>
            <a:off x="7296150" y="2361347"/>
            <a:ext cx="1809750" cy="1447800"/>
          </a:xfrm>
          <a:prstGeom prst="roundRect">
            <a:avLst>
              <a:gd name="adj" fmla="val 5263"/>
            </a:avLst>
          </a:prstGeom>
          <a:solidFill>
            <a:srgbClr val="EAF5FA"/>
          </a:solidFill>
          <a:ln w="11906">
            <a:solidFill>
              <a:srgbClr val="4F9FC8"/>
            </a:solidFill>
          </a:ln>
        </p:spPr>
      </p:sp>
      <p:pic>
        <p:nvPicPr>
          <p:cNvPr id="169" name="圖片 157"/>
          <p:cNvPicPr>
            <a:picLocks noChangeAspect="1"/>
          </p:cNvPicPr>
          <p:nvPr/>
        </p:nvPicPr>
        <p:blipFill>
          <a:blip r:embed="rId6"/>
          <a:stretch/>
        </p:blipFill>
        <p:spPr>
          <a:xfrm>
            <a:off x="7419975" y="2485172"/>
            <a:ext cx="323850" cy="323850"/>
          </a:xfrm>
          <a:prstGeom prst="rect">
            <a:avLst/>
          </a:prstGeom>
        </p:spPr>
      </p:pic>
      <p:sp>
        <p:nvSpPr>
          <p:cNvPr id="85" name="矩形 84">
            <a:extLst>
              <a:ext uri="{FF2B5EF4-FFF2-40B4-BE49-F238E27FC236}">
                <a16:creationId xmlns:a16="http://schemas.microsoft.com/office/drawing/2014/main" id="{6718DE9F-FF04-47B2-AB57-06097F6B1E95}"/>
              </a:ext>
            </a:extLst>
          </p:cNvPr>
          <p:cNvSpPr>
            <a:spLocks noGrp="1"/>
          </p:cNvSpPr>
          <p:nvPr/>
        </p:nvSpPr>
        <p:spPr>
          <a:xfrm>
            <a:off x="7791450" y="2466122"/>
            <a:ext cx="1200150" cy="342900"/>
          </a:xfrm>
          <a:prstGeom prst="rect">
            <a:avLst/>
          </a:prstGeom>
          <a:noFill/>
          <a:ln w="0">
            <a:noFill/>
          </a:ln>
        </p:spPr>
        <p:txBody>
          <a:bodyPr wrap="square" lIns="47625" tIns="28575" rIns="47625" bIns="28575" anchor="ctr">
            <a:noAutofit/>
          </a:bodyPr>
          <a:lstStyle/>
          <a:p>
            <a:pPr algn="l">
              <a:buNone/>
              <a:defRPr sz="1125" b="1">
                <a:solidFill>
                  <a:srgbClr val="4F9FC8"/>
                </a:solidFill>
                <a:latin typeface="Calibri"/>
                <a:ea typeface="Calibri"/>
                <a:cs typeface="Calibri"/>
              </a:defRPr>
            </a:pPr>
            <a:r>
              <a:rPr sz="1125" b="1">
                <a:solidFill>
                  <a:srgbClr val="4F9FC8"/>
                </a:solidFill>
                <a:latin typeface="Calibri"/>
                <a:ea typeface="Calibri"/>
                <a:cs typeface="Calibri"/>
              </a:rPr>
              <a:t>問題與證據檢索</a:t>
            </a:r>
          </a:p>
        </p:txBody>
      </p:sp>
      <p:sp>
        <p:nvSpPr>
          <p:cNvPr id="86" name="矩形 85">
            <a:extLst>
              <a:ext uri="{FF2B5EF4-FFF2-40B4-BE49-F238E27FC236}">
                <a16:creationId xmlns:a16="http://schemas.microsoft.com/office/drawing/2014/main" id="{E44DD527-8439-4D37-A0AE-3329278CBA46}"/>
              </a:ext>
            </a:extLst>
          </p:cNvPr>
          <p:cNvSpPr>
            <a:spLocks noGrp="1"/>
          </p:cNvSpPr>
          <p:nvPr/>
        </p:nvSpPr>
        <p:spPr>
          <a:xfrm>
            <a:off x="7439025" y="2837597"/>
            <a:ext cx="1524000" cy="19050"/>
          </a:xfrm>
          <a:prstGeom prst="rect">
            <a:avLst/>
          </a:prstGeom>
          <a:solidFill>
            <a:srgbClr val="4F9FC8"/>
          </a:solidFill>
          <a:ln w="0">
            <a:solidFill>
              <a:srgbClr val="4F9FC8"/>
            </a:solidFill>
          </a:ln>
        </p:spPr>
      </p:sp>
      <p:sp>
        <p:nvSpPr>
          <p:cNvPr id="87" name="矩形 86">
            <a:extLst>
              <a:ext uri="{FF2B5EF4-FFF2-40B4-BE49-F238E27FC236}">
                <a16:creationId xmlns:a16="http://schemas.microsoft.com/office/drawing/2014/main" id="{E10B33ED-7E0E-4220-BAFB-624D8F7B33D6}"/>
              </a:ext>
            </a:extLst>
          </p:cNvPr>
          <p:cNvSpPr>
            <a:spLocks noGrp="1"/>
          </p:cNvSpPr>
          <p:nvPr/>
        </p:nvSpPr>
        <p:spPr>
          <a:xfrm>
            <a:off x="7391400" y="291379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輸入英文固定模板問題</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依主題取得SNOMED CT概念</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檢索MedlinePlus標準證據</a:t>
            </a:r>
          </a:p>
        </p:txBody>
      </p:sp>
      <p:sp>
        <p:nvSpPr>
          <p:cNvPr id="88" name="矩形: 圓角 87">
            <a:extLst>
              <a:ext uri="{FF2B5EF4-FFF2-40B4-BE49-F238E27FC236}">
                <a16:creationId xmlns:a16="http://schemas.microsoft.com/office/drawing/2014/main" id="{83F6CEE1-3B3C-449D-96E7-110124E07711}"/>
              </a:ext>
            </a:extLst>
          </p:cNvPr>
          <p:cNvSpPr>
            <a:spLocks noGrp="1"/>
          </p:cNvSpPr>
          <p:nvPr/>
        </p:nvSpPr>
        <p:spPr>
          <a:xfrm>
            <a:off x="9553575" y="2361347"/>
            <a:ext cx="1809750" cy="1447800"/>
          </a:xfrm>
          <a:prstGeom prst="roundRect">
            <a:avLst>
              <a:gd name="adj" fmla="val 5263"/>
            </a:avLst>
          </a:prstGeom>
          <a:solidFill>
            <a:srgbClr val="FFF3E5"/>
          </a:solidFill>
          <a:ln w="11906">
            <a:solidFill>
              <a:srgbClr val="E48312"/>
            </a:solidFill>
          </a:ln>
        </p:spPr>
      </p:sp>
      <p:pic>
        <p:nvPicPr>
          <p:cNvPr id="174" name="圖片 162"/>
          <p:cNvPicPr>
            <a:picLocks noChangeAspect="1"/>
          </p:cNvPicPr>
          <p:nvPr/>
        </p:nvPicPr>
        <p:blipFill>
          <a:blip r:embed="rId7"/>
          <a:stretch/>
        </p:blipFill>
        <p:spPr>
          <a:xfrm>
            <a:off x="9677400" y="2485172"/>
            <a:ext cx="323850" cy="323850"/>
          </a:xfrm>
          <a:prstGeom prst="rect">
            <a:avLst/>
          </a:prstGeom>
        </p:spPr>
      </p:pic>
      <p:sp>
        <p:nvSpPr>
          <p:cNvPr id="90" name="矩形 89">
            <a:extLst>
              <a:ext uri="{FF2B5EF4-FFF2-40B4-BE49-F238E27FC236}">
                <a16:creationId xmlns:a16="http://schemas.microsoft.com/office/drawing/2014/main" id="{322FBCFA-CD01-480B-AD83-8B746CAFE853}"/>
              </a:ext>
            </a:extLst>
          </p:cNvPr>
          <p:cNvSpPr>
            <a:spLocks noGrp="1"/>
          </p:cNvSpPr>
          <p:nvPr/>
        </p:nvSpPr>
        <p:spPr>
          <a:xfrm>
            <a:off x="10048875" y="2466122"/>
            <a:ext cx="1200150" cy="342900"/>
          </a:xfrm>
          <a:prstGeom prst="rect">
            <a:avLst/>
          </a:prstGeom>
          <a:noFill/>
          <a:ln w="0">
            <a:noFill/>
          </a:ln>
        </p:spPr>
        <p:txBody>
          <a:bodyPr wrap="square" lIns="47625" tIns="28575" rIns="47625" bIns="28575" anchor="ctr">
            <a:noAutofit/>
          </a:bodyPr>
          <a:lstStyle/>
          <a:p>
            <a:pPr algn="l">
              <a:buNone/>
              <a:defRPr sz="1125" b="1">
                <a:solidFill>
                  <a:srgbClr val="BD582C"/>
                </a:solidFill>
                <a:latin typeface="Calibri"/>
                <a:ea typeface="Calibri"/>
                <a:cs typeface="Calibri"/>
              </a:defRPr>
            </a:pPr>
            <a:r>
              <a:rPr sz="1125" b="1">
                <a:solidFill>
                  <a:srgbClr val="BD582C"/>
                </a:solidFill>
                <a:latin typeface="Calibri"/>
                <a:ea typeface="Calibri"/>
                <a:cs typeface="Calibri"/>
              </a:rPr>
              <a:t>健康資訊回答</a:t>
            </a:r>
          </a:p>
        </p:txBody>
      </p:sp>
      <p:sp>
        <p:nvSpPr>
          <p:cNvPr id="91" name="矩形 90">
            <a:extLst>
              <a:ext uri="{FF2B5EF4-FFF2-40B4-BE49-F238E27FC236}">
                <a16:creationId xmlns:a16="http://schemas.microsoft.com/office/drawing/2014/main" id="{82475904-E0A8-48B3-9649-1E119207D648}"/>
              </a:ext>
            </a:extLst>
          </p:cNvPr>
          <p:cNvSpPr>
            <a:spLocks noGrp="1"/>
          </p:cNvSpPr>
          <p:nvPr/>
        </p:nvSpPr>
        <p:spPr>
          <a:xfrm>
            <a:off x="9696450" y="2837597"/>
            <a:ext cx="1524000" cy="19050"/>
          </a:xfrm>
          <a:prstGeom prst="rect">
            <a:avLst/>
          </a:prstGeom>
          <a:solidFill>
            <a:srgbClr val="E48312"/>
          </a:solidFill>
          <a:ln w="0">
            <a:solidFill>
              <a:srgbClr val="E48312"/>
            </a:solidFill>
          </a:ln>
        </p:spPr>
      </p:sp>
      <p:sp>
        <p:nvSpPr>
          <p:cNvPr id="92" name="矩形 91">
            <a:extLst>
              <a:ext uri="{FF2B5EF4-FFF2-40B4-BE49-F238E27FC236}">
                <a16:creationId xmlns:a16="http://schemas.microsoft.com/office/drawing/2014/main" id="{B1E2E1ED-533A-4042-BCDE-4AB2D5DD828E}"/>
              </a:ext>
            </a:extLst>
          </p:cNvPr>
          <p:cNvSpPr>
            <a:spLocks noGrp="1"/>
          </p:cNvSpPr>
          <p:nvPr/>
        </p:nvSpPr>
        <p:spPr>
          <a:xfrm>
            <a:off x="9648825" y="291379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Qwen3.5:9b生成回答</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輸出概述、症狀與治療</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以標準證據進行客觀評估</a:t>
            </a:r>
          </a:p>
        </p:txBody>
      </p:sp>
      <p:sp>
        <p:nvSpPr>
          <p:cNvPr id="93" name="矩形: 圓角 92">
            <a:extLst>
              <a:ext uri="{FF2B5EF4-FFF2-40B4-BE49-F238E27FC236}">
                <a16:creationId xmlns:a16="http://schemas.microsoft.com/office/drawing/2014/main" id="{45B51738-EEB0-48BF-96ED-5D265ABAFB3E}"/>
              </a:ext>
            </a:extLst>
          </p:cNvPr>
          <p:cNvSpPr>
            <a:spLocks noGrp="1"/>
          </p:cNvSpPr>
          <p:nvPr/>
        </p:nvSpPr>
        <p:spPr>
          <a:xfrm>
            <a:off x="523875" y="4247297"/>
            <a:ext cx="1809750" cy="1447800"/>
          </a:xfrm>
          <a:prstGeom prst="roundRect">
            <a:avLst>
              <a:gd name="adj" fmla="val 5263"/>
            </a:avLst>
          </a:prstGeom>
          <a:solidFill>
            <a:srgbClr val="EBF7F1"/>
          </a:solidFill>
          <a:ln w="11906">
            <a:solidFill>
              <a:srgbClr val="5CA884"/>
            </a:solidFill>
          </a:ln>
        </p:spPr>
      </p:sp>
      <p:pic>
        <p:nvPicPr>
          <p:cNvPr id="179" name="圖片 167"/>
          <p:cNvPicPr>
            <a:picLocks noChangeAspect="1"/>
          </p:cNvPicPr>
          <p:nvPr/>
        </p:nvPicPr>
        <p:blipFill>
          <a:blip r:embed="rId3"/>
          <a:stretch/>
        </p:blipFill>
        <p:spPr>
          <a:xfrm>
            <a:off x="647700" y="4371122"/>
            <a:ext cx="323850" cy="323850"/>
          </a:xfrm>
          <a:prstGeom prst="rect">
            <a:avLst/>
          </a:prstGeom>
        </p:spPr>
      </p:pic>
      <p:sp>
        <p:nvSpPr>
          <p:cNvPr id="95" name="矩形 94">
            <a:extLst>
              <a:ext uri="{FF2B5EF4-FFF2-40B4-BE49-F238E27FC236}">
                <a16:creationId xmlns:a16="http://schemas.microsoft.com/office/drawing/2014/main" id="{0E4BE5EA-7D4D-4124-A882-E8D3A98119C4}"/>
              </a:ext>
            </a:extLst>
          </p:cNvPr>
          <p:cNvSpPr>
            <a:spLocks noGrp="1"/>
          </p:cNvSpPr>
          <p:nvPr/>
        </p:nvSpPr>
        <p:spPr>
          <a:xfrm>
            <a:off x="1019175" y="4352072"/>
            <a:ext cx="1200150" cy="342900"/>
          </a:xfrm>
          <a:prstGeom prst="rect">
            <a:avLst/>
          </a:prstGeom>
          <a:noFill/>
          <a:ln w="0">
            <a:noFill/>
          </a:ln>
        </p:spPr>
        <p:txBody>
          <a:bodyPr wrap="square" lIns="47625" tIns="28575" rIns="47625" bIns="28575" anchor="ctr">
            <a:noAutofit/>
          </a:bodyPr>
          <a:lstStyle/>
          <a:p>
            <a:pPr algn="l">
              <a:buNone/>
              <a:defRPr sz="1125" b="1">
                <a:solidFill>
                  <a:srgbClr val="5CA884"/>
                </a:solidFill>
                <a:latin typeface="Calibri"/>
                <a:ea typeface="Calibri"/>
                <a:cs typeface="Calibri"/>
              </a:defRPr>
            </a:pPr>
            <a:r>
              <a:rPr sz="1125" b="1">
                <a:solidFill>
                  <a:srgbClr val="5CA884"/>
                </a:solidFill>
                <a:latin typeface="Calibri"/>
                <a:ea typeface="Calibri"/>
                <a:cs typeface="Calibri"/>
              </a:rPr>
              <a:t>中醫病例來源</a:t>
            </a:r>
          </a:p>
        </p:txBody>
      </p:sp>
      <p:sp>
        <p:nvSpPr>
          <p:cNvPr id="96" name="矩形 95">
            <a:extLst>
              <a:ext uri="{FF2B5EF4-FFF2-40B4-BE49-F238E27FC236}">
                <a16:creationId xmlns:a16="http://schemas.microsoft.com/office/drawing/2014/main" id="{FC098FEE-D250-4157-BE89-0CD636369CFA}"/>
              </a:ext>
            </a:extLst>
          </p:cNvPr>
          <p:cNvSpPr>
            <a:spLocks noGrp="1"/>
          </p:cNvSpPr>
          <p:nvPr/>
        </p:nvSpPr>
        <p:spPr>
          <a:xfrm>
            <a:off x="666750" y="4723547"/>
            <a:ext cx="1524000" cy="19050"/>
          </a:xfrm>
          <a:prstGeom prst="rect">
            <a:avLst/>
          </a:prstGeom>
          <a:solidFill>
            <a:srgbClr val="5CA884"/>
          </a:solidFill>
          <a:ln w="0">
            <a:solidFill>
              <a:srgbClr val="5CA884"/>
            </a:solidFill>
          </a:ln>
        </p:spPr>
      </p:sp>
      <p:sp>
        <p:nvSpPr>
          <p:cNvPr id="97" name="矩形 96">
            <a:extLst>
              <a:ext uri="{FF2B5EF4-FFF2-40B4-BE49-F238E27FC236}">
                <a16:creationId xmlns:a16="http://schemas.microsoft.com/office/drawing/2014/main" id="{B8BF96BA-19E7-4587-9E17-99C19FAF7CDF}"/>
              </a:ext>
            </a:extLst>
          </p:cNvPr>
          <p:cNvSpPr>
            <a:spLocks noGrp="1"/>
          </p:cNvSpPr>
          <p:nvPr/>
        </p:nvSpPr>
        <p:spPr>
          <a:xfrm>
            <a:off x="619125" y="479974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TCMEval-SDT病例</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200筆訓練、50筆驗證</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50筆正式測試</a:t>
            </a:r>
          </a:p>
        </p:txBody>
      </p:sp>
      <p:sp>
        <p:nvSpPr>
          <p:cNvPr id="98" name="矩形: 圓角 97">
            <a:extLst>
              <a:ext uri="{FF2B5EF4-FFF2-40B4-BE49-F238E27FC236}">
                <a16:creationId xmlns:a16="http://schemas.microsoft.com/office/drawing/2014/main" id="{C231DA77-7CF4-45F7-9759-05DC57831411}"/>
              </a:ext>
            </a:extLst>
          </p:cNvPr>
          <p:cNvSpPr>
            <a:spLocks noGrp="1"/>
          </p:cNvSpPr>
          <p:nvPr/>
        </p:nvSpPr>
        <p:spPr>
          <a:xfrm>
            <a:off x="2781300" y="4247297"/>
            <a:ext cx="1809750" cy="1447800"/>
          </a:xfrm>
          <a:prstGeom prst="roundRect">
            <a:avLst>
              <a:gd name="adj" fmla="val 5263"/>
            </a:avLst>
          </a:prstGeom>
          <a:solidFill>
            <a:srgbClr val="EBF7F1"/>
          </a:solidFill>
          <a:ln w="11906">
            <a:solidFill>
              <a:srgbClr val="5CA884"/>
            </a:solidFill>
          </a:ln>
        </p:spPr>
      </p:sp>
      <p:pic>
        <p:nvPicPr>
          <p:cNvPr id="184" name="圖片 172"/>
          <p:cNvPicPr>
            <a:picLocks noChangeAspect="1"/>
          </p:cNvPicPr>
          <p:nvPr/>
        </p:nvPicPr>
        <p:blipFill>
          <a:blip r:embed="rId4"/>
          <a:stretch/>
        </p:blipFill>
        <p:spPr>
          <a:xfrm>
            <a:off x="2905125" y="4371122"/>
            <a:ext cx="323850" cy="323850"/>
          </a:xfrm>
          <a:prstGeom prst="rect">
            <a:avLst/>
          </a:prstGeom>
        </p:spPr>
      </p:pic>
      <p:sp>
        <p:nvSpPr>
          <p:cNvPr id="100" name="矩形 99">
            <a:extLst>
              <a:ext uri="{FF2B5EF4-FFF2-40B4-BE49-F238E27FC236}">
                <a16:creationId xmlns:a16="http://schemas.microsoft.com/office/drawing/2014/main" id="{67E35EC6-05AE-44BC-BD21-94140CC43400}"/>
              </a:ext>
            </a:extLst>
          </p:cNvPr>
          <p:cNvSpPr>
            <a:spLocks noGrp="1"/>
          </p:cNvSpPr>
          <p:nvPr/>
        </p:nvSpPr>
        <p:spPr>
          <a:xfrm>
            <a:off x="3276600" y="4352072"/>
            <a:ext cx="1200150" cy="342900"/>
          </a:xfrm>
          <a:prstGeom prst="rect">
            <a:avLst/>
          </a:prstGeom>
          <a:noFill/>
          <a:ln w="0">
            <a:noFill/>
          </a:ln>
        </p:spPr>
        <p:txBody>
          <a:bodyPr wrap="square" lIns="47625" tIns="28575" rIns="47625" bIns="28575" anchor="ctr">
            <a:noAutofit/>
          </a:bodyPr>
          <a:lstStyle/>
          <a:p>
            <a:pPr algn="l">
              <a:buNone/>
              <a:defRPr sz="1125" b="1">
                <a:solidFill>
                  <a:srgbClr val="5CA884"/>
                </a:solidFill>
                <a:latin typeface="Calibri"/>
                <a:ea typeface="Calibri"/>
                <a:cs typeface="Calibri"/>
              </a:defRPr>
            </a:pPr>
            <a:r>
              <a:rPr sz="1125" b="1">
                <a:solidFill>
                  <a:srgbClr val="5CA884"/>
                </a:solidFill>
                <a:latin typeface="Calibri"/>
                <a:ea typeface="Calibri"/>
                <a:cs typeface="Calibri"/>
              </a:rPr>
              <a:t>病例格式整理</a:t>
            </a:r>
          </a:p>
        </p:txBody>
      </p:sp>
      <p:sp>
        <p:nvSpPr>
          <p:cNvPr id="101" name="矩形 100">
            <a:extLst>
              <a:ext uri="{FF2B5EF4-FFF2-40B4-BE49-F238E27FC236}">
                <a16:creationId xmlns:a16="http://schemas.microsoft.com/office/drawing/2014/main" id="{D30102B2-55AA-450C-9656-CBA25CCDFF72}"/>
              </a:ext>
            </a:extLst>
          </p:cNvPr>
          <p:cNvSpPr>
            <a:spLocks noGrp="1"/>
          </p:cNvSpPr>
          <p:nvPr/>
        </p:nvSpPr>
        <p:spPr>
          <a:xfrm>
            <a:off x="2924175" y="4723547"/>
            <a:ext cx="1524000" cy="19050"/>
          </a:xfrm>
          <a:prstGeom prst="rect">
            <a:avLst/>
          </a:prstGeom>
          <a:solidFill>
            <a:srgbClr val="5CA884"/>
          </a:solidFill>
          <a:ln w="0">
            <a:solidFill>
              <a:srgbClr val="5CA884"/>
            </a:solidFill>
          </a:ln>
        </p:spPr>
      </p:sp>
      <p:sp>
        <p:nvSpPr>
          <p:cNvPr id="102" name="矩形 101">
            <a:extLst>
              <a:ext uri="{FF2B5EF4-FFF2-40B4-BE49-F238E27FC236}">
                <a16:creationId xmlns:a16="http://schemas.microsoft.com/office/drawing/2014/main" id="{4DE09A52-21E3-4012-A85D-A02EC7F78CED}"/>
              </a:ext>
            </a:extLst>
          </p:cNvPr>
          <p:cNvSpPr>
            <a:spLocks noGrp="1"/>
          </p:cNvSpPr>
          <p:nvPr/>
        </p:nvSpPr>
        <p:spPr>
          <a:xfrm>
            <a:off x="2876550" y="479974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整理病例輸入欄位</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標準答案獨立保存</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建立訓練病例檢索文本</a:t>
            </a:r>
          </a:p>
        </p:txBody>
      </p:sp>
      <p:sp>
        <p:nvSpPr>
          <p:cNvPr id="103" name="矩形: 圓角 102">
            <a:extLst>
              <a:ext uri="{FF2B5EF4-FFF2-40B4-BE49-F238E27FC236}">
                <a16:creationId xmlns:a16="http://schemas.microsoft.com/office/drawing/2014/main" id="{7F19BA3C-BA65-411A-BB73-34E0644895FE}"/>
              </a:ext>
            </a:extLst>
          </p:cNvPr>
          <p:cNvSpPr>
            <a:spLocks noGrp="1"/>
          </p:cNvSpPr>
          <p:nvPr/>
        </p:nvSpPr>
        <p:spPr>
          <a:xfrm>
            <a:off x="5038725" y="4247297"/>
            <a:ext cx="1809750" cy="1447800"/>
          </a:xfrm>
          <a:prstGeom prst="roundRect">
            <a:avLst>
              <a:gd name="adj" fmla="val 5263"/>
            </a:avLst>
          </a:prstGeom>
          <a:solidFill>
            <a:srgbClr val="EBF7F1"/>
          </a:solidFill>
          <a:ln w="11906">
            <a:solidFill>
              <a:srgbClr val="5CA884"/>
            </a:solidFill>
          </a:ln>
        </p:spPr>
      </p:sp>
      <p:pic>
        <p:nvPicPr>
          <p:cNvPr id="189" name="圖片 177"/>
          <p:cNvPicPr>
            <a:picLocks noChangeAspect="1"/>
          </p:cNvPicPr>
          <p:nvPr/>
        </p:nvPicPr>
        <p:blipFill>
          <a:blip r:embed="rId5"/>
          <a:stretch/>
        </p:blipFill>
        <p:spPr>
          <a:xfrm>
            <a:off x="5162550" y="4371122"/>
            <a:ext cx="323850" cy="323850"/>
          </a:xfrm>
          <a:prstGeom prst="rect">
            <a:avLst/>
          </a:prstGeom>
        </p:spPr>
      </p:pic>
      <p:sp>
        <p:nvSpPr>
          <p:cNvPr id="105" name="矩形 104">
            <a:extLst>
              <a:ext uri="{FF2B5EF4-FFF2-40B4-BE49-F238E27FC236}">
                <a16:creationId xmlns:a16="http://schemas.microsoft.com/office/drawing/2014/main" id="{E0605F32-6CFB-47A1-BD53-C4109A83C622}"/>
              </a:ext>
            </a:extLst>
          </p:cNvPr>
          <p:cNvSpPr>
            <a:spLocks noGrp="1"/>
          </p:cNvSpPr>
          <p:nvPr/>
        </p:nvSpPr>
        <p:spPr>
          <a:xfrm>
            <a:off x="5534025" y="4352072"/>
            <a:ext cx="1200150" cy="342900"/>
          </a:xfrm>
          <a:prstGeom prst="rect">
            <a:avLst/>
          </a:prstGeom>
          <a:noFill/>
          <a:ln w="0">
            <a:noFill/>
          </a:ln>
        </p:spPr>
        <p:txBody>
          <a:bodyPr wrap="square" lIns="47625" tIns="28575" rIns="47625" bIns="28575" anchor="ctr">
            <a:noAutofit/>
          </a:bodyPr>
          <a:lstStyle/>
          <a:p>
            <a:pPr algn="l">
              <a:buNone/>
              <a:defRPr sz="1125" b="1">
                <a:solidFill>
                  <a:srgbClr val="5CA884"/>
                </a:solidFill>
                <a:latin typeface="Calibri"/>
                <a:ea typeface="Calibri"/>
                <a:cs typeface="Calibri"/>
              </a:defRPr>
            </a:pPr>
            <a:r>
              <a:rPr sz="1125" b="1">
                <a:solidFill>
                  <a:srgbClr val="5CA884"/>
                </a:solidFill>
                <a:latin typeface="Calibri"/>
                <a:ea typeface="Calibri"/>
                <a:cs typeface="Calibri"/>
              </a:rPr>
              <a:t>病例檢索庫</a:t>
            </a:r>
          </a:p>
        </p:txBody>
      </p:sp>
      <p:sp>
        <p:nvSpPr>
          <p:cNvPr id="106" name="矩形 105">
            <a:extLst>
              <a:ext uri="{FF2B5EF4-FFF2-40B4-BE49-F238E27FC236}">
                <a16:creationId xmlns:a16="http://schemas.microsoft.com/office/drawing/2014/main" id="{830D729F-9280-46F7-8327-4A04AA458DD1}"/>
              </a:ext>
            </a:extLst>
          </p:cNvPr>
          <p:cNvSpPr>
            <a:spLocks noGrp="1"/>
          </p:cNvSpPr>
          <p:nvPr/>
        </p:nvSpPr>
        <p:spPr>
          <a:xfrm>
            <a:off x="5181600" y="4723547"/>
            <a:ext cx="1524000" cy="19050"/>
          </a:xfrm>
          <a:prstGeom prst="rect">
            <a:avLst/>
          </a:prstGeom>
          <a:solidFill>
            <a:srgbClr val="5CA884"/>
          </a:solidFill>
          <a:ln w="0">
            <a:solidFill>
              <a:srgbClr val="5CA884"/>
            </a:solidFill>
          </a:ln>
        </p:spPr>
      </p:sp>
      <p:sp>
        <p:nvSpPr>
          <p:cNvPr id="107" name="矩形 106">
            <a:extLst>
              <a:ext uri="{FF2B5EF4-FFF2-40B4-BE49-F238E27FC236}">
                <a16:creationId xmlns:a16="http://schemas.microsoft.com/office/drawing/2014/main" id="{EBC95618-60A6-4FC6-8473-F88D040C8BB2}"/>
              </a:ext>
            </a:extLst>
          </p:cNvPr>
          <p:cNvSpPr>
            <a:spLocks noGrp="1"/>
          </p:cNvSpPr>
          <p:nvPr/>
        </p:nvSpPr>
        <p:spPr>
          <a:xfrm>
            <a:off x="5133975" y="479974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200筆訓練病例</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BGE-M3建立語意向量</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保存向量與病例內容</a:t>
            </a:r>
          </a:p>
        </p:txBody>
      </p:sp>
      <p:sp>
        <p:nvSpPr>
          <p:cNvPr id="108" name="矩形: 圓角 107">
            <a:extLst>
              <a:ext uri="{FF2B5EF4-FFF2-40B4-BE49-F238E27FC236}">
                <a16:creationId xmlns:a16="http://schemas.microsoft.com/office/drawing/2014/main" id="{C02DCE3B-B8A7-48CF-9039-C8BA2F03CA88}"/>
              </a:ext>
            </a:extLst>
          </p:cNvPr>
          <p:cNvSpPr>
            <a:spLocks noGrp="1"/>
          </p:cNvSpPr>
          <p:nvPr/>
        </p:nvSpPr>
        <p:spPr>
          <a:xfrm>
            <a:off x="7296150" y="4247297"/>
            <a:ext cx="1809750" cy="1447800"/>
          </a:xfrm>
          <a:prstGeom prst="roundRect">
            <a:avLst>
              <a:gd name="adj" fmla="val 5263"/>
            </a:avLst>
          </a:prstGeom>
          <a:solidFill>
            <a:srgbClr val="EBF7F1"/>
          </a:solidFill>
          <a:ln w="11906">
            <a:solidFill>
              <a:srgbClr val="5CA884"/>
            </a:solidFill>
          </a:ln>
        </p:spPr>
      </p:sp>
      <p:pic>
        <p:nvPicPr>
          <p:cNvPr id="194" name="圖片 182"/>
          <p:cNvPicPr>
            <a:picLocks noChangeAspect="1"/>
          </p:cNvPicPr>
          <p:nvPr/>
        </p:nvPicPr>
        <p:blipFill>
          <a:blip r:embed="rId6"/>
          <a:stretch/>
        </p:blipFill>
        <p:spPr>
          <a:xfrm>
            <a:off x="7419975" y="4371122"/>
            <a:ext cx="323850" cy="323850"/>
          </a:xfrm>
          <a:prstGeom prst="rect">
            <a:avLst/>
          </a:prstGeom>
        </p:spPr>
      </p:pic>
      <p:sp>
        <p:nvSpPr>
          <p:cNvPr id="110" name="矩形 109">
            <a:extLst>
              <a:ext uri="{FF2B5EF4-FFF2-40B4-BE49-F238E27FC236}">
                <a16:creationId xmlns:a16="http://schemas.microsoft.com/office/drawing/2014/main" id="{1B7D98D8-0D81-4FFD-9C88-B1FF85082AAF}"/>
              </a:ext>
            </a:extLst>
          </p:cNvPr>
          <p:cNvSpPr>
            <a:spLocks noGrp="1"/>
          </p:cNvSpPr>
          <p:nvPr/>
        </p:nvSpPr>
        <p:spPr>
          <a:xfrm>
            <a:off x="7791450" y="4352072"/>
            <a:ext cx="1200150" cy="342900"/>
          </a:xfrm>
          <a:prstGeom prst="rect">
            <a:avLst/>
          </a:prstGeom>
          <a:noFill/>
          <a:ln w="0">
            <a:noFill/>
          </a:ln>
        </p:spPr>
        <p:txBody>
          <a:bodyPr wrap="square" lIns="47625" tIns="28575" rIns="47625" bIns="28575" anchor="ctr">
            <a:noAutofit/>
          </a:bodyPr>
          <a:lstStyle/>
          <a:p>
            <a:pPr algn="l">
              <a:buNone/>
              <a:defRPr sz="1125" b="1">
                <a:solidFill>
                  <a:srgbClr val="5CA884"/>
                </a:solidFill>
                <a:latin typeface="Calibri"/>
                <a:ea typeface="Calibri"/>
                <a:cs typeface="Calibri"/>
              </a:defRPr>
            </a:pPr>
            <a:r>
              <a:rPr sz="1125" b="1">
                <a:solidFill>
                  <a:srgbClr val="5CA884"/>
                </a:solidFill>
                <a:latin typeface="Calibri"/>
                <a:ea typeface="Calibri"/>
                <a:cs typeface="Calibri"/>
              </a:rPr>
              <a:t>病例輸入與檢索</a:t>
            </a:r>
          </a:p>
        </p:txBody>
      </p:sp>
      <p:sp>
        <p:nvSpPr>
          <p:cNvPr id="111" name="矩形 110">
            <a:extLst>
              <a:ext uri="{FF2B5EF4-FFF2-40B4-BE49-F238E27FC236}">
                <a16:creationId xmlns:a16="http://schemas.microsoft.com/office/drawing/2014/main" id="{C1AE5A63-56DB-432E-A8AF-77270A937E8C}"/>
              </a:ext>
            </a:extLst>
          </p:cNvPr>
          <p:cNvSpPr>
            <a:spLocks noGrp="1"/>
          </p:cNvSpPr>
          <p:nvPr/>
        </p:nvSpPr>
        <p:spPr>
          <a:xfrm>
            <a:off x="7439025" y="4723547"/>
            <a:ext cx="1524000" cy="19050"/>
          </a:xfrm>
          <a:prstGeom prst="rect">
            <a:avLst/>
          </a:prstGeom>
          <a:solidFill>
            <a:srgbClr val="5CA884"/>
          </a:solidFill>
          <a:ln w="0">
            <a:solidFill>
              <a:srgbClr val="5CA884"/>
            </a:solidFill>
          </a:ln>
        </p:spPr>
      </p:sp>
      <p:sp>
        <p:nvSpPr>
          <p:cNvPr id="112" name="矩形 111">
            <a:extLst>
              <a:ext uri="{FF2B5EF4-FFF2-40B4-BE49-F238E27FC236}">
                <a16:creationId xmlns:a16="http://schemas.microsoft.com/office/drawing/2014/main" id="{F15CEA30-13AA-4735-B035-B3469747E3FC}"/>
              </a:ext>
            </a:extLst>
          </p:cNvPr>
          <p:cNvSpPr>
            <a:spLocks noGrp="1"/>
          </p:cNvSpPr>
          <p:nvPr/>
        </p:nvSpPr>
        <p:spPr>
          <a:xfrm>
            <a:off x="7391400" y="479974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輸入驗證或測試病例</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BGE-M3找出top-3</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將相似病例加入提示詞</a:t>
            </a:r>
          </a:p>
        </p:txBody>
      </p:sp>
      <p:sp>
        <p:nvSpPr>
          <p:cNvPr id="113" name="矩形: 圓角 112">
            <a:extLst>
              <a:ext uri="{FF2B5EF4-FFF2-40B4-BE49-F238E27FC236}">
                <a16:creationId xmlns:a16="http://schemas.microsoft.com/office/drawing/2014/main" id="{025BD848-3FE6-4C65-949C-D016186545DB}"/>
              </a:ext>
            </a:extLst>
          </p:cNvPr>
          <p:cNvSpPr>
            <a:spLocks noGrp="1"/>
          </p:cNvSpPr>
          <p:nvPr/>
        </p:nvSpPr>
        <p:spPr>
          <a:xfrm>
            <a:off x="9553575" y="4247297"/>
            <a:ext cx="1809750" cy="1447800"/>
          </a:xfrm>
          <a:prstGeom prst="roundRect">
            <a:avLst>
              <a:gd name="adj" fmla="val 5263"/>
            </a:avLst>
          </a:prstGeom>
          <a:solidFill>
            <a:srgbClr val="FFF3E5"/>
          </a:solidFill>
          <a:ln w="11906">
            <a:solidFill>
              <a:srgbClr val="E48312"/>
            </a:solidFill>
          </a:ln>
        </p:spPr>
      </p:sp>
      <p:pic>
        <p:nvPicPr>
          <p:cNvPr id="199" name="圖片 187"/>
          <p:cNvPicPr>
            <a:picLocks noChangeAspect="1"/>
          </p:cNvPicPr>
          <p:nvPr/>
        </p:nvPicPr>
        <p:blipFill>
          <a:blip r:embed="rId7"/>
          <a:stretch/>
        </p:blipFill>
        <p:spPr>
          <a:xfrm>
            <a:off x="9677400" y="4371122"/>
            <a:ext cx="323850" cy="323850"/>
          </a:xfrm>
          <a:prstGeom prst="rect">
            <a:avLst/>
          </a:prstGeom>
        </p:spPr>
      </p:pic>
      <p:sp>
        <p:nvSpPr>
          <p:cNvPr id="115" name="矩形 114">
            <a:extLst>
              <a:ext uri="{FF2B5EF4-FFF2-40B4-BE49-F238E27FC236}">
                <a16:creationId xmlns:a16="http://schemas.microsoft.com/office/drawing/2014/main" id="{A6B1C274-64B3-47EC-BBEB-D9EF2E85826F}"/>
              </a:ext>
            </a:extLst>
          </p:cNvPr>
          <p:cNvSpPr>
            <a:spLocks noGrp="1"/>
          </p:cNvSpPr>
          <p:nvPr/>
        </p:nvSpPr>
        <p:spPr>
          <a:xfrm>
            <a:off x="10048875" y="4352072"/>
            <a:ext cx="1200150" cy="342900"/>
          </a:xfrm>
          <a:prstGeom prst="rect">
            <a:avLst/>
          </a:prstGeom>
          <a:noFill/>
          <a:ln w="0">
            <a:noFill/>
          </a:ln>
        </p:spPr>
        <p:txBody>
          <a:bodyPr wrap="square" lIns="47625" tIns="28575" rIns="47625" bIns="28575" anchor="ctr">
            <a:noAutofit/>
          </a:bodyPr>
          <a:lstStyle/>
          <a:p>
            <a:pPr algn="l">
              <a:buNone/>
              <a:defRPr sz="1125" b="1">
                <a:solidFill>
                  <a:srgbClr val="BD582C"/>
                </a:solidFill>
                <a:latin typeface="Calibri"/>
                <a:ea typeface="Calibri"/>
                <a:cs typeface="Calibri"/>
              </a:defRPr>
            </a:pPr>
            <a:r>
              <a:rPr sz="1125" b="1">
                <a:solidFill>
                  <a:srgbClr val="BD582C"/>
                </a:solidFill>
                <a:latin typeface="Calibri"/>
                <a:ea typeface="Calibri"/>
                <a:cs typeface="Calibri"/>
              </a:rPr>
              <a:t>辨證回答</a:t>
            </a:r>
          </a:p>
        </p:txBody>
      </p:sp>
      <p:sp>
        <p:nvSpPr>
          <p:cNvPr id="116" name="矩形 115">
            <a:extLst>
              <a:ext uri="{FF2B5EF4-FFF2-40B4-BE49-F238E27FC236}">
                <a16:creationId xmlns:a16="http://schemas.microsoft.com/office/drawing/2014/main" id="{3EE5BCB0-F37C-4F72-ABC2-632DA003D5EE}"/>
              </a:ext>
            </a:extLst>
          </p:cNvPr>
          <p:cNvSpPr>
            <a:spLocks noGrp="1"/>
          </p:cNvSpPr>
          <p:nvPr/>
        </p:nvSpPr>
        <p:spPr>
          <a:xfrm>
            <a:off x="9696450" y="4723547"/>
            <a:ext cx="1524000" cy="19050"/>
          </a:xfrm>
          <a:prstGeom prst="rect">
            <a:avLst/>
          </a:prstGeom>
          <a:solidFill>
            <a:srgbClr val="E48312"/>
          </a:solidFill>
          <a:ln w="0">
            <a:solidFill>
              <a:srgbClr val="E48312"/>
            </a:solidFill>
          </a:ln>
        </p:spPr>
      </p:sp>
      <p:sp>
        <p:nvSpPr>
          <p:cNvPr id="117" name="矩形 116">
            <a:extLst>
              <a:ext uri="{FF2B5EF4-FFF2-40B4-BE49-F238E27FC236}">
                <a16:creationId xmlns:a16="http://schemas.microsoft.com/office/drawing/2014/main" id="{FACB8CEF-A0B5-4521-A494-3C4A6DFD3F04}"/>
              </a:ext>
            </a:extLst>
          </p:cNvPr>
          <p:cNvSpPr>
            <a:spLocks noGrp="1"/>
          </p:cNvSpPr>
          <p:nvPr/>
        </p:nvSpPr>
        <p:spPr>
          <a:xfrm>
            <a:off x="9648825" y="4799747"/>
            <a:ext cx="1619250" cy="790575"/>
          </a:xfrm>
          <a:prstGeom prst="rect">
            <a:avLst/>
          </a:prstGeom>
          <a:noFill/>
          <a:ln w="0">
            <a:noFill/>
          </a:ln>
        </p:spPr>
        <p:txBody>
          <a:bodyPr wrap="square" lIns="28575" tIns="19050" rIns="28575" bIns="19050" anchor="t">
            <a:noAutofit/>
          </a:bodyPr>
          <a:lstStyle/>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Qwen3.5:9b生成回答</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輸出病機、證型與解釋</a:t>
            </a:r>
          </a:p>
          <a:p>
            <a:pPr algn="ctr">
              <a:buNone/>
              <a:defRPr sz="863" b="0">
                <a:solidFill>
                  <a:srgbClr val="414141"/>
                </a:solidFill>
                <a:latin typeface="Calibri"/>
                <a:ea typeface="Calibri"/>
                <a:cs typeface="Calibri"/>
              </a:defRPr>
            </a:pPr>
            <a:r>
              <a:rPr sz="863" b="0">
                <a:solidFill>
                  <a:srgbClr val="414141"/>
                </a:solidFill>
                <a:latin typeface="Calibri"/>
                <a:ea typeface="Calibri"/>
                <a:cs typeface="Calibri"/>
              </a:rPr>
              <a:t>官方權重評分與95%信賴區間</a:t>
            </a:r>
          </a:p>
        </p:txBody>
      </p:sp>
      <p:sp>
        <p:nvSpPr>
          <p:cNvPr id="118" name="箭號: 向右 117">
            <a:extLst>
              <a:ext uri="{FF2B5EF4-FFF2-40B4-BE49-F238E27FC236}">
                <a16:creationId xmlns:a16="http://schemas.microsoft.com/office/drawing/2014/main" id="{E059DCF3-B85C-47B3-922B-84BE778665DC}"/>
              </a:ext>
            </a:extLst>
          </p:cNvPr>
          <p:cNvSpPr>
            <a:spLocks noGrp="1"/>
          </p:cNvSpPr>
          <p:nvPr/>
        </p:nvSpPr>
        <p:spPr>
          <a:xfrm>
            <a:off x="2400300" y="2980472"/>
            <a:ext cx="304800" cy="209550"/>
          </a:xfrm>
          <a:prstGeom prst="rightArrow">
            <a:avLst/>
          </a:prstGeom>
          <a:solidFill>
            <a:srgbClr val="C8C2BC"/>
          </a:solidFill>
          <a:ln w="0">
            <a:solidFill>
              <a:srgbClr val="C8C2BC"/>
            </a:solidFill>
          </a:ln>
        </p:spPr>
      </p:sp>
      <p:sp>
        <p:nvSpPr>
          <p:cNvPr id="119" name="箭號: 向右 118">
            <a:extLst>
              <a:ext uri="{FF2B5EF4-FFF2-40B4-BE49-F238E27FC236}">
                <a16:creationId xmlns:a16="http://schemas.microsoft.com/office/drawing/2014/main" id="{108F6DF7-FB49-4FD8-AAF6-08988054F8F5}"/>
              </a:ext>
            </a:extLst>
          </p:cNvPr>
          <p:cNvSpPr>
            <a:spLocks noGrp="1"/>
          </p:cNvSpPr>
          <p:nvPr/>
        </p:nvSpPr>
        <p:spPr>
          <a:xfrm>
            <a:off x="4657725" y="2980472"/>
            <a:ext cx="304800" cy="209550"/>
          </a:xfrm>
          <a:prstGeom prst="rightArrow">
            <a:avLst/>
          </a:prstGeom>
          <a:solidFill>
            <a:srgbClr val="C8C2BC"/>
          </a:solidFill>
          <a:ln w="0">
            <a:solidFill>
              <a:srgbClr val="C8C2BC"/>
            </a:solidFill>
          </a:ln>
        </p:spPr>
      </p:sp>
      <p:sp>
        <p:nvSpPr>
          <p:cNvPr id="120" name="箭號: 向右 119">
            <a:extLst>
              <a:ext uri="{FF2B5EF4-FFF2-40B4-BE49-F238E27FC236}">
                <a16:creationId xmlns:a16="http://schemas.microsoft.com/office/drawing/2014/main" id="{1909D309-8336-4C4C-BB6E-38971A95B57F}"/>
              </a:ext>
            </a:extLst>
          </p:cNvPr>
          <p:cNvSpPr>
            <a:spLocks noGrp="1"/>
          </p:cNvSpPr>
          <p:nvPr/>
        </p:nvSpPr>
        <p:spPr>
          <a:xfrm>
            <a:off x="6915150" y="2980472"/>
            <a:ext cx="304800" cy="209550"/>
          </a:xfrm>
          <a:prstGeom prst="rightArrow">
            <a:avLst/>
          </a:prstGeom>
          <a:solidFill>
            <a:srgbClr val="C8C2BC"/>
          </a:solidFill>
          <a:ln w="0">
            <a:solidFill>
              <a:srgbClr val="C8C2BC"/>
            </a:solidFill>
          </a:ln>
        </p:spPr>
      </p:sp>
      <p:sp>
        <p:nvSpPr>
          <p:cNvPr id="121" name="箭號: 向右 120">
            <a:extLst>
              <a:ext uri="{FF2B5EF4-FFF2-40B4-BE49-F238E27FC236}">
                <a16:creationId xmlns:a16="http://schemas.microsoft.com/office/drawing/2014/main" id="{96FBF608-AD13-405E-888E-11DD5FC24EC4}"/>
              </a:ext>
            </a:extLst>
          </p:cNvPr>
          <p:cNvSpPr>
            <a:spLocks noGrp="1"/>
          </p:cNvSpPr>
          <p:nvPr/>
        </p:nvSpPr>
        <p:spPr>
          <a:xfrm>
            <a:off x="9172575" y="2980472"/>
            <a:ext cx="304800" cy="209550"/>
          </a:xfrm>
          <a:prstGeom prst="rightArrow">
            <a:avLst/>
          </a:prstGeom>
          <a:solidFill>
            <a:srgbClr val="C8C2BC"/>
          </a:solidFill>
          <a:ln w="0">
            <a:solidFill>
              <a:srgbClr val="C8C2BC"/>
            </a:solidFill>
          </a:ln>
        </p:spPr>
      </p:sp>
      <p:sp>
        <p:nvSpPr>
          <p:cNvPr id="122" name="箭號: 向右 121">
            <a:extLst>
              <a:ext uri="{FF2B5EF4-FFF2-40B4-BE49-F238E27FC236}">
                <a16:creationId xmlns:a16="http://schemas.microsoft.com/office/drawing/2014/main" id="{0CF5F543-9E1A-4D8D-898C-3CDA1D50B4FD}"/>
              </a:ext>
            </a:extLst>
          </p:cNvPr>
          <p:cNvSpPr>
            <a:spLocks noGrp="1"/>
          </p:cNvSpPr>
          <p:nvPr/>
        </p:nvSpPr>
        <p:spPr>
          <a:xfrm>
            <a:off x="2400300" y="4866422"/>
            <a:ext cx="304800" cy="209550"/>
          </a:xfrm>
          <a:prstGeom prst="rightArrow">
            <a:avLst/>
          </a:prstGeom>
          <a:solidFill>
            <a:srgbClr val="C8C2BC"/>
          </a:solidFill>
          <a:ln w="0">
            <a:solidFill>
              <a:srgbClr val="C8C2BC"/>
            </a:solidFill>
          </a:ln>
        </p:spPr>
      </p:sp>
      <p:sp>
        <p:nvSpPr>
          <p:cNvPr id="123" name="箭號: 向右 122">
            <a:extLst>
              <a:ext uri="{FF2B5EF4-FFF2-40B4-BE49-F238E27FC236}">
                <a16:creationId xmlns:a16="http://schemas.microsoft.com/office/drawing/2014/main" id="{0C67B844-9B48-489A-90C6-13F8EB23C1AB}"/>
              </a:ext>
            </a:extLst>
          </p:cNvPr>
          <p:cNvSpPr>
            <a:spLocks noGrp="1"/>
          </p:cNvSpPr>
          <p:nvPr/>
        </p:nvSpPr>
        <p:spPr>
          <a:xfrm>
            <a:off x="4657725" y="4866422"/>
            <a:ext cx="304800" cy="209550"/>
          </a:xfrm>
          <a:prstGeom prst="rightArrow">
            <a:avLst/>
          </a:prstGeom>
          <a:solidFill>
            <a:srgbClr val="C8C2BC"/>
          </a:solidFill>
          <a:ln w="0">
            <a:solidFill>
              <a:srgbClr val="C8C2BC"/>
            </a:solidFill>
          </a:ln>
        </p:spPr>
      </p:sp>
      <p:sp>
        <p:nvSpPr>
          <p:cNvPr id="124" name="箭號: 向右 123">
            <a:extLst>
              <a:ext uri="{FF2B5EF4-FFF2-40B4-BE49-F238E27FC236}">
                <a16:creationId xmlns:a16="http://schemas.microsoft.com/office/drawing/2014/main" id="{8E1352D2-8566-4872-84C0-BE5B66F8507D}"/>
              </a:ext>
            </a:extLst>
          </p:cNvPr>
          <p:cNvSpPr>
            <a:spLocks noGrp="1"/>
          </p:cNvSpPr>
          <p:nvPr/>
        </p:nvSpPr>
        <p:spPr>
          <a:xfrm>
            <a:off x="6915150" y="4866422"/>
            <a:ext cx="304800" cy="209550"/>
          </a:xfrm>
          <a:prstGeom prst="rightArrow">
            <a:avLst/>
          </a:prstGeom>
          <a:solidFill>
            <a:srgbClr val="C8C2BC"/>
          </a:solidFill>
          <a:ln w="0">
            <a:solidFill>
              <a:srgbClr val="C8C2BC"/>
            </a:solidFill>
          </a:ln>
        </p:spPr>
      </p:sp>
      <p:sp>
        <p:nvSpPr>
          <p:cNvPr id="125" name="箭號: 向右 124">
            <a:extLst>
              <a:ext uri="{FF2B5EF4-FFF2-40B4-BE49-F238E27FC236}">
                <a16:creationId xmlns:a16="http://schemas.microsoft.com/office/drawing/2014/main" id="{B9FAFADD-9357-404B-B191-CD8EECDB4985}"/>
              </a:ext>
            </a:extLst>
          </p:cNvPr>
          <p:cNvSpPr>
            <a:spLocks noGrp="1"/>
          </p:cNvSpPr>
          <p:nvPr/>
        </p:nvSpPr>
        <p:spPr>
          <a:xfrm>
            <a:off x="9172575" y="4866422"/>
            <a:ext cx="304800" cy="209550"/>
          </a:xfrm>
          <a:prstGeom prst="rightArrow">
            <a:avLst/>
          </a:prstGeom>
          <a:solidFill>
            <a:srgbClr val="C8C2BC"/>
          </a:solidFill>
          <a:ln w="0">
            <a:solidFill>
              <a:srgbClr val="C8C2BC"/>
            </a:solidFill>
          </a:ln>
        </p:spPr>
      </p:sp>
      <p:sp>
        <p:nvSpPr>
          <p:cNvPr id="126" name="矩形: 圓角 125">
            <a:extLst>
              <a:ext uri="{FF2B5EF4-FFF2-40B4-BE49-F238E27FC236}">
                <a16:creationId xmlns:a16="http://schemas.microsoft.com/office/drawing/2014/main" id="{14F4D8DD-76FA-41BD-BF51-9365B0DEA9E1}"/>
              </a:ext>
            </a:extLst>
          </p:cNvPr>
          <p:cNvSpPr>
            <a:spLocks noGrp="1"/>
          </p:cNvSpPr>
          <p:nvPr/>
        </p:nvSpPr>
        <p:spPr>
          <a:xfrm>
            <a:off x="7000875" y="5809397"/>
            <a:ext cx="4362450" cy="476250"/>
          </a:xfrm>
          <a:prstGeom prst="roundRect">
            <a:avLst>
              <a:gd name="adj" fmla="val 16000"/>
            </a:avLst>
          </a:prstGeom>
          <a:solidFill>
            <a:srgbClr val="FFF3E5"/>
          </a:solidFill>
          <a:ln w="11906">
            <a:solidFill>
              <a:srgbClr val="E48312"/>
            </a:solidFill>
          </a:ln>
        </p:spPr>
      </p:sp>
      <p:pic>
        <p:nvPicPr>
          <p:cNvPr id="212" name="圖片 200"/>
          <p:cNvPicPr>
            <a:picLocks noChangeAspect="1"/>
          </p:cNvPicPr>
          <p:nvPr/>
        </p:nvPicPr>
        <p:blipFill>
          <a:blip r:embed="rId8"/>
          <a:stretch/>
        </p:blipFill>
        <p:spPr>
          <a:xfrm>
            <a:off x="7134225" y="5895122"/>
            <a:ext cx="295275" cy="295275"/>
          </a:xfrm>
          <a:prstGeom prst="rect">
            <a:avLst/>
          </a:prstGeom>
        </p:spPr>
      </p:pic>
      <p:sp>
        <p:nvSpPr>
          <p:cNvPr id="128" name="矩形 127">
            <a:extLst>
              <a:ext uri="{FF2B5EF4-FFF2-40B4-BE49-F238E27FC236}">
                <a16:creationId xmlns:a16="http://schemas.microsoft.com/office/drawing/2014/main" id="{357B6A1C-7ADE-4795-A199-1DAABC49D473}"/>
              </a:ext>
            </a:extLst>
          </p:cNvPr>
          <p:cNvSpPr>
            <a:spLocks noGrp="1"/>
          </p:cNvSpPr>
          <p:nvPr/>
        </p:nvSpPr>
        <p:spPr>
          <a:xfrm>
            <a:off x="7515225" y="5837972"/>
            <a:ext cx="1695450" cy="228600"/>
          </a:xfrm>
          <a:prstGeom prst="rect">
            <a:avLst/>
          </a:prstGeom>
          <a:noFill/>
          <a:ln w="0">
            <a:noFill/>
          </a:ln>
        </p:spPr>
        <p:txBody>
          <a:bodyPr wrap="square" lIns="47625" tIns="28575" rIns="47625" bIns="28575" anchor="ctr">
            <a:noAutofit/>
          </a:bodyPr>
          <a:lstStyle/>
          <a:p>
            <a:pPr algn="l">
              <a:buNone/>
              <a:defRPr sz="1050" b="1">
                <a:solidFill>
                  <a:srgbClr val="BD582C"/>
                </a:solidFill>
                <a:latin typeface="Calibri"/>
                <a:ea typeface="Calibri"/>
                <a:cs typeface="Calibri"/>
              </a:defRPr>
            </a:pPr>
            <a:r>
              <a:rPr sz="1050" b="1" dirty="0" err="1">
                <a:solidFill>
                  <a:srgbClr val="BD582C"/>
                </a:solidFill>
                <a:latin typeface="Calibri"/>
                <a:ea typeface="Calibri"/>
                <a:cs typeface="Calibri"/>
              </a:rPr>
              <a:t>一般民眾盲測問卷</a:t>
            </a:r>
            <a:endParaRPr sz="1050" b="1" dirty="0">
              <a:solidFill>
                <a:srgbClr val="BD582C"/>
              </a:solidFill>
              <a:latin typeface="Calibri"/>
              <a:ea typeface="Calibri"/>
              <a:cs typeface="Calibri"/>
            </a:endParaRPr>
          </a:p>
        </p:txBody>
      </p:sp>
      <p:sp>
        <p:nvSpPr>
          <p:cNvPr id="129" name="矩形 128">
            <a:extLst>
              <a:ext uri="{FF2B5EF4-FFF2-40B4-BE49-F238E27FC236}">
                <a16:creationId xmlns:a16="http://schemas.microsoft.com/office/drawing/2014/main" id="{11A07E8D-2CE5-4542-927C-9D6EB09AEB66}"/>
              </a:ext>
            </a:extLst>
          </p:cNvPr>
          <p:cNvSpPr>
            <a:spLocks noGrp="1"/>
          </p:cNvSpPr>
          <p:nvPr/>
        </p:nvSpPr>
        <p:spPr>
          <a:xfrm>
            <a:off x="7515225" y="6066572"/>
            <a:ext cx="3714750" cy="152400"/>
          </a:xfrm>
          <a:prstGeom prst="rect">
            <a:avLst/>
          </a:prstGeom>
          <a:noFill/>
          <a:ln w="0">
            <a:noFill/>
          </a:ln>
        </p:spPr>
        <p:txBody>
          <a:bodyPr wrap="square" lIns="47625" tIns="0" rIns="47625" bIns="0" anchor="t">
            <a:noAutofit/>
          </a:bodyPr>
          <a:lstStyle/>
          <a:p>
            <a:pPr algn="l">
              <a:buNone/>
              <a:defRPr sz="713" b="0">
                <a:solidFill>
                  <a:srgbClr val="414141"/>
                </a:solidFill>
                <a:latin typeface="Calibri"/>
                <a:ea typeface="Calibri"/>
                <a:cs typeface="Calibri"/>
              </a:defRPr>
            </a:pPr>
            <a:r>
              <a:rPr sz="713" b="0">
                <a:solidFill>
                  <a:srgbClr val="414141"/>
                </a:solidFill>
                <a:latin typeface="Calibri"/>
                <a:ea typeface="Calibri"/>
                <a:cs typeface="Calibri"/>
              </a:rPr>
              <a:t>最後階段：約100位一般民眾盲測，隱藏A／B組別，評估可理解度與整體偏好</a:t>
            </a:r>
          </a:p>
        </p:txBody>
      </p:sp>
    </p:spTree>
    <p:extLst>
      <p:ext uri="{BB962C8B-B14F-4D97-AF65-F5344CB8AC3E}">
        <p14:creationId xmlns:p14="http://schemas.microsoft.com/office/powerpoint/2010/main" val="36454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80" y="481298"/>
            <a:ext cx="9088088" cy="797147"/>
          </a:xfrm>
        </p:spPr>
        <p:txBody>
          <a:bodyPr>
            <a:normAutofit/>
          </a:bodyPr>
          <a:lstStyle/>
          <a:p>
            <a:r>
              <a:rPr sz="3600" dirty="0" err="1"/>
              <a:t>中醫資料集</a:t>
            </a:r>
            <a:r>
              <a:rPr sz="3600" dirty="0"/>
              <a:t>- </a:t>
            </a:r>
            <a:r>
              <a:rPr sz="3600" dirty="0" err="1"/>
              <a:t>TCMEval</a:t>
            </a:r>
            <a:r>
              <a:rPr sz="3600" dirty="0"/>
              <a:t>-SDT</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097279" y="1927162"/>
            <a:ext cx="10315788" cy="1384995"/>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400"/>
              <a:t>每筆資料包含病例描述、臨床資訊、病機、證型及解釋答案，用來測試模型是否能按照中醫辨證流程回答</a:t>
            </a:r>
          </a:p>
          <a:p>
            <a:pPr marL="0" marR="0" lvl="0" indent="0" algn="l" defTabSz="914400">
              <a:lnSpc>
                <a:spcPct val="100000"/>
              </a:lnSpc>
              <a:spcBef>
                <a:spcPct val="0"/>
              </a:spcBef>
              <a:spcAft>
                <a:spcPct val="0"/>
              </a:spcAft>
              <a:buClrTx/>
              <a:buSzTx/>
              <a:buNone/>
            </a:pPr>
            <a:r>
              <a:rPr sz="1400"/>
              <a:t>訓練集200筆、驗證集50筆、測試集50筆 共300筆病例。</a:t>
            </a:r>
          </a:p>
          <a:p>
            <a:pPr marL="0" marR="0" lvl="0" indent="0" algn="l" defTabSz="914400">
              <a:lnSpc>
                <a:spcPct val="100000"/>
              </a:lnSpc>
              <a:spcBef>
                <a:spcPct val="0"/>
              </a:spcBef>
              <a:spcAft>
                <a:spcPct val="0"/>
              </a:spcAft>
              <a:buClrTx/>
              <a:buSzTx/>
              <a:buNone/>
            </a:pPr>
            <a:endParaRPr sz="1400"/>
          </a:p>
          <a:p>
            <a:pPr marL="0" marR="0" lvl="0" indent="0" algn="l" defTabSz="914400">
              <a:lnSpc>
                <a:spcPct val="100000"/>
              </a:lnSpc>
              <a:spcBef>
                <a:spcPct val="0"/>
              </a:spcBef>
              <a:spcAft>
                <a:spcPct val="0"/>
              </a:spcAft>
              <a:buClrTx/>
              <a:buSzTx/>
              <a:buNone/>
            </a:pPr>
            <a:endParaRPr sz="1400"/>
          </a:p>
          <a:p>
            <a:pPr marL="0" marR="0" lvl="0" indent="0" algn="l" defTabSz="914400">
              <a:lnSpc>
                <a:spcPct val="100000"/>
              </a:lnSpc>
              <a:spcBef>
                <a:spcPct val="0"/>
              </a:spcBef>
              <a:spcAft>
                <a:spcPct val="0"/>
              </a:spcAft>
              <a:buClrTx/>
              <a:buSzTx/>
              <a:buNone/>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400" b="0" i="0" u="none" cap="none" baseline="0">
              <a:ln>
                <a:noFill/>
              </a:ln>
              <a:solidFill>
                <a:schemeClr val="tx1"/>
              </a:solidFill>
              <a:latin typeface="Arial"/>
              <a:ea typeface="Arial"/>
              <a:cs typeface="Arial"/>
            </a:endParaRPr>
          </a:p>
        </p:txBody>
      </p:sp>
      <p:pic>
        <p:nvPicPr>
          <p:cNvPr id="7" name="圖片 4"/>
          <p:cNvPicPr>
            <a:picLocks noChangeAspect="1"/>
          </p:cNvPicPr>
          <p:nvPr/>
        </p:nvPicPr>
        <p:blipFill>
          <a:blip r:embed="rId3"/>
          <a:stretch>
            <a:fillRect/>
          </a:stretch>
        </p:blipFill>
        <p:spPr>
          <a:xfrm>
            <a:off x="2147047" y="2556906"/>
            <a:ext cx="7897906" cy="3538181"/>
          </a:xfrm>
          <a:prstGeom prst="rect">
            <a:avLst/>
          </a:prstGeom>
        </p:spPr>
      </p:pic>
    </p:spTree>
    <p:extLst>
      <p:ext uri="{BB962C8B-B14F-4D97-AF65-F5344CB8AC3E}">
        <p14:creationId xmlns:p14="http://schemas.microsoft.com/office/powerpoint/2010/main" val="3925360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81945" y="1947387"/>
            <a:ext cx="2036383"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0" i="0" u="none" cap="none">
                <a:ln>
                  <a:noFill/>
                </a:ln>
                <a:solidFill>
                  <a:schemeClr val="tx1"/>
                </a:solidFill>
                <a:latin typeface="Arial"/>
                <a:ea typeface="Arial"/>
                <a:cs typeface="Arial"/>
              </a:rPr>
              <a:t>TCMEval-SDT檔案</a:t>
            </a:r>
            <a:endParaRPr sz="1400"/>
          </a:p>
        </p:txBody>
      </p:sp>
      <p:graphicFrame>
        <p:nvGraphicFramePr>
          <p:cNvPr id="7" name="表格 7"/>
          <p:cNvGraphicFramePr/>
          <p:nvPr/>
        </p:nvGraphicFramePr>
        <p:xfrm>
          <a:off x="1379244" y="2552700"/>
          <a:ext cx="9433511" cy="1483360"/>
        </p:xfrm>
        <a:graphic>
          <a:graphicData uri="http://schemas.openxmlformats.org/drawingml/2006/table">
            <a:tbl>
              <a:tblPr firstRow="1" bandRow="1">
                <a:tableStyleId>{5940675A-B579-460E-94D1-54222C63F5DA}</a:tableStyleId>
              </a:tblPr>
              <a:tblGrid>
                <a:gridCol w="3004573">
                  <a:extLst>
                    <a:ext uri="{9D8B030D-6E8A-4147-A177-3AD203B41FA5}">
                      <a16:colId xmlns:a16="http://schemas.microsoft.com/office/drawing/2014/main" val="20000"/>
                    </a:ext>
                  </a:extLst>
                </a:gridCol>
                <a:gridCol w="2662517">
                  <a:extLst>
                    <a:ext uri="{9D8B030D-6E8A-4147-A177-3AD203B41FA5}">
                      <a16:colId xmlns:a16="http://schemas.microsoft.com/office/drawing/2014/main" val="20001"/>
                    </a:ext>
                  </a:extLst>
                </a:gridCol>
                <a:gridCol w="3766421">
                  <a:extLst>
                    <a:ext uri="{9D8B030D-6E8A-4147-A177-3AD203B41FA5}">
                      <a16:colId xmlns:a16="http://schemas.microsoft.com/office/drawing/2014/main" val="20002"/>
                    </a:ext>
                  </a:extLst>
                </a:gridCol>
              </a:tblGrid>
              <a:tr h="370840">
                <a:tc>
                  <a:txBody>
                    <a:bodyPr/>
                    <a:lstStyle/>
                    <a:p>
                      <a:endParaRPr/>
                    </a:p>
                  </a:txBody>
                  <a:tcPr/>
                </a:tc>
                <a:tc>
                  <a:txBody>
                    <a:bodyPr/>
                    <a:lstStyle/>
                    <a:p>
                      <a:r>
                        <a:t>Results</a:t>
                      </a:r>
                    </a:p>
                  </a:txBody>
                  <a:tcPr/>
                </a:tc>
                <a:tc>
                  <a:txBody>
                    <a:bodyPr/>
                    <a:lstStyle/>
                    <a:p>
                      <a:r>
                        <a:t>scripts</a:t>
                      </a:r>
                    </a:p>
                  </a:txBody>
                  <a:tcPr/>
                </a:tc>
                <a:extLst>
                  <a:ext uri="{0D108BD9-81ED-4DB2-BD59-A6C34878D82A}">
                    <a16:rowId xmlns:a16="http://schemas.microsoft.com/office/drawing/2014/main" val="10000"/>
                  </a:ext>
                </a:extLst>
              </a:tr>
              <a:tr h="370840">
                <a:tc>
                  <a:txBody>
                    <a:bodyPr/>
                    <a:lstStyle/>
                    <a:p>
                      <a:r>
                        <a:t>Test_TCM_Data_v1.json</a:t>
                      </a:r>
                    </a:p>
                  </a:txBody>
                  <a:tcPr/>
                </a:tc>
                <a:tc>
                  <a:txBody>
                    <a:bodyPr/>
                    <a:lstStyle/>
                    <a:p>
                      <a:r>
                        <a:t>Test_data_result.txt</a:t>
                      </a:r>
                    </a:p>
                  </a:txBody>
                  <a:tcPr/>
                </a:tc>
                <a:tc>
                  <a:txBody>
                    <a:bodyPr/>
                    <a:lstStyle/>
                    <a:p>
                      <a:r>
                        <a:t>evaluate.py</a:t>
                      </a:r>
                    </a:p>
                  </a:txBody>
                  <a:tcPr/>
                </a:tc>
                <a:extLst>
                  <a:ext uri="{0D108BD9-81ED-4DB2-BD59-A6C34878D82A}">
                    <a16:rowId xmlns:a16="http://schemas.microsoft.com/office/drawing/2014/main" val="10001"/>
                  </a:ext>
                </a:extLst>
              </a:tr>
              <a:tr h="370840">
                <a:tc>
                  <a:txBody>
                    <a:bodyPr/>
                    <a:lstStyle/>
                    <a:p>
                      <a:r>
                        <a:t>Train_TCM_Data_v1.json</a:t>
                      </a:r>
                    </a:p>
                  </a:txBody>
                  <a:tcPr/>
                </a:tc>
                <a:tc>
                  <a:txBody>
                    <a:bodyPr/>
                    <a:lstStyle/>
                    <a:p>
                      <a:r>
                        <a:t>Validation_data_result.txt</a:t>
                      </a:r>
                    </a:p>
                  </a:txBody>
                  <a:tcPr/>
                </a:tc>
                <a:tc>
                  <a:txBody>
                    <a:bodyPr/>
                    <a:lstStyle/>
                    <a:p>
                      <a:r>
                        <a:t>generate_multiple_choice_options.py</a:t>
                      </a:r>
                    </a:p>
                  </a:txBody>
                  <a:tcPr/>
                </a:tc>
                <a:extLst>
                  <a:ext uri="{0D108BD9-81ED-4DB2-BD59-A6C34878D82A}">
                    <a16:rowId xmlns:a16="http://schemas.microsoft.com/office/drawing/2014/main" val="10002"/>
                  </a:ext>
                </a:extLst>
              </a:tr>
              <a:tr h="370840">
                <a:tc>
                  <a:txBody>
                    <a:bodyPr/>
                    <a:lstStyle/>
                    <a:p>
                      <a:r>
                        <a:t>Validation_TCM_Data_v1.json</a:t>
                      </a:r>
                    </a:p>
                  </a:txBody>
                  <a:tcPr/>
                </a:tc>
                <a:tc>
                  <a:txBody>
                    <a:bodyPr/>
                    <a:lstStyle/>
                    <a:p>
                      <a:endParaRPr/>
                    </a:p>
                  </a:txBody>
                  <a:tcPr/>
                </a:tc>
                <a:tc>
                  <a:txBody>
                    <a:bodyPr/>
                    <a:lstStyle/>
                    <a:p>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78460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81945" y="1947387"/>
            <a:ext cx="9638455"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0" i="0" u="none" cap="none">
                <a:ln>
                  <a:noFill/>
                </a:ln>
                <a:solidFill>
                  <a:schemeClr val="tx1"/>
                </a:solidFill>
                <a:latin typeface="Arial"/>
                <a:ea typeface="Arial"/>
                <a:cs typeface="Arial"/>
              </a:rPr>
              <a:t>用途: 用來測試模型能否從病例中找出重要資訊、判斷病機與證型，並說明辨證理由。</a:t>
            </a:r>
            <a:endParaRPr sz="1400"/>
          </a:p>
        </p:txBody>
      </p:sp>
      <p:sp>
        <p:nvSpPr>
          <p:cNvPr id="4" name="Rectangle 1">
            <a:extLst>
              <a:ext uri="{FF2B5EF4-FFF2-40B4-BE49-F238E27FC236}">
                <a16:creationId xmlns:a16="http://schemas.microsoft.com/office/drawing/2014/main" id="{DFDAA589-6629-6ED3-70EE-FAB1BF88DAD7}"/>
              </a:ext>
            </a:extLst>
          </p:cNvPr>
          <p:cNvSpPr>
            <a:spLocks noGrp="1"/>
          </p:cNvSpPr>
          <p:nvPr/>
        </p:nvSpPr>
        <p:spPr>
          <a:xfrm>
            <a:off x="1181945" y="2296906"/>
            <a:ext cx="9638455" cy="338554"/>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a:solidFill>
                  <a:schemeClr val="tx1"/>
                </a:solidFill>
                <a:latin typeface="Arial"/>
                <a:ea typeface="Arial"/>
                <a:cs typeface="Arial"/>
              </a:rPr>
              <a:t>300筆中醫病例:訓練集200筆｜驗證集50筆｜測試集50筆</a:t>
            </a:r>
            <a:endParaRPr sz="1400"/>
          </a:p>
        </p:txBody>
      </p:sp>
      <p:sp>
        <p:nvSpPr>
          <p:cNvPr id="5" name="Rectangle 1">
            <a:extLst>
              <a:ext uri="{FF2B5EF4-FFF2-40B4-BE49-F238E27FC236}">
                <a16:creationId xmlns:a16="http://schemas.microsoft.com/office/drawing/2014/main" id="{4CC3CEAB-4200-6626-54FB-7C1A457E869C}"/>
              </a:ext>
            </a:extLst>
          </p:cNvPr>
          <p:cNvSpPr>
            <a:spLocks noGrp="1"/>
          </p:cNvSpPr>
          <p:nvPr/>
        </p:nvSpPr>
        <p:spPr>
          <a:xfrm>
            <a:off x="1181945" y="2763582"/>
            <a:ext cx="9638455" cy="553998"/>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a:solidFill>
                  <a:schemeClr val="tx1"/>
                </a:solidFill>
                <a:latin typeface="Arial"/>
                <a:ea typeface="Arial"/>
                <a:cs typeface="Arial"/>
              </a:rPr>
              <a:t>主要欄位:</a:t>
            </a:r>
          </a:p>
          <a:p>
            <a:pPr marL="0" indent="0">
              <a:lnSpc>
                <a:spcPct val="100000"/>
              </a:lnSpc>
              <a:spcBef>
                <a:spcPct val="0"/>
              </a:spcBef>
              <a:spcAft>
                <a:spcPct val="0"/>
              </a:spcAft>
              <a:buClrTx/>
              <a:buSzTx/>
              <a:buFont typeface="Calibri"/>
              <a:buNone/>
            </a:pPr>
            <a:endParaRPr sz="1400"/>
          </a:p>
        </p:txBody>
      </p:sp>
      <p:graphicFrame>
        <p:nvGraphicFramePr>
          <p:cNvPr id="11" name="表格 8"/>
          <p:cNvGraphicFramePr/>
          <p:nvPr>
            <p:extLst>
              <p:ext uri="{D42A27DB-BD31-4B8C-83A1-F6EECF244321}">
                <p14:modId xmlns:p14="http://schemas.microsoft.com/office/powerpoint/2010/main" val="762071800"/>
              </p:ext>
            </p:extLst>
          </p:nvPr>
        </p:nvGraphicFramePr>
        <p:xfrm>
          <a:off x="770965" y="3156086"/>
          <a:ext cx="10648926" cy="3032760"/>
        </p:xfrm>
        <a:graphic>
          <a:graphicData uri="http://schemas.openxmlformats.org/drawingml/2006/table">
            <a:tbl>
              <a:tblPr firstRow="1" bandRow="1">
                <a:tableStyleId>{5940675A-B579-460E-94D1-54222C63F5DA}</a:tableStyleId>
              </a:tblPr>
              <a:tblGrid>
                <a:gridCol w="1621467">
                  <a:extLst>
                    <a:ext uri="{9D8B030D-6E8A-4147-A177-3AD203B41FA5}">
                      <a16:colId xmlns:a16="http://schemas.microsoft.com/office/drawing/2014/main" val="20000"/>
                    </a:ext>
                  </a:extLst>
                </a:gridCol>
                <a:gridCol w="3684494">
                  <a:extLst>
                    <a:ext uri="{9D8B030D-6E8A-4147-A177-3AD203B41FA5}">
                      <a16:colId xmlns:a16="http://schemas.microsoft.com/office/drawing/2014/main" val="20001"/>
                    </a:ext>
                  </a:extLst>
                </a:gridCol>
                <a:gridCol w="5342965">
                  <a:extLst>
                    <a:ext uri="{9D8B030D-6E8A-4147-A177-3AD203B41FA5}">
                      <a16:colId xmlns:a16="http://schemas.microsoft.com/office/drawing/2014/main" val="20002"/>
                    </a:ext>
                  </a:extLst>
                </a:gridCol>
              </a:tblGrid>
              <a:tr h="370840">
                <a:tc>
                  <a:txBody>
                    <a:bodyPr/>
                    <a:lstStyle/>
                    <a:p>
                      <a:r>
                        <a:t>處理階段</a:t>
                      </a:r>
                    </a:p>
                  </a:txBody>
                  <a:tcPr/>
                </a:tc>
                <a:tc>
                  <a:txBody>
                    <a:bodyPr/>
                    <a:lstStyle/>
                    <a:p>
                      <a:r>
                        <a:t>主要欄位</a:t>
                      </a:r>
                    </a:p>
                  </a:txBody>
                  <a:tcPr/>
                </a:tc>
                <a:tc>
                  <a:txBody>
                    <a:bodyPr/>
                    <a:lstStyle/>
                    <a:p>
                      <a:r>
                        <a:t>說明</a:t>
                      </a:r>
                    </a:p>
                  </a:txBody>
                  <a:tcPr/>
                </a:tc>
                <a:extLst>
                  <a:ext uri="{0D108BD9-81ED-4DB2-BD59-A6C34878D82A}">
                    <a16:rowId xmlns:a16="http://schemas.microsoft.com/office/drawing/2014/main" val="10000"/>
                  </a:ext>
                </a:extLst>
              </a:tr>
              <a:tr h="370840">
                <a:tc>
                  <a:txBody>
                    <a:bodyPr/>
                    <a:lstStyle/>
                    <a:p>
                      <a:r>
                        <a:t>病例輸入</a:t>
                      </a:r>
                    </a:p>
                  </a:txBody>
                  <a:tcPr/>
                </a:tc>
                <a:tc>
                  <a:txBody>
                    <a:bodyPr/>
                    <a:lstStyle/>
                    <a:p>
                      <a:r>
                        <a:t>Medical Record ID、Clinical Data</a:t>
                      </a:r>
                    </a:p>
                  </a:txBody>
                  <a:tcPr/>
                </a:tc>
                <a:tc>
                  <a:txBody>
                    <a:bodyPr/>
                    <a:lstStyle/>
                    <a:p>
                      <a:r>
                        <a:t>病例編號及完整病歷，包括症狀、舌象與脈象</a:t>
                      </a:r>
                    </a:p>
                  </a:txBody>
                  <a:tcPr/>
                </a:tc>
                <a:extLst>
                  <a:ext uri="{0D108BD9-81ED-4DB2-BD59-A6C34878D82A}">
                    <a16:rowId xmlns:a16="http://schemas.microsoft.com/office/drawing/2014/main" val="10001"/>
                  </a:ext>
                </a:extLst>
              </a:tr>
              <a:tr h="370840">
                <a:tc>
                  <a:txBody>
                    <a:bodyPr/>
                    <a:lstStyle/>
                    <a:p>
                      <a:r>
                        <a:t>臨床資訊</a:t>
                      </a:r>
                    </a:p>
                  </a:txBody>
                  <a:tcPr/>
                </a:tc>
                <a:tc>
                  <a:txBody>
                    <a:bodyPr/>
                    <a:lstStyle/>
                    <a:p>
                      <a:r>
                        <a:t>Clinical Information</a:t>
                      </a:r>
                    </a:p>
                  </a:txBody>
                  <a:tcPr/>
                </a:tc>
                <a:tc>
                  <a:txBody>
                    <a:bodyPr/>
                    <a:lstStyle/>
                    <a:p>
                      <a:r>
                        <a:t>病例中的重要症狀與檢查結果。</a:t>
                      </a:r>
                    </a:p>
                  </a:txBody>
                  <a:tcPr/>
                </a:tc>
                <a:extLst>
                  <a:ext uri="{0D108BD9-81ED-4DB2-BD59-A6C34878D82A}">
                    <a16:rowId xmlns:a16="http://schemas.microsoft.com/office/drawing/2014/main" val="10002"/>
                  </a:ext>
                </a:extLst>
              </a:tr>
              <a:tr h="370840">
                <a:tc>
                  <a:txBody>
                    <a:bodyPr/>
                    <a:lstStyle/>
                    <a:p>
                      <a:r>
                        <a:rPr dirty="0" err="1"/>
                        <a:t>病機判斷</a:t>
                      </a:r>
                      <a:endParaRPr dirty="0"/>
                    </a:p>
                  </a:txBody>
                  <a:tcPr/>
                </a:tc>
                <a:tc>
                  <a:txBody>
                    <a:bodyPr/>
                    <a:lstStyle/>
                    <a:p>
                      <a:r>
                        <a:t>TCM Pathogenesis、</a:t>
                      </a:r>
                    </a:p>
                    <a:p>
                      <a:r>
                        <a:t>TCM Pathogenesis reasoning</a:t>
                      </a:r>
                    </a:p>
                  </a:txBody>
                  <a:tcPr/>
                </a:tc>
                <a:tc>
                  <a:txBody>
                    <a:bodyPr/>
                    <a:lstStyle/>
                    <a:p>
                      <a:r>
                        <a:t>判斷疾病形成的原因，並說明哪些症狀支持此病機</a:t>
                      </a:r>
                    </a:p>
                  </a:txBody>
                  <a:tcPr/>
                </a:tc>
                <a:extLst>
                  <a:ext uri="{0D108BD9-81ED-4DB2-BD59-A6C34878D82A}">
                    <a16:rowId xmlns:a16="http://schemas.microsoft.com/office/drawing/2014/main" val="10003"/>
                  </a:ext>
                </a:extLst>
              </a:tr>
              <a:tr h="370840">
                <a:tc>
                  <a:txBody>
                    <a:bodyPr/>
                    <a:lstStyle/>
                    <a:p>
                      <a:r>
                        <a:t>證型判斷</a:t>
                      </a:r>
                    </a:p>
                  </a:txBody>
                  <a:tcPr/>
                </a:tc>
                <a:tc>
                  <a:txBody>
                    <a:bodyPr/>
                    <a:lstStyle/>
                    <a:p>
                      <a:r>
                        <a:t>TCM Syndrome、TCM Syndrome reasoning</a:t>
                      </a:r>
                    </a:p>
                  </a:txBody>
                  <a:tcPr/>
                </a:tc>
                <a:tc>
                  <a:txBody>
                    <a:bodyPr/>
                    <a:lstStyle/>
                    <a:p>
                      <a:r>
                        <a:t>根據病機判斷中醫證型，並說明兩者關係</a:t>
                      </a:r>
                    </a:p>
                  </a:txBody>
                  <a:tcPr/>
                </a:tc>
                <a:extLst>
                  <a:ext uri="{0D108BD9-81ED-4DB2-BD59-A6C34878D82A}">
                    <a16:rowId xmlns:a16="http://schemas.microsoft.com/office/drawing/2014/main" val="10004"/>
                  </a:ext>
                </a:extLst>
              </a:tr>
              <a:tr h="370840">
                <a:tc>
                  <a:txBody>
                    <a:bodyPr/>
                    <a:lstStyle/>
                    <a:p>
                      <a:r>
                        <a:t>辨證說明</a:t>
                      </a:r>
                    </a:p>
                  </a:txBody>
                  <a:tcPr/>
                </a:tc>
                <a:tc>
                  <a:txBody>
                    <a:bodyPr/>
                    <a:lstStyle/>
                    <a:p>
                      <a:r>
                        <a:t>Syndrome Differentiation、Explanatory Summary</a:t>
                      </a:r>
                    </a:p>
                  </a:txBody>
                  <a:tcPr/>
                </a:tc>
                <a:tc>
                  <a:txBody>
                    <a:bodyPr/>
                    <a:lstStyle/>
                    <a:p>
                      <a:r>
                        <a:rPr dirty="0" err="1"/>
                        <a:t>輸出最後辨證結果及完整解釋</a:t>
                      </a:r>
                      <a:endParaRPr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666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資料前處理</a:t>
            </a:r>
          </a:p>
        </p:txBody>
      </p:sp>
      <p:sp>
        <p:nvSpPr>
          <p:cNvPr id="3" name="Rectangle 1">
            <a:extLst>
              <a:ext uri="{FF2B5EF4-FFF2-40B4-BE49-F238E27FC236}">
                <a16:creationId xmlns:a16="http://schemas.microsoft.com/office/drawing/2014/main" id="{17DAB6A2-8ED3-1873-A37C-3E16224A3DA9}"/>
              </a:ext>
            </a:extLst>
          </p:cNvPr>
          <p:cNvSpPr>
            <a:spLocks noGrp="1"/>
          </p:cNvSpPr>
          <p:nvPr>
            <p:ph idx="1"/>
          </p:nvPr>
        </p:nvSpPr>
        <p:spPr>
          <a:xfrm>
            <a:off x="1097279" y="2667128"/>
            <a:ext cx="6226886" cy="523220"/>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400" dirty="0" err="1"/>
              <a:t>把每個病例的病機與證型答案</a:t>
            </a:r>
            <a:endParaRPr sz="1400" dirty="0"/>
          </a:p>
          <a:p>
            <a:pPr marL="0" marR="0" lvl="0" indent="0" algn="l" defTabSz="914400">
              <a:lnSpc>
                <a:spcPct val="100000"/>
              </a:lnSpc>
              <a:spcBef>
                <a:spcPct val="0"/>
              </a:spcBef>
              <a:spcAft>
                <a:spcPct val="0"/>
              </a:spcAft>
              <a:buClrTx/>
              <a:buSzTx/>
              <a:buNone/>
            </a:pPr>
            <a:r>
              <a:rPr sz="1400" dirty="0" err="1"/>
              <a:t>轉換成包含正確答案和干擾選項的A～J選擇題</a:t>
            </a:r>
            <a:endParaRPr sz="1600" b="0" i="0" u="none" cap="none" baseline="0" dirty="0">
              <a:ln>
                <a:noFill/>
              </a:ln>
              <a:solidFill>
                <a:schemeClr val="tx1"/>
              </a:solidFill>
              <a:latin typeface="Arial"/>
              <a:ea typeface="Arial"/>
              <a:cs typeface="Arial"/>
            </a:endParaRPr>
          </a:p>
        </p:txBody>
      </p:sp>
      <p:pic>
        <p:nvPicPr>
          <p:cNvPr id="10" name="圖片 4"/>
          <p:cNvPicPr>
            <a:picLocks noChangeAspect="1"/>
          </p:cNvPicPr>
          <p:nvPr/>
        </p:nvPicPr>
        <p:blipFill>
          <a:blip r:embed="rId3"/>
          <a:stretch>
            <a:fillRect/>
          </a:stretch>
        </p:blipFill>
        <p:spPr>
          <a:xfrm>
            <a:off x="6391837" y="2667128"/>
            <a:ext cx="4831882" cy="2677496"/>
          </a:xfrm>
          <a:prstGeom prst="rect">
            <a:avLst/>
          </a:prstGeom>
        </p:spPr>
      </p:pic>
      <p:sp>
        <p:nvSpPr>
          <p:cNvPr id="6" name="Rectangle 1">
            <a:extLst>
              <a:ext uri="{FF2B5EF4-FFF2-40B4-BE49-F238E27FC236}">
                <a16:creationId xmlns:a16="http://schemas.microsoft.com/office/drawing/2014/main" id="{2F3DEE34-A760-5FFE-5B6F-D02134223636}"/>
              </a:ext>
            </a:extLst>
          </p:cNvPr>
          <p:cNvSpPr>
            <a:spLocks noGrp="1"/>
          </p:cNvSpPr>
          <p:nvPr/>
        </p:nvSpPr>
        <p:spPr>
          <a:xfrm>
            <a:off x="1097279" y="3636544"/>
            <a:ext cx="5142156" cy="738664"/>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400" dirty="0" err="1">
                <a:solidFill>
                  <a:schemeClr val="tx1"/>
                </a:solidFill>
                <a:latin typeface="Arial"/>
                <a:ea typeface="Arial"/>
                <a:cs typeface="Arial"/>
              </a:rPr>
              <a:t>正確答案：該病例真正對應的病機或證型</a:t>
            </a:r>
            <a:r>
              <a:rPr sz="1400" dirty="0">
                <a:solidFill>
                  <a:schemeClr val="tx1"/>
                </a:solidFill>
                <a:latin typeface="Arial"/>
                <a:ea typeface="Arial"/>
                <a:cs typeface="Arial"/>
              </a:rPr>
              <a:t>。</a:t>
            </a:r>
          </a:p>
          <a:p>
            <a:pPr marL="0" indent="0">
              <a:lnSpc>
                <a:spcPct val="100000"/>
              </a:lnSpc>
              <a:spcBef>
                <a:spcPct val="0"/>
              </a:spcBef>
              <a:spcAft>
                <a:spcPct val="0"/>
              </a:spcAft>
              <a:buClrTx/>
              <a:buSzTx/>
              <a:buFont typeface="Calibri"/>
              <a:buNone/>
            </a:pPr>
            <a:r>
              <a:rPr sz="1400" dirty="0" err="1">
                <a:solidFill>
                  <a:schemeClr val="tx1"/>
                </a:solidFill>
                <a:latin typeface="Arial"/>
                <a:ea typeface="Arial"/>
                <a:cs typeface="Arial"/>
              </a:rPr>
              <a:t>干擾選項：從其他病例挑選的不正確答案，用來測試模型是否真的能判斷</a:t>
            </a:r>
            <a:r>
              <a:rPr sz="1400" dirty="0">
                <a:solidFill>
                  <a:schemeClr val="tx1"/>
                </a:solidFill>
                <a:latin typeface="Arial"/>
                <a:ea typeface="Arial"/>
                <a:cs typeface="Arial"/>
              </a:rPr>
              <a:t>。</a:t>
            </a:r>
          </a:p>
        </p:txBody>
      </p:sp>
    </p:spTree>
    <p:extLst>
      <p:ext uri="{BB962C8B-B14F-4D97-AF65-F5344CB8AC3E}">
        <p14:creationId xmlns:p14="http://schemas.microsoft.com/office/powerpoint/2010/main" val="3182871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dirty="0" err="1"/>
              <a:t>西醫資料集</a:t>
            </a:r>
            <a:r>
              <a:rPr sz="3600" dirty="0"/>
              <a:t>- SNOMED CT</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68996" y="1932943"/>
            <a:ext cx="10315788"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0" i="0" u="none" cap="none">
                <a:ln>
                  <a:noFill/>
                </a:ln>
                <a:solidFill>
                  <a:schemeClr val="tx1"/>
                </a:solidFill>
                <a:latin typeface="Arial"/>
                <a:ea typeface="Arial"/>
                <a:cs typeface="Arial"/>
              </a:rPr>
              <a:t>SNOMED CT -</a:t>
            </a:r>
            <a:r>
              <a:rPr sz="1400"/>
              <a:t>提供疾病的標準概念編號及英文名稱，協助確認不同名稱是否指向相同醫療概念</a:t>
            </a:r>
          </a:p>
        </p:txBody>
      </p:sp>
      <p:pic>
        <p:nvPicPr>
          <p:cNvPr id="7" name="圖片 4"/>
          <p:cNvPicPr>
            <a:picLocks noChangeAspect="1"/>
          </p:cNvPicPr>
          <p:nvPr/>
        </p:nvPicPr>
        <p:blipFill>
          <a:blip r:embed="rId3"/>
          <a:stretch>
            <a:fillRect/>
          </a:stretch>
        </p:blipFill>
        <p:spPr>
          <a:xfrm>
            <a:off x="1573538" y="2600439"/>
            <a:ext cx="9044924" cy="3038360"/>
          </a:xfrm>
          <a:prstGeom prst="rect">
            <a:avLst/>
          </a:prstGeom>
        </p:spPr>
      </p:pic>
    </p:spTree>
    <p:extLst>
      <p:ext uri="{BB962C8B-B14F-4D97-AF65-F5344CB8AC3E}">
        <p14:creationId xmlns:p14="http://schemas.microsoft.com/office/powerpoint/2010/main" val="2042938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81946" y="1947387"/>
            <a:ext cx="1882988"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0" i="0" u="none" cap="none">
                <a:ln>
                  <a:noFill/>
                </a:ln>
                <a:solidFill>
                  <a:schemeClr val="tx1"/>
                </a:solidFill>
                <a:latin typeface="Arial"/>
                <a:ea typeface="Arial"/>
                <a:cs typeface="Arial"/>
              </a:rPr>
              <a:t>SNOMED CT檔案</a:t>
            </a:r>
            <a:endParaRPr sz="1400"/>
          </a:p>
        </p:txBody>
      </p:sp>
      <p:graphicFrame>
        <p:nvGraphicFramePr>
          <p:cNvPr id="7" name="表格 8"/>
          <p:cNvGraphicFramePr/>
          <p:nvPr/>
        </p:nvGraphicFramePr>
        <p:xfrm>
          <a:off x="3035300" y="2480733"/>
          <a:ext cx="6121399" cy="1112520"/>
        </p:xfrm>
        <a:graphic>
          <a:graphicData uri="http://schemas.openxmlformats.org/drawingml/2006/table">
            <a:tbl>
              <a:tblPr firstRow="1" bandRow="1">
                <a:tableStyleId>{5940675A-B579-460E-94D1-54222C63F5DA}</a:tableStyleId>
              </a:tblPr>
              <a:tblGrid>
                <a:gridCol w="6121399">
                  <a:extLst>
                    <a:ext uri="{9D8B030D-6E8A-4147-A177-3AD203B41FA5}">
                      <a16:colId xmlns:a16="http://schemas.microsoft.com/office/drawing/2014/main" val="20000"/>
                    </a:ext>
                  </a:extLst>
                </a:gridCol>
              </a:tblGrid>
              <a:tr h="370840">
                <a:tc>
                  <a:txBody>
                    <a:bodyPr/>
                    <a:lstStyle/>
                    <a:p>
                      <a:r>
                        <a:t>sct2_Concept_Snapshot_INT_20260401.txt</a:t>
                      </a:r>
                    </a:p>
                  </a:txBody>
                  <a:tcPr/>
                </a:tc>
                <a:extLst>
                  <a:ext uri="{0D108BD9-81ED-4DB2-BD59-A6C34878D82A}">
                    <a16:rowId xmlns:a16="http://schemas.microsoft.com/office/drawing/2014/main" val="10000"/>
                  </a:ext>
                </a:extLst>
              </a:tr>
              <a:tr h="370840">
                <a:tc>
                  <a:txBody>
                    <a:bodyPr/>
                    <a:lstStyle/>
                    <a:p>
                      <a:r>
                        <a:t>sct2_Description_Snapshot-en_INT_20260401.txt</a:t>
                      </a:r>
                    </a:p>
                  </a:txBody>
                  <a:tcPr/>
                </a:tc>
                <a:extLst>
                  <a:ext uri="{0D108BD9-81ED-4DB2-BD59-A6C34878D82A}">
                    <a16:rowId xmlns:a16="http://schemas.microsoft.com/office/drawing/2014/main" val="10001"/>
                  </a:ext>
                </a:extLst>
              </a:tr>
              <a:tr h="370840">
                <a:tc>
                  <a:txBody>
                    <a:bodyPr/>
                    <a:lstStyle/>
                    <a:p>
                      <a:r>
                        <a:t>sct2_Relationship_Snapshot_INT_20260401.txt</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5024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資料前處理</a:t>
            </a:r>
          </a:p>
        </p:txBody>
      </p:sp>
      <p:pic>
        <p:nvPicPr>
          <p:cNvPr id="51" name="圖片 5"/>
          <p:cNvPicPr>
            <a:picLocks noChangeAspect="1"/>
          </p:cNvPicPr>
          <p:nvPr/>
        </p:nvPicPr>
        <p:blipFill>
          <a:blip r:embed="rId3"/>
          <a:stretch>
            <a:fillRect/>
          </a:stretch>
        </p:blipFill>
        <p:spPr>
          <a:xfrm>
            <a:off x="6600514" y="4199594"/>
            <a:ext cx="4622800" cy="1726588"/>
          </a:xfrm>
          <a:prstGeom prst="rect">
            <a:avLst/>
          </a:prstGeom>
        </p:spPr>
      </p:pic>
      <p:pic>
        <p:nvPicPr>
          <p:cNvPr id="52" name="圖片 8"/>
          <p:cNvPicPr>
            <a:picLocks noChangeAspect="1"/>
          </p:cNvPicPr>
          <p:nvPr/>
        </p:nvPicPr>
        <p:blipFill>
          <a:blip r:embed="rId4"/>
          <a:stretch>
            <a:fillRect/>
          </a:stretch>
        </p:blipFill>
        <p:spPr>
          <a:xfrm>
            <a:off x="1097279" y="2026033"/>
            <a:ext cx="7132453" cy="1726588"/>
          </a:xfrm>
          <a:prstGeom prst="rect">
            <a:avLst/>
          </a:prstGeom>
        </p:spPr>
      </p:pic>
      <p:cxnSp>
        <p:nvCxnSpPr>
          <p:cNvPr id="53" name="直線單箭頭接點 10"/>
          <p:cNvCxnSpPr/>
          <p:nvPr/>
        </p:nvCxnSpPr>
        <p:spPr>
          <a:xfrm>
            <a:off x="5901267" y="3911727"/>
            <a:ext cx="517462" cy="4092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5815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BF9FBADF-7D62-4251-BA7B-AACAE2C137C6}"/>
              </a:ext>
            </a:extLst>
          </p:cNvPr>
          <p:cNvSpPr>
            <a:spLocks noGrp="1"/>
          </p:cNvSpPr>
          <p:nvPr/>
        </p:nvSpPr>
        <p:spPr>
          <a:xfrm>
            <a:off x="1097280" y="481013"/>
            <a:ext cx="9086850" cy="797243"/>
          </a:xfrm>
          <a:prstGeom prst="rect">
            <a:avLst/>
          </a:prstGeom>
          <a:noFill/>
          <a:ln w="0">
            <a:noFill/>
          </a:ln>
        </p:spPr>
        <p:txBody>
          <a:bodyPr wrap="square" lIns="38100" tIns="19050" rIns="38100" bIns="19050" anchor="ctr">
            <a:noAutofit/>
          </a:bodyPr>
          <a:lstStyle/>
          <a:p>
            <a:pPr algn="l">
              <a:buNone/>
              <a:defRPr sz="2850" b="0">
                <a:solidFill>
                  <a:srgbClr val="595959"/>
                </a:solidFill>
                <a:latin typeface="Microsoft JhengHei"/>
                <a:ea typeface="Microsoft JhengHei"/>
                <a:cs typeface="Microsoft JhengHei"/>
              </a:defRPr>
            </a:pPr>
            <a:r>
              <a:rPr sz="2850" b="0">
                <a:solidFill>
                  <a:srgbClr val="595959"/>
                </a:solidFill>
                <a:latin typeface="Microsoft JhengHei"/>
                <a:ea typeface="Microsoft JhengHei"/>
                <a:cs typeface="Microsoft JhengHei"/>
              </a:rPr>
              <a:t>SNOMED CT三類核心資料</a:t>
            </a:r>
          </a:p>
        </p:txBody>
      </p:sp>
      <p:sp>
        <p:nvSpPr>
          <p:cNvPr id="2" name="矩形 1">
            <a:extLst>
              <a:ext uri="{FF2B5EF4-FFF2-40B4-BE49-F238E27FC236}">
                <a16:creationId xmlns:a16="http://schemas.microsoft.com/office/drawing/2014/main" id="{7EDF00DB-F3FD-43B3-B81E-70002A8C39C4}"/>
              </a:ext>
            </a:extLst>
          </p:cNvPr>
          <p:cNvSpPr>
            <a:spLocks noGrp="1"/>
          </p:cNvSpPr>
          <p:nvPr/>
        </p:nvSpPr>
        <p:spPr>
          <a:xfrm>
            <a:off x="1097280" y="1381125"/>
            <a:ext cx="10039350" cy="14288"/>
          </a:xfrm>
          <a:prstGeom prst="rect">
            <a:avLst/>
          </a:prstGeom>
          <a:solidFill>
            <a:srgbClr val="D2D2D2"/>
          </a:solidFill>
          <a:ln w="0">
            <a:solidFill>
              <a:srgbClr val="D2D2D2"/>
            </a:solidFill>
          </a:ln>
        </p:spPr>
      </p:sp>
      <p:sp>
        <p:nvSpPr>
          <p:cNvPr id="3" name="矩形 2">
            <a:extLst>
              <a:ext uri="{FF2B5EF4-FFF2-40B4-BE49-F238E27FC236}">
                <a16:creationId xmlns:a16="http://schemas.microsoft.com/office/drawing/2014/main" id="{CE337DD9-7806-4AD9-8C82-971868C0BA22}"/>
              </a:ext>
            </a:extLst>
          </p:cNvPr>
          <p:cNvSpPr>
            <a:spLocks noGrp="1"/>
          </p:cNvSpPr>
          <p:nvPr/>
        </p:nvSpPr>
        <p:spPr>
          <a:xfrm>
            <a:off x="1133475" y="1524000"/>
            <a:ext cx="9953625" cy="400050"/>
          </a:xfrm>
          <a:prstGeom prst="rect">
            <a:avLst/>
          </a:prstGeom>
          <a:noFill/>
          <a:ln w="0">
            <a:noFill/>
          </a:ln>
        </p:spPr>
        <p:txBody>
          <a:bodyPr wrap="square" lIns="38100" tIns="19050" rIns="38100" bIns="19050" anchor="ctr">
            <a:noAutofit/>
          </a:bodyPr>
          <a:lstStyle/>
          <a:p>
            <a:pPr algn="l">
              <a:buNone/>
              <a:defRPr sz="1500" b="0">
                <a:solidFill>
                  <a:srgbClr val="6B6B6B"/>
                </a:solidFill>
                <a:latin typeface="Microsoft JhengHei"/>
                <a:ea typeface="Microsoft JhengHei"/>
                <a:cs typeface="Microsoft JhengHei"/>
              </a:defRPr>
            </a:pPr>
            <a:r>
              <a:rPr sz="1500" b="0">
                <a:solidFill>
                  <a:srgbClr val="6B6B6B"/>
                </a:solidFill>
                <a:latin typeface="Microsoft JhengHei"/>
                <a:ea typeface="Microsoft JhengHei"/>
                <a:cs typeface="Microsoft JhengHei"/>
              </a:rPr>
              <a:t>三種資料分工合作，讓系統知道醫療概念是什麼、叫什麼，以及彼此如何連結。</a:t>
            </a:r>
          </a:p>
        </p:txBody>
      </p:sp>
      <p:sp>
        <p:nvSpPr>
          <p:cNvPr id="4" name="矩形 3">
            <a:extLst>
              <a:ext uri="{FF2B5EF4-FFF2-40B4-BE49-F238E27FC236}">
                <a16:creationId xmlns:a16="http://schemas.microsoft.com/office/drawing/2014/main" id="{01A9FFF9-DBA7-4DB9-808A-F5EFC316C390}"/>
              </a:ext>
            </a:extLst>
          </p:cNvPr>
          <p:cNvSpPr>
            <a:spLocks noGrp="1"/>
          </p:cNvSpPr>
          <p:nvPr/>
        </p:nvSpPr>
        <p:spPr>
          <a:xfrm>
            <a:off x="1190625" y="1981200"/>
            <a:ext cx="2095500" cy="285750"/>
          </a:xfrm>
          <a:prstGeom prst="rect">
            <a:avLst/>
          </a:prstGeom>
          <a:noFill/>
          <a:ln w="0">
            <a:noFill/>
          </a:ln>
        </p:spPr>
        <p:txBody>
          <a:bodyPr wrap="square" lIns="38100" tIns="19050" rIns="38100" bIns="19050" anchor="ctr">
            <a:noAutofit/>
          </a:bodyPr>
          <a:lstStyle/>
          <a:p>
            <a:pPr algn="l">
              <a:buNone/>
              <a:defRPr sz="1200" b="1">
                <a:solidFill>
                  <a:srgbClr val="6B6B6B"/>
                </a:solidFill>
                <a:latin typeface="Microsoft JhengHei"/>
                <a:ea typeface="Microsoft JhengHei"/>
                <a:cs typeface="Microsoft JhengHei"/>
              </a:defRPr>
            </a:pPr>
            <a:r>
              <a:rPr sz="1200" b="1">
                <a:solidFill>
                  <a:srgbClr val="6B6B6B"/>
                </a:solidFill>
                <a:latin typeface="Microsoft JhengHei"/>
                <a:ea typeface="Microsoft JhengHei"/>
                <a:cs typeface="Microsoft JhengHei"/>
              </a:rPr>
              <a:t>資料類型</a:t>
            </a:r>
          </a:p>
        </p:txBody>
      </p:sp>
      <p:sp>
        <p:nvSpPr>
          <p:cNvPr id="5" name="矩形 4">
            <a:extLst>
              <a:ext uri="{FF2B5EF4-FFF2-40B4-BE49-F238E27FC236}">
                <a16:creationId xmlns:a16="http://schemas.microsoft.com/office/drawing/2014/main" id="{3F90A933-2B69-4D48-B7A4-1C04682F74B0}"/>
              </a:ext>
            </a:extLst>
          </p:cNvPr>
          <p:cNvSpPr>
            <a:spLocks noGrp="1"/>
          </p:cNvSpPr>
          <p:nvPr/>
        </p:nvSpPr>
        <p:spPr>
          <a:xfrm>
            <a:off x="3476625" y="1981200"/>
            <a:ext cx="4143375" cy="285750"/>
          </a:xfrm>
          <a:prstGeom prst="rect">
            <a:avLst/>
          </a:prstGeom>
          <a:noFill/>
          <a:ln w="0">
            <a:noFill/>
          </a:ln>
        </p:spPr>
        <p:txBody>
          <a:bodyPr wrap="square" lIns="38100" tIns="19050" rIns="38100" bIns="19050" anchor="ctr">
            <a:noAutofit/>
          </a:bodyPr>
          <a:lstStyle/>
          <a:p>
            <a:pPr algn="l">
              <a:buNone/>
              <a:defRPr sz="1200" b="1">
                <a:solidFill>
                  <a:srgbClr val="6B6B6B"/>
                </a:solidFill>
                <a:latin typeface="Microsoft JhengHei"/>
                <a:ea typeface="Microsoft JhengHei"/>
                <a:cs typeface="Microsoft JhengHei"/>
              </a:defRPr>
            </a:pPr>
            <a:r>
              <a:rPr sz="1200" b="1">
                <a:solidFill>
                  <a:srgbClr val="6B6B6B"/>
                </a:solidFill>
                <a:latin typeface="Microsoft JhengHei"/>
                <a:ea typeface="Microsoft JhengHei"/>
                <a:cs typeface="Microsoft JhengHei"/>
              </a:rPr>
              <a:t>說明</a:t>
            </a:r>
          </a:p>
        </p:txBody>
      </p:sp>
      <p:sp>
        <p:nvSpPr>
          <p:cNvPr id="6" name="矩形 5">
            <a:extLst>
              <a:ext uri="{FF2B5EF4-FFF2-40B4-BE49-F238E27FC236}">
                <a16:creationId xmlns:a16="http://schemas.microsoft.com/office/drawing/2014/main" id="{FFAB9ECC-D2A1-4CA2-BCBF-5C198BD29861}"/>
              </a:ext>
            </a:extLst>
          </p:cNvPr>
          <p:cNvSpPr>
            <a:spLocks noGrp="1"/>
          </p:cNvSpPr>
          <p:nvPr/>
        </p:nvSpPr>
        <p:spPr>
          <a:xfrm>
            <a:off x="7858125" y="1981200"/>
            <a:ext cx="3190875" cy="285750"/>
          </a:xfrm>
          <a:prstGeom prst="rect">
            <a:avLst/>
          </a:prstGeom>
          <a:noFill/>
          <a:ln w="0">
            <a:noFill/>
          </a:ln>
        </p:spPr>
        <p:txBody>
          <a:bodyPr wrap="square" lIns="38100" tIns="19050" rIns="38100" bIns="19050" anchor="ctr">
            <a:noAutofit/>
          </a:bodyPr>
          <a:lstStyle/>
          <a:p>
            <a:pPr algn="l">
              <a:buNone/>
              <a:defRPr sz="1200" b="1">
                <a:solidFill>
                  <a:srgbClr val="6B6B6B"/>
                </a:solidFill>
                <a:latin typeface="Microsoft JhengHei"/>
                <a:ea typeface="Microsoft JhengHei"/>
                <a:cs typeface="Microsoft JhengHei"/>
              </a:defRPr>
            </a:pPr>
            <a:r>
              <a:rPr sz="1200" b="1">
                <a:solidFill>
                  <a:srgbClr val="6B6B6B"/>
                </a:solidFill>
                <a:latin typeface="Microsoft JhengHei"/>
                <a:ea typeface="Microsoft JhengHei"/>
                <a:cs typeface="Microsoft JhengHei"/>
              </a:rPr>
              <a:t>欄位</a:t>
            </a:r>
          </a:p>
        </p:txBody>
      </p:sp>
      <p:sp>
        <p:nvSpPr>
          <p:cNvPr id="7" name="矩形 6">
            <a:extLst>
              <a:ext uri="{FF2B5EF4-FFF2-40B4-BE49-F238E27FC236}">
                <a16:creationId xmlns:a16="http://schemas.microsoft.com/office/drawing/2014/main" id="{8A893CA7-A58F-490E-86D9-B2BFE8A34E39}"/>
              </a:ext>
            </a:extLst>
          </p:cNvPr>
          <p:cNvSpPr>
            <a:spLocks noGrp="1"/>
          </p:cNvSpPr>
          <p:nvPr/>
        </p:nvSpPr>
        <p:spPr>
          <a:xfrm>
            <a:off x="1095375" y="2314575"/>
            <a:ext cx="10039350" cy="914400"/>
          </a:xfrm>
          <a:prstGeom prst="rect">
            <a:avLst/>
          </a:prstGeom>
          <a:solidFill>
            <a:srgbClr val="F7F7F7"/>
          </a:solidFill>
          <a:ln w="9525">
            <a:solidFill>
              <a:srgbClr val="D2D2D2"/>
            </a:solidFill>
          </a:ln>
        </p:spPr>
      </p:sp>
      <p:sp>
        <p:nvSpPr>
          <p:cNvPr id="8" name="矩形 7">
            <a:extLst>
              <a:ext uri="{FF2B5EF4-FFF2-40B4-BE49-F238E27FC236}">
                <a16:creationId xmlns:a16="http://schemas.microsoft.com/office/drawing/2014/main" id="{77768DC6-61B6-4B4D-AE41-9B8986291759}"/>
              </a:ext>
            </a:extLst>
          </p:cNvPr>
          <p:cNvSpPr>
            <a:spLocks noGrp="1"/>
          </p:cNvSpPr>
          <p:nvPr/>
        </p:nvSpPr>
        <p:spPr>
          <a:xfrm>
            <a:off x="1095375" y="2314575"/>
            <a:ext cx="95250" cy="914400"/>
          </a:xfrm>
          <a:prstGeom prst="rect">
            <a:avLst/>
          </a:prstGeom>
          <a:solidFill>
            <a:srgbClr val="ED7D31"/>
          </a:solidFill>
          <a:ln w="0">
            <a:solidFill>
              <a:srgbClr val="ED7D31"/>
            </a:solidFill>
          </a:ln>
        </p:spPr>
      </p:sp>
      <p:sp>
        <p:nvSpPr>
          <p:cNvPr id="9" name="橢圓 8">
            <a:extLst>
              <a:ext uri="{FF2B5EF4-FFF2-40B4-BE49-F238E27FC236}">
                <a16:creationId xmlns:a16="http://schemas.microsoft.com/office/drawing/2014/main" id="{D8ED8958-F865-42DE-89A8-C635D531F6B2}"/>
              </a:ext>
            </a:extLst>
          </p:cNvPr>
          <p:cNvSpPr>
            <a:spLocks noGrp="1"/>
          </p:cNvSpPr>
          <p:nvPr/>
        </p:nvSpPr>
        <p:spPr>
          <a:xfrm>
            <a:off x="1323975" y="2552700"/>
            <a:ext cx="438150" cy="438150"/>
          </a:xfrm>
          <a:prstGeom prst="ellipse">
            <a:avLst/>
          </a:prstGeom>
          <a:solidFill>
            <a:srgbClr val="ED7D31"/>
          </a:solidFill>
          <a:ln w="0">
            <a:solidFill>
              <a:srgbClr val="ED7D31"/>
            </a:solidFill>
          </a:ln>
        </p:spPr>
        <p:txBody>
          <a:bodyPr wrap="none" lIns="0" tIns="0" rIns="0" bIns="0" anchor="ctr">
            <a:noAutofit/>
          </a:bodyPr>
          <a:lstStyle/>
          <a:p>
            <a:pPr algn="ctr">
              <a:buNone/>
              <a:defRPr sz="1500" b="1">
                <a:solidFill>
                  <a:srgbClr val="FFFFFF"/>
                </a:solidFill>
                <a:latin typeface="Microsoft JhengHei"/>
                <a:ea typeface="Microsoft JhengHei"/>
                <a:cs typeface="Microsoft JhengHei"/>
              </a:defRPr>
            </a:pPr>
            <a:r>
              <a:rPr sz="1500" b="1">
                <a:solidFill>
                  <a:srgbClr val="FFFFFF"/>
                </a:solidFill>
                <a:latin typeface="Microsoft JhengHei"/>
                <a:ea typeface="Microsoft JhengHei"/>
                <a:cs typeface="Microsoft JhengHei"/>
              </a:rPr>
              <a:t>1</a:t>
            </a:r>
          </a:p>
        </p:txBody>
      </p:sp>
      <p:sp>
        <p:nvSpPr>
          <p:cNvPr id="10" name="矩形 9">
            <a:extLst>
              <a:ext uri="{FF2B5EF4-FFF2-40B4-BE49-F238E27FC236}">
                <a16:creationId xmlns:a16="http://schemas.microsoft.com/office/drawing/2014/main" id="{66CAB053-8D34-45AC-9A40-CFECDE625E43}"/>
              </a:ext>
            </a:extLst>
          </p:cNvPr>
          <p:cNvSpPr>
            <a:spLocks noGrp="1"/>
          </p:cNvSpPr>
          <p:nvPr/>
        </p:nvSpPr>
        <p:spPr>
          <a:xfrm>
            <a:off x="1885950" y="2428875"/>
            <a:ext cx="1476375" cy="685800"/>
          </a:xfrm>
          <a:prstGeom prst="rect">
            <a:avLst/>
          </a:prstGeom>
          <a:noFill/>
          <a:ln w="0">
            <a:noFill/>
          </a:ln>
        </p:spPr>
        <p:txBody>
          <a:bodyPr wrap="square" lIns="38100" tIns="19050" rIns="38100" bIns="19050" anchor="ctr">
            <a:noAutofit/>
          </a:bodyPr>
          <a:lstStyle/>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Concept 資料</a:t>
            </a:r>
          </a:p>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概念的身分證</a:t>
            </a:r>
          </a:p>
        </p:txBody>
      </p:sp>
      <p:sp>
        <p:nvSpPr>
          <p:cNvPr id="11" name="矩形 10">
            <a:extLst>
              <a:ext uri="{FF2B5EF4-FFF2-40B4-BE49-F238E27FC236}">
                <a16:creationId xmlns:a16="http://schemas.microsoft.com/office/drawing/2014/main" id="{67A1DAEE-5325-4347-9E96-A59E53719BE7}"/>
              </a:ext>
            </a:extLst>
          </p:cNvPr>
          <p:cNvSpPr>
            <a:spLocks noGrp="1"/>
          </p:cNvSpPr>
          <p:nvPr/>
        </p:nvSpPr>
        <p:spPr>
          <a:xfrm>
            <a:off x="3476625" y="2419350"/>
            <a:ext cx="4095750" cy="704850"/>
          </a:xfrm>
          <a:prstGeom prst="rect">
            <a:avLst/>
          </a:prstGeom>
          <a:noFill/>
          <a:ln w="0">
            <a:noFill/>
          </a:ln>
        </p:spPr>
        <p:txBody>
          <a:bodyPr wrap="square" lIns="38100" tIns="19050" rIns="38100" bIns="19050" anchor="ctr">
            <a:noAutofit/>
          </a:bodyPr>
          <a:lstStyle/>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每個醫療概念都有唯一編號。</a:t>
            </a:r>
          </a:p>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系統先用編號確認「這是哪一個概念」。</a:t>
            </a:r>
          </a:p>
        </p:txBody>
      </p:sp>
      <p:sp>
        <p:nvSpPr>
          <p:cNvPr id="12" name="矩形 11">
            <a:extLst>
              <a:ext uri="{FF2B5EF4-FFF2-40B4-BE49-F238E27FC236}">
                <a16:creationId xmlns:a16="http://schemas.microsoft.com/office/drawing/2014/main" id="{456B59FC-B3E9-4BC0-98E5-A836E32B3320}"/>
              </a:ext>
            </a:extLst>
          </p:cNvPr>
          <p:cNvSpPr>
            <a:spLocks noGrp="1"/>
          </p:cNvSpPr>
          <p:nvPr/>
        </p:nvSpPr>
        <p:spPr>
          <a:xfrm>
            <a:off x="7858125" y="2409825"/>
            <a:ext cx="3095625" cy="723900"/>
          </a:xfrm>
          <a:prstGeom prst="rect">
            <a:avLst/>
          </a:prstGeom>
          <a:noFill/>
          <a:ln w="0">
            <a:noFill/>
          </a:ln>
        </p:spPr>
        <p:txBody>
          <a:bodyPr wrap="square" lIns="38100" tIns="19050" rIns="38100" bIns="19050" anchor="ctr">
            <a:noAutofit/>
          </a:bodyPr>
          <a:lstStyle/>
          <a:p>
            <a:pPr algn="l">
              <a:buNone/>
              <a:defRPr sz="1163" b="0">
                <a:solidFill>
                  <a:srgbClr val="6B6B6B"/>
                </a:solidFill>
                <a:latin typeface="Microsoft JhengHei"/>
                <a:ea typeface="Microsoft JhengHei"/>
                <a:cs typeface="Microsoft JhengHei"/>
              </a:defRPr>
            </a:pPr>
            <a:r>
              <a:rPr sz="1163" b="0">
                <a:solidFill>
                  <a:srgbClr val="6B6B6B"/>
                </a:solidFill>
                <a:latin typeface="Microsoft JhengHei"/>
                <a:ea typeface="Microsoft JhengHei"/>
                <a:cs typeface="Microsoft JhengHei"/>
              </a:rPr>
              <a:t>id、active</a:t>
            </a:r>
          </a:p>
          <a:p>
            <a:pPr algn="l">
              <a:buNone/>
              <a:defRPr sz="1163" b="0">
                <a:solidFill>
                  <a:srgbClr val="6B6B6B"/>
                </a:solidFill>
                <a:latin typeface="Microsoft JhengHei"/>
                <a:ea typeface="Microsoft JhengHei"/>
                <a:cs typeface="Microsoft JhengHei"/>
              </a:defRPr>
            </a:pPr>
            <a:r>
              <a:rPr sz="1163" b="0">
                <a:solidFill>
                  <a:srgbClr val="6B6B6B"/>
                </a:solidFill>
                <a:latin typeface="Microsoft JhengHei"/>
                <a:ea typeface="Microsoft JhengHei"/>
                <a:cs typeface="Microsoft JhengHei"/>
              </a:rPr>
              <a:t>例：21522001 = Abdominal pain</a:t>
            </a:r>
          </a:p>
        </p:txBody>
      </p:sp>
      <p:sp>
        <p:nvSpPr>
          <p:cNvPr id="13" name="矩形 12">
            <a:extLst>
              <a:ext uri="{FF2B5EF4-FFF2-40B4-BE49-F238E27FC236}">
                <a16:creationId xmlns:a16="http://schemas.microsoft.com/office/drawing/2014/main" id="{1F86BA4F-F27B-4260-A7A4-F29120D31EB4}"/>
              </a:ext>
            </a:extLst>
          </p:cNvPr>
          <p:cNvSpPr>
            <a:spLocks noGrp="1"/>
          </p:cNvSpPr>
          <p:nvPr/>
        </p:nvSpPr>
        <p:spPr>
          <a:xfrm>
            <a:off x="1095375" y="3381375"/>
            <a:ext cx="10039350" cy="914400"/>
          </a:xfrm>
          <a:prstGeom prst="rect">
            <a:avLst/>
          </a:prstGeom>
          <a:solidFill>
            <a:srgbClr val="F7F7F7"/>
          </a:solidFill>
          <a:ln w="9525">
            <a:solidFill>
              <a:srgbClr val="D2D2D2"/>
            </a:solidFill>
          </a:ln>
        </p:spPr>
      </p:sp>
      <p:sp>
        <p:nvSpPr>
          <p:cNvPr id="14" name="矩形 13">
            <a:extLst>
              <a:ext uri="{FF2B5EF4-FFF2-40B4-BE49-F238E27FC236}">
                <a16:creationId xmlns:a16="http://schemas.microsoft.com/office/drawing/2014/main" id="{1F1EC854-4843-40A1-96AD-B7F01DE24259}"/>
              </a:ext>
            </a:extLst>
          </p:cNvPr>
          <p:cNvSpPr>
            <a:spLocks noGrp="1"/>
          </p:cNvSpPr>
          <p:nvPr/>
        </p:nvSpPr>
        <p:spPr>
          <a:xfrm>
            <a:off x="1095375" y="3381375"/>
            <a:ext cx="95250" cy="914400"/>
          </a:xfrm>
          <a:prstGeom prst="rect">
            <a:avLst/>
          </a:prstGeom>
          <a:solidFill>
            <a:srgbClr val="ED7D31"/>
          </a:solidFill>
          <a:ln w="0">
            <a:solidFill>
              <a:srgbClr val="ED7D31"/>
            </a:solidFill>
          </a:ln>
        </p:spPr>
      </p:sp>
      <p:sp>
        <p:nvSpPr>
          <p:cNvPr id="15" name="橢圓 14">
            <a:extLst>
              <a:ext uri="{FF2B5EF4-FFF2-40B4-BE49-F238E27FC236}">
                <a16:creationId xmlns:a16="http://schemas.microsoft.com/office/drawing/2014/main" id="{713857CA-90D3-44E8-A4CF-91A3EE1374E1}"/>
              </a:ext>
            </a:extLst>
          </p:cNvPr>
          <p:cNvSpPr>
            <a:spLocks noGrp="1"/>
          </p:cNvSpPr>
          <p:nvPr/>
        </p:nvSpPr>
        <p:spPr>
          <a:xfrm>
            <a:off x="1323975" y="3619500"/>
            <a:ext cx="438150" cy="438150"/>
          </a:xfrm>
          <a:prstGeom prst="ellipse">
            <a:avLst/>
          </a:prstGeom>
          <a:solidFill>
            <a:srgbClr val="ED7D31"/>
          </a:solidFill>
          <a:ln w="0">
            <a:solidFill>
              <a:srgbClr val="ED7D31"/>
            </a:solidFill>
          </a:ln>
        </p:spPr>
        <p:txBody>
          <a:bodyPr wrap="none" lIns="0" tIns="0" rIns="0" bIns="0" anchor="ctr">
            <a:noAutofit/>
          </a:bodyPr>
          <a:lstStyle/>
          <a:p>
            <a:pPr algn="ctr">
              <a:buNone/>
              <a:defRPr sz="1500" b="1">
                <a:solidFill>
                  <a:srgbClr val="FFFFFF"/>
                </a:solidFill>
                <a:latin typeface="Microsoft JhengHei"/>
                <a:ea typeface="Microsoft JhengHei"/>
                <a:cs typeface="Microsoft JhengHei"/>
              </a:defRPr>
            </a:pPr>
            <a:r>
              <a:rPr sz="1500" b="1">
                <a:solidFill>
                  <a:srgbClr val="FFFFFF"/>
                </a:solidFill>
                <a:latin typeface="Microsoft JhengHei"/>
                <a:ea typeface="Microsoft JhengHei"/>
                <a:cs typeface="Microsoft JhengHei"/>
              </a:rPr>
              <a:t>2</a:t>
            </a:r>
          </a:p>
        </p:txBody>
      </p:sp>
      <p:sp>
        <p:nvSpPr>
          <p:cNvPr id="16" name="矩形 15">
            <a:extLst>
              <a:ext uri="{FF2B5EF4-FFF2-40B4-BE49-F238E27FC236}">
                <a16:creationId xmlns:a16="http://schemas.microsoft.com/office/drawing/2014/main" id="{DD93292C-1778-46B1-BFC9-DCD9C6E3F375}"/>
              </a:ext>
            </a:extLst>
          </p:cNvPr>
          <p:cNvSpPr>
            <a:spLocks noGrp="1"/>
          </p:cNvSpPr>
          <p:nvPr/>
        </p:nvSpPr>
        <p:spPr>
          <a:xfrm>
            <a:off x="1885950" y="3495675"/>
            <a:ext cx="1476375" cy="685800"/>
          </a:xfrm>
          <a:prstGeom prst="rect">
            <a:avLst/>
          </a:prstGeom>
          <a:noFill/>
          <a:ln w="0">
            <a:noFill/>
          </a:ln>
        </p:spPr>
        <p:txBody>
          <a:bodyPr wrap="square" lIns="38100" tIns="19050" rIns="38100" bIns="19050" anchor="ctr">
            <a:noAutofit/>
          </a:bodyPr>
          <a:lstStyle/>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Description 資料</a:t>
            </a:r>
          </a:p>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概念的名稱表</a:t>
            </a:r>
          </a:p>
        </p:txBody>
      </p:sp>
      <p:sp>
        <p:nvSpPr>
          <p:cNvPr id="17" name="矩形 16">
            <a:extLst>
              <a:ext uri="{FF2B5EF4-FFF2-40B4-BE49-F238E27FC236}">
                <a16:creationId xmlns:a16="http://schemas.microsoft.com/office/drawing/2014/main" id="{F636EE99-920B-4CE5-A1F5-226D756EB78F}"/>
              </a:ext>
            </a:extLst>
          </p:cNvPr>
          <p:cNvSpPr>
            <a:spLocks noGrp="1"/>
          </p:cNvSpPr>
          <p:nvPr/>
        </p:nvSpPr>
        <p:spPr>
          <a:xfrm>
            <a:off x="3476625" y="3486150"/>
            <a:ext cx="4095750" cy="704850"/>
          </a:xfrm>
          <a:prstGeom prst="rect">
            <a:avLst/>
          </a:prstGeom>
          <a:noFill/>
          <a:ln w="0">
            <a:noFill/>
          </a:ln>
        </p:spPr>
        <p:txBody>
          <a:bodyPr wrap="square" lIns="38100" tIns="19050" rIns="38100" bIns="19050" anchor="ctr">
            <a:noAutofit/>
          </a:bodyPr>
          <a:lstStyle/>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記錄同一概念的正式名稱、常用名稱或同義詞。</a:t>
            </a:r>
          </a:p>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讓不同說法仍能找到正確概念。</a:t>
            </a:r>
          </a:p>
        </p:txBody>
      </p:sp>
      <p:sp>
        <p:nvSpPr>
          <p:cNvPr id="18" name="矩形 17">
            <a:extLst>
              <a:ext uri="{FF2B5EF4-FFF2-40B4-BE49-F238E27FC236}">
                <a16:creationId xmlns:a16="http://schemas.microsoft.com/office/drawing/2014/main" id="{73CDF281-F893-426C-B6B6-896F2AE132C4}"/>
              </a:ext>
            </a:extLst>
          </p:cNvPr>
          <p:cNvSpPr>
            <a:spLocks noGrp="1"/>
          </p:cNvSpPr>
          <p:nvPr/>
        </p:nvSpPr>
        <p:spPr>
          <a:xfrm>
            <a:off x="7858125" y="3476625"/>
            <a:ext cx="3095625" cy="723900"/>
          </a:xfrm>
          <a:prstGeom prst="rect">
            <a:avLst/>
          </a:prstGeom>
          <a:noFill/>
          <a:ln w="0">
            <a:noFill/>
          </a:ln>
        </p:spPr>
        <p:txBody>
          <a:bodyPr wrap="square" lIns="38100" tIns="19050" rIns="38100" bIns="19050" anchor="ctr">
            <a:noAutofit/>
          </a:bodyPr>
          <a:lstStyle/>
          <a:p>
            <a:pPr algn="l">
              <a:buNone/>
              <a:defRPr sz="1163" b="0">
                <a:solidFill>
                  <a:srgbClr val="6B6B6B"/>
                </a:solidFill>
                <a:latin typeface="Microsoft JhengHei"/>
                <a:ea typeface="Microsoft JhengHei"/>
                <a:cs typeface="Microsoft JhengHei"/>
              </a:defRPr>
            </a:pPr>
            <a:r>
              <a:rPr sz="1163" b="0">
                <a:solidFill>
                  <a:srgbClr val="6B6B6B"/>
                </a:solidFill>
                <a:latin typeface="Microsoft JhengHei"/>
                <a:ea typeface="Microsoft JhengHei"/>
                <a:cs typeface="Microsoft JhengHei"/>
              </a:rPr>
              <a:t>conceptId、term、typeId</a:t>
            </a:r>
          </a:p>
        </p:txBody>
      </p:sp>
      <p:sp>
        <p:nvSpPr>
          <p:cNvPr id="19" name="矩形 18">
            <a:extLst>
              <a:ext uri="{FF2B5EF4-FFF2-40B4-BE49-F238E27FC236}">
                <a16:creationId xmlns:a16="http://schemas.microsoft.com/office/drawing/2014/main" id="{DEF8A066-9640-49C2-A3A7-54631C95FA1F}"/>
              </a:ext>
            </a:extLst>
          </p:cNvPr>
          <p:cNvSpPr>
            <a:spLocks noGrp="1"/>
          </p:cNvSpPr>
          <p:nvPr/>
        </p:nvSpPr>
        <p:spPr>
          <a:xfrm>
            <a:off x="1095375" y="4448175"/>
            <a:ext cx="10039350" cy="914400"/>
          </a:xfrm>
          <a:prstGeom prst="rect">
            <a:avLst/>
          </a:prstGeom>
          <a:solidFill>
            <a:srgbClr val="F7F7F7"/>
          </a:solidFill>
          <a:ln w="9525">
            <a:solidFill>
              <a:srgbClr val="D2D2D2"/>
            </a:solidFill>
          </a:ln>
        </p:spPr>
      </p:sp>
      <p:sp>
        <p:nvSpPr>
          <p:cNvPr id="20" name="矩形 19">
            <a:extLst>
              <a:ext uri="{FF2B5EF4-FFF2-40B4-BE49-F238E27FC236}">
                <a16:creationId xmlns:a16="http://schemas.microsoft.com/office/drawing/2014/main" id="{46BEAD64-D3D8-4A8E-AD4B-FE6326E37383}"/>
              </a:ext>
            </a:extLst>
          </p:cNvPr>
          <p:cNvSpPr>
            <a:spLocks noGrp="1"/>
          </p:cNvSpPr>
          <p:nvPr/>
        </p:nvSpPr>
        <p:spPr>
          <a:xfrm>
            <a:off x="1095375" y="4448175"/>
            <a:ext cx="95250" cy="914400"/>
          </a:xfrm>
          <a:prstGeom prst="rect">
            <a:avLst/>
          </a:prstGeom>
          <a:solidFill>
            <a:srgbClr val="ED7D31"/>
          </a:solidFill>
          <a:ln w="0">
            <a:solidFill>
              <a:srgbClr val="ED7D31"/>
            </a:solidFill>
          </a:ln>
        </p:spPr>
      </p:sp>
      <p:sp>
        <p:nvSpPr>
          <p:cNvPr id="21" name="橢圓 20">
            <a:extLst>
              <a:ext uri="{FF2B5EF4-FFF2-40B4-BE49-F238E27FC236}">
                <a16:creationId xmlns:a16="http://schemas.microsoft.com/office/drawing/2014/main" id="{7FC7E1E2-9824-4797-B842-F251BB2C6C40}"/>
              </a:ext>
            </a:extLst>
          </p:cNvPr>
          <p:cNvSpPr>
            <a:spLocks noGrp="1"/>
          </p:cNvSpPr>
          <p:nvPr/>
        </p:nvSpPr>
        <p:spPr>
          <a:xfrm>
            <a:off x="1323975" y="4686300"/>
            <a:ext cx="438150" cy="438150"/>
          </a:xfrm>
          <a:prstGeom prst="ellipse">
            <a:avLst/>
          </a:prstGeom>
          <a:solidFill>
            <a:srgbClr val="ED7D31"/>
          </a:solidFill>
          <a:ln w="0">
            <a:solidFill>
              <a:srgbClr val="ED7D31"/>
            </a:solidFill>
          </a:ln>
        </p:spPr>
        <p:txBody>
          <a:bodyPr wrap="none" lIns="0" tIns="0" rIns="0" bIns="0" anchor="ctr">
            <a:noAutofit/>
          </a:bodyPr>
          <a:lstStyle/>
          <a:p>
            <a:pPr algn="ctr">
              <a:buNone/>
              <a:defRPr sz="1500" b="1">
                <a:solidFill>
                  <a:srgbClr val="FFFFFF"/>
                </a:solidFill>
                <a:latin typeface="Microsoft JhengHei"/>
                <a:ea typeface="Microsoft JhengHei"/>
                <a:cs typeface="Microsoft JhengHei"/>
              </a:defRPr>
            </a:pPr>
            <a:r>
              <a:rPr sz="1500" b="1">
                <a:solidFill>
                  <a:srgbClr val="FFFFFF"/>
                </a:solidFill>
                <a:latin typeface="Microsoft JhengHei"/>
                <a:ea typeface="Microsoft JhengHei"/>
                <a:cs typeface="Microsoft JhengHei"/>
              </a:rPr>
              <a:t>3</a:t>
            </a:r>
          </a:p>
        </p:txBody>
      </p:sp>
      <p:sp>
        <p:nvSpPr>
          <p:cNvPr id="22" name="矩形 21">
            <a:extLst>
              <a:ext uri="{FF2B5EF4-FFF2-40B4-BE49-F238E27FC236}">
                <a16:creationId xmlns:a16="http://schemas.microsoft.com/office/drawing/2014/main" id="{8433AA84-9D61-4470-AA3D-1A07F3AEFAC9}"/>
              </a:ext>
            </a:extLst>
          </p:cNvPr>
          <p:cNvSpPr>
            <a:spLocks noGrp="1"/>
          </p:cNvSpPr>
          <p:nvPr/>
        </p:nvSpPr>
        <p:spPr>
          <a:xfrm>
            <a:off x="1885950" y="4562475"/>
            <a:ext cx="1590675" cy="685800"/>
          </a:xfrm>
          <a:prstGeom prst="rect">
            <a:avLst/>
          </a:prstGeom>
          <a:noFill/>
          <a:ln w="0">
            <a:noFill/>
          </a:ln>
        </p:spPr>
        <p:txBody>
          <a:bodyPr wrap="square" lIns="38100" tIns="19050" rIns="38100" bIns="19050" anchor="ctr">
            <a:noAutofit/>
          </a:bodyPr>
          <a:lstStyle/>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Relationship 資料</a:t>
            </a:r>
          </a:p>
          <a:p>
            <a:pPr algn="l">
              <a:buNone/>
              <a:defRPr sz="1350" b="1">
                <a:solidFill>
                  <a:srgbClr val="404040"/>
                </a:solidFill>
                <a:latin typeface="Microsoft JhengHei"/>
                <a:ea typeface="Microsoft JhengHei"/>
                <a:cs typeface="Microsoft JhengHei"/>
              </a:defRPr>
            </a:pPr>
            <a:r>
              <a:rPr sz="1350" b="1">
                <a:solidFill>
                  <a:srgbClr val="404040"/>
                </a:solidFill>
                <a:latin typeface="Microsoft JhengHei"/>
                <a:ea typeface="Microsoft JhengHei"/>
                <a:cs typeface="Microsoft JhengHei"/>
              </a:rPr>
              <a:t>概念的關係圖</a:t>
            </a:r>
          </a:p>
        </p:txBody>
      </p:sp>
      <p:sp>
        <p:nvSpPr>
          <p:cNvPr id="23" name="矩形 22">
            <a:extLst>
              <a:ext uri="{FF2B5EF4-FFF2-40B4-BE49-F238E27FC236}">
                <a16:creationId xmlns:a16="http://schemas.microsoft.com/office/drawing/2014/main" id="{8626261B-6AB2-4B30-911B-5BD81A510475}"/>
              </a:ext>
            </a:extLst>
          </p:cNvPr>
          <p:cNvSpPr>
            <a:spLocks noGrp="1"/>
          </p:cNvSpPr>
          <p:nvPr/>
        </p:nvSpPr>
        <p:spPr>
          <a:xfrm>
            <a:off x="3476624" y="4552950"/>
            <a:ext cx="4295775" cy="704850"/>
          </a:xfrm>
          <a:prstGeom prst="rect">
            <a:avLst/>
          </a:prstGeom>
          <a:noFill/>
          <a:ln w="0">
            <a:noFill/>
          </a:ln>
        </p:spPr>
        <p:txBody>
          <a:bodyPr wrap="square" lIns="38100" tIns="19050" rIns="38100" bIns="19050" anchor="ctr">
            <a:noAutofit/>
          </a:bodyPr>
          <a:lstStyle/>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記錄兩個概念之間的關係，例如「是一種」或其他屬性。</a:t>
            </a:r>
          </a:p>
          <a:p>
            <a:pPr algn="l">
              <a:buNone/>
              <a:defRPr sz="1313" b="0">
                <a:solidFill>
                  <a:srgbClr val="404040"/>
                </a:solidFill>
                <a:latin typeface="Microsoft JhengHei"/>
                <a:ea typeface="Microsoft JhengHei"/>
                <a:cs typeface="Microsoft JhengHei"/>
              </a:defRPr>
            </a:pPr>
            <a:r>
              <a:rPr sz="1313" b="0">
                <a:solidFill>
                  <a:srgbClr val="404040"/>
                </a:solidFill>
                <a:latin typeface="Microsoft JhengHei"/>
                <a:ea typeface="Microsoft JhengHei"/>
                <a:cs typeface="Microsoft JhengHei"/>
              </a:rPr>
              <a:t>讓系統能沿著關係找到相關概念。</a:t>
            </a:r>
          </a:p>
        </p:txBody>
      </p:sp>
      <p:sp>
        <p:nvSpPr>
          <p:cNvPr id="24" name="矩形 23">
            <a:extLst>
              <a:ext uri="{FF2B5EF4-FFF2-40B4-BE49-F238E27FC236}">
                <a16:creationId xmlns:a16="http://schemas.microsoft.com/office/drawing/2014/main" id="{5B96E1CF-2C28-4864-950A-BC9861A32E47}"/>
              </a:ext>
            </a:extLst>
          </p:cNvPr>
          <p:cNvSpPr>
            <a:spLocks noGrp="1"/>
          </p:cNvSpPr>
          <p:nvPr/>
        </p:nvSpPr>
        <p:spPr>
          <a:xfrm>
            <a:off x="7858125" y="4543425"/>
            <a:ext cx="3095625" cy="723900"/>
          </a:xfrm>
          <a:prstGeom prst="rect">
            <a:avLst/>
          </a:prstGeom>
          <a:noFill/>
          <a:ln w="0">
            <a:noFill/>
          </a:ln>
        </p:spPr>
        <p:txBody>
          <a:bodyPr wrap="square" lIns="38100" tIns="19050" rIns="38100" bIns="19050" anchor="ctr">
            <a:noAutofit/>
          </a:bodyPr>
          <a:lstStyle/>
          <a:p>
            <a:pPr algn="l">
              <a:buNone/>
              <a:defRPr sz="1163" b="0">
                <a:solidFill>
                  <a:srgbClr val="6B6B6B"/>
                </a:solidFill>
                <a:latin typeface="Microsoft JhengHei"/>
                <a:ea typeface="Microsoft JhengHei"/>
                <a:cs typeface="Microsoft JhengHei"/>
              </a:defRPr>
            </a:pPr>
            <a:r>
              <a:rPr sz="1163" b="0">
                <a:solidFill>
                  <a:srgbClr val="6B6B6B"/>
                </a:solidFill>
                <a:latin typeface="Microsoft JhengHei"/>
                <a:ea typeface="Microsoft JhengHei"/>
                <a:cs typeface="Microsoft JhengHei"/>
              </a:rPr>
              <a:t>sourceId、typeId、destinationId</a:t>
            </a:r>
          </a:p>
          <a:p>
            <a:pPr algn="l">
              <a:buNone/>
              <a:defRPr sz="1163" b="0">
                <a:solidFill>
                  <a:srgbClr val="6B6B6B"/>
                </a:solidFill>
                <a:latin typeface="Microsoft JhengHei"/>
                <a:ea typeface="Microsoft JhengHei"/>
                <a:cs typeface="Microsoft JhengHei"/>
              </a:defRPr>
            </a:pPr>
            <a:endParaRPr sz="1163" b="0">
              <a:solidFill>
                <a:srgbClr val="6B6B6B"/>
              </a:solidFill>
              <a:latin typeface="Microsoft JhengHei"/>
              <a:ea typeface="Microsoft JhengHei"/>
              <a:cs typeface="Microsoft JhengHei"/>
            </a:endParaRPr>
          </a:p>
        </p:txBody>
      </p:sp>
      <p:sp>
        <p:nvSpPr>
          <p:cNvPr id="29" name="矩形 28">
            <a:extLst>
              <a:ext uri="{FF2B5EF4-FFF2-40B4-BE49-F238E27FC236}">
                <a16:creationId xmlns:a16="http://schemas.microsoft.com/office/drawing/2014/main" id="{1F0B80CA-A6A3-4FFD-AECA-9E202F65D0B4}"/>
              </a:ext>
            </a:extLst>
          </p:cNvPr>
          <p:cNvSpPr>
            <a:spLocks noGrp="1"/>
          </p:cNvSpPr>
          <p:nvPr/>
        </p:nvSpPr>
        <p:spPr>
          <a:xfrm>
            <a:off x="0" y="6648450"/>
            <a:ext cx="12192000" cy="209550"/>
          </a:xfrm>
          <a:prstGeom prst="rect">
            <a:avLst/>
          </a:prstGeom>
          <a:solidFill>
            <a:srgbClr val="C65911"/>
          </a:solidFill>
          <a:ln w="0">
            <a:solidFill>
              <a:srgbClr val="C65911"/>
            </a:solidFill>
          </a:ln>
        </p:spPr>
      </p:sp>
    </p:spTree>
    <p:extLst>
      <p:ext uri="{BB962C8B-B14F-4D97-AF65-F5344CB8AC3E}">
        <p14:creationId xmlns:p14="http://schemas.microsoft.com/office/powerpoint/2010/main" val="186338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dirty="0" err="1"/>
              <a:t>西醫資料集</a:t>
            </a:r>
            <a:r>
              <a:rPr sz="3600" dirty="0"/>
              <a:t>- MedlinePlus</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61133" y="1792377"/>
            <a:ext cx="10315788" cy="178510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endParaRPr sz="1600">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r>
              <a:rPr sz="1600">
                <a:solidFill>
                  <a:schemeClr val="tx1"/>
                </a:solidFill>
                <a:latin typeface="Arial"/>
                <a:ea typeface="Arial"/>
                <a:cs typeface="Arial"/>
              </a:rPr>
              <a:t>MedlinePlus Health Topic XML -</a:t>
            </a:r>
            <a:r>
              <a:rPr sz="1400"/>
              <a:t>提供疾病介紹、症狀、治療與管理等參考內容</a:t>
            </a:r>
          </a:p>
          <a:p>
            <a:pPr marL="0" marR="0" lvl="0" indent="0" algn="l" defTabSz="914400">
              <a:lnSpc>
                <a:spcPct val="100000"/>
              </a:lnSpc>
              <a:spcBef>
                <a:spcPct val="0"/>
              </a:spcBef>
              <a:spcAft>
                <a:spcPct val="0"/>
              </a:spcAft>
              <a:buClrTx/>
              <a:buSzTx/>
              <a:buNone/>
            </a:pPr>
            <a:endParaRPr sz="1600">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600">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600">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400">
              <a:solidFill>
                <a:schemeClr val="tx1"/>
              </a:solidFill>
              <a:latin typeface="Arial"/>
              <a:ea typeface="Arial"/>
              <a:cs typeface="Arial"/>
            </a:endParaRPr>
          </a:p>
          <a:p>
            <a:pPr marL="0" marR="0" lvl="0" indent="0" algn="l" defTabSz="914400">
              <a:lnSpc>
                <a:spcPct val="100000"/>
              </a:lnSpc>
              <a:spcBef>
                <a:spcPct val="0"/>
              </a:spcBef>
              <a:spcAft>
                <a:spcPct val="0"/>
              </a:spcAft>
              <a:buClrTx/>
              <a:buSzTx/>
              <a:buNone/>
            </a:pPr>
            <a:endParaRPr sz="1600" b="0" i="0" u="none" cap="none" baseline="0">
              <a:ln>
                <a:noFill/>
              </a:ln>
              <a:solidFill>
                <a:schemeClr val="tx1"/>
              </a:solidFill>
              <a:latin typeface="Arial"/>
              <a:ea typeface="Arial"/>
              <a:cs typeface="Arial"/>
            </a:endParaRPr>
          </a:p>
        </p:txBody>
      </p:sp>
      <p:pic>
        <p:nvPicPr>
          <p:cNvPr id="7" name="圖片 4"/>
          <p:cNvPicPr>
            <a:picLocks noChangeAspect="1"/>
          </p:cNvPicPr>
          <p:nvPr/>
        </p:nvPicPr>
        <p:blipFill>
          <a:blip r:embed="rId3"/>
          <a:stretch>
            <a:fillRect/>
          </a:stretch>
        </p:blipFill>
        <p:spPr>
          <a:xfrm>
            <a:off x="2364543" y="2591348"/>
            <a:ext cx="7462914" cy="3353243"/>
          </a:xfrm>
          <a:prstGeom prst="rect">
            <a:avLst/>
          </a:prstGeom>
        </p:spPr>
      </p:pic>
    </p:spTree>
    <p:extLst>
      <p:ext uri="{BB962C8B-B14F-4D97-AF65-F5344CB8AC3E}">
        <p14:creationId xmlns:p14="http://schemas.microsoft.com/office/powerpoint/2010/main" val="1183456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3" name="Rectangle 1">
            <a:extLst>
              <a:ext uri="{FF2B5EF4-FFF2-40B4-BE49-F238E27FC236}">
                <a16:creationId xmlns:a16="http://schemas.microsoft.com/office/drawing/2014/main" id="{DDFF0E49-DD8A-2AD7-1465-A3322A9DF6DC}"/>
              </a:ext>
            </a:extLst>
          </p:cNvPr>
          <p:cNvSpPr>
            <a:spLocks noGrp="1"/>
          </p:cNvSpPr>
          <p:nvPr>
            <p:ph idx="1"/>
          </p:nvPr>
        </p:nvSpPr>
        <p:spPr>
          <a:xfrm>
            <a:off x="1181945" y="1992211"/>
            <a:ext cx="4268595"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a:solidFill>
                  <a:schemeClr val="tx1"/>
                </a:solidFill>
                <a:latin typeface="Arial"/>
                <a:ea typeface="Arial"/>
                <a:cs typeface="Arial"/>
              </a:rPr>
              <a:t>MedlinePlus Health Topic XML</a:t>
            </a:r>
            <a:r>
              <a:rPr sz="1600" b="0" i="0" u="none" cap="none">
                <a:ln>
                  <a:noFill/>
                </a:ln>
                <a:solidFill>
                  <a:schemeClr val="tx1"/>
                </a:solidFill>
                <a:latin typeface="Arial"/>
                <a:ea typeface="Arial"/>
                <a:cs typeface="Arial"/>
              </a:rPr>
              <a:t>檔案-主要欄位</a:t>
            </a:r>
            <a:endParaRPr sz="1400"/>
          </a:p>
        </p:txBody>
      </p:sp>
      <p:graphicFrame>
        <p:nvGraphicFramePr>
          <p:cNvPr id="7" name="表格 5"/>
          <p:cNvGraphicFramePr/>
          <p:nvPr/>
        </p:nvGraphicFramePr>
        <p:xfrm>
          <a:off x="2899384" y="2501900"/>
          <a:ext cx="6393232" cy="2096995"/>
        </p:xfrm>
        <a:graphic>
          <a:graphicData uri="http://schemas.openxmlformats.org/drawingml/2006/table">
            <a:tbl>
              <a:tblPr firstRow="1" bandRow="1">
                <a:tableStyleId>{5940675A-B579-460E-94D1-54222C63F5DA}</a:tableStyleId>
              </a:tblPr>
              <a:tblGrid>
                <a:gridCol w="3196616">
                  <a:extLst>
                    <a:ext uri="{9D8B030D-6E8A-4147-A177-3AD203B41FA5}">
                      <a16:colId xmlns:a16="http://schemas.microsoft.com/office/drawing/2014/main" val="20000"/>
                    </a:ext>
                  </a:extLst>
                </a:gridCol>
                <a:gridCol w="3196616">
                  <a:extLst>
                    <a:ext uri="{9D8B030D-6E8A-4147-A177-3AD203B41FA5}">
                      <a16:colId xmlns:a16="http://schemas.microsoft.com/office/drawing/2014/main" val="20001"/>
                    </a:ext>
                  </a:extLst>
                </a:gridCol>
              </a:tblGrid>
              <a:tr h="419399">
                <a:tc>
                  <a:txBody>
                    <a:bodyPr/>
                    <a:lstStyle/>
                    <a:p>
                      <a:r>
                        <a:t>主要欄位</a:t>
                      </a:r>
                    </a:p>
                  </a:txBody>
                  <a:tcPr/>
                </a:tc>
                <a:tc>
                  <a:txBody>
                    <a:bodyPr/>
                    <a:lstStyle/>
                    <a:p>
                      <a:r>
                        <a:t>說明</a:t>
                      </a:r>
                    </a:p>
                  </a:txBody>
                  <a:tcPr/>
                </a:tc>
                <a:extLst>
                  <a:ext uri="{0D108BD9-81ED-4DB2-BD59-A6C34878D82A}">
                    <a16:rowId xmlns:a16="http://schemas.microsoft.com/office/drawing/2014/main" val="10000"/>
                  </a:ext>
                </a:extLst>
              </a:tr>
              <a:tr h="419399">
                <a:tc>
                  <a:txBody>
                    <a:bodyPr/>
                    <a:lstStyle/>
                    <a:p>
                      <a:r>
                        <a:t>topic_id</a:t>
                      </a:r>
                    </a:p>
                  </a:txBody>
                  <a:tcPr/>
                </a:tc>
                <a:tc>
                  <a:txBody>
                    <a:bodyPr/>
                    <a:lstStyle/>
                    <a:p>
                      <a:r>
                        <a:t>每個健康主題的編號</a:t>
                      </a:r>
                    </a:p>
                  </a:txBody>
                  <a:tcPr/>
                </a:tc>
                <a:extLst>
                  <a:ext uri="{0D108BD9-81ED-4DB2-BD59-A6C34878D82A}">
                    <a16:rowId xmlns:a16="http://schemas.microsoft.com/office/drawing/2014/main" val="10001"/>
                  </a:ext>
                </a:extLst>
              </a:tr>
              <a:tr h="419399">
                <a:tc>
                  <a:txBody>
                    <a:bodyPr/>
                    <a:lstStyle/>
                    <a:p>
                      <a:r>
                        <a:t>title</a:t>
                      </a:r>
                    </a:p>
                  </a:txBody>
                  <a:tcPr/>
                </a:tc>
                <a:tc>
                  <a:txBody>
                    <a:bodyPr/>
                    <a:lstStyle/>
                    <a:p>
                      <a:r>
                        <a:t>健康主題名稱</a:t>
                      </a:r>
                    </a:p>
                  </a:txBody>
                  <a:tcPr/>
                </a:tc>
                <a:extLst>
                  <a:ext uri="{0D108BD9-81ED-4DB2-BD59-A6C34878D82A}">
                    <a16:rowId xmlns:a16="http://schemas.microsoft.com/office/drawing/2014/main" val="10002"/>
                  </a:ext>
                </a:extLst>
              </a:tr>
              <a:tr h="419399">
                <a:tc>
                  <a:txBody>
                    <a:bodyPr/>
                    <a:lstStyle/>
                    <a:p>
                      <a:r>
                        <a:t>full_summary_text</a:t>
                      </a:r>
                    </a:p>
                  </a:txBody>
                  <a:tcPr/>
                </a:tc>
                <a:tc>
                  <a:txBody>
                    <a:bodyPr/>
                    <a:lstStyle/>
                    <a:p>
                      <a:r>
                        <a:t>主題的完整健康資訊</a:t>
                      </a:r>
                    </a:p>
                  </a:txBody>
                  <a:tcPr/>
                </a:tc>
                <a:extLst>
                  <a:ext uri="{0D108BD9-81ED-4DB2-BD59-A6C34878D82A}">
                    <a16:rowId xmlns:a16="http://schemas.microsoft.com/office/drawing/2014/main" val="10003"/>
                  </a:ext>
                </a:extLst>
              </a:tr>
              <a:tr h="419399">
                <a:tc>
                  <a:txBody>
                    <a:bodyPr/>
                    <a:lstStyle/>
                    <a:p>
                      <a:r>
                        <a:t>url</a:t>
                      </a:r>
                    </a:p>
                  </a:txBody>
                  <a:tcPr/>
                </a:tc>
                <a:tc>
                  <a:txBody>
                    <a:bodyPr/>
                    <a:lstStyle/>
                    <a:p>
                      <a:r>
                        <a:t>原始MedlinePlus網頁</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48738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174636" y="1891058"/>
            <a:ext cx="8494956" cy="307777"/>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400"/>
              <a:t>MedlinePlus XML沒有固定的 symptoms（症狀）或 treatment（治療）欄位，而是用以下兩種方式提供資訊</a:t>
            </a:r>
          </a:p>
        </p:txBody>
      </p:sp>
      <p:sp>
        <p:nvSpPr>
          <p:cNvPr id="5" name="Rectangle 1">
            <a:extLst>
              <a:ext uri="{FF2B5EF4-FFF2-40B4-BE49-F238E27FC236}">
                <a16:creationId xmlns:a16="http://schemas.microsoft.com/office/drawing/2014/main" id="{A0EA63A9-F811-F37D-2E4D-1C984EF7F962}"/>
              </a:ext>
            </a:extLst>
          </p:cNvPr>
          <p:cNvSpPr>
            <a:spLocks noGrp="1"/>
          </p:cNvSpPr>
          <p:nvPr/>
        </p:nvSpPr>
        <p:spPr>
          <a:xfrm>
            <a:off x="1174636" y="2515388"/>
            <a:ext cx="9950564" cy="2462213"/>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None/>
            </a:pPr>
            <a:r>
              <a:rPr sz="1400" b="1" i="0" u="none" cap="none">
                <a:ln>
                  <a:noFill/>
                </a:ln>
                <a:solidFill>
                  <a:schemeClr val="tx1"/>
                </a:solidFill>
                <a:latin typeface="Arial"/>
                <a:ea typeface="Arial"/>
                <a:cs typeface="Arial"/>
              </a:rPr>
              <a:t>full-summary：整段文字摘要</a:t>
            </a:r>
            <a:endParaRPr sz="1400" b="1"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r>
              <a:rPr sz="1400" b="0" i="0" u="none" cap="none">
                <a:ln>
                  <a:noFill/>
                </a:ln>
                <a:solidFill>
                  <a:schemeClr val="tx1"/>
                </a:solidFill>
                <a:latin typeface="Arial"/>
                <a:ea typeface="Arial"/>
                <a:cs typeface="Arial"/>
              </a:rPr>
              <a:t>它會把疾病介紹、症狀或就醫建議寫在同一段內容中，不會分成獨立欄位。</a:t>
            </a: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endParaRPr sz="1400" b="0" i="0" u="none" cap="none" baseline="0">
              <a:ln>
                <a:noFill/>
              </a:ln>
              <a:solidFill>
                <a:schemeClr val="tx1"/>
              </a:solidFill>
              <a:latin typeface="Arial"/>
              <a:ea typeface="Arial"/>
              <a:cs typeface="Arial"/>
            </a:endParaRPr>
          </a:p>
          <a:p>
            <a:pPr>
              <a:spcBef>
                <a:spcPct val="0"/>
              </a:spcBef>
              <a:spcAft>
                <a:spcPct val="0"/>
              </a:spcAft>
              <a:buNone/>
            </a:pPr>
            <a:r>
              <a:rPr sz="1400">
                <a:latin typeface="Arial"/>
                <a:ea typeface="Arial"/>
                <a:cs typeface="Arial"/>
              </a:rPr>
              <a:t> Ex:</a:t>
            </a:r>
            <a:r>
              <a:rPr sz="1400" b="0" i="0" u="none" cap="none">
                <a:ln>
                  <a:noFill/>
                </a:ln>
                <a:solidFill>
                  <a:schemeClr val="tx1"/>
                </a:solidFill>
                <a:latin typeface="Arial"/>
                <a:ea typeface="Arial"/>
                <a:cs typeface="Arial"/>
              </a:rPr>
              <a:t>「Abdominal Pain」摘要中包含：</a:t>
            </a:r>
            <a:endParaRPr sz="1400">
              <a:latin typeface="Arial"/>
              <a:ea typeface="Arial"/>
              <a:cs typeface="Arial"/>
            </a:endParaRPr>
          </a:p>
          <a:p>
            <a:pPr marL="285750" indent="-285750">
              <a:spcBef>
                <a:spcPct val="0"/>
              </a:spcBef>
              <a:spcAft>
                <a:spcPct val="0"/>
              </a:spcAft>
              <a:buFont typeface="Arial"/>
              <a:buChar char="•"/>
            </a:pPr>
            <a:r>
              <a:rPr sz="1400" b="0" i="0" u="none" cap="none">
                <a:ln>
                  <a:noFill/>
                </a:ln>
                <a:solidFill>
                  <a:schemeClr val="tx1"/>
                </a:solidFill>
                <a:latin typeface="Arial"/>
                <a:ea typeface="Arial"/>
                <a:cs typeface="Arial"/>
              </a:rPr>
              <a:t>腹痛可能來自不同器官。</a:t>
            </a:r>
          </a:p>
          <a:p>
            <a:pPr marL="285750" marR="0" lvl="0" indent="-285750" algn="l" defTabSz="914400">
              <a:lnSpc>
                <a:spcPct val="100000"/>
              </a:lnSpc>
              <a:spcBef>
                <a:spcPct val="0"/>
              </a:spcBef>
              <a:spcAft>
                <a:spcPct val="0"/>
              </a:spcAft>
              <a:buClrTx/>
              <a:buSzTx/>
              <a:buFont typeface="Arial"/>
              <a:buChar char="•"/>
            </a:pPr>
            <a:r>
              <a:rPr sz="1400" b="0" i="0" u="none" cap="none">
                <a:ln>
                  <a:noFill/>
                </a:ln>
                <a:solidFill>
                  <a:schemeClr val="tx1"/>
                </a:solidFill>
                <a:latin typeface="Arial"/>
                <a:ea typeface="Arial"/>
                <a:cs typeface="Arial"/>
              </a:rPr>
              <a:t>輕微疼痛不一定代表不嚴重。</a:t>
            </a:r>
          </a:p>
          <a:p>
            <a:pPr marL="285750" marR="0" lvl="0" indent="-285750" algn="l" defTabSz="914400">
              <a:lnSpc>
                <a:spcPct val="100000"/>
              </a:lnSpc>
              <a:spcBef>
                <a:spcPct val="0"/>
              </a:spcBef>
              <a:spcAft>
                <a:spcPct val="0"/>
              </a:spcAft>
              <a:buClrTx/>
              <a:buSzTx/>
              <a:buFont typeface="Arial"/>
              <a:buChar char="•"/>
            </a:pPr>
            <a:r>
              <a:rPr sz="1400" b="0" i="0" u="none" cap="none">
                <a:ln>
                  <a:noFill/>
                </a:ln>
                <a:solidFill>
                  <a:schemeClr val="tx1"/>
                </a:solidFill>
                <a:latin typeface="Arial"/>
                <a:ea typeface="Arial"/>
                <a:cs typeface="Arial"/>
              </a:rPr>
              <a:t>若突然劇烈疼痛、吐血或腹部僵硬，應立即就醫。</a:t>
            </a:r>
            <a:endParaRPr sz="1400" b="0" i="0" u="none" cap="none" baseline="0">
              <a:ln>
                <a:noFill/>
              </a:ln>
              <a:solidFill>
                <a:schemeClr val="tx1"/>
              </a:solidFill>
              <a:latin typeface="Arial"/>
              <a:ea typeface="Arial"/>
              <a:cs typeface="Arial"/>
            </a:endParaRPr>
          </a:p>
          <a:p>
            <a:pPr marL="285750" marR="0" lvl="0" indent="-285750" algn="l" defTabSz="914400">
              <a:lnSpc>
                <a:spcPct val="100000"/>
              </a:lnSpc>
              <a:spcBef>
                <a:spcPct val="0"/>
              </a:spcBef>
              <a:spcAft>
                <a:spcPct val="0"/>
              </a:spcAft>
              <a:buClrTx/>
              <a:buSzTx/>
              <a:buFont typeface="Arial"/>
              <a:buChar char="•"/>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Char char="•"/>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r>
              <a:rPr sz="1400" b="0" i="0" u="none" cap="none">
                <a:ln>
                  <a:noFill/>
                </a:ln>
                <a:solidFill>
                  <a:schemeClr val="tx1"/>
                </a:solidFill>
                <a:latin typeface="Arial"/>
                <a:ea typeface="Arial"/>
                <a:cs typeface="Arial"/>
              </a:rPr>
              <a:t>這些內容都放在 </a:t>
            </a:r>
            <a:r>
              <a:rPr sz="1400" b="0" i="0" u="none" cap="none">
                <a:ln>
                  <a:noFill/>
                </a:ln>
                <a:solidFill>
                  <a:schemeClr val="tx1"/>
                </a:solidFill>
                <a:latin typeface="Arial Unicode MS"/>
                <a:ea typeface="Arial Unicode MS"/>
                <a:cs typeface="Arial Unicode MS"/>
              </a:rPr>
              <a:t>full_summary_text</a:t>
            </a:r>
            <a:r>
              <a:rPr sz="1400" b="0" i="0" u="none" cap="none">
                <a:ln>
                  <a:noFill/>
                </a:ln>
                <a:solidFill>
                  <a:schemeClr val="tx1"/>
                </a:solidFill>
              </a:rPr>
              <a:t> 裡。</a:t>
            </a:r>
            <a:endParaRPr sz="1400" b="0" i="0" u="none" cap="none" baseline="0">
              <a:ln>
                <a:noFill/>
              </a:ln>
              <a:solidFill>
                <a:schemeClr val="tx1"/>
              </a:solidFill>
              <a:latin typeface="Arial"/>
              <a:ea typeface="Arial"/>
              <a:cs typeface="Arial"/>
            </a:endParaRPr>
          </a:p>
        </p:txBody>
      </p:sp>
      <p:cxnSp>
        <p:nvCxnSpPr>
          <p:cNvPr id="38" name="直線單箭頭接點 7"/>
          <p:cNvCxnSpPr/>
          <p:nvPr/>
        </p:nvCxnSpPr>
        <p:spPr>
          <a:xfrm flipV="1">
            <a:off x="4814047" y="4717625"/>
            <a:ext cx="1572836" cy="964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9" name="圖片 15"/>
          <p:cNvPicPr>
            <a:picLocks noChangeAspect="1"/>
          </p:cNvPicPr>
          <p:nvPr/>
        </p:nvPicPr>
        <p:blipFill>
          <a:blip r:embed="rId3"/>
          <a:stretch>
            <a:fillRect/>
          </a:stretch>
        </p:blipFill>
        <p:spPr>
          <a:xfrm>
            <a:off x="6586006" y="3435756"/>
            <a:ext cx="5268980" cy="2341769"/>
          </a:xfrm>
          <a:prstGeom prst="rect">
            <a:avLst/>
          </a:prstGeom>
        </p:spPr>
      </p:pic>
    </p:spTree>
    <p:extLst>
      <p:ext uri="{BB962C8B-B14F-4D97-AF65-F5344CB8AC3E}">
        <p14:creationId xmlns:p14="http://schemas.microsoft.com/office/powerpoint/2010/main" val="386571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資料來源</a:t>
            </a:r>
          </a:p>
        </p:txBody>
      </p:sp>
      <p:sp>
        <p:nvSpPr>
          <p:cNvPr id="5" name="Rectangle 1">
            <a:extLst>
              <a:ext uri="{FF2B5EF4-FFF2-40B4-BE49-F238E27FC236}">
                <a16:creationId xmlns:a16="http://schemas.microsoft.com/office/drawing/2014/main" id="{A0EA63A9-F811-F37D-2E4D-1C984EF7F962}"/>
              </a:ext>
            </a:extLst>
          </p:cNvPr>
          <p:cNvSpPr>
            <a:spLocks noGrp="1"/>
          </p:cNvSpPr>
          <p:nvPr/>
        </p:nvSpPr>
        <p:spPr>
          <a:xfrm>
            <a:off x="1097279" y="2103594"/>
            <a:ext cx="9950564" cy="1600438"/>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FontTx/>
              <a:buNone/>
            </a:pPr>
            <a:r>
              <a:rPr sz="1400" b="1" i="0" u="none" cap="none">
                <a:ln>
                  <a:noFill/>
                </a:ln>
                <a:solidFill>
                  <a:schemeClr val="tx1"/>
                </a:solidFill>
                <a:latin typeface="Arial"/>
                <a:ea typeface="Arial"/>
                <a:cs typeface="Arial"/>
              </a:rPr>
              <a:t>相關網站資料:</a:t>
            </a:r>
          </a:p>
          <a:p>
            <a:pPr marL="0" marR="0" lvl="0" indent="0" algn="l" defTabSz="914400">
              <a:lnSpc>
                <a:spcPct val="100000"/>
              </a:lnSpc>
              <a:spcBef>
                <a:spcPct val="0"/>
              </a:spcBef>
              <a:spcAft>
                <a:spcPct val="0"/>
              </a:spcAft>
              <a:buClrTx/>
              <a:buSzTx/>
              <a:buFontTx/>
              <a:buNone/>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r>
              <a:rPr sz="1400"/>
              <a:t>會列出更詳細的相關文章</a:t>
            </a:r>
          </a:p>
          <a:p>
            <a:pPr marL="0" marR="0" lvl="0" indent="0" algn="l" defTabSz="914400">
              <a:lnSpc>
                <a:spcPct val="100000"/>
              </a:lnSpc>
              <a:spcBef>
                <a:spcPct val="0"/>
              </a:spcBef>
              <a:spcAft>
                <a:spcPct val="0"/>
              </a:spcAft>
              <a:buClrTx/>
              <a:buSzTx/>
              <a:buFontTx/>
              <a:buNone/>
            </a:pPr>
            <a:endParaRPr sz="1400" b="0" i="0" u="none" cap="none" baseline="0">
              <a:ln>
                <a:noFill/>
              </a:ln>
              <a:solidFill>
                <a:schemeClr val="tx1"/>
              </a:solidFill>
              <a:latin typeface="Arial"/>
              <a:ea typeface="Arial"/>
              <a:cs typeface="Arial"/>
            </a:endParaRPr>
          </a:p>
          <a:p>
            <a:pPr marL="0" marR="0" lvl="0" indent="0" algn="l" defTabSz="914400">
              <a:lnSpc>
                <a:spcPct val="100000"/>
              </a:lnSpc>
              <a:spcBef>
                <a:spcPct val="0"/>
              </a:spcBef>
              <a:spcAft>
                <a:spcPct val="0"/>
              </a:spcAft>
              <a:buClrTx/>
              <a:buSzTx/>
              <a:buFontTx/>
              <a:buNone/>
            </a:pPr>
            <a:r>
              <a:rPr sz="1400"/>
              <a:t>其中：</a:t>
            </a:r>
            <a:endParaRPr sz="1400">
              <a:latin typeface="Arial"/>
              <a:ea typeface="Arial"/>
              <a:cs typeface="Arial"/>
            </a:endParaRPr>
          </a:p>
          <a:p>
            <a:pPr marL="285750" marR="0" lvl="0" indent="-285750" algn="l" defTabSz="914400">
              <a:lnSpc>
                <a:spcPct val="100000"/>
              </a:lnSpc>
              <a:spcBef>
                <a:spcPct val="0"/>
              </a:spcBef>
              <a:spcAft>
                <a:spcPct val="0"/>
              </a:spcAft>
              <a:buClrTx/>
              <a:buSzTx/>
              <a:buFont typeface="Arial"/>
              <a:buChar char="•"/>
            </a:pPr>
            <a:r>
              <a:rPr sz="1400" b="0" i="0" u="none" cap="none">
                <a:ln>
                  <a:noFill/>
                </a:ln>
                <a:solidFill>
                  <a:schemeClr val="tx1"/>
                </a:solidFill>
                <a:latin typeface="Arial"/>
                <a:ea typeface="Arial"/>
                <a:cs typeface="Arial"/>
              </a:rPr>
              <a:t>information_category：說明文章屬於檢查、治療或疾病介紹等類型。</a:t>
            </a:r>
            <a:endParaRPr sz="1400" b="0" i="0" u="none" cap="none" baseline="0">
              <a:ln>
                <a:noFill/>
              </a:ln>
              <a:solidFill>
                <a:schemeClr val="tx1"/>
              </a:solidFill>
              <a:latin typeface="Arial"/>
              <a:ea typeface="Arial"/>
              <a:cs typeface="Arial"/>
            </a:endParaRPr>
          </a:p>
          <a:p>
            <a:pPr marL="285750" marR="0" lvl="0" indent="-285750" algn="l" defTabSz="914400">
              <a:lnSpc>
                <a:spcPct val="100000"/>
              </a:lnSpc>
              <a:spcBef>
                <a:spcPct val="0"/>
              </a:spcBef>
              <a:spcAft>
                <a:spcPct val="0"/>
              </a:spcAft>
              <a:buClrTx/>
              <a:buSzTx/>
              <a:buFont typeface="Arial"/>
              <a:buChar char="•"/>
            </a:pPr>
            <a:r>
              <a:rPr sz="1400" b="0" i="0" u="none" cap="none">
                <a:ln>
                  <a:noFill/>
                </a:ln>
                <a:solidFill>
                  <a:schemeClr val="tx1"/>
                </a:solidFill>
                <a:latin typeface="Arial"/>
                <a:ea typeface="Arial"/>
                <a:cs typeface="Arial"/>
              </a:rPr>
              <a:t>site_url：提供閱讀完整內容的網址。</a:t>
            </a:r>
            <a:endParaRPr sz="1400" b="0" i="0" u="none" cap="none" baseline="0">
              <a:ln>
                <a:noFill/>
              </a:ln>
              <a:solidFill>
                <a:schemeClr val="tx1"/>
              </a:solidFill>
              <a:latin typeface="Arial"/>
              <a:ea typeface="Arial"/>
              <a:cs typeface="Arial"/>
            </a:endParaRPr>
          </a:p>
        </p:txBody>
      </p:sp>
      <p:pic>
        <p:nvPicPr>
          <p:cNvPr id="40" name="圖片 8"/>
          <p:cNvPicPr>
            <a:picLocks noChangeAspect="1"/>
          </p:cNvPicPr>
          <p:nvPr/>
        </p:nvPicPr>
        <p:blipFill>
          <a:blip r:embed="rId3"/>
          <a:stretch>
            <a:fillRect/>
          </a:stretch>
        </p:blipFill>
        <p:spPr>
          <a:xfrm>
            <a:off x="6301053" y="3523128"/>
            <a:ext cx="5334912" cy="2470323"/>
          </a:xfrm>
          <a:prstGeom prst="rect">
            <a:avLst/>
          </a:prstGeom>
        </p:spPr>
      </p:pic>
      <p:cxnSp>
        <p:nvCxnSpPr>
          <p:cNvPr id="41" name="直線單箭頭接點 10"/>
          <p:cNvCxnSpPr/>
          <p:nvPr/>
        </p:nvCxnSpPr>
        <p:spPr>
          <a:xfrm>
            <a:off x="5038165" y="3783106"/>
            <a:ext cx="1120588" cy="322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38164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資料前處理</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2061387"/>
            <a:ext cx="4268595" cy="307777"/>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400"/>
              <a:t>擷取主題資料、清理摘要，並處理摘要缺漏</a:t>
            </a:r>
          </a:p>
        </p:txBody>
      </p:sp>
      <p:pic>
        <p:nvPicPr>
          <p:cNvPr id="7" name="圖片 5"/>
          <p:cNvPicPr>
            <a:picLocks noChangeAspect="1"/>
          </p:cNvPicPr>
          <p:nvPr/>
        </p:nvPicPr>
        <p:blipFill>
          <a:blip r:embed="rId3"/>
          <a:stretch>
            <a:fillRect/>
          </a:stretch>
        </p:blipFill>
        <p:spPr>
          <a:xfrm>
            <a:off x="3505330" y="2546292"/>
            <a:ext cx="5181340" cy="3230614"/>
          </a:xfrm>
          <a:prstGeom prst="rect">
            <a:avLst/>
          </a:prstGeom>
        </p:spPr>
      </p:pic>
    </p:spTree>
    <p:extLst>
      <p:ext uri="{BB962C8B-B14F-4D97-AF65-F5344CB8AC3E}">
        <p14:creationId xmlns:p14="http://schemas.microsoft.com/office/powerpoint/2010/main" val="3424544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實驗-西醫</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2135355"/>
            <a:ext cx="9750015" cy="769441"/>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a:t>研究問題:</a:t>
            </a:r>
          </a:p>
          <a:p>
            <a:pPr marL="0" marR="0" lvl="0" indent="0" algn="l" defTabSz="914400">
              <a:lnSpc>
                <a:spcPct val="100000"/>
              </a:lnSpc>
              <a:spcBef>
                <a:spcPct val="0"/>
              </a:spcBef>
              <a:spcAft>
                <a:spcPct val="0"/>
              </a:spcAft>
              <a:buClrTx/>
              <a:buSzTx/>
              <a:buNone/>
            </a:pPr>
            <a:r>
              <a:rPr sz="1400"/>
              <a:t>在使用相同大型語言模型的情況下，加入SNOMED CT與MedlinePlus可信資料，能否讓回答更完整、更有資料支持，而且可以查到來源？</a:t>
            </a:r>
          </a:p>
        </p:txBody>
      </p:sp>
      <p:sp>
        <p:nvSpPr>
          <p:cNvPr id="4" name="Rectangle 1">
            <a:extLst>
              <a:ext uri="{FF2B5EF4-FFF2-40B4-BE49-F238E27FC236}">
                <a16:creationId xmlns:a16="http://schemas.microsoft.com/office/drawing/2014/main" id="{F01463ED-F498-EAB6-3C98-F1A9A311E012}"/>
              </a:ext>
            </a:extLst>
          </p:cNvPr>
          <p:cNvSpPr>
            <a:spLocks noGrp="1"/>
          </p:cNvSpPr>
          <p:nvPr/>
        </p:nvSpPr>
        <p:spPr>
          <a:xfrm>
            <a:off x="1097278" y="3179225"/>
            <a:ext cx="9750015" cy="769441"/>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a:t>比較兩組： </a:t>
            </a:r>
          </a:p>
          <a:p>
            <a:pPr>
              <a:lnSpc>
                <a:spcPct val="100000"/>
              </a:lnSpc>
              <a:spcBef>
                <a:spcPct val="0"/>
              </a:spcBef>
              <a:spcAft>
                <a:spcPct val="0"/>
              </a:spcAft>
              <a:buClrTx/>
              <a:buSzTx/>
              <a:buNone/>
            </a:pPr>
            <a:r>
              <a:rPr sz="1400"/>
              <a:t>A組：純LLM，只依靠模型原本學到的知識。</a:t>
            </a:r>
          </a:p>
          <a:p>
            <a:pPr>
              <a:lnSpc>
                <a:spcPct val="100000"/>
              </a:lnSpc>
              <a:spcBef>
                <a:spcPct val="0"/>
              </a:spcBef>
              <a:spcAft>
                <a:spcPct val="0"/>
              </a:spcAft>
              <a:buClrTx/>
              <a:buSzTx/>
              <a:buNone/>
            </a:pPr>
            <a:r>
              <a:rPr sz="1400"/>
              <a:t>B組：相同LLM＋SNOMED CT＋MedlinePlus資料。</a:t>
            </a:r>
          </a:p>
        </p:txBody>
      </p:sp>
      <p:sp>
        <p:nvSpPr>
          <p:cNvPr id="5" name="Rectangle 1">
            <a:extLst>
              <a:ext uri="{FF2B5EF4-FFF2-40B4-BE49-F238E27FC236}">
                <a16:creationId xmlns:a16="http://schemas.microsoft.com/office/drawing/2014/main" id="{5B99EA96-6F5B-DA58-B330-A29BFE823920}"/>
              </a:ext>
            </a:extLst>
          </p:cNvPr>
          <p:cNvSpPr>
            <a:spLocks noGrp="1"/>
          </p:cNvSpPr>
          <p:nvPr/>
        </p:nvSpPr>
        <p:spPr>
          <a:xfrm>
            <a:off x="1097278" y="4321708"/>
            <a:ext cx="9750015" cy="584775"/>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a:t>兩組使用相同問題、生成模型及參數，主要差別只有B組多了外部資料，因此可以較公平地觀察「加入可信資料」的效果。</a:t>
            </a:r>
            <a:endParaRPr sz="1400"/>
          </a:p>
        </p:txBody>
      </p:sp>
    </p:spTree>
    <p:extLst>
      <p:ext uri="{BB962C8B-B14F-4D97-AF65-F5344CB8AC3E}">
        <p14:creationId xmlns:p14="http://schemas.microsoft.com/office/powerpoint/2010/main" val="2626917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2277482"/>
            <a:ext cx="9750015" cy="270843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dirty="0"/>
              <a:t>MedlinePlus: </a:t>
            </a:r>
          </a:p>
          <a:p>
            <a:pPr marL="0" marR="0" lvl="0" indent="0" algn="l" defTabSz="914400">
              <a:lnSpc>
                <a:spcPct val="100000"/>
              </a:lnSpc>
              <a:spcBef>
                <a:spcPct val="0"/>
              </a:spcBef>
              <a:spcAft>
                <a:spcPct val="0"/>
              </a:spcAft>
              <a:buClrTx/>
              <a:buSzTx/>
              <a:buNone/>
            </a:pPr>
            <a:r>
              <a:rPr sz="1400" dirty="0" err="1"/>
              <a:t>用途：提供實際的健康資訊內容，包括主題摘要、就醫提醒、相關名稱及來源網址</a:t>
            </a:r>
            <a:r>
              <a:rPr sz="1400" dirty="0"/>
              <a:t>。</a:t>
            </a:r>
          </a:p>
          <a:p>
            <a:pPr marL="0" marR="0" lvl="0" indent="0" algn="l" defTabSz="914400">
              <a:lnSpc>
                <a:spcPct val="100000"/>
              </a:lnSpc>
              <a:spcBef>
                <a:spcPct val="0"/>
              </a:spcBef>
              <a:spcAft>
                <a:spcPct val="0"/>
              </a:spcAft>
              <a:buClrTx/>
              <a:buSzTx/>
              <a:buNone/>
            </a:pPr>
            <a:r>
              <a:rPr sz="1400" dirty="0"/>
              <a:t> </a:t>
            </a:r>
          </a:p>
          <a:p>
            <a:pPr marL="0" marR="0" lvl="0" indent="0" algn="l" defTabSz="914400">
              <a:lnSpc>
                <a:spcPct val="100000"/>
              </a:lnSpc>
              <a:spcBef>
                <a:spcPct val="0"/>
              </a:spcBef>
              <a:spcAft>
                <a:spcPct val="0"/>
              </a:spcAft>
              <a:buClrTx/>
              <a:buSzTx/>
              <a:buNone/>
            </a:pPr>
            <a:endParaRPr sz="1400" dirty="0"/>
          </a:p>
          <a:p>
            <a:pPr marL="0" marR="0" lvl="0" indent="0" algn="l" defTabSz="914400">
              <a:lnSpc>
                <a:spcPct val="100000"/>
              </a:lnSpc>
              <a:spcBef>
                <a:spcPct val="0"/>
              </a:spcBef>
              <a:spcAft>
                <a:spcPct val="0"/>
              </a:spcAft>
              <a:buClrTx/>
              <a:buSzTx/>
              <a:buNone/>
            </a:pPr>
            <a:r>
              <a:rPr sz="1400" dirty="0"/>
              <a:t>原始XML共有2,033筆資料，篩選後保留剩下英文健康主題共有1,017筆，其中包含有完整摘要：1,013筆 、使用簡短介紹代替摘要：4筆</a:t>
            </a:r>
          </a:p>
          <a:p>
            <a:pPr marL="0" marR="0" lvl="0" indent="0" algn="l" defTabSz="914400">
              <a:lnSpc>
                <a:spcPct val="100000"/>
              </a:lnSpc>
              <a:spcBef>
                <a:spcPct val="0"/>
              </a:spcBef>
              <a:spcAft>
                <a:spcPct val="0"/>
              </a:spcAft>
              <a:buClrTx/>
              <a:buSzTx/>
              <a:buNone/>
            </a:pPr>
            <a:endParaRPr sz="1400" dirty="0"/>
          </a:p>
          <a:p>
            <a:pPr marL="0" marR="0" lvl="0" indent="0" algn="l" defTabSz="914400">
              <a:lnSpc>
                <a:spcPct val="100000"/>
              </a:lnSpc>
              <a:spcBef>
                <a:spcPct val="0"/>
              </a:spcBef>
              <a:spcAft>
                <a:spcPct val="0"/>
              </a:spcAft>
              <a:buClrTx/>
              <a:buSzTx/>
              <a:buNone/>
            </a:pPr>
            <a:endParaRPr sz="1400" dirty="0"/>
          </a:p>
          <a:p>
            <a:pPr marL="0" indent="0">
              <a:lnSpc>
                <a:spcPct val="100000"/>
              </a:lnSpc>
              <a:spcBef>
                <a:spcPct val="0"/>
              </a:spcBef>
              <a:spcAft>
                <a:spcPct val="0"/>
              </a:spcAft>
              <a:buClrTx/>
              <a:buSzTx/>
              <a:buNone/>
            </a:pPr>
            <a:r>
              <a:rPr sz="1400" dirty="0" err="1"/>
              <a:t>選用原因</a:t>
            </a:r>
            <a:r>
              <a:rPr sz="1400" dirty="0"/>
              <a:t>：</a:t>
            </a:r>
          </a:p>
          <a:p>
            <a:pPr>
              <a:lnSpc>
                <a:spcPct val="100000"/>
              </a:lnSpc>
              <a:spcBef>
                <a:spcPct val="0"/>
              </a:spcBef>
              <a:spcAft>
                <a:spcPct val="0"/>
              </a:spcAft>
              <a:buClrTx/>
              <a:buSzTx/>
              <a:buNone/>
            </a:pPr>
            <a:r>
              <a:rPr sz="1400" dirty="0" err="1"/>
              <a:t>由美國國家醫學圖書館提供</a:t>
            </a:r>
            <a:r>
              <a:rPr sz="1400" dirty="0"/>
              <a:t>。</a:t>
            </a:r>
          </a:p>
          <a:p>
            <a:pPr>
              <a:lnSpc>
                <a:spcPct val="100000"/>
              </a:lnSpc>
              <a:spcBef>
                <a:spcPct val="0"/>
              </a:spcBef>
              <a:spcAft>
                <a:spcPct val="0"/>
              </a:spcAft>
              <a:buClrTx/>
              <a:buSzTx/>
              <a:buNone/>
            </a:pPr>
            <a:r>
              <a:rPr sz="1400" dirty="0" err="1"/>
              <a:t>包含健康主題、完整摘要、MeSH詞彙及相關來源</a:t>
            </a:r>
            <a:r>
              <a:rPr sz="1400" dirty="0"/>
              <a:t>。</a:t>
            </a:r>
          </a:p>
          <a:p>
            <a:pPr>
              <a:lnSpc>
                <a:spcPct val="100000"/>
              </a:lnSpc>
              <a:spcBef>
                <a:spcPct val="0"/>
              </a:spcBef>
              <a:spcAft>
                <a:spcPct val="0"/>
              </a:spcAft>
              <a:buClrTx/>
              <a:buSzTx/>
              <a:buNone/>
            </a:pPr>
            <a:r>
              <a:rPr sz="1400" dirty="0" err="1"/>
              <a:t>適合當作一般民眾健康資訊回答的參考證據</a:t>
            </a:r>
            <a:r>
              <a:rPr sz="1400" dirty="0"/>
              <a:t>。</a:t>
            </a:r>
          </a:p>
        </p:txBody>
      </p:sp>
    </p:spTree>
    <p:extLst>
      <p:ext uri="{BB962C8B-B14F-4D97-AF65-F5344CB8AC3E}">
        <p14:creationId xmlns:p14="http://schemas.microsoft.com/office/powerpoint/2010/main" val="2486489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36245"/>
            <a:ext cx="9750015" cy="3570208"/>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dirty="0"/>
              <a:t>SNOMED CT:</a:t>
            </a:r>
          </a:p>
          <a:p>
            <a:pPr marL="0" marR="0" lvl="0" indent="0" algn="l" defTabSz="914400">
              <a:lnSpc>
                <a:spcPct val="100000"/>
              </a:lnSpc>
              <a:spcBef>
                <a:spcPct val="0"/>
              </a:spcBef>
              <a:spcAft>
                <a:spcPct val="0"/>
              </a:spcAft>
              <a:buClrTx/>
              <a:buSzTx/>
              <a:buNone/>
            </a:pPr>
            <a:r>
              <a:rPr sz="1400" dirty="0" err="1"/>
              <a:t>用途：提供標準醫療概念編號、名稱及概念關係</a:t>
            </a:r>
            <a:r>
              <a:rPr sz="1400" dirty="0"/>
              <a:t>。</a:t>
            </a:r>
          </a:p>
          <a:p>
            <a:pPr marL="0" marR="0" lvl="0" indent="0" algn="l" defTabSz="914400">
              <a:lnSpc>
                <a:spcPct val="100000"/>
              </a:lnSpc>
              <a:spcBef>
                <a:spcPct val="0"/>
              </a:spcBef>
              <a:spcAft>
                <a:spcPct val="0"/>
              </a:spcAft>
              <a:buClrTx/>
              <a:buSzTx/>
              <a:buNone/>
            </a:pPr>
            <a:endParaRPr sz="1400" dirty="0"/>
          </a:p>
          <a:p>
            <a:pPr marL="0" marR="0" lvl="0" indent="0" algn="l" defTabSz="914400">
              <a:lnSpc>
                <a:spcPct val="100000"/>
              </a:lnSpc>
              <a:spcBef>
                <a:spcPct val="0"/>
              </a:spcBef>
              <a:spcAft>
                <a:spcPct val="0"/>
              </a:spcAft>
              <a:buClrTx/>
              <a:buSzTx/>
              <a:buNone/>
            </a:pPr>
            <a:r>
              <a:rPr sz="1400" dirty="0" err="1"/>
              <a:t>例如</a:t>
            </a:r>
            <a:r>
              <a:rPr sz="1400" dirty="0"/>
              <a:t>：</a:t>
            </a:r>
          </a:p>
          <a:p>
            <a:pPr marL="0" marR="0" lvl="0" indent="0" algn="l" defTabSz="914400">
              <a:lnSpc>
                <a:spcPct val="100000"/>
              </a:lnSpc>
              <a:spcBef>
                <a:spcPct val="0"/>
              </a:spcBef>
              <a:spcAft>
                <a:spcPct val="0"/>
              </a:spcAft>
              <a:buClrTx/>
              <a:buSzTx/>
              <a:buNone/>
            </a:pPr>
            <a:r>
              <a:rPr sz="1400" dirty="0"/>
              <a:t>21522001 → Abdominal pain</a:t>
            </a:r>
          </a:p>
          <a:p>
            <a:pPr marL="0" marR="0" lvl="0" indent="0" algn="l" defTabSz="914400">
              <a:lnSpc>
                <a:spcPct val="100000"/>
              </a:lnSpc>
              <a:spcBef>
                <a:spcPct val="0"/>
              </a:spcBef>
              <a:spcAft>
                <a:spcPct val="0"/>
              </a:spcAft>
              <a:buClrTx/>
              <a:buSzTx/>
              <a:buNone/>
            </a:pPr>
            <a:endParaRPr sz="1400" dirty="0"/>
          </a:p>
          <a:p>
            <a:pPr marL="0" marR="0" lvl="0" indent="0" algn="l" defTabSz="914400">
              <a:lnSpc>
                <a:spcPct val="100000"/>
              </a:lnSpc>
              <a:spcBef>
                <a:spcPct val="0"/>
              </a:spcBef>
              <a:spcAft>
                <a:spcPct val="0"/>
              </a:spcAft>
              <a:buClrTx/>
              <a:buSzTx/>
              <a:buNone/>
            </a:pPr>
            <a:endParaRPr sz="1400" dirty="0"/>
          </a:p>
          <a:p>
            <a:pPr marL="0" marR="0" lvl="0" indent="0" algn="l" defTabSz="914400">
              <a:lnSpc>
                <a:spcPct val="100000"/>
              </a:lnSpc>
              <a:spcBef>
                <a:spcPct val="0"/>
              </a:spcBef>
              <a:spcAft>
                <a:spcPct val="0"/>
              </a:spcAft>
              <a:buClrTx/>
              <a:buSzTx/>
              <a:buNone/>
            </a:pPr>
            <a:r>
              <a:rPr sz="1400" dirty="0"/>
              <a:t>SNOMED </a:t>
            </a:r>
            <a:r>
              <a:rPr sz="1400" dirty="0" err="1"/>
              <a:t>CT主要負責</a:t>
            </a:r>
            <a:r>
              <a:rPr sz="1400" dirty="0"/>
              <a:t>：</a:t>
            </a:r>
          </a:p>
          <a:p>
            <a:pPr>
              <a:lnSpc>
                <a:spcPct val="100000"/>
              </a:lnSpc>
              <a:spcBef>
                <a:spcPct val="0"/>
              </a:spcBef>
              <a:spcAft>
                <a:spcPct val="0"/>
              </a:spcAft>
              <a:buClrTx/>
              <a:buSzTx/>
              <a:buNone/>
            </a:pPr>
            <a:r>
              <a:rPr sz="1400" dirty="0" err="1"/>
              <a:t>確認不同名稱對應到哪一個醫療概念</a:t>
            </a:r>
            <a:r>
              <a:rPr sz="1400" dirty="0"/>
              <a:t>。</a:t>
            </a:r>
          </a:p>
          <a:p>
            <a:pPr>
              <a:lnSpc>
                <a:spcPct val="100000"/>
              </a:lnSpc>
              <a:spcBef>
                <a:spcPct val="0"/>
              </a:spcBef>
              <a:spcAft>
                <a:spcPct val="0"/>
              </a:spcAft>
              <a:buClrTx/>
              <a:buSzTx/>
              <a:buNone/>
            </a:pPr>
            <a:r>
              <a:rPr sz="1400" dirty="0" err="1"/>
              <a:t>將MedlinePlus健康主題連結到標準Concept</a:t>
            </a:r>
            <a:r>
              <a:rPr sz="1400" dirty="0"/>
              <a:t> ID。</a:t>
            </a:r>
          </a:p>
          <a:p>
            <a:pPr>
              <a:lnSpc>
                <a:spcPct val="100000"/>
              </a:lnSpc>
              <a:spcBef>
                <a:spcPct val="0"/>
              </a:spcBef>
              <a:spcAft>
                <a:spcPct val="0"/>
              </a:spcAft>
              <a:buClrTx/>
              <a:buSzTx/>
              <a:buNone/>
            </a:pPr>
            <a:r>
              <a:rPr sz="1400" dirty="0" err="1"/>
              <a:t>檢查概念是否有效及其</a:t>
            </a:r>
            <a:r>
              <a:rPr sz="1400" dirty="0"/>
              <a:t> is-a </a:t>
            </a:r>
            <a:r>
              <a:rPr sz="1400" dirty="0" err="1"/>
              <a:t>上位關係</a:t>
            </a:r>
            <a:r>
              <a:rPr sz="1400" dirty="0"/>
              <a:t>。</a:t>
            </a:r>
          </a:p>
          <a:p>
            <a:pPr>
              <a:lnSpc>
                <a:spcPct val="100000"/>
              </a:lnSpc>
              <a:spcBef>
                <a:spcPct val="0"/>
              </a:spcBef>
              <a:spcAft>
                <a:spcPct val="0"/>
              </a:spcAft>
              <a:buClrTx/>
              <a:buSzTx/>
              <a:buNone/>
            </a:pPr>
            <a:endParaRPr sz="1400" dirty="0"/>
          </a:p>
          <a:p>
            <a:pPr marL="0" indent="0">
              <a:lnSpc>
                <a:spcPct val="100000"/>
              </a:lnSpc>
              <a:spcBef>
                <a:spcPct val="0"/>
              </a:spcBef>
              <a:spcAft>
                <a:spcPct val="0"/>
              </a:spcAft>
              <a:buClrTx/>
              <a:buSzTx/>
              <a:buNone/>
            </a:pPr>
            <a:endParaRPr sz="1400" dirty="0"/>
          </a:p>
          <a:p>
            <a:pPr marL="0" indent="0">
              <a:lnSpc>
                <a:spcPct val="100000"/>
              </a:lnSpc>
              <a:spcBef>
                <a:spcPct val="0"/>
              </a:spcBef>
              <a:spcAft>
                <a:spcPct val="0"/>
              </a:spcAft>
              <a:buClrTx/>
              <a:buSzTx/>
              <a:buNone/>
            </a:pPr>
            <a:r>
              <a:rPr sz="1400" dirty="0" err="1"/>
              <a:t>真正提供回答內容的是MedlinePlus摘要</a:t>
            </a:r>
            <a:endParaRPr sz="1400" dirty="0"/>
          </a:p>
          <a:p>
            <a:pPr marL="0" indent="0">
              <a:lnSpc>
                <a:spcPct val="100000"/>
              </a:lnSpc>
              <a:spcBef>
                <a:spcPct val="0"/>
              </a:spcBef>
              <a:spcAft>
                <a:spcPct val="0"/>
              </a:spcAft>
              <a:buClrTx/>
              <a:buSzTx/>
              <a:buNone/>
            </a:pPr>
            <a:r>
              <a:rPr sz="1400" dirty="0" err="1"/>
              <a:t>因此在實驗中，SNOMED</a:t>
            </a:r>
            <a:r>
              <a:rPr sz="1400" dirty="0"/>
              <a:t> </a:t>
            </a:r>
            <a:r>
              <a:rPr sz="1400" dirty="0" err="1"/>
              <a:t>CT是用來「辨識與連結</a:t>
            </a:r>
            <a:r>
              <a:rPr sz="1400" dirty="0"/>
              <a:t>」，</a:t>
            </a:r>
            <a:r>
              <a:rPr sz="1400" dirty="0" err="1"/>
              <a:t>MedlinePlus是用來「提供健康資訊</a:t>
            </a:r>
            <a:r>
              <a:rPr sz="1400" dirty="0"/>
              <a:t>」。</a:t>
            </a:r>
          </a:p>
          <a:p>
            <a:pPr>
              <a:lnSpc>
                <a:spcPct val="100000"/>
              </a:lnSpc>
              <a:spcBef>
                <a:spcPct val="0"/>
              </a:spcBef>
              <a:spcAft>
                <a:spcPct val="0"/>
              </a:spcAft>
              <a:buClrTx/>
              <a:buSzTx/>
              <a:buNone/>
            </a:pPr>
            <a:endParaRPr sz="1400" dirty="0"/>
          </a:p>
        </p:txBody>
      </p:sp>
    </p:spTree>
    <p:extLst>
      <p:ext uri="{BB962C8B-B14F-4D97-AF65-F5344CB8AC3E}">
        <p14:creationId xmlns:p14="http://schemas.microsoft.com/office/powerpoint/2010/main" val="2750416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21439"/>
            <a:ext cx="9750015" cy="2739211"/>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建立兩者對照:</a:t>
            </a:r>
          </a:p>
          <a:p>
            <a:pPr marL="0" indent="0">
              <a:lnSpc>
                <a:spcPct val="100000"/>
              </a:lnSpc>
              <a:spcBef>
                <a:spcPct val="0"/>
              </a:spcBef>
              <a:spcAft>
                <a:spcPct val="0"/>
              </a:spcAft>
              <a:buClrTx/>
              <a:buSzTx/>
              <a:buNone/>
            </a:pPr>
            <a:r>
              <a:rPr sz="1400"/>
              <a:t>先以名稱和別名找出SNOMED CT與MedlinePlus候選對照，再使用MedlinePlus Connect確認：</a:t>
            </a:r>
          </a:p>
          <a:p>
            <a:pPr>
              <a:lnSpc>
                <a:spcPct val="100000"/>
              </a:lnSpc>
              <a:spcBef>
                <a:spcPct val="0"/>
              </a:spcBef>
              <a:spcAft>
                <a:spcPct val="0"/>
              </a:spcAft>
              <a:buClrTx/>
              <a:buSzTx/>
              <a:buNone/>
            </a:pPr>
            <a:r>
              <a:rPr sz="1400"/>
              <a:t>候選對照：1,420組</a:t>
            </a:r>
          </a:p>
          <a:p>
            <a:pPr>
              <a:lnSpc>
                <a:spcPct val="100000"/>
              </a:lnSpc>
              <a:spcBef>
                <a:spcPct val="0"/>
              </a:spcBef>
              <a:spcAft>
                <a:spcPct val="0"/>
              </a:spcAft>
              <a:buClrTx/>
              <a:buSzTx/>
              <a:buNone/>
            </a:pPr>
            <a:r>
              <a:rPr sz="1400"/>
              <a:t>官方確認對照：702組</a:t>
            </a:r>
          </a:p>
          <a:p>
            <a:pPr>
              <a:lnSpc>
                <a:spcPct val="100000"/>
              </a:lnSpc>
              <a:spcBef>
                <a:spcPct val="0"/>
              </a:spcBef>
              <a:spcAft>
                <a:spcPct val="0"/>
              </a:spcAft>
              <a:buClrTx/>
              <a:buSzTx/>
              <a:buNone/>
            </a:pPr>
            <a:r>
              <a:rPr sz="1400"/>
              <a:t>對應到不重複MedlinePlus主題：519個</a:t>
            </a:r>
          </a:p>
          <a:p>
            <a:pPr>
              <a:lnSpc>
                <a:spcPct val="100000"/>
              </a:lnSpc>
              <a:spcBef>
                <a:spcPct val="0"/>
              </a:spcBef>
              <a:spcAft>
                <a:spcPct val="0"/>
              </a:spcAft>
              <a:buClrTx/>
              <a:buSzTx/>
              <a:buNone/>
            </a:pPr>
            <a:endParaRPr sz="1400"/>
          </a:p>
          <a:p>
            <a:pPr>
              <a:lnSpc>
                <a:spcPct val="100000"/>
              </a:lnSpc>
              <a:spcBef>
                <a:spcPct val="0"/>
              </a:spcBef>
              <a:spcAft>
                <a:spcPct val="0"/>
              </a:spcAft>
              <a:buClrTx/>
              <a:buSzTx/>
              <a:buNone/>
            </a:pPr>
            <a:endParaRPr sz="1400"/>
          </a:p>
          <a:p>
            <a:pPr marL="0" indent="0">
              <a:lnSpc>
                <a:spcPct val="100000"/>
              </a:lnSpc>
              <a:spcBef>
                <a:spcPct val="0"/>
              </a:spcBef>
              <a:spcAft>
                <a:spcPct val="0"/>
              </a:spcAft>
              <a:buClrTx/>
              <a:buSzTx/>
              <a:buNone/>
            </a:pPr>
            <a:r>
              <a:rPr sz="1600" b="1"/>
              <a:t>建立問題資料集:</a:t>
            </a:r>
          </a:p>
          <a:p>
            <a:pPr marL="0" indent="0">
              <a:lnSpc>
                <a:spcPct val="100000"/>
              </a:lnSpc>
              <a:spcBef>
                <a:spcPct val="0"/>
              </a:spcBef>
              <a:spcAft>
                <a:spcPct val="0"/>
              </a:spcAft>
              <a:buClrTx/>
              <a:buSzTx/>
              <a:buNone/>
            </a:pPr>
            <a:r>
              <a:rPr sz="1400"/>
              <a:t>從519個主題中，依摘要完整性及題型證據自動篩選，最後建立516題：</a:t>
            </a:r>
          </a:p>
          <a:p>
            <a:pPr marL="0" indent="0">
              <a:lnSpc>
                <a:spcPct val="100000"/>
              </a:lnSpc>
              <a:spcBef>
                <a:spcPct val="0"/>
              </a:spcBef>
              <a:spcAft>
                <a:spcPct val="0"/>
              </a:spcAft>
              <a:buClrTx/>
              <a:buSzTx/>
              <a:buNone/>
            </a:pPr>
            <a:endParaRPr sz="1400"/>
          </a:p>
          <a:p>
            <a:pPr marL="0" indent="0">
              <a:lnSpc>
                <a:spcPct val="100000"/>
              </a:lnSpc>
              <a:spcBef>
                <a:spcPct val="0"/>
              </a:spcBef>
              <a:spcAft>
                <a:spcPct val="0"/>
              </a:spcAft>
              <a:buClrTx/>
              <a:buSzTx/>
              <a:buNone/>
            </a:pPr>
            <a:endParaRPr sz="1400"/>
          </a:p>
          <a:p>
            <a:pPr>
              <a:lnSpc>
                <a:spcPct val="100000"/>
              </a:lnSpc>
              <a:spcBef>
                <a:spcPct val="0"/>
              </a:spcBef>
              <a:spcAft>
                <a:spcPct val="0"/>
              </a:spcAft>
              <a:buClrTx/>
              <a:buSzTx/>
              <a:buNone/>
            </a:pPr>
            <a:endParaRPr sz="1400"/>
          </a:p>
        </p:txBody>
      </p:sp>
      <p:graphicFrame>
        <p:nvGraphicFramePr>
          <p:cNvPr id="7" name="表格 4"/>
          <p:cNvGraphicFramePr/>
          <p:nvPr/>
        </p:nvGraphicFramePr>
        <p:xfrm>
          <a:off x="2032000" y="4257142"/>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t>資料集</a:t>
                      </a:r>
                    </a:p>
                  </a:txBody>
                  <a:tcPr/>
                </a:tc>
                <a:tc>
                  <a:txBody>
                    <a:bodyPr/>
                    <a:lstStyle/>
                    <a:p>
                      <a:r>
                        <a:t>題數</a:t>
                      </a:r>
                    </a:p>
                  </a:txBody>
                  <a:tcPr/>
                </a:tc>
                <a:extLst>
                  <a:ext uri="{0D108BD9-81ED-4DB2-BD59-A6C34878D82A}">
                    <a16:rowId xmlns:a16="http://schemas.microsoft.com/office/drawing/2014/main" val="10000"/>
                  </a:ext>
                </a:extLst>
              </a:tr>
              <a:tr h="370840">
                <a:tc>
                  <a:txBody>
                    <a:bodyPr/>
                    <a:lstStyle/>
                    <a:p>
                      <a:r>
                        <a:t>驗證集</a:t>
                      </a:r>
                    </a:p>
                  </a:txBody>
                  <a:tcPr/>
                </a:tc>
                <a:tc>
                  <a:txBody>
                    <a:bodyPr/>
                    <a:lstStyle/>
                    <a:p>
                      <a:r>
                        <a:t>102題</a:t>
                      </a:r>
                    </a:p>
                  </a:txBody>
                  <a:tcPr/>
                </a:tc>
                <a:extLst>
                  <a:ext uri="{0D108BD9-81ED-4DB2-BD59-A6C34878D82A}">
                    <a16:rowId xmlns:a16="http://schemas.microsoft.com/office/drawing/2014/main" val="10001"/>
                  </a:ext>
                </a:extLst>
              </a:tr>
              <a:tr h="370840">
                <a:tc>
                  <a:txBody>
                    <a:bodyPr/>
                    <a:lstStyle/>
                    <a:p>
                      <a:r>
                        <a:t>正式測試集</a:t>
                      </a:r>
                    </a:p>
                  </a:txBody>
                  <a:tcPr/>
                </a:tc>
                <a:tc>
                  <a:txBody>
                    <a:bodyPr/>
                    <a:lstStyle/>
                    <a:p>
                      <a:r>
                        <a:t>414題</a:t>
                      </a:r>
                    </a:p>
                  </a:txBody>
                  <a:tcPr/>
                </a:tc>
                <a:extLst>
                  <a:ext uri="{0D108BD9-81ED-4DB2-BD59-A6C34878D82A}">
                    <a16:rowId xmlns:a16="http://schemas.microsoft.com/office/drawing/2014/main" val="10002"/>
                  </a:ext>
                </a:extLst>
              </a:tr>
              <a:tr h="370840">
                <a:tc>
                  <a:txBody>
                    <a:bodyPr/>
                    <a:lstStyle/>
                    <a:p>
                      <a:r>
                        <a:t>合計</a:t>
                      </a:r>
                    </a:p>
                  </a:txBody>
                  <a:tcPr/>
                </a:tc>
                <a:tc>
                  <a:txBody>
                    <a:bodyPr/>
                    <a:lstStyle/>
                    <a:p>
                      <a:r>
                        <a:t>516題</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25173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857018"/>
            <a:ext cx="9750015" cy="1415772"/>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dirty="0" err="1"/>
              <a:t>在使用MedlinePlus</a:t>
            </a:r>
            <a:r>
              <a:rPr sz="1600" b="1" dirty="0"/>
              <a:t> </a:t>
            </a:r>
            <a:r>
              <a:rPr sz="1600" b="1" dirty="0" err="1"/>
              <a:t>Connect確認，要先知道，在SNOMED</a:t>
            </a:r>
            <a:r>
              <a:rPr sz="1600" b="1" dirty="0"/>
              <a:t> </a:t>
            </a:r>
            <a:r>
              <a:rPr sz="1600" b="1" dirty="0" err="1"/>
              <a:t>CT資料集中的</a:t>
            </a:r>
            <a:r>
              <a:rPr sz="1600" b="1" dirty="0"/>
              <a:t>:</a:t>
            </a:r>
          </a:p>
          <a:p>
            <a:pPr marL="0" indent="0">
              <a:lnSpc>
                <a:spcPct val="100000"/>
              </a:lnSpc>
              <a:spcBef>
                <a:spcPct val="0"/>
              </a:spcBef>
              <a:spcAft>
                <a:spcPct val="0"/>
              </a:spcAft>
              <a:buClrTx/>
              <a:buSzTx/>
              <a:buNone/>
            </a:pPr>
            <a:r>
              <a:rPr sz="1400" dirty="0" err="1"/>
              <a:t>Concept檔的</a:t>
            </a:r>
            <a:r>
              <a:rPr sz="1400" dirty="0"/>
              <a:t> </a:t>
            </a:r>
            <a:r>
              <a:rPr sz="1400" dirty="0" err="1"/>
              <a:t>id是對應到Description檔的</a:t>
            </a:r>
            <a:r>
              <a:rPr sz="1400" dirty="0"/>
              <a:t> </a:t>
            </a:r>
            <a:r>
              <a:rPr sz="1400" dirty="0" err="1"/>
              <a:t>conceptId，因此在測試前要先確保id是一致的</a:t>
            </a:r>
            <a:endParaRPr sz="1400" dirty="0"/>
          </a:p>
          <a:p>
            <a:pPr marL="0" indent="0">
              <a:lnSpc>
                <a:spcPct val="100000"/>
              </a:lnSpc>
              <a:spcBef>
                <a:spcPct val="0"/>
              </a:spcBef>
              <a:spcAft>
                <a:spcPct val="0"/>
              </a:spcAft>
              <a:buClrTx/>
              <a:buSzTx/>
              <a:buNone/>
            </a:pPr>
            <a:r>
              <a:rPr sz="1400" dirty="0" err="1"/>
              <a:t>以下範例:搜尋</a:t>
            </a:r>
            <a:r>
              <a:rPr sz="1400" dirty="0"/>
              <a:t> </a:t>
            </a:r>
            <a:r>
              <a:rPr sz="1400" dirty="0" err="1"/>
              <a:t>Asthma這個</a:t>
            </a:r>
            <a:r>
              <a:rPr sz="1200" dirty="0" err="1"/>
              <a:t>醫療概念的英文名稱</a:t>
            </a:r>
            <a:endParaRPr sz="1200" dirty="0"/>
          </a:p>
          <a:p>
            <a:pPr marL="0" indent="0">
              <a:lnSpc>
                <a:spcPct val="100000"/>
              </a:lnSpc>
              <a:spcBef>
                <a:spcPct val="0"/>
              </a:spcBef>
              <a:spcAft>
                <a:spcPct val="0"/>
              </a:spcAft>
              <a:buClrTx/>
              <a:buSzTx/>
              <a:buNone/>
            </a:pPr>
            <a:endParaRPr sz="1400" dirty="0"/>
          </a:p>
          <a:p>
            <a:pPr marL="0" indent="0">
              <a:lnSpc>
                <a:spcPct val="100000"/>
              </a:lnSpc>
              <a:spcBef>
                <a:spcPct val="0"/>
              </a:spcBef>
              <a:spcAft>
                <a:spcPct val="0"/>
              </a:spcAft>
              <a:buClrTx/>
              <a:buSzTx/>
              <a:buNone/>
            </a:pPr>
            <a:endParaRPr sz="1400" dirty="0"/>
          </a:p>
          <a:p>
            <a:pPr>
              <a:lnSpc>
                <a:spcPct val="100000"/>
              </a:lnSpc>
              <a:spcBef>
                <a:spcPct val="0"/>
              </a:spcBef>
              <a:spcAft>
                <a:spcPct val="0"/>
              </a:spcAft>
              <a:buClrTx/>
              <a:buSzTx/>
              <a:buNone/>
            </a:pPr>
            <a:endParaRPr sz="1400" dirty="0"/>
          </a:p>
        </p:txBody>
      </p:sp>
      <p:pic>
        <p:nvPicPr>
          <p:cNvPr id="9" name="圖片 5"/>
          <p:cNvPicPr>
            <a:picLocks noChangeAspect="1"/>
          </p:cNvPicPr>
          <p:nvPr/>
        </p:nvPicPr>
        <p:blipFill>
          <a:blip r:embed="rId3"/>
          <a:stretch>
            <a:fillRect/>
          </a:stretch>
        </p:blipFill>
        <p:spPr>
          <a:xfrm>
            <a:off x="1503875" y="2698376"/>
            <a:ext cx="3469357" cy="3056753"/>
          </a:xfrm>
          <a:prstGeom prst="rect">
            <a:avLst/>
          </a:prstGeom>
        </p:spPr>
      </p:pic>
      <p:pic>
        <p:nvPicPr>
          <p:cNvPr id="10" name="圖片 8"/>
          <p:cNvPicPr>
            <a:picLocks noChangeAspect="1"/>
          </p:cNvPicPr>
          <p:nvPr/>
        </p:nvPicPr>
        <p:blipFill>
          <a:blip r:embed="rId4"/>
          <a:stretch>
            <a:fillRect/>
          </a:stretch>
        </p:blipFill>
        <p:spPr>
          <a:xfrm>
            <a:off x="5335059" y="2703511"/>
            <a:ext cx="5353066" cy="3051618"/>
          </a:xfrm>
          <a:prstGeom prst="rect">
            <a:avLst/>
          </a:prstGeom>
        </p:spPr>
      </p:pic>
      <p:sp>
        <p:nvSpPr>
          <p:cNvPr id="4" name="Rectangle 1">
            <a:extLst>
              <a:ext uri="{FF2B5EF4-FFF2-40B4-BE49-F238E27FC236}">
                <a16:creationId xmlns:a16="http://schemas.microsoft.com/office/drawing/2014/main" id="{780039DA-C674-51DE-3CCC-7FB1C17D690F}"/>
              </a:ext>
            </a:extLst>
          </p:cNvPr>
          <p:cNvSpPr>
            <a:spLocks noGrp="1"/>
          </p:cNvSpPr>
          <p:nvPr/>
        </p:nvSpPr>
        <p:spPr>
          <a:xfrm>
            <a:off x="1097278" y="5933932"/>
            <a:ext cx="9750015" cy="307777"/>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a:lnSpc>
                <a:spcPct val="100000"/>
              </a:lnSpc>
              <a:spcBef>
                <a:spcPct val="0"/>
              </a:spcBef>
              <a:spcAft>
                <a:spcPct val="0"/>
              </a:spcAft>
              <a:buClrTx/>
              <a:buSzTx/>
              <a:buFont typeface="Calibri"/>
              <a:buNone/>
            </a:pPr>
            <a:r>
              <a:rPr sz="1400"/>
              <a:t>由此可以得知Asthma在Concept檔的 id= 195967001， Description檔的 conceptId= 195967001</a:t>
            </a:r>
          </a:p>
        </p:txBody>
      </p:sp>
    </p:spTree>
    <p:extLst>
      <p:ext uri="{BB962C8B-B14F-4D97-AF65-F5344CB8AC3E}">
        <p14:creationId xmlns:p14="http://schemas.microsoft.com/office/powerpoint/2010/main" val="2788020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743309"/>
            <a:ext cx="9750015" cy="1015663"/>
          </a:xfrm>
          <a:prstGeom prst="rect">
            <a:avLst/>
          </a:prstGeom>
          <a:noFill/>
          <a:ln>
            <a:noFill/>
          </a:ln>
        </p:spPr>
        <p:txBody>
          <a:bodyPr vert="horz" wrap="square" lIns="91440" tIns="45720" rIns="91440" bIns="45720" anchor="ctr">
            <a:spAutoFit/>
          </a:bodyPr>
          <a:lstStyle/>
          <a:p>
            <a:pPr>
              <a:lnSpc>
                <a:spcPct val="100000"/>
              </a:lnSpc>
              <a:spcBef>
                <a:spcPct val="0"/>
              </a:spcBef>
              <a:spcAft>
                <a:spcPct val="0"/>
              </a:spcAft>
              <a:buClrTx/>
              <a:buSzTx/>
              <a:buNone/>
            </a:pPr>
            <a:r>
              <a:rPr sz="1600" b="1" dirty="0" err="1"/>
              <a:t>使用官方SNOMED</a:t>
            </a:r>
            <a:r>
              <a:rPr sz="1600" b="1" dirty="0"/>
              <a:t> CT Browser</a:t>
            </a:r>
          </a:p>
          <a:p>
            <a:pPr>
              <a:lnSpc>
                <a:spcPct val="100000"/>
              </a:lnSpc>
              <a:spcBef>
                <a:spcPct val="0"/>
              </a:spcBef>
              <a:spcAft>
                <a:spcPct val="0"/>
              </a:spcAft>
              <a:buClrTx/>
              <a:buSzTx/>
              <a:buNone/>
            </a:pPr>
            <a:endParaRPr sz="1600" b="1" dirty="0"/>
          </a:p>
          <a:p>
            <a:pPr>
              <a:lnSpc>
                <a:spcPct val="100000"/>
              </a:lnSpc>
              <a:spcBef>
                <a:spcPct val="0"/>
              </a:spcBef>
              <a:spcAft>
                <a:spcPct val="0"/>
              </a:spcAft>
              <a:buClrTx/>
              <a:buSzTx/>
              <a:buNone/>
            </a:pPr>
            <a:r>
              <a:rPr sz="1400" dirty="0" err="1"/>
              <a:t>流程</a:t>
            </a:r>
            <a:r>
              <a:rPr sz="1400" dirty="0"/>
              <a:t>: </a:t>
            </a:r>
            <a:r>
              <a:rPr sz="1400" dirty="0" err="1"/>
              <a:t>開啟SNOMED</a:t>
            </a:r>
            <a:r>
              <a:rPr sz="1400" dirty="0"/>
              <a:t> CT Browser -&gt;</a:t>
            </a:r>
            <a:r>
              <a:rPr sz="1400" dirty="0" err="1"/>
              <a:t>選擇International</a:t>
            </a:r>
            <a:r>
              <a:rPr sz="1400" dirty="0"/>
              <a:t> Edition-&gt;</a:t>
            </a:r>
            <a:r>
              <a:rPr sz="1400" dirty="0" err="1"/>
              <a:t>在搜尋框輸入</a:t>
            </a:r>
            <a:r>
              <a:rPr sz="1400" dirty="0"/>
              <a:t> Asthma-&gt;</a:t>
            </a:r>
            <a:r>
              <a:rPr sz="1400" dirty="0" err="1"/>
              <a:t>選擇一般性的</a:t>
            </a:r>
            <a:r>
              <a:rPr sz="1400" dirty="0"/>
              <a:t> Asthma (disorder) </a:t>
            </a:r>
          </a:p>
          <a:p>
            <a:pPr>
              <a:lnSpc>
                <a:spcPct val="100000"/>
              </a:lnSpc>
              <a:spcBef>
                <a:spcPct val="0"/>
              </a:spcBef>
              <a:spcAft>
                <a:spcPct val="0"/>
              </a:spcAft>
              <a:buClrTx/>
              <a:buSzTx/>
              <a:buNone/>
            </a:pPr>
            <a:r>
              <a:rPr sz="1400" dirty="0"/>
              <a:t>-&gt;頁面會顯示SCTID：195967001</a:t>
            </a:r>
          </a:p>
        </p:txBody>
      </p:sp>
      <p:pic>
        <p:nvPicPr>
          <p:cNvPr id="7" name="圖片 10"/>
          <p:cNvPicPr>
            <a:picLocks noChangeAspect="1"/>
          </p:cNvPicPr>
          <p:nvPr/>
        </p:nvPicPr>
        <p:blipFill>
          <a:blip r:embed="rId3"/>
          <a:stretch>
            <a:fillRect/>
          </a:stretch>
        </p:blipFill>
        <p:spPr>
          <a:xfrm>
            <a:off x="2457600" y="2872195"/>
            <a:ext cx="7276801" cy="3432342"/>
          </a:xfrm>
          <a:prstGeom prst="rect">
            <a:avLst/>
          </a:prstGeom>
        </p:spPr>
      </p:pic>
    </p:spTree>
    <p:extLst>
      <p:ext uri="{BB962C8B-B14F-4D97-AF65-F5344CB8AC3E}">
        <p14:creationId xmlns:p14="http://schemas.microsoft.com/office/powerpoint/2010/main" val="2212523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842067"/>
            <a:ext cx="9750015" cy="800219"/>
          </a:xfrm>
          <a:prstGeom prst="rect">
            <a:avLst/>
          </a:prstGeom>
          <a:noFill/>
          <a:ln>
            <a:noFill/>
          </a:ln>
        </p:spPr>
        <p:txBody>
          <a:bodyPr vert="horz" wrap="square" lIns="91440" tIns="45720" rIns="91440" bIns="45720" anchor="ctr">
            <a:spAutoFit/>
          </a:bodyPr>
          <a:lstStyle/>
          <a:p>
            <a:pPr>
              <a:lnSpc>
                <a:spcPct val="100000"/>
              </a:lnSpc>
              <a:spcBef>
                <a:spcPct val="0"/>
              </a:spcBef>
              <a:spcAft>
                <a:spcPct val="0"/>
              </a:spcAft>
              <a:buClrTx/>
              <a:buSzTx/>
              <a:buNone/>
            </a:pPr>
            <a:r>
              <a:rPr sz="1600" b="1"/>
              <a:t>得到這個SNOMED CT代碼後就可以進行MedlinePlus Connect</a:t>
            </a:r>
          </a:p>
          <a:p>
            <a:pPr>
              <a:lnSpc>
                <a:spcPct val="100000"/>
              </a:lnSpc>
              <a:spcBef>
                <a:spcPct val="0"/>
              </a:spcBef>
              <a:spcAft>
                <a:spcPct val="0"/>
              </a:spcAft>
              <a:buClrTx/>
              <a:buSzTx/>
              <a:buNone/>
            </a:pPr>
            <a:endParaRPr sz="1600" b="1"/>
          </a:p>
          <a:p>
            <a:pPr>
              <a:lnSpc>
                <a:spcPct val="100000"/>
              </a:lnSpc>
              <a:spcBef>
                <a:spcPct val="0"/>
              </a:spcBef>
              <a:spcAft>
                <a:spcPct val="0"/>
              </a:spcAft>
              <a:buClrTx/>
              <a:buSzTx/>
              <a:buNone/>
            </a:pPr>
            <a:r>
              <a:rPr sz="1400"/>
              <a:t>開啟MedlinePlus Connect官方測試頁面 </a:t>
            </a:r>
          </a:p>
        </p:txBody>
      </p:sp>
      <p:pic>
        <p:nvPicPr>
          <p:cNvPr id="30" name="圖片 4"/>
          <p:cNvPicPr>
            <a:picLocks noChangeAspect="1"/>
          </p:cNvPicPr>
          <p:nvPr/>
        </p:nvPicPr>
        <p:blipFill>
          <a:blip r:embed="rId3"/>
          <a:stretch>
            <a:fillRect/>
          </a:stretch>
        </p:blipFill>
        <p:spPr>
          <a:xfrm>
            <a:off x="1097279" y="3083859"/>
            <a:ext cx="4477214" cy="2689411"/>
          </a:xfrm>
          <a:prstGeom prst="rect">
            <a:avLst/>
          </a:prstGeom>
        </p:spPr>
      </p:pic>
      <p:cxnSp>
        <p:nvCxnSpPr>
          <p:cNvPr id="31" name="直線單箭頭接點 6"/>
          <p:cNvCxnSpPr>
            <a:stCxn id="5" idx="3"/>
          </p:cNvCxnSpPr>
          <p:nvPr/>
        </p:nvCxnSpPr>
        <p:spPr>
          <a:xfrm>
            <a:off x="5574493" y="4428565"/>
            <a:ext cx="7097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2" name="圖片 9"/>
          <p:cNvPicPr>
            <a:picLocks noChangeAspect="1"/>
          </p:cNvPicPr>
          <p:nvPr/>
        </p:nvPicPr>
        <p:blipFill>
          <a:blip r:embed="rId4"/>
          <a:stretch>
            <a:fillRect/>
          </a:stretch>
        </p:blipFill>
        <p:spPr>
          <a:xfrm>
            <a:off x="6617509" y="2242176"/>
            <a:ext cx="4736107" cy="3531092"/>
          </a:xfrm>
          <a:prstGeom prst="rect">
            <a:avLst/>
          </a:prstGeom>
        </p:spPr>
      </p:pic>
    </p:spTree>
    <p:extLst>
      <p:ext uri="{BB962C8B-B14F-4D97-AF65-F5344CB8AC3E}">
        <p14:creationId xmlns:p14="http://schemas.microsoft.com/office/powerpoint/2010/main" val="1876068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06309"/>
            <a:ext cx="9750015" cy="800219"/>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dirty="0" err="1"/>
              <a:t>三種題型平均分配</a:t>
            </a:r>
            <a:r>
              <a:rPr sz="1600" b="1" dirty="0"/>
              <a:t>：</a:t>
            </a:r>
          </a:p>
          <a:p>
            <a:pPr marL="0" indent="0">
              <a:lnSpc>
                <a:spcPct val="100000"/>
              </a:lnSpc>
              <a:spcBef>
                <a:spcPct val="0"/>
              </a:spcBef>
              <a:spcAft>
                <a:spcPct val="0"/>
              </a:spcAft>
              <a:buClrTx/>
              <a:buSzTx/>
              <a:buNone/>
            </a:pPr>
            <a:endParaRPr sz="1600" b="1" dirty="0"/>
          </a:p>
          <a:p>
            <a:pPr marL="0" indent="0">
              <a:lnSpc>
                <a:spcPct val="100000"/>
              </a:lnSpc>
              <a:spcBef>
                <a:spcPct val="0"/>
              </a:spcBef>
              <a:spcAft>
                <a:spcPct val="0"/>
              </a:spcAft>
              <a:buClrTx/>
              <a:buSzTx/>
              <a:buNone/>
            </a:pPr>
            <a:endParaRPr sz="1400" dirty="0"/>
          </a:p>
        </p:txBody>
      </p:sp>
      <p:sp>
        <p:nvSpPr>
          <p:cNvPr id="6" name="Rectangle 1">
            <a:extLst>
              <a:ext uri="{FF2B5EF4-FFF2-40B4-BE49-F238E27FC236}">
                <a16:creationId xmlns:a16="http://schemas.microsoft.com/office/drawing/2014/main" id="{D2BB3C6E-C52E-DAD7-2578-13ADDDAD3A61}"/>
              </a:ext>
            </a:extLst>
          </p:cNvPr>
          <p:cNvSpPr>
            <a:spLocks noGrp="1"/>
          </p:cNvSpPr>
          <p:nvPr/>
        </p:nvSpPr>
        <p:spPr>
          <a:xfrm>
            <a:off x="1097278" y="4068339"/>
            <a:ext cx="9750015" cy="2062103"/>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a:t>題目使用固定英文模板：</a:t>
            </a:r>
          </a:p>
          <a:p>
            <a:pPr marL="0" indent="0">
              <a:lnSpc>
                <a:spcPct val="100000"/>
              </a:lnSpc>
              <a:spcBef>
                <a:spcPct val="0"/>
              </a:spcBef>
              <a:spcAft>
                <a:spcPct val="0"/>
              </a:spcAft>
              <a:buClrTx/>
              <a:buSzTx/>
              <a:buFont typeface="Calibri"/>
              <a:buNone/>
            </a:pPr>
            <a:endParaRPr sz="1600" b="1"/>
          </a:p>
          <a:p>
            <a:pPr marL="0" indent="0">
              <a:lnSpc>
                <a:spcPct val="100000"/>
              </a:lnSpc>
              <a:spcBef>
                <a:spcPct val="0"/>
              </a:spcBef>
              <a:spcAft>
                <a:spcPct val="0"/>
              </a:spcAft>
              <a:buClrTx/>
              <a:buSzTx/>
              <a:buFont typeface="Calibri"/>
              <a:buNone/>
            </a:pPr>
            <a:r>
              <a:rPr sz="1600" b="1"/>
              <a:t>Please provide a brief overview of {topic}.</a:t>
            </a:r>
          </a:p>
          <a:p>
            <a:pPr marL="0" indent="0">
              <a:lnSpc>
                <a:spcPct val="100000"/>
              </a:lnSpc>
              <a:spcBef>
                <a:spcPct val="0"/>
              </a:spcBef>
              <a:spcAft>
                <a:spcPct val="0"/>
              </a:spcAft>
              <a:buClrTx/>
              <a:buSzTx/>
              <a:buFont typeface="Calibri"/>
              <a:buNone/>
            </a:pPr>
            <a:endParaRPr sz="1600" b="1"/>
          </a:p>
          <a:p>
            <a:pPr marL="0" indent="0">
              <a:lnSpc>
                <a:spcPct val="100000"/>
              </a:lnSpc>
              <a:spcBef>
                <a:spcPct val="0"/>
              </a:spcBef>
              <a:spcAft>
                <a:spcPct val="0"/>
              </a:spcAft>
              <a:buClrTx/>
              <a:buSzTx/>
              <a:buFont typeface="Calibri"/>
              <a:buNone/>
            </a:pPr>
            <a:r>
              <a:rPr sz="1600" b="1"/>
              <a:t>Which signs or symptoms may occur with {topic}?</a:t>
            </a:r>
          </a:p>
          <a:p>
            <a:pPr marL="0" indent="0">
              <a:lnSpc>
                <a:spcPct val="100000"/>
              </a:lnSpc>
              <a:spcBef>
                <a:spcPct val="0"/>
              </a:spcBef>
              <a:spcAft>
                <a:spcPct val="0"/>
              </a:spcAft>
              <a:buClrTx/>
              <a:buSzTx/>
              <a:buFont typeface="Calibri"/>
              <a:buNone/>
            </a:pPr>
            <a:endParaRPr sz="1600" b="1"/>
          </a:p>
          <a:p>
            <a:pPr marL="0" indent="0">
              <a:lnSpc>
                <a:spcPct val="100000"/>
              </a:lnSpc>
              <a:spcBef>
                <a:spcPct val="0"/>
              </a:spcBef>
              <a:spcAft>
                <a:spcPct val="0"/>
              </a:spcAft>
              <a:buClrTx/>
              <a:buSzTx/>
              <a:buFont typeface="Calibri"/>
              <a:buNone/>
            </a:pPr>
            <a:r>
              <a:rPr sz="1600" b="1"/>
              <a:t>What approaches are used to treat or manage {topic}?</a:t>
            </a:r>
          </a:p>
          <a:p>
            <a:pPr marL="0" indent="0">
              <a:lnSpc>
                <a:spcPct val="100000"/>
              </a:lnSpc>
              <a:spcBef>
                <a:spcPct val="0"/>
              </a:spcBef>
              <a:spcAft>
                <a:spcPct val="0"/>
              </a:spcAft>
              <a:buClrTx/>
              <a:buSzTx/>
              <a:buFont typeface="Calibri"/>
              <a:buNone/>
            </a:pPr>
            <a:endParaRPr sz="1600" b="1"/>
          </a:p>
        </p:txBody>
      </p:sp>
      <p:graphicFrame>
        <p:nvGraphicFramePr>
          <p:cNvPr id="11" name="表格 7"/>
          <p:cNvGraphicFramePr/>
          <p:nvPr/>
        </p:nvGraphicFramePr>
        <p:xfrm>
          <a:off x="2032000" y="2306418"/>
          <a:ext cx="8127999"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t>題型</a:t>
                      </a:r>
                    </a:p>
                  </a:txBody>
                  <a:tcPr/>
                </a:tc>
                <a:tc>
                  <a:txBody>
                    <a:bodyPr/>
                    <a:lstStyle/>
                    <a:p>
                      <a:r>
                        <a:t>驗證集</a:t>
                      </a:r>
                    </a:p>
                  </a:txBody>
                  <a:tcPr/>
                </a:tc>
                <a:tc>
                  <a:txBody>
                    <a:bodyPr/>
                    <a:lstStyle/>
                    <a:p>
                      <a:r>
                        <a:t>測試集</a:t>
                      </a:r>
                    </a:p>
                  </a:txBody>
                  <a:tcPr/>
                </a:tc>
                <a:extLst>
                  <a:ext uri="{0D108BD9-81ED-4DB2-BD59-A6C34878D82A}">
                    <a16:rowId xmlns:a16="http://schemas.microsoft.com/office/drawing/2014/main" val="10000"/>
                  </a:ext>
                </a:extLst>
              </a:tr>
              <a:tr h="370840">
                <a:tc>
                  <a:txBody>
                    <a:bodyPr/>
                    <a:lstStyle/>
                    <a:p>
                      <a:r>
                        <a:t>疾病基本認識</a:t>
                      </a:r>
                    </a:p>
                  </a:txBody>
                  <a:tcPr/>
                </a:tc>
                <a:tc>
                  <a:txBody>
                    <a:bodyPr/>
                    <a:lstStyle/>
                    <a:p>
                      <a:r>
                        <a:t>34</a:t>
                      </a:r>
                    </a:p>
                  </a:txBody>
                  <a:tcPr/>
                </a:tc>
                <a:tc>
                  <a:txBody>
                    <a:bodyPr/>
                    <a:lstStyle/>
                    <a:p>
                      <a:r>
                        <a:t>138</a:t>
                      </a:r>
                    </a:p>
                  </a:txBody>
                  <a:tcPr/>
                </a:tc>
                <a:extLst>
                  <a:ext uri="{0D108BD9-81ED-4DB2-BD59-A6C34878D82A}">
                    <a16:rowId xmlns:a16="http://schemas.microsoft.com/office/drawing/2014/main" val="10001"/>
                  </a:ext>
                </a:extLst>
              </a:tr>
              <a:tr h="370840">
                <a:tc>
                  <a:txBody>
                    <a:bodyPr/>
                    <a:lstStyle/>
                    <a:p>
                      <a:r>
                        <a:t>症狀辨識</a:t>
                      </a:r>
                    </a:p>
                  </a:txBody>
                  <a:tcPr/>
                </a:tc>
                <a:tc>
                  <a:txBody>
                    <a:bodyPr/>
                    <a:lstStyle/>
                    <a:p>
                      <a:r>
                        <a:t>34</a:t>
                      </a:r>
                    </a:p>
                  </a:txBody>
                  <a:tcPr/>
                </a:tc>
                <a:tc>
                  <a:txBody>
                    <a:bodyPr/>
                    <a:lstStyle/>
                    <a:p>
                      <a:r>
                        <a:t>138</a:t>
                      </a:r>
                    </a:p>
                  </a:txBody>
                  <a:tcPr/>
                </a:tc>
                <a:extLst>
                  <a:ext uri="{0D108BD9-81ED-4DB2-BD59-A6C34878D82A}">
                    <a16:rowId xmlns:a16="http://schemas.microsoft.com/office/drawing/2014/main" val="10002"/>
                  </a:ext>
                </a:extLst>
              </a:tr>
              <a:tr h="370840">
                <a:tc>
                  <a:txBody>
                    <a:bodyPr/>
                    <a:lstStyle/>
                    <a:p>
                      <a:r>
                        <a:t>治療與管理</a:t>
                      </a:r>
                    </a:p>
                  </a:txBody>
                  <a:tcPr/>
                </a:tc>
                <a:tc>
                  <a:txBody>
                    <a:bodyPr/>
                    <a:lstStyle/>
                    <a:p>
                      <a:r>
                        <a:t>34</a:t>
                      </a:r>
                    </a:p>
                  </a:txBody>
                  <a:tcPr/>
                </a:tc>
                <a:tc>
                  <a:txBody>
                    <a:bodyPr/>
                    <a:lstStyle/>
                    <a:p>
                      <a:r>
                        <a:t>138</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91840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實驗設定</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33349"/>
            <a:ext cx="2524462" cy="584775"/>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生成模型:qwen3.5:9b</a:t>
            </a:r>
          </a:p>
          <a:p>
            <a:pPr marL="0" indent="0">
              <a:lnSpc>
                <a:spcPct val="100000"/>
              </a:lnSpc>
              <a:spcBef>
                <a:spcPct val="0"/>
              </a:spcBef>
              <a:spcAft>
                <a:spcPct val="0"/>
              </a:spcAft>
              <a:buClrTx/>
              <a:buSzTx/>
              <a:buNone/>
            </a:pPr>
            <a:endParaRPr sz="1600" b="1"/>
          </a:p>
        </p:txBody>
      </p:sp>
      <p:graphicFrame>
        <p:nvGraphicFramePr>
          <p:cNvPr id="10" name="表格 4"/>
          <p:cNvGraphicFramePr/>
          <p:nvPr/>
        </p:nvGraphicFramePr>
        <p:xfrm>
          <a:off x="1180353" y="2518124"/>
          <a:ext cx="3669553" cy="1483360"/>
        </p:xfrm>
        <a:graphic>
          <a:graphicData uri="http://schemas.openxmlformats.org/drawingml/2006/table">
            <a:tbl>
              <a:tblPr firstRow="1" bandRow="1">
                <a:tableStyleId>{5940675A-B579-460E-94D1-54222C63F5DA}</a:tableStyleId>
              </a:tblPr>
              <a:tblGrid>
                <a:gridCol w="2280024">
                  <a:extLst>
                    <a:ext uri="{9D8B030D-6E8A-4147-A177-3AD203B41FA5}">
                      <a16:colId xmlns:a16="http://schemas.microsoft.com/office/drawing/2014/main" val="20000"/>
                    </a:ext>
                  </a:extLst>
                </a:gridCol>
                <a:gridCol w="1389529">
                  <a:extLst>
                    <a:ext uri="{9D8B030D-6E8A-4147-A177-3AD203B41FA5}">
                      <a16:colId xmlns:a16="http://schemas.microsoft.com/office/drawing/2014/main" val="20001"/>
                    </a:ext>
                  </a:extLst>
                </a:gridCol>
              </a:tblGrid>
              <a:tr h="370840">
                <a:tc>
                  <a:txBody>
                    <a:bodyPr/>
                    <a:lstStyle/>
                    <a:p>
                      <a:r>
                        <a:t>參數</a:t>
                      </a:r>
                    </a:p>
                  </a:txBody>
                  <a:tcPr/>
                </a:tc>
                <a:tc>
                  <a:txBody>
                    <a:bodyPr/>
                    <a:lstStyle/>
                    <a:p>
                      <a:r>
                        <a:t>設定</a:t>
                      </a:r>
                    </a:p>
                  </a:txBody>
                  <a:tcPr/>
                </a:tc>
                <a:extLst>
                  <a:ext uri="{0D108BD9-81ED-4DB2-BD59-A6C34878D82A}">
                    <a16:rowId xmlns:a16="http://schemas.microsoft.com/office/drawing/2014/main" val="10000"/>
                  </a:ext>
                </a:extLst>
              </a:tr>
              <a:tr h="370840">
                <a:tc>
                  <a:txBody>
                    <a:bodyPr/>
                    <a:lstStyle/>
                    <a:p>
                      <a:r>
                        <a:t>temperature</a:t>
                      </a:r>
                    </a:p>
                  </a:txBody>
                  <a:tcPr/>
                </a:tc>
                <a:tc>
                  <a:txBody>
                    <a:bodyPr/>
                    <a:lstStyle/>
                    <a:p>
                      <a:r>
                        <a:t>0</a:t>
                      </a:r>
                    </a:p>
                  </a:txBody>
                  <a:tcPr/>
                </a:tc>
                <a:extLst>
                  <a:ext uri="{0D108BD9-81ED-4DB2-BD59-A6C34878D82A}">
                    <a16:rowId xmlns:a16="http://schemas.microsoft.com/office/drawing/2014/main" val="10001"/>
                  </a:ext>
                </a:extLst>
              </a:tr>
              <a:tr h="370840">
                <a:tc>
                  <a:txBody>
                    <a:bodyPr/>
                    <a:lstStyle/>
                    <a:p>
                      <a:r>
                        <a:t>think</a:t>
                      </a:r>
                    </a:p>
                  </a:txBody>
                  <a:tcPr/>
                </a:tc>
                <a:tc>
                  <a:txBody>
                    <a:bodyPr/>
                    <a:lstStyle/>
                    <a:p>
                      <a:r>
                        <a:t>false</a:t>
                      </a:r>
                    </a:p>
                  </a:txBody>
                  <a:tcPr/>
                </a:tc>
                <a:extLst>
                  <a:ext uri="{0D108BD9-81ED-4DB2-BD59-A6C34878D82A}">
                    <a16:rowId xmlns:a16="http://schemas.microsoft.com/office/drawing/2014/main" val="10002"/>
                  </a:ext>
                </a:extLst>
              </a:tr>
              <a:tr h="370840">
                <a:tc>
                  <a:txBody>
                    <a:bodyPr/>
                    <a:lstStyle/>
                    <a:p>
                      <a:r>
                        <a:t>max_output_tokens</a:t>
                      </a:r>
                    </a:p>
                  </a:txBody>
                  <a:tcPr/>
                </a:tc>
                <a:tc>
                  <a:txBody>
                    <a:bodyPr/>
                    <a:lstStyle/>
                    <a:p>
                      <a:r>
                        <a:t>1024</a:t>
                      </a:r>
                    </a:p>
                  </a:txBody>
                  <a:tcPr/>
                </a:tc>
                <a:extLst>
                  <a:ext uri="{0D108BD9-81ED-4DB2-BD59-A6C34878D82A}">
                    <a16:rowId xmlns:a16="http://schemas.microsoft.com/office/drawing/2014/main" val="10003"/>
                  </a:ext>
                </a:extLst>
              </a:tr>
            </a:tbl>
          </a:graphicData>
        </a:graphic>
      </p:graphicFrame>
      <p:sp>
        <p:nvSpPr>
          <p:cNvPr id="5" name="Rectangle 1">
            <a:extLst>
              <a:ext uri="{FF2B5EF4-FFF2-40B4-BE49-F238E27FC236}">
                <a16:creationId xmlns:a16="http://schemas.microsoft.com/office/drawing/2014/main" id="{19DD5EC1-143B-A719-17BB-EEDF44963E11}"/>
              </a:ext>
            </a:extLst>
          </p:cNvPr>
          <p:cNvSpPr>
            <a:spLocks noGrp="1"/>
          </p:cNvSpPr>
          <p:nvPr/>
        </p:nvSpPr>
        <p:spPr>
          <a:xfrm>
            <a:off x="6045799" y="1933349"/>
            <a:ext cx="2524462" cy="338554"/>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dirty="0"/>
              <a:t>評分模型:gemma4:12b</a:t>
            </a:r>
          </a:p>
        </p:txBody>
      </p:sp>
      <p:graphicFrame>
        <p:nvGraphicFramePr>
          <p:cNvPr id="12" name="表格 4"/>
          <p:cNvGraphicFramePr/>
          <p:nvPr/>
        </p:nvGraphicFramePr>
        <p:xfrm>
          <a:off x="6096000" y="2518124"/>
          <a:ext cx="3669553" cy="1483360"/>
        </p:xfrm>
        <a:graphic>
          <a:graphicData uri="http://schemas.openxmlformats.org/drawingml/2006/table">
            <a:tbl>
              <a:tblPr firstRow="1" bandRow="1">
                <a:tableStyleId>{5940675A-B579-460E-94D1-54222C63F5DA}</a:tableStyleId>
              </a:tblPr>
              <a:tblGrid>
                <a:gridCol w="2280024">
                  <a:extLst>
                    <a:ext uri="{9D8B030D-6E8A-4147-A177-3AD203B41FA5}">
                      <a16:colId xmlns:a16="http://schemas.microsoft.com/office/drawing/2014/main" val="20000"/>
                    </a:ext>
                  </a:extLst>
                </a:gridCol>
                <a:gridCol w="1389529">
                  <a:extLst>
                    <a:ext uri="{9D8B030D-6E8A-4147-A177-3AD203B41FA5}">
                      <a16:colId xmlns:a16="http://schemas.microsoft.com/office/drawing/2014/main" val="20001"/>
                    </a:ext>
                  </a:extLst>
                </a:gridCol>
              </a:tblGrid>
              <a:tr h="370840">
                <a:tc>
                  <a:txBody>
                    <a:bodyPr/>
                    <a:lstStyle/>
                    <a:p>
                      <a:r>
                        <a:t>參數</a:t>
                      </a:r>
                    </a:p>
                  </a:txBody>
                  <a:tcPr/>
                </a:tc>
                <a:tc>
                  <a:txBody>
                    <a:bodyPr/>
                    <a:lstStyle/>
                    <a:p>
                      <a:r>
                        <a:t>設定</a:t>
                      </a:r>
                    </a:p>
                  </a:txBody>
                  <a:tcPr/>
                </a:tc>
                <a:extLst>
                  <a:ext uri="{0D108BD9-81ED-4DB2-BD59-A6C34878D82A}">
                    <a16:rowId xmlns:a16="http://schemas.microsoft.com/office/drawing/2014/main" val="10000"/>
                  </a:ext>
                </a:extLst>
              </a:tr>
              <a:tr h="370840">
                <a:tc>
                  <a:txBody>
                    <a:bodyPr/>
                    <a:lstStyle/>
                    <a:p>
                      <a:r>
                        <a:t>temperature</a:t>
                      </a:r>
                    </a:p>
                  </a:txBody>
                  <a:tcPr/>
                </a:tc>
                <a:tc>
                  <a:txBody>
                    <a:bodyPr/>
                    <a:lstStyle/>
                    <a:p>
                      <a:r>
                        <a:t>0</a:t>
                      </a:r>
                    </a:p>
                  </a:txBody>
                  <a:tcPr/>
                </a:tc>
                <a:extLst>
                  <a:ext uri="{0D108BD9-81ED-4DB2-BD59-A6C34878D82A}">
                    <a16:rowId xmlns:a16="http://schemas.microsoft.com/office/drawing/2014/main" val="10001"/>
                  </a:ext>
                </a:extLst>
              </a:tr>
              <a:tr h="370840">
                <a:tc>
                  <a:txBody>
                    <a:bodyPr/>
                    <a:lstStyle/>
                    <a:p>
                      <a:r>
                        <a:t>think</a:t>
                      </a:r>
                    </a:p>
                  </a:txBody>
                  <a:tcPr/>
                </a:tc>
                <a:tc>
                  <a:txBody>
                    <a:bodyPr/>
                    <a:lstStyle/>
                    <a:p>
                      <a:r>
                        <a:t>false</a:t>
                      </a:r>
                    </a:p>
                  </a:txBody>
                  <a:tcPr/>
                </a:tc>
                <a:extLst>
                  <a:ext uri="{0D108BD9-81ED-4DB2-BD59-A6C34878D82A}">
                    <a16:rowId xmlns:a16="http://schemas.microsoft.com/office/drawing/2014/main" val="10002"/>
                  </a:ext>
                </a:extLst>
              </a:tr>
              <a:tr h="370840">
                <a:tc>
                  <a:txBody>
                    <a:bodyPr/>
                    <a:lstStyle/>
                    <a:p>
                      <a:r>
                        <a:t>num_predict</a:t>
                      </a:r>
                    </a:p>
                  </a:txBody>
                  <a:tcPr/>
                </a:tc>
                <a:tc>
                  <a:txBody>
                    <a:bodyPr/>
                    <a:lstStyle/>
                    <a:p>
                      <a:r>
                        <a:t>4096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9564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實驗設定</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180353" y="1948883"/>
            <a:ext cx="2524462" cy="338554"/>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統計參數</a:t>
            </a:r>
          </a:p>
        </p:txBody>
      </p:sp>
      <p:graphicFrame>
        <p:nvGraphicFramePr>
          <p:cNvPr id="11" name="表格 6"/>
          <p:cNvGraphicFramePr/>
          <p:nvPr/>
        </p:nvGraphicFramePr>
        <p:xfrm>
          <a:off x="2032000" y="2401593"/>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t>參數</a:t>
                      </a:r>
                    </a:p>
                  </a:txBody>
                  <a:tcPr/>
                </a:tc>
                <a:tc>
                  <a:txBody>
                    <a:bodyPr/>
                    <a:lstStyle/>
                    <a:p>
                      <a:r>
                        <a:t>設定</a:t>
                      </a:r>
                    </a:p>
                  </a:txBody>
                  <a:tcPr/>
                </a:tc>
                <a:extLst>
                  <a:ext uri="{0D108BD9-81ED-4DB2-BD59-A6C34878D82A}">
                    <a16:rowId xmlns:a16="http://schemas.microsoft.com/office/drawing/2014/main" val="10000"/>
                  </a:ext>
                </a:extLst>
              </a:tr>
              <a:tr h="370840">
                <a:tc>
                  <a:txBody>
                    <a:bodyPr/>
                    <a:lstStyle/>
                    <a:p>
                      <a:r>
                        <a:rPr dirty="0" err="1"/>
                        <a:t>Bootstrap次數</a:t>
                      </a:r>
                      <a:endParaRPr dirty="0"/>
                    </a:p>
                  </a:txBody>
                  <a:tcPr/>
                </a:tc>
                <a:tc>
                  <a:txBody>
                    <a:bodyPr/>
                    <a:lstStyle/>
                    <a:p>
                      <a:r>
                        <a:t>10,000</a:t>
                      </a:r>
                    </a:p>
                  </a:txBody>
                  <a:tcPr/>
                </a:tc>
                <a:extLst>
                  <a:ext uri="{0D108BD9-81ED-4DB2-BD59-A6C34878D82A}">
                    <a16:rowId xmlns:a16="http://schemas.microsoft.com/office/drawing/2014/main" val="10001"/>
                  </a:ext>
                </a:extLst>
              </a:tr>
              <a:tr h="370840">
                <a:tc>
                  <a:txBody>
                    <a:bodyPr/>
                    <a:lstStyle/>
                    <a:p>
                      <a:r>
                        <a:rPr dirty="0" err="1"/>
                        <a:t>信賴區間</a:t>
                      </a:r>
                      <a:endParaRPr dirty="0"/>
                    </a:p>
                  </a:txBody>
                  <a:tcPr/>
                </a:tc>
                <a:tc>
                  <a:txBody>
                    <a:bodyPr/>
                    <a:lstStyle/>
                    <a:p>
                      <a:r>
                        <a:rPr dirty="0"/>
                        <a:t>95%</a:t>
                      </a:r>
                    </a:p>
                  </a:txBody>
                  <a:tcPr/>
                </a:tc>
                <a:extLst>
                  <a:ext uri="{0D108BD9-81ED-4DB2-BD59-A6C34878D82A}">
                    <a16:rowId xmlns:a16="http://schemas.microsoft.com/office/drawing/2014/main" val="10002"/>
                  </a:ext>
                </a:extLst>
              </a:tr>
            </a:tbl>
          </a:graphicData>
        </a:graphic>
      </p:graphicFrame>
      <p:sp>
        <p:nvSpPr>
          <p:cNvPr id="7" name="Rectangle 1">
            <a:extLst>
              <a:ext uri="{FF2B5EF4-FFF2-40B4-BE49-F238E27FC236}">
                <a16:creationId xmlns:a16="http://schemas.microsoft.com/office/drawing/2014/main" id="{C8EC2D27-FAA9-0228-596C-62FF1D4C817C}"/>
              </a:ext>
            </a:extLst>
          </p:cNvPr>
          <p:cNvSpPr>
            <a:spLocks noGrp="1"/>
          </p:cNvSpPr>
          <p:nvPr/>
        </p:nvSpPr>
        <p:spPr>
          <a:xfrm>
            <a:off x="2032000" y="3779209"/>
            <a:ext cx="8128000" cy="1877437"/>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dirty="0" err="1"/>
              <a:t>實驗中的計算方式</a:t>
            </a:r>
            <a:r>
              <a:rPr sz="1600" b="1" dirty="0"/>
              <a:t>:</a:t>
            </a:r>
          </a:p>
          <a:p>
            <a:pPr marL="0" indent="0">
              <a:lnSpc>
                <a:spcPct val="100000"/>
              </a:lnSpc>
              <a:spcBef>
                <a:spcPct val="0"/>
              </a:spcBef>
              <a:spcAft>
                <a:spcPct val="0"/>
              </a:spcAft>
              <a:buClrTx/>
              <a:buSzTx/>
              <a:buFont typeface="Calibri"/>
              <a:buNone/>
            </a:pPr>
            <a:endParaRPr sz="1600" b="1" dirty="0"/>
          </a:p>
          <a:p>
            <a:pPr>
              <a:lnSpc>
                <a:spcPct val="100000"/>
              </a:lnSpc>
              <a:spcBef>
                <a:spcPct val="0"/>
              </a:spcBef>
              <a:spcAft>
                <a:spcPct val="0"/>
              </a:spcAft>
              <a:buClrTx/>
              <a:buSzTx/>
              <a:buNone/>
            </a:pPr>
            <a:r>
              <a:rPr sz="1400" dirty="0" err="1"/>
              <a:t>每題先計算：B組分數－A組分數</a:t>
            </a:r>
            <a:endParaRPr sz="1400" dirty="0"/>
          </a:p>
          <a:p>
            <a:pPr>
              <a:lnSpc>
                <a:spcPct val="100000"/>
              </a:lnSpc>
              <a:spcBef>
                <a:spcPct val="0"/>
              </a:spcBef>
              <a:spcAft>
                <a:spcPct val="0"/>
              </a:spcAft>
              <a:buClrTx/>
              <a:buSzTx/>
              <a:buNone/>
            </a:pPr>
            <a:r>
              <a:rPr sz="1400" dirty="0"/>
              <a:t>對414組題目差異進行重複抽樣</a:t>
            </a:r>
          </a:p>
          <a:p>
            <a:pPr>
              <a:lnSpc>
                <a:spcPct val="100000"/>
              </a:lnSpc>
              <a:spcBef>
                <a:spcPct val="0"/>
              </a:spcBef>
              <a:spcAft>
                <a:spcPct val="0"/>
              </a:spcAft>
              <a:buClrTx/>
              <a:buSzTx/>
              <a:buNone/>
            </a:pPr>
            <a:r>
              <a:rPr sz="1400" dirty="0" err="1"/>
              <a:t>每次計算平均差異</a:t>
            </a:r>
            <a:endParaRPr sz="1400" dirty="0"/>
          </a:p>
          <a:p>
            <a:pPr>
              <a:lnSpc>
                <a:spcPct val="100000"/>
              </a:lnSpc>
              <a:spcBef>
                <a:spcPct val="0"/>
              </a:spcBef>
              <a:spcAft>
                <a:spcPct val="0"/>
              </a:spcAft>
              <a:buClrTx/>
              <a:buSzTx/>
              <a:buNone/>
            </a:pPr>
            <a:r>
              <a:rPr sz="1400" dirty="0"/>
              <a:t>重複10,000次</a:t>
            </a:r>
          </a:p>
          <a:p>
            <a:pPr>
              <a:lnSpc>
                <a:spcPct val="100000"/>
              </a:lnSpc>
              <a:spcBef>
                <a:spcPct val="0"/>
              </a:spcBef>
              <a:spcAft>
                <a:spcPct val="0"/>
              </a:spcAft>
              <a:buClrTx/>
              <a:buSzTx/>
              <a:buNone/>
            </a:pPr>
            <a:r>
              <a:rPr sz="1400" dirty="0"/>
              <a:t>取第2.5與97.5百分位</a:t>
            </a:r>
          </a:p>
          <a:p>
            <a:pPr>
              <a:lnSpc>
                <a:spcPct val="100000"/>
              </a:lnSpc>
              <a:spcBef>
                <a:spcPct val="0"/>
              </a:spcBef>
              <a:spcAft>
                <a:spcPct val="0"/>
              </a:spcAft>
              <a:buClrTx/>
              <a:buSzTx/>
              <a:buNone/>
            </a:pPr>
            <a:r>
              <a:rPr sz="1400" dirty="0"/>
              <a:t>得到95%信賴區間</a:t>
            </a:r>
          </a:p>
        </p:txBody>
      </p:sp>
    </p:spTree>
    <p:extLst>
      <p:ext uri="{BB962C8B-B14F-4D97-AF65-F5344CB8AC3E}">
        <p14:creationId xmlns:p14="http://schemas.microsoft.com/office/powerpoint/2010/main" val="2467611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實驗設定</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873789"/>
            <a:ext cx="6092415" cy="3447098"/>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B組檢索方式:</a:t>
            </a:r>
          </a:p>
          <a:p>
            <a:pPr marL="0" indent="0">
              <a:lnSpc>
                <a:spcPct val="100000"/>
              </a:lnSpc>
              <a:spcBef>
                <a:spcPct val="0"/>
              </a:spcBef>
              <a:spcAft>
                <a:spcPct val="0"/>
              </a:spcAft>
              <a:buClrTx/>
              <a:buSzTx/>
              <a:buNone/>
            </a:pPr>
            <a:endParaRPr sz="1600" b="1"/>
          </a:p>
          <a:p>
            <a:pPr marL="0" indent="0">
              <a:lnSpc>
                <a:spcPct val="100000"/>
              </a:lnSpc>
              <a:spcBef>
                <a:spcPct val="0"/>
              </a:spcBef>
              <a:spcAft>
                <a:spcPct val="0"/>
              </a:spcAft>
              <a:buClrTx/>
              <a:buSzTx/>
              <a:buNone/>
            </a:pPr>
            <a:r>
              <a:rPr sz="1400"/>
              <a:t>輸入問題</a:t>
            </a:r>
          </a:p>
          <a:p>
            <a:pPr marL="0" indent="0">
              <a:lnSpc>
                <a:spcPct val="100000"/>
              </a:lnSpc>
              <a:spcBef>
                <a:spcPct val="0"/>
              </a:spcBef>
              <a:spcAft>
                <a:spcPct val="0"/>
              </a:spcAft>
              <a:buClrTx/>
              <a:buSzTx/>
              <a:buNone/>
            </a:pPr>
            <a:r>
              <a:rPr sz="1400"/>
              <a:t>→ 找出問題中的主題名稱或別名</a:t>
            </a:r>
          </a:p>
          <a:p>
            <a:pPr marL="0" indent="0">
              <a:lnSpc>
                <a:spcPct val="100000"/>
              </a:lnSpc>
              <a:spcBef>
                <a:spcPct val="0"/>
              </a:spcBef>
              <a:spcAft>
                <a:spcPct val="0"/>
              </a:spcAft>
              <a:buClrTx/>
              <a:buSzTx/>
              <a:buNone/>
            </a:pPr>
            <a:r>
              <a:rPr sz="1400"/>
              <a:t>→ 對應唯一MedlinePlus主題</a:t>
            </a:r>
          </a:p>
          <a:p>
            <a:pPr marL="0" indent="0">
              <a:lnSpc>
                <a:spcPct val="100000"/>
              </a:lnSpc>
              <a:spcBef>
                <a:spcPct val="0"/>
              </a:spcBef>
              <a:spcAft>
                <a:spcPct val="0"/>
              </a:spcAft>
              <a:buClrTx/>
              <a:buSzTx/>
              <a:buNone/>
            </a:pPr>
            <a:r>
              <a:rPr sz="1400"/>
              <a:t>→ 取回一筆MedlinePlus摘要</a:t>
            </a:r>
          </a:p>
          <a:p>
            <a:pPr marL="0" indent="0">
              <a:lnSpc>
                <a:spcPct val="100000"/>
              </a:lnSpc>
              <a:spcBef>
                <a:spcPct val="0"/>
              </a:spcBef>
              <a:spcAft>
                <a:spcPct val="0"/>
              </a:spcAft>
              <a:buClrTx/>
              <a:buSzTx/>
              <a:buNone/>
            </a:pPr>
            <a:r>
              <a:rPr sz="1400"/>
              <a:t>→ 附上SNOMED CT Concept ID及來源網址</a:t>
            </a:r>
          </a:p>
          <a:p>
            <a:pPr marL="0" indent="0">
              <a:lnSpc>
                <a:spcPct val="100000"/>
              </a:lnSpc>
              <a:spcBef>
                <a:spcPct val="0"/>
              </a:spcBef>
              <a:spcAft>
                <a:spcPct val="0"/>
              </a:spcAft>
              <a:buClrTx/>
              <a:buSzTx/>
              <a:buNone/>
            </a:pPr>
            <a:r>
              <a:rPr sz="1400"/>
              <a:t>→ 交給Qwen3.5回答</a:t>
            </a:r>
          </a:p>
          <a:p>
            <a:pPr marL="0" indent="0">
              <a:lnSpc>
                <a:spcPct val="100000"/>
              </a:lnSpc>
              <a:spcBef>
                <a:spcPct val="0"/>
              </a:spcBef>
              <a:spcAft>
                <a:spcPct val="0"/>
              </a:spcAft>
              <a:buClrTx/>
              <a:buSzTx/>
              <a:buNone/>
            </a:pPr>
            <a:endParaRPr sz="1400"/>
          </a:p>
          <a:p>
            <a:pPr marL="0" indent="0">
              <a:lnSpc>
                <a:spcPct val="100000"/>
              </a:lnSpc>
              <a:spcBef>
                <a:spcPct val="0"/>
              </a:spcBef>
              <a:spcAft>
                <a:spcPct val="0"/>
              </a:spcAft>
              <a:buClrTx/>
              <a:buSzTx/>
              <a:buNone/>
            </a:pPr>
            <a:r>
              <a:rPr sz="1600" b="1"/>
              <a:t>設定：</a:t>
            </a:r>
          </a:p>
          <a:p>
            <a:pPr marL="0" indent="0">
              <a:lnSpc>
                <a:spcPct val="100000"/>
              </a:lnSpc>
              <a:spcBef>
                <a:spcPct val="0"/>
              </a:spcBef>
              <a:spcAft>
                <a:spcPct val="0"/>
              </a:spcAft>
              <a:buClrTx/>
              <a:buSzTx/>
              <a:buNone/>
            </a:pPr>
            <a:endParaRPr sz="1600" b="1"/>
          </a:p>
          <a:p>
            <a:pPr>
              <a:lnSpc>
                <a:spcPct val="100000"/>
              </a:lnSpc>
              <a:spcBef>
                <a:spcPct val="0"/>
              </a:spcBef>
              <a:spcAft>
                <a:spcPct val="0"/>
              </a:spcAft>
              <a:buClrTx/>
              <a:buSzTx/>
              <a:buNone/>
            </a:pPr>
            <a:r>
              <a:rPr sz="1400"/>
              <a:t>檢索方法：主題名稱或別名精確比對</a:t>
            </a:r>
          </a:p>
          <a:p>
            <a:pPr>
              <a:lnSpc>
                <a:spcPct val="100000"/>
              </a:lnSpc>
              <a:spcBef>
                <a:spcPct val="0"/>
              </a:spcBef>
              <a:spcAft>
                <a:spcPct val="0"/>
              </a:spcAft>
              <a:buClrTx/>
              <a:buSzTx/>
              <a:buNone/>
            </a:pPr>
            <a:r>
              <a:rPr sz="1400"/>
              <a:t>比對規則：選擇最長且唯一的名稱</a:t>
            </a:r>
          </a:p>
          <a:p>
            <a:pPr>
              <a:lnSpc>
                <a:spcPct val="100000"/>
              </a:lnSpc>
              <a:spcBef>
                <a:spcPct val="0"/>
              </a:spcBef>
              <a:spcAft>
                <a:spcPct val="0"/>
              </a:spcAft>
              <a:buClrTx/>
              <a:buSzTx/>
              <a:buNone/>
            </a:pPr>
            <a:r>
              <a:rPr sz="1400"/>
              <a:t>每題取回文件：1筆</a:t>
            </a:r>
          </a:p>
          <a:p>
            <a:pPr>
              <a:lnSpc>
                <a:spcPct val="100000"/>
              </a:lnSpc>
              <a:spcBef>
                <a:spcPct val="0"/>
              </a:spcBef>
              <a:spcAft>
                <a:spcPct val="0"/>
              </a:spcAft>
              <a:buClrTx/>
              <a:buSzTx/>
              <a:buNone/>
            </a:pPr>
            <a:r>
              <a:rPr sz="1400"/>
              <a:t>不使用向量排序或加權公式</a:t>
            </a:r>
          </a:p>
        </p:txBody>
      </p:sp>
    </p:spTree>
    <p:extLst>
      <p:ext uri="{BB962C8B-B14F-4D97-AF65-F5344CB8AC3E}">
        <p14:creationId xmlns:p14="http://schemas.microsoft.com/office/powerpoint/2010/main" val="1904777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評估指標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57414"/>
            <a:ext cx="6092415" cy="984885"/>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本實驗不合成單一總分，而是分別觀察不同面向</a:t>
            </a:r>
          </a:p>
          <a:p>
            <a:pPr marL="0" indent="0">
              <a:lnSpc>
                <a:spcPct val="100000"/>
              </a:lnSpc>
              <a:spcBef>
                <a:spcPct val="0"/>
              </a:spcBef>
              <a:spcAft>
                <a:spcPct val="0"/>
              </a:spcAft>
              <a:buClrTx/>
              <a:buSzTx/>
              <a:buNone/>
            </a:pPr>
            <a:endParaRPr sz="1400"/>
          </a:p>
          <a:p>
            <a:pPr marL="0" indent="0">
              <a:lnSpc>
                <a:spcPct val="100000"/>
              </a:lnSpc>
              <a:spcBef>
                <a:spcPct val="0"/>
              </a:spcBef>
              <a:spcAft>
                <a:spcPct val="0"/>
              </a:spcAft>
              <a:buClrTx/>
              <a:buSzTx/>
              <a:buNone/>
            </a:pPr>
            <a:endParaRPr sz="1400"/>
          </a:p>
          <a:p>
            <a:pPr marL="0" indent="0">
              <a:lnSpc>
                <a:spcPct val="100000"/>
              </a:lnSpc>
              <a:spcBef>
                <a:spcPct val="0"/>
              </a:spcBef>
              <a:spcAft>
                <a:spcPct val="0"/>
              </a:spcAft>
              <a:buClrTx/>
              <a:buSzTx/>
              <a:buNone/>
            </a:pPr>
            <a:endParaRPr sz="1400"/>
          </a:p>
        </p:txBody>
      </p:sp>
      <p:graphicFrame>
        <p:nvGraphicFramePr>
          <p:cNvPr id="7" name="表格 4"/>
          <p:cNvGraphicFramePr/>
          <p:nvPr/>
        </p:nvGraphicFramePr>
        <p:xfrm>
          <a:off x="1092200" y="2656043"/>
          <a:ext cx="10007601" cy="18542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4752291">
                  <a:extLst>
                    <a:ext uri="{9D8B030D-6E8A-4147-A177-3AD203B41FA5}">
                      <a16:colId xmlns:a16="http://schemas.microsoft.com/office/drawing/2014/main" val="20001"/>
                    </a:ext>
                  </a:extLst>
                </a:gridCol>
                <a:gridCol w="2545977">
                  <a:extLst>
                    <a:ext uri="{9D8B030D-6E8A-4147-A177-3AD203B41FA5}">
                      <a16:colId xmlns:a16="http://schemas.microsoft.com/office/drawing/2014/main" val="20002"/>
                    </a:ext>
                  </a:extLst>
                </a:gridCol>
              </a:tblGrid>
              <a:tr h="370840">
                <a:tc>
                  <a:txBody>
                    <a:bodyPr/>
                    <a:lstStyle/>
                    <a:p>
                      <a:r>
                        <a:t>指標</a:t>
                      </a:r>
                    </a:p>
                  </a:txBody>
                  <a:tcPr/>
                </a:tc>
                <a:tc>
                  <a:txBody>
                    <a:bodyPr/>
                    <a:lstStyle/>
                    <a:p>
                      <a:r>
                        <a:t>說明</a:t>
                      </a:r>
                    </a:p>
                  </a:txBody>
                  <a:tcPr/>
                </a:tc>
                <a:tc>
                  <a:txBody>
                    <a:bodyPr/>
                    <a:lstStyle/>
                    <a:p>
                      <a:r>
                        <a:t>判斷方向</a:t>
                      </a:r>
                    </a:p>
                  </a:txBody>
                  <a:tcPr/>
                </a:tc>
                <a:extLst>
                  <a:ext uri="{0D108BD9-81ED-4DB2-BD59-A6C34878D82A}">
                    <a16:rowId xmlns:a16="http://schemas.microsoft.com/office/drawing/2014/main" val="10000"/>
                  </a:ext>
                </a:extLst>
              </a:tr>
              <a:tr h="370840">
                <a:tc>
                  <a:txBody>
                    <a:bodyPr/>
                    <a:lstStyle/>
                    <a:p>
                      <a:r>
                        <a:t>重要事實涵蓋率</a:t>
                      </a:r>
                    </a:p>
                  </a:txBody>
                  <a:tcPr/>
                </a:tc>
                <a:tc>
                  <a:txBody>
                    <a:bodyPr/>
                    <a:lstStyle/>
                    <a:p>
                      <a:r>
                        <a:t>MedlinePlus的重要要點，回答提到了多少</a:t>
                      </a:r>
                    </a:p>
                  </a:txBody>
                  <a:tcPr/>
                </a:tc>
                <a:tc>
                  <a:txBody>
                    <a:bodyPr/>
                    <a:lstStyle/>
                    <a:p>
                      <a:r>
                        <a:t>越高越好</a:t>
                      </a:r>
                    </a:p>
                  </a:txBody>
                  <a:tcPr/>
                </a:tc>
                <a:extLst>
                  <a:ext uri="{0D108BD9-81ED-4DB2-BD59-A6C34878D82A}">
                    <a16:rowId xmlns:a16="http://schemas.microsoft.com/office/drawing/2014/main" val="10001"/>
                  </a:ext>
                </a:extLst>
              </a:tr>
              <a:tr h="370840">
                <a:tc>
                  <a:txBody>
                    <a:bodyPr/>
                    <a:lstStyle/>
                    <a:p>
                      <a:r>
                        <a:t>證據支持比例</a:t>
                      </a:r>
                    </a:p>
                  </a:txBody>
                  <a:tcPr/>
                </a:tc>
                <a:tc>
                  <a:txBody>
                    <a:bodyPr/>
                    <a:lstStyle/>
                    <a:p>
                      <a:r>
                        <a:t>回答中的事實，有多少能被MedlinePlus支持</a:t>
                      </a:r>
                    </a:p>
                  </a:txBody>
                  <a:tcPr/>
                </a:tc>
                <a:tc>
                  <a:txBody>
                    <a:bodyPr/>
                    <a:lstStyle/>
                    <a:p>
                      <a:r>
                        <a:t>越高越好</a:t>
                      </a:r>
                    </a:p>
                  </a:txBody>
                  <a:tcPr/>
                </a:tc>
                <a:extLst>
                  <a:ext uri="{0D108BD9-81ED-4DB2-BD59-A6C34878D82A}">
                    <a16:rowId xmlns:a16="http://schemas.microsoft.com/office/drawing/2014/main" val="10002"/>
                  </a:ext>
                </a:extLst>
              </a:tr>
              <a:tr h="370840">
                <a:tc>
                  <a:txBody>
                    <a:bodyPr/>
                    <a:lstStyle/>
                    <a:p>
                      <a:r>
                        <a:t>無證據支持比例</a:t>
                      </a:r>
                    </a:p>
                  </a:txBody>
                  <a:tcPr/>
                </a:tc>
                <a:tc>
                  <a:txBody>
                    <a:bodyPr/>
                    <a:lstStyle/>
                    <a:p>
                      <a:r>
                        <a:t>回答中有多少內容無法從指定資料找到依據</a:t>
                      </a:r>
                    </a:p>
                  </a:txBody>
                  <a:tcPr/>
                </a:tc>
                <a:tc>
                  <a:txBody>
                    <a:bodyPr/>
                    <a:lstStyle/>
                    <a:p>
                      <a:r>
                        <a:t>越低越好</a:t>
                      </a:r>
                    </a:p>
                  </a:txBody>
                  <a:tcPr/>
                </a:tc>
                <a:extLst>
                  <a:ext uri="{0D108BD9-81ED-4DB2-BD59-A6C34878D82A}">
                    <a16:rowId xmlns:a16="http://schemas.microsoft.com/office/drawing/2014/main" val="10003"/>
                  </a:ext>
                </a:extLst>
              </a:tr>
              <a:tr h="370840">
                <a:tc>
                  <a:txBody>
                    <a:bodyPr/>
                    <a:lstStyle/>
                    <a:p>
                      <a:r>
                        <a:t>正確來源呈現率</a:t>
                      </a:r>
                    </a:p>
                  </a:txBody>
                  <a:tcPr/>
                </a:tc>
                <a:tc>
                  <a:txBody>
                    <a:bodyPr/>
                    <a:lstStyle/>
                    <a:p>
                      <a:r>
                        <a:t>是否列出該題正確的MedlinePlus網址</a:t>
                      </a:r>
                    </a:p>
                  </a:txBody>
                  <a:tcPr/>
                </a:tc>
                <a:tc>
                  <a:txBody>
                    <a:bodyPr/>
                    <a:lstStyle/>
                    <a:p>
                      <a:r>
                        <a:t>越高越好</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239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實驗流程</a:t>
            </a:r>
          </a:p>
        </p:txBody>
      </p:sp>
      <p:sp>
        <p:nvSpPr>
          <p:cNvPr id="7" name="矩形 6">
            <a:extLst>
              <a:ext uri="{FF2B5EF4-FFF2-40B4-BE49-F238E27FC236}">
                <a16:creationId xmlns:a16="http://schemas.microsoft.com/office/drawing/2014/main" id="{4CBD146A-3D98-45E0-971E-BC0F0A968616}"/>
              </a:ext>
            </a:extLst>
          </p:cNvPr>
          <p:cNvSpPr>
            <a:spLocks noGrp="1"/>
          </p:cNvSpPr>
          <p:nvPr/>
        </p:nvSpPr>
        <p:spPr>
          <a:xfrm>
            <a:off x="1178859" y="1945341"/>
            <a:ext cx="1428750" cy="171450"/>
          </a:xfrm>
          <a:prstGeom prst="rect">
            <a:avLst/>
          </a:prstGeom>
          <a:noFill/>
          <a:ln w="0">
            <a:noFill/>
          </a:ln>
        </p:spPr>
        <p:txBody>
          <a:bodyPr wrap="square" lIns="0" tIns="0" rIns="0" bIns="0" anchor="t">
            <a:noAutofit/>
          </a:bodyPr>
          <a:lstStyle/>
          <a:p>
            <a:pPr algn="l">
              <a:buNone/>
              <a:defRPr sz="900" b="1">
                <a:solidFill>
                  <a:srgbClr val="865640"/>
                </a:solidFill>
                <a:latin typeface="Calibri"/>
                <a:ea typeface="Calibri"/>
                <a:cs typeface="Calibri"/>
              </a:defRPr>
            </a:pPr>
            <a:r>
              <a:rPr sz="900" b="1">
                <a:solidFill>
                  <a:srgbClr val="865640"/>
                </a:solidFill>
                <a:latin typeface="Calibri"/>
                <a:ea typeface="Calibri"/>
                <a:cs typeface="Calibri"/>
              </a:rPr>
              <a:t>資料準備</a:t>
            </a:r>
          </a:p>
        </p:txBody>
      </p:sp>
      <p:sp>
        <p:nvSpPr>
          <p:cNvPr id="8" name="矩形 7">
            <a:extLst>
              <a:ext uri="{FF2B5EF4-FFF2-40B4-BE49-F238E27FC236}">
                <a16:creationId xmlns:a16="http://schemas.microsoft.com/office/drawing/2014/main" id="{33B3184C-36B4-4660-BA7F-D36E3CE61C2E}"/>
              </a:ext>
            </a:extLst>
          </p:cNvPr>
          <p:cNvSpPr>
            <a:spLocks noGrp="1"/>
          </p:cNvSpPr>
          <p:nvPr/>
        </p:nvSpPr>
        <p:spPr>
          <a:xfrm>
            <a:off x="1178859" y="2116791"/>
            <a:ext cx="742950" cy="19050"/>
          </a:xfrm>
          <a:prstGeom prst="rect">
            <a:avLst/>
          </a:prstGeom>
          <a:solidFill>
            <a:srgbClr val="865640"/>
          </a:solidFill>
          <a:ln w="0">
            <a:solidFill>
              <a:srgbClr val="865640"/>
            </a:solidFill>
          </a:ln>
        </p:spPr>
      </p:sp>
      <p:sp>
        <p:nvSpPr>
          <p:cNvPr id="9" name="矩形 8">
            <a:extLst>
              <a:ext uri="{FF2B5EF4-FFF2-40B4-BE49-F238E27FC236}">
                <a16:creationId xmlns:a16="http://schemas.microsoft.com/office/drawing/2014/main" id="{BB0FE416-0BA8-4AD5-98D1-873C680E0D89}"/>
              </a:ext>
            </a:extLst>
          </p:cNvPr>
          <p:cNvSpPr>
            <a:spLocks noGrp="1"/>
          </p:cNvSpPr>
          <p:nvPr/>
        </p:nvSpPr>
        <p:spPr>
          <a:xfrm>
            <a:off x="1178859" y="3326466"/>
            <a:ext cx="1428750" cy="171450"/>
          </a:xfrm>
          <a:prstGeom prst="rect">
            <a:avLst/>
          </a:prstGeom>
          <a:noFill/>
          <a:ln w="0">
            <a:noFill/>
          </a:ln>
        </p:spPr>
        <p:txBody>
          <a:bodyPr wrap="square" lIns="0" tIns="0" rIns="0" bIns="0" anchor="t">
            <a:noAutofit/>
          </a:bodyPr>
          <a:lstStyle/>
          <a:p>
            <a:pPr algn="l">
              <a:buNone/>
              <a:defRPr sz="900" b="1">
                <a:solidFill>
                  <a:srgbClr val="E48312"/>
                </a:solidFill>
                <a:latin typeface="Calibri"/>
                <a:ea typeface="Calibri"/>
                <a:cs typeface="Calibri"/>
              </a:defRPr>
            </a:pPr>
            <a:r>
              <a:rPr sz="900" b="1">
                <a:solidFill>
                  <a:srgbClr val="E48312"/>
                </a:solidFill>
                <a:latin typeface="Calibri"/>
                <a:ea typeface="Calibri"/>
                <a:cs typeface="Calibri"/>
              </a:rPr>
              <a:t>題目與驗證</a:t>
            </a:r>
          </a:p>
        </p:txBody>
      </p:sp>
      <p:sp>
        <p:nvSpPr>
          <p:cNvPr id="10" name="矩形 9">
            <a:extLst>
              <a:ext uri="{FF2B5EF4-FFF2-40B4-BE49-F238E27FC236}">
                <a16:creationId xmlns:a16="http://schemas.microsoft.com/office/drawing/2014/main" id="{07099A15-C591-450B-8E03-E22C94F5B12D}"/>
              </a:ext>
            </a:extLst>
          </p:cNvPr>
          <p:cNvSpPr>
            <a:spLocks noGrp="1"/>
          </p:cNvSpPr>
          <p:nvPr/>
        </p:nvSpPr>
        <p:spPr>
          <a:xfrm>
            <a:off x="1178859" y="3497916"/>
            <a:ext cx="742950" cy="19050"/>
          </a:xfrm>
          <a:prstGeom prst="rect">
            <a:avLst/>
          </a:prstGeom>
          <a:solidFill>
            <a:srgbClr val="E48312"/>
          </a:solidFill>
          <a:ln w="0">
            <a:solidFill>
              <a:srgbClr val="E48312"/>
            </a:solidFill>
          </a:ln>
        </p:spPr>
      </p:sp>
      <p:sp>
        <p:nvSpPr>
          <p:cNvPr id="11" name="矩形 10">
            <a:extLst>
              <a:ext uri="{FF2B5EF4-FFF2-40B4-BE49-F238E27FC236}">
                <a16:creationId xmlns:a16="http://schemas.microsoft.com/office/drawing/2014/main" id="{6AE96D8F-EFC5-4205-85FF-E5066A88766E}"/>
              </a:ext>
            </a:extLst>
          </p:cNvPr>
          <p:cNvSpPr>
            <a:spLocks noGrp="1"/>
          </p:cNvSpPr>
          <p:nvPr/>
        </p:nvSpPr>
        <p:spPr>
          <a:xfrm>
            <a:off x="1178859" y="4707591"/>
            <a:ext cx="1428750" cy="171450"/>
          </a:xfrm>
          <a:prstGeom prst="rect">
            <a:avLst/>
          </a:prstGeom>
          <a:noFill/>
          <a:ln w="0">
            <a:noFill/>
          </a:ln>
        </p:spPr>
        <p:txBody>
          <a:bodyPr wrap="square" lIns="0" tIns="0" rIns="0" bIns="0" anchor="t">
            <a:noAutofit/>
          </a:bodyPr>
          <a:lstStyle/>
          <a:p>
            <a:pPr algn="l">
              <a:buNone/>
              <a:defRPr sz="900" b="1">
                <a:solidFill>
                  <a:srgbClr val="BD582C"/>
                </a:solidFill>
                <a:latin typeface="Calibri"/>
                <a:ea typeface="Calibri"/>
                <a:cs typeface="Calibri"/>
              </a:defRPr>
            </a:pPr>
            <a:r>
              <a:rPr sz="900" b="1">
                <a:solidFill>
                  <a:srgbClr val="BD582C"/>
                </a:solidFill>
                <a:latin typeface="Calibri"/>
                <a:ea typeface="Calibri"/>
                <a:cs typeface="Calibri"/>
              </a:rPr>
              <a:t>生成與評估</a:t>
            </a:r>
          </a:p>
        </p:txBody>
      </p:sp>
      <p:sp>
        <p:nvSpPr>
          <p:cNvPr id="12" name="矩形 11">
            <a:extLst>
              <a:ext uri="{FF2B5EF4-FFF2-40B4-BE49-F238E27FC236}">
                <a16:creationId xmlns:a16="http://schemas.microsoft.com/office/drawing/2014/main" id="{FE9AA645-E605-479C-AD2C-A02909B67475}"/>
              </a:ext>
            </a:extLst>
          </p:cNvPr>
          <p:cNvSpPr>
            <a:spLocks noGrp="1"/>
          </p:cNvSpPr>
          <p:nvPr/>
        </p:nvSpPr>
        <p:spPr>
          <a:xfrm>
            <a:off x="1178859" y="4879041"/>
            <a:ext cx="742950" cy="19050"/>
          </a:xfrm>
          <a:prstGeom prst="rect">
            <a:avLst/>
          </a:prstGeom>
          <a:solidFill>
            <a:srgbClr val="BD582C"/>
          </a:solidFill>
          <a:ln w="0">
            <a:solidFill>
              <a:srgbClr val="BD582C"/>
            </a:solidFill>
          </a:ln>
        </p:spPr>
      </p:sp>
      <p:sp>
        <p:nvSpPr>
          <p:cNvPr id="13" name="矩形 12">
            <a:extLst>
              <a:ext uri="{FF2B5EF4-FFF2-40B4-BE49-F238E27FC236}">
                <a16:creationId xmlns:a16="http://schemas.microsoft.com/office/drawing/2014/main" id="{32900CAE-AE60-4424-A075-0E5B941037E9}"/>
              </a:ext>
            </a:extLst>
          </p:cNvPr>
          <p:cNvSpPr>
            <a:spLocks noGrp="1"/>
          </p:cNvSpPr>
          <p:nvPr/>
        </p:nvSpPr>
        <p:spPr>
          <a:xfrm>
            <a:off x="1178859" y="2192991"/>
            <a:ext cx="2095500" cy="952500"/>
          </a:xfrm>
          <a:prstGeom prst="rect">
            <a:avLst/>
          </a:prstGeom>
          <a:solidFill>
            <a:srgbClr val="FFFFFF"/>
          </a:solidFill>
          <a:ln w="9525">
            <a:solidFill>
              <a:srgbClr val="BFBFBF"/>
            </a:solidFill>
          </a:ln>
        </p:spPr>
      </p:sp>
      <p:sp>
        <p:nvSpPr>
          <p:cNvPr id="14" name="矩形 13">
            <a:extLst>
              <a:ext uri="{FF2B5EF4-FFF2-40B4-BE49-F238E27FC236}">
                <a16:creationId xmlns:a16="http://schemas.microsoft.com/office/drawing/2014/main" id="{C8A66884-74BC-4CB1-8F79-873D391F8F9F}"/>
              </a:ext>
            </a:extLst>
          </p:cNvPr>
          <p:cNvSpPr>
            <a:spLocks noGrp="1"/>
          </p:cNvSpPr>
          <p:nvPr/>
        </p:nvSpPr>
        <p:spPr>
          <a:xfrm>
            <a:off x="1293159" y="225966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01</a:t>
            </a:r>
          </a:p>
        </p:txBody>
      </p:sp>
      <p:sp>
        <p:nvSpPr>
          <p:cNvPr id="15" name="矩形 14">
            <a:extLst>
              <a:ext uri="{FF2B5EF4-FFF2-40B4-BE49-F238E27FC236}">
                <a16:creationId xmlns:a16="http://schemas.microsoft.com/office/drawing/2014/main" id="{BAF3A61A-0706-40A4-9AE9-F0F9DA09F2DE}"/>
              </a:ext>
            </a:extLst>
          </p:cNvPr>
          <p:cNvSpPr>
            <a:spLocks noGrp="1"/>
          </p:cNvSpPr>
          <p:nvPr/>
        </p:nvSpPr>
        <p:spPr>
          <a:xfrm>
            <a:off x="1331259" y="2450166"/>
            <a:ext cx="1790700" cy="323850"/>
          </a:xfrm>
          <a:prstGeom prst="rect">
            <a:avLst/>
          </a:prstGeom>
          <a:noFill/>
          <a:ln w="0">
            <a:noFill/>
          </a:ln>
        </p:spPr>
        <p:txBody>
          <a:bodyPr wrap="square" lIns="47625" tIns="28575" rIns="47625" bIns="28575" anchor="ctr">
            <a:noAutofit/>
          </a:bodyPr>
          <a:lstStyle/>
          <a:p>
            <a:pPr algn="ctr">
              <a:buNone/>
              <a:defRPr sz="1088" b="1">
                <a:solidFill>
                  <a:srgbClr val="414141"/>
                </a:solidFill>
                <a:latin typeface="Calibri"/>
                <a:ea typeface="Calibri"/>
                <a:cs typeface="Calibri"/>
              </a:defRPr>
            </a:pPr>
            <a:r>
              <a:rPr sz="1088" b="1">
                <a:solidFill>
                  <a:srgbClr val="414141"/>
                </a:solidFill>
                <a:latin typeface="Calibri"/>
                <a:ea typeface="Calibri"/>
                <a:cs typeface="Calibri"/>
              </a:rPr>
              <a:t>MedlinePlus XML前處理</a:t>
            </a:r>
          </a:p>
        </p:txBody>
      </p:sp>
      <p:sp>
        <p:nvSpPr>
          <p:cNvPr id="16" name="矩形 15">
            <a:extLst>
              <a:ext uri="{FF2B5EF4-FFF2-40B4-BE49-F238E27FC236}">
                <a16:creationId xmlns:a16="http://schemas.microsoft.com/office/drawing/2014/main" id="{F159F3E1-F91F-4AFD-A525-89B7FBA5A357}"/>
              </a:ext>
            </a:extLst>
          </p:cNvPr>
          <p:cNvSpPr>
            <a:spLocks noGrp="1"/>
          </p:cNvSpPr>
          <p:nvPr/>
        </p:nvSpPr>
        <p:spPr>
          <a:xfrm>
            <a:off x="1274109" y="279306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整理英文主題、摘要與網址</a:t>
            </a:r>
          </a:p>
        </p:txBody>
      </p:sp>
      <p:sp>
        <p:nvSpPr>
          <p:cNvPr id="17" name="矩形 16">
            <a:extLst>
              <a:ext uri="{FF2B5EF4-FFF2-40B4-BE49-F238E27FC236}">
                <a16:creationId xmlns:a16="http://schemas.microsoft.com/office/drawing/2014/main" id="{F85D1852-862F-42D6-AF18-7F6903090BC1}"/>
              </a:ext>
            </a:extLst>
          </p:cNvPr>
          <p:cNvSpPr>
            <a:spLocks noGrp="1"/>
          </p:cNvSpPr>
          <p:nvPr/>
        </p:nvSpPr>
        <p:spPr>
          <a:xfrm>
            <a:off x="3826809" y="2192991"/>
            <a:ext cx="2095500" cy="952500"/>
          </a:xfrm>
          <a:prstGeom prst="rect">
            <a:avLst/>
          </a:prstGeom>
          <a:solidFill>
            <a:srgbClr val="FFFFFF"/>
          </a:solidFill>
          <a:ln w="9525">
            <a:solidFill>
              <a:srgbClr val="BFBFBF"/>
            </a:solidFill>
          </a:ln>
        </p:spPr>
      </p:sp>
      <p:sp>
        <p:nvSpPr>
          <p:cNvPr id="18" name="矩形 17">
            <a:extLst>
              <a:ext uri="{FF2B5EF4-FFF2-40B4-BE49-F238E27FC236}">
                <a16:creationId xmlns:a16="http://schemas.microsoft.com/office/drawing/2014/main" id="{169AE131-12DF-4CA4-BFF0-7998F905ECBA}"/>
              </a:ext>
            </a:extLst>
          </p:cNvPr>
          <p:cNvSpPr>
            <a:spLocks noGrp="1"/>
          </p:cNvSpPr>
          <p:nvPr/>
        </p:nvSpPr>
        <p:spPr>
          <a:xfrm>
            <a:off x="3941109" y="225966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02</a:t>
            </a:r>
          </a:p>
        </p:txBody>
      </p:sp>
      <p:sp>
        <p:nvSpPr>
          <p:cNvPr id="19" name="矩形 18">
            <a:extLst>
              <a:ext uri="{FF2B5EF4-FFF2-40B4-BE49-F238E27FC236}">
                <a16:creationId xmlns:a16="http://schemas.microsoft.com/office/drawing/2014/main" id="{8EED74F4-4083-4043-8119-795CE5B6CD5D}"/>
              </a:ext>
            </a:extLst>
          </p:cNvPr>
          <p:cNvSpPr>
            <a:spLocks noGrp="1"/>
          </p:cNvSpPr>
          <p:nvPr/>
        </p:nvSpPr>
        <p:spPr>
          <a:xfrm>
            <a:off x="3979209" y="245016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整理SNOMED CT</a:t>
            </a:r>
          </a:p>
        </p:txBody>
      </p:sp>
      <p:sp>
        <p:nvSpPr>
          <p:cNvPr id="20" name="矩形 19">
            <a:extLst>
              <a:ext uri="{FF2B5EF4-FFF2-40B4-BE49-F238E27FC236}">
                <a16:creationId xmlns:a16="http://schemas.microsoft.com/office/drawing/2014/main" id="{84A59235-D9F4-4F5D-B0BD-05B1B086DC1D}"/>
              </a:ext>
            </a:extLst>
          </p:cNvPr>
          <p:cNvSpPr>
            <a:spLocks noGrp="1"/>
          </p:cNvSpPr>
          <p:nvPr/>
        </p:nvSpPr>
        <p:spPr>
          <a:xfrm>
            <a:off x="3922059" y="279306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概念、名稱與關係</a:t>
            </a:r>
          </a:p>
        </p:txBody>
      </p:sp>
      <p:sp>
        <p:nvSpPr>
          <p:cNvPr id="21" name="矩形 20">
            <a:extLst>
              <a:ext uri="{FF2B5EF4-FFF2-40B4-BE49-F238E27FC236}">
                <a16:creationId xmlns:a16="http://schemas.microsoft.com/office/drawing/2014/main" id="{F3F515EF-05EF-4EDE-87EF-EB44621760C9}"/>
              </a:ext>
            </a:extLst>
          </p:cNvPr>
          <p:cNvSpPr>
            <a:spLocks noGrp="1"/>
          </p:cNvSpPr>
          <p:nvPr/>
        </p:nvSpPr>
        <p:spPr>
          <a:xfrm>
            <a:off x="6474759" y="2192991"/>
            <a:ext cx="2095500" cy="952500"/>
          </a:xfrm>
          <a:prstGeom prst="rect">
            <a:avLst/>
          </a:prstGeom>
          <a:solidFill>
            <a:srgbClr val="FFFFFF"/>
          </a:solidFill>
          <a:ln w="9525">
            <a:solidFill>
              <a:srgbClr val="BFBFBF"/>
            </a:solidFill>
          </a:ln>
        </p:spPr>
      </p:sp>
      <p:sp>
        <p:nvSpPr>
          <p:cNvPr id="22" name="矩形 21">
            <a:extLst>
              <a:ext uri="{FF2B5EF4-FFF2-40B4-BE49-F238E27FC236}">
                <a16:creationId xmlns:a16="http://schemas.microsoft.com/office/drawing/2014/main" id="{2C9DB5A6-D41F-4328-85D4-3AF0369B9551}"/>
              </a:ext>
            </a:extLst>
          </p:cNvPr>
          <p:cNvSpPr>
            <a:spLocks noGrp="1"/>
          </p:cNvSpPr>
          <p:nvPr/>
        </p:nvSpPr>
        <p:spPr>
          <a:xfrm>
            <a:off x="6589059" y="225966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03</a:t>
            </a:r>
          </a:p>
        </p:txBody>
      </p:sp>
      <p:sp>
        <p:nvSpPr>
          <p:cNvPr id="23" name="矩形 22">
            <a:extLst>
              <a:ext uri="{FF2B5EF4-FFF2-40B4-BE49-F238E27FC236}">
                <a16:creationId xmlns:a16="http://schemas.microsoft.com/office/drawing/2014/main" id="{829262B5-4DC8-49A8-8EBD-20E59720F984}"/>
              </a:ext>
            </a:extLst>
          </p:cNvPr>
          <p:cNvSpPr>
            <a:spLocks noGrp="1"/>
          </p:cNvSpPr>
          <p:nvPr/>
        </p:nvSpPr>
        <p:spPr>
          <a:xfrm>
            <a:off x="6627159" y="245016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建立兩者對照</a:t>
            </a:r>
          </a:p>
        </p:txBody>
      </p:sp>
      <p:sp>
        <p:nvSpPr>
          <p:cNvPr id="24" name="矩形 23">
            <a:extLst>
              <a:ext uri="{FF2B5EF4-FFF2-40B4-BE49-F238E27FC236}">
                <a16:creationId xmlns:a16="http://schemas.microsoft.com/office/drawing/2014/main" id="{1BEAECE7-8635-4E6F-85AF-765917A5E92B}"/>
              </a:ext>
            </a:extLst>
          </p:cNvPr>
          <p:cNvSpPr>
            <a:spLocks noGrp="1"/>
          </p:cNvSpPr>
          <p:nvPr/>
        </p:nvSpPr>
        <p:spPr>
          <a:xfrm>
            <a:off x="6570009" y="279306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SNOMED CT與MedlinePlus</a:t>
            </a:r>
          </a:p>
        </p:txBody>
      </p:sp>
      <p:sp>
        <p:nvSpPr>
          <p:cNvPr id="25" name="矩形 24">
            <a:extLst>
              <a:ext uri="{FF2B5EF4-FFF2-40B4-BE49-F238E27FC236}">
                <a16:creationId xmlns:a16="http://schemas.microsoft.com/office/drawing/2014/main" id="{CCCA8445-0243-4CC3-B740-6D50950F7423}"/>
              </a:ext>
            </a:extLst>
          </p:cNvPr>
          <p:cNvSpPr>
            <a:spLocks noGrp="1"/>
          </p:cNvSpPr>
          <p:nvPr/>
        </p:nvSpPr>
        <p:spPr>
          <a:xfrm>
            <a:off x="9122709" y="2192991"/>
            <a:ext cx="2095500" cy="952500"/>
          </a:xfrm>
          <a:prstGeom prst="rect">
            <a:avLst/>
          </a:prstGeom>
          <a:solidFill>
            <a:srgbClr val="FFFFFF"/>
          </a:solidFill>
          <a:ln w="9525">
            <a:solidFill>
              <a:srgbClr val="BFBFBF"/>
            </a:solidFill>
          </a:ln>
        </p:spPr>
      </p:sp>
      <p:sp>
        <p:nvSpPr>
          <p:cNvPr id="26" name="矩形 25">
            <a:extLst>
              <a:ext uri="{FF2B5EF4-FFF2-40B4-BE49-F238E27FC236}">
                <a16:creationId xmlns:a16="http://schemas.microsoft.com/office/drawing/2014/main" id="{1FD0AE8D-CA75-4C3F-8A6E-3B0F7F5EF8D8}"/>
              </a:ext>
            </a:extLst>
          </p:cNvPr>
          <p:cNvSpPr>
            <a:spLocks noGrp="1"/>
          </p:cNvSpPr>
          <p:nvPr/>
        </p:nvSpPr>
        <p:spPr>
          <a:xfrm>
            <a:off x="9237009" y="225966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04</a:t>
            </a:r>
          </a:p>
        </p:txBody>
      </p:sp>
      <p:sp>
        <p:nvSpPr>
          <p:cNvPr id="27" name="矩形 26">
            <a:extLst>
              <a:ext uri="{FF2B5EF4-FFF2-40B4-BE49-F238E27FC236}">
                <a16:creationId xmlns:a16="http://schemas.microsoft.com/office/drawing/2014/main" id="{6EA43C8A-602D-4CD1-AF0E-B430D6DF5DF5}"/>
              </a:ext>
            </a:extLst>
          </p:cNvPr>
          <p:cNvSpPr>
            <a:spLocks noGrp="1"/>
          </p:cNvSpPr>
          <p:nvPr/>
        </p:nvSpPr>
        <p:spPr>
          <a:xfrm>
            <a:off x="9275109" y="245016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官方服務確認</a:t>
            </a:r>
          </a:p>
        </p:txBody>
      </p:sp>
      <p:sp>
        <p:nvSpPr>
          <p:cNvPr id="28" name="矩形 27">
            <a:extLst>
              <a:ext uri="{FF2B5EF4-FFF2-40B4-BE49-F238E27FC236}">
                <a16:creationId xmlns:a16="http://schemas.microsoft.com/office/drawing/2014/main" id="{2814722D-83EE-48A4-8598-D6CF7B7FCB44}"/>
              </a:ext>
            </a:extLst>
          </p:cNvPr>
          <p:cNvSpPr>
            <a:spLocks noGrp="1"/>
          </p:cNvSpPr>
          <p:nvPr/>
        </p:nvSpPr>
        <p:spPr>
          <a:xfrm>
            <a:off x="9217959" y="279306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MedlinePlus Connect</a:t>
            </a:r>
          </a:p>
        </p:txBody>
      </p:sp>
      <p:sp>
        <p:nvSpPr>
          <p:cNvPr id="29" name="箭號: 向右 28">
            <a:extLst>
              <a:ext uri="{FF2B5EF4-FFF2-40B4-BE49-F238E27FC236}">
                <a16:creationId xmlns:a16="http://schemas.microsoft.com/office/drawing/2014/main" id="{E46DF6E4-C64D-4508-8033-C36BAF9BABA3}"/>
              </a:ext>
            </a:extLst>
          </p:cNvPr>
          <p:cNvSpPr>
            <a:spLocks noGrp="1"/>
          </p:cNvSpPr>
          <p:nvPr/>
        </p:nvSpPr>
        <p:spPr>
          <a:xfrm>
            <a:off x="3360084" y="2554941"/>
            <a:ext cx="381000" cy="238125"/>
          </a:xfrm>
          <a:prstGeom prst="rightArrow">
            <a:avLst/>
          </a:prstGeom>
          <a:solidFill>
            <a:srgbClr val="C9C2BC"/>
          </a:solidFill>
          <a:ln w="0">
            <a:solidFill>
              <a:srgbClr val="C9C2BC"/>
            </a:solidFill>
          </a:ln>
        </p:spPr>
      </p:sp>
      <p:sp>
        <p:nvSpPr>
          <p:cNvPr id="30" name="箭號: 向右 29">
            <a:extLst>
              <a:ext uri="{FF2B5EF4-FFF2-40B4-BE49-F238E27FC236}">
                <a16:creationId xmlns:a16="http://schemas.microsoft.com/office/drawing/2014/main" id="{80B333F8-24D0-4ABF-A543-0176BAD39CE8}"/>
              </a:ext>
            </a:extLst>
          </p:cNvPr>
          <p:cNvSpPr>
            <a:spLocks noGrp="1"/>
          </p:cNvSpPr>
          <p:nvPr/>
        </p:nvSpPr>
        <p:spPr>
          <a:xfrm>
            <a:off x="6008034" y="2554941"/>
            <a:ext cx="381000" cy="238125"/>
          </a:xfrm>
          <a:prstGeom prst="rightArrow">
            <a:avLst/>
          </a:prstGeom>
          <a:solidFill>
            <a:srgbClr val="C9C2BC"/>
          </a:solidFill>
          <a:ln w="0">
            <a:solidFill>
              <a:srgbClr val="C9C2BC"/>
            </a:solidFill>
          </a:ln>
        </p:spPr>
      </p:sp>
      <p:sp>
        <p:nvSpPr>
          <p:cNvPr id="31" name="箭號: 向右 30">
            <a:extLst>
              <a:ext uri="{FF2B5EF4-FFF2-40B4-BE49-F238E27FC236}">
                <a16:creationId xmlns:a16="http://schemas.microsoft.com/office/drawing/2014/main" id="{4659B2A1-7159-4F0A-86AB-7675412D1FF5}"/>
              </a:ext>
            </a:extLst>
          </p:cNvPr>
          <p:cNvSpPr>
            <a:spLocks noGrp="1"/>
          </p:cNvSpPr>
          <p:nvPr/>
        </p:nvSpPr>
        <p:spPr>
          <a:xfrm>
            <a:off x="8655984" y="2554941"/>
            <a:ext cx="381000" cy="238125"/>
          </a:xfrm>
          <a:prstGeom prst="rightArrow">
            <a:avLst/>
          </a:prstGeom>
          <a:solidFill>
            <a:srgbClr val="C9C2BC"/>
          </a:solidFill>
          <a:ln w="0">
            <a:solidFill>
              <a:srgbClr val="C9C2BC"/>
            </a:solidFill>
          </a:ln>
        </p:spPr>
      </p:sp>
      <p:sp>
        <p:nvSpPr>
          <p:cNvPr id="32" name="箭號: 向下 31">
            <a:extLst>
              <a:ext uri="{FF2B5EF4-FFF2-40B4-BE49-F238E27FC236}">
                <a16:creationId xmlns:a16="http://schemas.microsoft.com/office/drawing/2014/main" id="{10F024EA-6DEF-4810-B8F9-B29977D9252F}"/>
              </a:ext>
            </a:extLst>
          </p:cNvPr>
          <p:cNvSpPr>
            <a:spLocks noGrp="1"/>
          </p:cNvSpPr>
          <p:nvPr/>
        </p:nvSpPr>
        <p:spPr>
          <a:xfrm>
            <a:off x="10037109" y="3193116"/>
            <a:ext cx="266700" cy="257175"/>
          </a:xfrm>
          <a:prstGeom prst="downArrow">
            <a:avLst/>
          </a:prstGeom>
          <a:solidFill>
            <a:srgbClr val="C9C2BC"/>
          </a:solidFill>
          <a:ln w="0">
            <a:solidFill>
              <a:srgbClr val="C9C2BC"/>
            </a:solidFill>
          </a:ln>
        </p:spPr>
      </p:sp>
      <p:sp>
        <p:nvSpPr>
          <p:cNvPr id="33" name="矩形 32">
            <a:extLst>
              <a:ext uri="{FF2B5EF4-FFF2-40B4-BE49-F238E27FC236}">
                <a16:creationId xmlns:a16="http://schemas.microsoft.com/office/drawing/2014/main" id="{D8CB42D1-0D83-47AB-8BBE-02B8056BF43E}"/>
              </a:ext>
            </a:extLst>
          </p:cNvPr>
          <p:cNvSpPr>
            <a:spLocks noGrp="1"/>
          </p:cNvSpPr>
          <p:nvPr/>
        </p:nvSpPr>
        <p:spPr>
          <a:xfrm>
            <a:off x="1178859" y="3574116"/>
            <a:ext cx="2095500" cy="952500"/>
          </a:xfrm>
          <a:prstGeom prst="rect">
            <a:avLst/>
          </a:prstGeom>
          <a:solidFill>
            <a:srgbClr val="FFF3E5"/>
          </a:solidFill>
          <a:ln w="9525">
            <a:solidFill>
              <a:srgbClr val="E48312"/>
            </a:solidFill>
          </a:ln>
        </p:spPr>
      </p:sp>
      <p:sp>
        <p:nvSpPr>
          <p:cNvPr id="34" name="矩形 33">
            <a:extLst>
              <a:ext uri="{FF2B5EF4-FFF2-40B4-BE49-F238E27FC236}">
                <a16:creationId xmlns:a16="http://schemas.microsoft.com/office/drawing/2014/main" id="{55FAA803-6736-4250-AD60-42522500AA7D}"/>
              </a:ext>
            </a:extLst>
          </p:cNvPr>
          <p:cNvSpPr>
            <a:spLocks noGrp="1"/>
          </p:cNvSpPr>
          <p:nvPr/>
        </p:nvSpPr>
        <p:spPr>
          <a:xfrm>
            <a:off x="1293159" y="3640791"/>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08</a:t>
            </a:r>
          </a:p>
        </p:txBody>
      </p:sp>
      <p:sp>
        <p:nvSpPr>
          <p:cNvPr id="35" name="矩形 34">
            <a:extLst>
              <a:ext uri="{FF2B5EF4-FFF2-40B4-BE49-F238E27FC236}">
                <a16:creationId xmlns:a16="http://schemas.microsoft.com/office/drawing/2014/main" id="{D44B6D63-983E-4C43-9CCF-B11C68349E7B}"/>
              </a:ext>
            </a:extLst>
          </p:cNvPr>
          <p:cNvSpPr>
            <a:spLocks noGrp="1"/>
          </p:cNvSpPr>
          <p:nvPr/>
        </p:nvSpPr>
        <p:spPr>
          <a:xfrm>
            <a:off x="1331259" y="3831291"/>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確認實驗設定</a:t>
            </a:r>
          </a:p>
        </p:txBody>
      </p:sp>
      <p:sp>
        <p:nvSpPr>
          <p:cNvPr id="36" name="矩形 35">
            <a:extLst>
              <a:ext uri="{FF2B5EF4-FFF2-40B4-BE49-F238E27FC236}">
                <a16:creationId xmlns:a16="http://schemas.microsoft.com/office/drawing/2014/main" id="{AA609B06-B0D2-4072-AD1D-672DE0353E75}"/>
              </a:ext>
            </a:extLst>
          </p:cNvPr>
          <p:cNvSpPr>
            <a:spLocks noGrp="1"/>
          </p:cNvSpPr>
          <p:nvPr/>
        </p:nvSpPr>
        <p:spPr>
          <a:xfrm>
            <a:off x="1274109" y="4174191"/>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提示詞、模型與評分規則</a:t>
            </a:r>
          </a:p>
        </p:txBody>
      </p:sp>
      <p:sp>
        <p:nvSpPr>
          <p:cNvPr id="37" name="矩形 36">
            <a:extLst>
              <a:ext uri="{FF2B5EF4-FFF2-40B4-BE49-F238E27FC236}">
                <a16:creationId xmlns:a16="http://schemas.microsoft.com/office/drawing/2014/main" id="{255C0366-C104-4D91-BBC9-64106A015970}"/>
              </a:ext>
            </a:extLst>
          </p:cNvPr>
          <p:cNvSpPr>
            <a:spLocks noGrp="1"/>
          </p:cNvSpPr>
          <p:nvPr/>
        </p:nvSpPr>
        <p:spPr>
          <a:xfrm>
            <a:off x="3826809" y="3574116"/>
            <a:ext cx="2095500" cy="952500"/>
          </a:xfrm>
          <a:prstGeom prst="rect">
            <a:avLst/>
          </a:prstGeom>
          <a:solidFill>
            <a:srgbClr val="FFFFFF"/>
          </a:solidFill>
          <a:ln w="9525">
            <a:solidFill>
              <a:srgbClr val="E48312"/>
            </a:solidFill>
          </a:ln>
        </p:spPr>
      </p:sp>
      <p:sp>
        <p:nvSpPr>
          <p:cNvPr id="38" name="矩形 37">
            <a:extLst>
              <a:ext uri="{FF2B5EF4-FFF2-40B4-BE49-F238E27FC236}">
                <a16:creationId xmlns:a16="http://schemas.microsoft.com/office/drawing/2014/main" id="{36170095-7D58-42B1-8E37-F3DC5B41AE1D}"/>
              </a:ext>
            </a:extLst>
          </p:cNvPr>
          <p:cNvSpPr>
            <a:spLocks noGrp="1"/>
          </p:cNvSpPr>
          <p:nvPr/>
        </p:nvSpPr>
        <p:spPr>
          <a:xfrm>
            <a:off x="3941109" y="3640791"/>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07</a:t>
            </a:r>
          </a:p>
        </p:txBody>
      </p:sp>
      <p:sp>
        <p:nvSpPr>
          <p:cNvPr id="39" name="矩形 38">
            <a:extLst>
              <a:ext uri="{FF2B5EF4-FFF2-40B4-BE49-F238E27FC236}">
                <a16:creationId xmlns:a16="http://schemas.microsoft.com/office/drawing/2014/main" id="{FA1DA34F-D594-4C70-AAAD-3067CDB6C931}"/>
              </a:ext>
            </a:extLst>
          </p:cNvPr>
          <p:cNvSpPr>
            <a:spLocks noGrp="1"/>
          </p:cNvSpPr>
          <p:nvPr/>
        </p:nvSpPr>
        <p:spPr>
          <a:xfrm>
            <a:off x="3979209" y="3831291"/>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分割資料集</a:t>
            </a:r>
          </a:p>
        </p:txBody>
      </p:sp>
      <p:sp>
        <p:nvSpPr>
          <p:cNvPr id="40" name="矩形 39">
            <a:extLst>
              <a:ext uri="{FF2B5EF4-FFF2-40B4-BE49-F238E27FC236}">
                <a16:creationId xmlns:a16="http://schemas.microsoft.com/office/drawing/2014/main" id="{5154AAA0-FA22-4DD6-A998-6752E4A95336}"/>
              </a:ext>
            </a:extLst>
          </p:cNvPr>
          <p:cNvSpPr>
            <a:spLocks noGrp="1"/>
          </p:cNvSpPr>
          <p:nvPr/>
        </p:nvSpPr>
        <p:spPr>
          <a:xfrm>
            <a:off x="3922059" y="4174191"/>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驗證102題，測試414題</a:t>
            </a:r>
          </a:p>
        </p:txBody>
      </p:sp>
      <p:sp>
        <p:nvSpPr>
          <p:cNvPr id="41" name="矩形 40">
            <a:extLst>
              <a:ext uri="{FF2B5EF4-FFF2-40B4-BE49-F238E27FC236}">
                <a16:creationId xmlns:a16="http://schemas.microsoft.com/office/drawing/2014/main" id="{FE626374-BBC8-4E12-A9B7-6ACC276AFD68}"/>
              </a:ext>
            </a:extLst>
          </p:cNvPr>
          <p:cNvSpPr>
            <a:spLocks noGrp="1"/>
          </p:cNvSpPr>
          <p:nvPr/>
        </p:nvSpPr>
        <p:spPr>
          <a:xfrm>
            <a:off x="6474759" y="3574116"/>
            <a:ext cx="2095500" cy="952500"/>
          </a:xfrm>
          <a:prstGeom prst="rect">
            <a:avLst/>
          </a:prstGeom>
          <a:solidFill>
            <a:srgbClr val="FFF3E5"/>
          </a:solidFill>
          <a:ln w="9525">
            <a:solidFill>
              <a:srgbClr val="E48312"/>
            </a:solidFill>
          </a:ln>
        </p:spPr>
      </p:sp>
      <p:sp>
        <p:nvSpPr>
          <p:cNvPr id="42" name="矩形 41">
            <a:extLst>
              <a:ext uri="{FF2B5EF4-FFF2-40B4-BE49-F238E27FC236}">
                <a16:creationId xmlns:a16="http://schemas.microsoft.com/office/drawing/2014/main" id="{EB4D2AFC-0085-4652-AB97-8E629EACAF8B}"/>
              </a:ext>
            </a:extLst>
          </p:cNvPr>
          <p:cNvSpPr>
            <a:spLocks noGrp="1"/>
          </p:cNvSpPr>
          <p:nvPr/>
        </p:nvSpPr>
        <p:spPr>
          <a:xfrm>
            <a:off x="6589059" y="3640791"/>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06</a:t>
            </a:r>
          </a:p>
        </p:txBody>
      </p:sp>
      <p:sp>
        <p:nvSpPr>
          <p:cNvPr id="43" name="矩形 42">
            <a:extLst>
              <a:ext uri="{FF2B5EF4-FFF2-40B4-BE49-F238E27FC236}">
                <a16:creationId xmlns:a16="http://schemas.microsoft.com/office/drawing/2014/main" id="{545DFB3B-E8F3-4528-AA80-846C5A3C0834}"/>
              </a:ext>
            </a:extLst>
          </p:cNvPr>
          <p:cNvSpPr>
            <a:spLocks noGrp="1"/>
          </p:cNvSpPr>
          <p:nvPr/>
        </p:nvSpPr>
        <p:spPr>
          <a:xfrm>
            <a:off x="6627159" y="3831291"/>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建立英文問題</a:t>
            </a:r>
          </a:p>
        </p:txBody>
      </p:sp>
      <p:sp>
        <p:nvSpPr>
          <p:cNvPr id="44" name="矩形 43">
            <a:extLst>
              <a:ext uri="{FF2B5EF4-FFF2-40B4-BE49-F238E27FC236}">
                <a16:creationId xmlns:a16="http://schemas.microsoft.com/office/drawing/2014/main" id="{F27DDA24-72B5-431A-8F93-C202658005A3}"/>
              </a:ext>
            </a:extLst>
          </p:cNvPr>
          <p:cNvSpPr>
            <a:spLocks noGrp="1"/>
          </p:cNvSpPr>
          <p:nvPr/>
        </p:nvSpPr>
        <p:spPr>
          <a:xfrm>
            <a:off x="6570009" y="4174191"/>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使用三種固定模板</a:t>
            </a:r>
          </a:p>
        </p:txBody>
      </p:sp>
      <p:sp>
        <p:nvSpPr>
          <p:cNvPr id="45" name="矩形 44">
            <a:extLst>
              <a:ext uri="{FF2B5EF4-FFF2-40B4-BE49-F238E27FC236}">
                <a16:creationId xmlns:a16="http://schemas.microsoft.com/office/drawing/2014/main" id="{A474C06A-E9E1-457A-AF34-DF25F9226801}"/>
              </a:ext>
            </a:extLst>
          </p:cNvPr>
          <p:cNvSpPr>
            <a:spLocks noGrp="1"/>
          </p:cNvSpPr>
          <p:nvPr/>
        </p:nvSpPr>
        <p:spPr>
          <a:xfrm>
            <a:off x="9122709" y="3574116"/>
            <a:ext cx="2095500" cy="952500"/>
          </a:xfrm>
          <a:prstGeom prst="rect">
            <a:avLst/>
          </a:prstGeom>
          <a:solidFill>
            <a:srgbClr val="FFFFFF"/>
          </a:solidFill>
          <a:ln w="9525">
            <a:solidFill>
              <a:srgbClr val="E48312"/>
            </a:solidFill>
          </a:ln>
        </p:spPr>
      </p:sp>
      <p:sp>
        <p:nvSpPr>
          <p:cNvPr id="46" name="矩形 45">
            <a:extLst>
              <a:ext uri="{FF2B5EF4-FFF2-40B4-BE49-F238E27FC236}">
                <a16:creationId xmlns:a16="http://schemas.microsoft.com/office/drawing/2014/main" id="{B533BC9D-7397-4176-98C1-E375F45F19C6}"/>
              </a:ext>
            </a:extLst>
          </p:cNvPr>
          <p:cNvSpPr>
            <a:spLocks noGrp="1"/>
          </p:cNvSpPr>
          <p:nvPr/>
        </p:nvSpPr>
        <p:spPr>
          <a:xfrm>
            <a:off x="9237009" y="3640791"/>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05</a:t>
            </a:r>
          </a:p>
        </p:txBody>
      </p:sp>
      <p:sp>
        <p:nvSpPr>
          <p:cNvPr id="47" name="矩形 46">
            <a:extLst>
              <a:ext uri="{FF2B5EF4-FFF2-40B4-BE49-F238E27FC236}">
                <a16:creationId xmlns:a16="http://schemas.microsoft.com/office/drawing/2014/main" id="{E05E6806-C4F0-469C-9373-84B17904AEA5}"/>
              </a:ext>
            </a:extLst>
          </p:cNvPr>
          <p:cNvSpPr>
            <a:spLocks noGrp="1"/>
          </p:cNvSpPr>
          <p:nvPr/>
        </p:nvSpPr>
        <p:spPr>
          <a:xfrm>
            <a:off x="9275109" y="3831291"/>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篩選合格主題</a:t>
            </a:r>
          </a:p>
        </p:txBody>
      </p:sp>
      <p:sp>
        <p:nvSpPr>
          <p:cNvPr id="48" name="矩形 47">
            <a:extLst>
              <a:ext uri="{FF2B5EF4-FFF2-40B4-BE49-F238E27FC236}">
                <a16:creationId xmlns:a16="http://schemas.microsoft.com/office/drawing/2014/main" id="{F6535194-EDC5-4779-89D2-1CCD92C1FF92}"/>
              </a:ext>
            </a:extLst>
          </p:cNvPr>
          <p:cNvSpPr>
            <a:spLocks noGrp="1"/>
          </p:cNvSpPr>
          <p:nvPr/>
        </p:nvSpPr>
        <p:spPr>
          <a:xfrm>
            <a:off x="9217959" y="4174191"/>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保留516個健康主題</a:t>
            </a:r>
          </a:p>
        </p:txBody>
      </p:sp>
      <p:sp>
        <p:nvSpPr>
          <p:cNvPr id="49" name="箭號: 向左 48">
            <a:extLst>
              <a:ext uri="{FF2B5EF4-FFF2-40B4-BE49-F238E27FC236}">
                <a16:creationId xmlns:a16="http://schemas.microsoft.com/office/drawing/2014/main" id="{10C7AC03-BD1C-4588-AFB9-C80B6242488A}"/>
              </a:ext>
            </a:extLst>
          </p:cNvPr>
          <p:cNvSpPr>
            <a:spLocks noGrp="1"/>
          </p:cNvSpPr>
          <p:nvPr/>
        </p:nvSpPr>
        <p:spPr>
          <a:xfrm>
            <a:off x="3360084" y="3936066"/>
            <a:ext cx="381000" cy="238125"/>
          </a:xfrm>
          <a:prstGeom prst="leftArrow">
            <a:avLst/>
          </a:prstGeom>
          <a:solidFill>
            <a:srgbClr val="C9C2BC"/>
          </a:solidFill>
          <a:ln w="0">
            <a:solidFill>
              <a:srgbClr val="C9C2BC"/>
            </a:solidFill>
          </a:ln>
        </p:spPr>
      </p:sp>
      <p:sp>
        <p:nvSpPr>
          <p:cNvPr id="50" name="箭號: 向左 49">
            <a:extLst>
              <a:ext uri="{FF2B5EF4-FFF2-40B4-BE49-F238E27FC236}">
                <a16:creationId xmlns:a16="http://schemas.microsoft.com/office/drawing/2014/main" id="{307FD2B8-E69A-4E1D-BAE1-BDCDFCF61C19}"/>
              </a:ext>
            </a:extLst>
          </p:cNvPr>
          <p:cNvSpPr>
            <a:spLocks noGrp="1"/>
          </p:cNvSpPr>
          <p:nvPr/>
        </p:nvSpPr>
        <p:spPr>
          <a:xfrm>
            <a:off x="6008034" y="3936066"/>
            <a:ext cx="381000" cy="238125"/>
          </a:xfrm>
          <a:prstGeom prst="leftArrow">
            <a:avLst/>
          </a:prstGeom>
          <a:solidFill>
            <a:srgbClr val="C9C2BC"/>
          </a:solidFill>
          <a:ln w="0">
            <a:solidFill>
              <a:srgbClr val="C9C2BC"/>
            </a:solidFill>
          </a:ln>
        </p:spPr>
      </p:sp>
      <p:sp>
        <p:nvSpPr>
          <p:cNvPr id="51" name="箭號: 向左 50">
            <a:extLst>
              <a:ext uri="{FF2B5EF4-FFF2-40B4-BE49-F238E27FC236}">
                <a16:creationId xmlns:a16="http://schemas.microsoft.com/office/drawing/2014/main" id="{5EBBF61D-2928-41B4-B923-CC2F07D8D3DC}"/>
              </a:ext>
            </a:extLst>
          </p:cNvPr>
          <p:cNvSpPr>
            <a:spLocks noGrp="1"/>
          </p:cNvSpPr>
          <p:nvPr/>
        </p:nvSpPr>
        <p:spPr>
          <a:xfrm>
            <a:off x="8655984" y="3936066"/>
            <a:ext cx="381000" cy="238125"/>
          </a:xfrm>
          <a:prstGeom prst="leftArrow">
            <a:avLst/>
          </a:prstGeom>
          <a:solidFill>
            <a:srgbClr val="C9C2BC"/>
          </a:solidFill>
          <a:ln w="0">
            <a:solidFill>
              <a:srgbClr val="C9C2BC"/>
            </a:solidFill>
          </a:ln>
        </p:spPr>
      </p:sp>
      <p:sp>
        <p:nvSpPr>
          <p:cNvPr id="52" name="箭號: 向下 51">
            <a:extLst>
              <a:ext uri="{FF2B5EF4-FFF2-40B4-BE49-F238E27FC236}">
                <a16:creationId xmlns:a16="http://schemas.microsoft.com/office/drawing/2014/main" id="{6861AFF9-C214-4CF9-A42E-F5D07F029C49}"/>
              </a:ext>
            </a:extLst>
          </p:cNvPr>
          <p:cNvSpPr>
            <a:spLocks noGrp="1"/>
          </p:cNvSpPr>
          <p:nvPr/>
        </p:nvSpPr>
        <p:spPr>
          <a:xfrm>
            <a:off x="2093259" y="4574241"/>
            <a:ext cx="266700" cy="257175"/>
          </a:xfrm>
          <a:prstGeom prst="downArrow">
            <a:avLst/>
          </a:prstGeom>
          <a:solidFill>
            <a:srgbClr val="C9C2BC"/>
          </a:solidFill>
          <a:ln w="0">
            <a:solidFill>
              <a:srgbClr val="C9C2BC"/>
            </a:solidFill>
          </a:ln>
        </p:spPr>
      </p:sp>
      <p:sp>
        <p:nvSpPr>
          <p:cNvPr id="53" name="矩形 52">
            <a:extLst>
              <a:ext uri="{FF2B5EF4-FFF2-40B4-BE49-F238E27FC236}">
                <a16:creationId xmlns:a16="http://schemas.microsoft.com/office/drawing/2014/main" id="{703BECA7-DACF-47AF-ABA5-5F4AB14BA41C}"/>
              </a:ext>
            </a:extLst>
          </p:cNvPr>
          <p:cNvSpPr>
            <a:spLocks noGrp="1"/>
          </p:cNvSpPr>
          <p:nvPr/>
        </p:nvSpPr>
        <p:spPr>
          <a:xfrm>
            <a:off x="1178859" y="4955241"/>
            <a:ext cx="2095500" cy="952500"/>
          </a:xfrm>
          <a:prstGeom prst="rect">
            <a:avLst/>
          </a:prstGeom>
          <a:solidFill>
            <a:srgbClr val="FFFFFF"/>
          </a:solidFill>
          <a:ln w="9525">
            <a:solidFill>
              <a:srgbClr val="BFBFBF"/>
            </a:solidFill>
          </a:ln>
        </p:spPr>
      </p:sp>
      <p:sp>
        <p:nvSpPr>
          <p:cNvPr id="54" name="矩形 53">
            <a:extLst>
              <a:ext uri="{FF2B5EF4-FFF2-40B4-BE49-F238E27FC236}">
                <a16:creationId xmlns:a16="http://schemas.microsoft.com/office/drawing/2014/main" id="{DD672C63-2787-42AD-978D-9B058464B5B3}"/>
              </a:ext>
            </a:extLst>
          </p:cNvPr>
          <p:cNvSpPr>
            <a:spLocks noGrp="1"/>
          </p:cNvSpPr>
          <p:nvPr/>
        </p:nvSpPr>
        <p:spPr>
          <a:xfrm>
            <a:off x="1293159" y="502191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09</a:t>
            </a:r>
          </a:p>
        </p:txBody>
      </p:sp>
      <p:sp>
        <p:nvSpPr>
          <p:cNvPr id="55" name="矩形 54">
            <a:extLst>
              <a:ext uri="{FF2B5EF4-FFF2-40B4-BE49-F238E27FC236}">
                <a16:creationId xmlns:a16="http://schemas.microsoft.com/office/drawing/2014/main" id="{087BEB12-295E-4866-9E81-C63B913120DF}"/>
              </a:ext>
            </a:extLst>
          </p:cNvPr>
          <p:cNvSpPr>
            <a:spLocks noGrp="1"/>
          </p:cNvSpPr>
          <p:nvPr/>
        </p:nvSpPr>
        <p:spPr>
          <a:xfrm>
            <a:off x="1331259" y="521241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凍結所有設定</a:t>
            </a:r>
          </a:p>
        </p:txBody>
      </p:sp>
      <p:sp>
        <p:nvSpPr>
          <p:cNvPr id="56" name="矩形 55">
            <a:extLst>
              <a:ext uri="{FF2B5EF4-FFF2-40B4-BE49-F238E27FC236}">
                <a16:creationId xmlns:a16="http://schemas.microsoft.com/office/drawing/2014/main" id="{841AA720-4696-4436-AEAD-3DDB5BD47278}"/>
              </a:ext>
            </a:extLst>
          </p:cNvPr>
          <p:cNvSpPr>
            <a:spLocks noGrp="1"/>
          </p:cNvSpPr>
          <p:nvPr/>
        </p:nvSpPr>
        <p:spPr>
          <a:xfrm>
            <a:off x="1274109" y="555531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正式測試不再調整</a:t>
            </a:r>
          </a:p>
        </p:txBody>
      </p:sp>
      <p:sp>
        <p:nvSpPr>
          <p:cNvPr id="57" name="矩形 56">
            <a:extLst>
              <a:ext uri="{FF2B5EF4-FFF2-40B4-BE49-F238E27FC236}">
                <a16:creationId xmlns:a16="http://schemas.microsoft.com/office/drawing/2014/main" id="{606FA23B-584F-4FE1-9CD3-640953CAAD04}"/>
              </a:ext>
            </a:extLst>
          </p:cNvPr>
          <p:cNvSpPr>
            <a:spLocks noGrp="1"/>
          </p:cNvSpPr>
          <p:nvPr/>
        </p:nvSpPr>
        <p:spPr>
          <a:xfrm>
            <a:off x="3826809" y="4955241"/>
            <a:ext cx="2095500" cy="952500"/>
          </a:xfrm>
          <a:prstGeom prst="rect">
            <a:avLst/>
          </a:prstGeom>
          <a:solidFill>
            <a:srgbClr val="F8E8E1"/>
          </a:solidFill>
          <a:ln w="9525">
            <a:solidFill>
              <a:srgbClr val="BD582C"/>
            </a:solidFill>
          </a:ln>
        </p:spPr>
      </p:sp>
      <p:sp>
        <p:nvSpPr>
          <p:cNvPr id="58" name="矩形 57">
            <a:extLst>
              <a:ext uri="{FF2B5EF4-FFF2-40B4-BE49-F238E27FC236}">
                <a16:creationId xmlns:a16="http://schemas.microsoft.com/office/drawing/2014/main" id="{E92AB29D-7CDF-4B9D-BBCA-715CB13B2730}"/>
              </a:ext>
            </a:extLst>
          </p:cNvPr>
          <p:cNvSpPr>
            <a:spLocks noGrp="1"/>
          </p:cNvSpPr>
          <p:nvPr/>
        </p:nvSpPr>
        <p:spPr>
          <a:xfrm>
            <a:off x="3941109" y="5021916"/>
            <a:ext cx="342900" cy="209550"/>
          </a:xfrm>
          <a:prstGeom prst="rect">
            <a:avLst/>
          </a:prstGeom>
          <a:noFill/>
          <a:ln w="0">
            <a:noFill/>
          </a:ln>
        </p:spPr>
        <p:txBody>
          <a:bodyPr wrap="square" lIns="47625" tIns="28575" rIns="47625" bIns="28575" anchor="t">
            <a:noAutofit/>
          </a:bodyPr>
          <a:lstStyle/>
          <a:p>
            <a:pPr algn="l">
              <a:buNone/>
              <a:defRPr sz="975" b="1">
                <a:solidFill>
                  <a:srgbClr val="BD582C"/>
                </a:solidFill>
                <a:latin typeface="Calibri"/>
                <a:ea typeface="Calibri"/>
                <a:cs typeface="Calibri"/>
              </a:defRPr>
            </a:pPr>
            <a:r>
              <a:rPr sz="975" b="1">
                <a:solidFill>
                  <a:srgbClr val="BD582C"/>
                </a:solidFill>
                <a:latin typeface="Calibri"/>
                <a:ea typeface="Calibri"/>
                <a:cs typeface="Calibri"/>
              </a:rPr>
              <a:t>10</a:t>
            </a:r>
          </a:p>
        </p:txBody>
      </p:sp>
      <p:sp>
        <p:nvSpPr>
          <p:cNvPr id="59" name="矩形 58">
            <a:extLst>
              <a:ext uri="{FF2B5EF4-FFF2-40B4-BE49-F238E27FC236}">
                <a16:creationId xmlns:a16="http://schemas.microsoft.com/office/drawing/2014/main" id="{03E20E6E-A42C-4ACB-AC50-06DCF6A57723}"/>
              </a:ext>
            </a:extLst>
          </p:cNvPr>
          <p:cNvSpPr>
            <a:spLocks noGrp="1"/>
          </p:cNvSpPr>
          <p:nvPr/>
        </p:nvSpPr>
        <p:spPr>
          <a:xfrm>
            <a:off x="3979209" y="5212416"/>
            <a:ext cx="1790700" cy="3238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A、B兩組生成</a:t>
            </a:r>
          </a:p>
        </p:txBody>
      </p:sp>
      <p:sp>
        <p:nvSpPr>
          <p:cNvPr id="60" name="矩形 59">
            <a:extLst>
              <a:ext uri="{FF2B5EF4-FFF2-40B4-BE49-F238E27FC236}">
                <a16:creationId xmlns:a16="http://schemas.microsoft.com/office/drawing/2014/main" id="{A97BE6F3-6A0C-40CA-8878-686CA92BFEF3}"/>
              </a:ext>
            </a:extLst>
          </p:cNvPr>
          <p:cNvSpPr>
            <a:spLocks noGrp="1"/>
          </p:cNvSpPr>
          <p:nvPr/>
        </p:nvSpPr>
        <p:spPr>
          <a:xfrm>
            <a:off x="3922059" y="5555316"/>
            <a:ext cx="1905000" cy="276225"/>
          </a:xfrm>
          <a:prstGeom prst="rect">
            <a:avLst/>
          </a:prstGeom>
          <a:noFill/>
          <a:ln w="0">
            <a:noFill/>
          </a:ln>
        </p:spPr>
        <p:txBody>
          <a:bodyPr wrap="square" lIns="19050" tIns="0" rIns="19050" bIns="0" anchor="t">
            <a:noAutofit/>
          </a:bodyPr>
          <a:lstStyle/>
          <a:p>
            <a:pPr algn="ctr">
              <a:buNone/>
              <a:defRPr sz="863" b="0">
                <a:solidFill>
                  <a:srgbClr val="737373"/>
                </a:solidFill>
                <a:latin typeface="Calibri"/>
                <a:ea typeface="Calibri"/>
                <a:cs typeface="Calibri"/>
              </a:defRPr>
            </a:pPr>
            <a:r>
              <a:rPr sz="863" b="0">
                <a:solidFill>
                  <a:srgbClr val="737373"/>
                </a:solidFill>
                <a:latin typeface="Calibri"/>
                <a:ea typeface="Calibri"/>
                <a:cs typeface="Calibri"/>
              </a:rPr>
              <a:t>A：純Qwen3.5</a:t>
            </a:r>
          </a:p>
          <a:p>
            <a:pPr algn="ctr">
              <a:buNone/>
              <a:defRPr sz="863" b="0">
                <a:solidFill>
                  <a:srgbClr val="737373"/>
                </a:solidFill>
                <a:latin typeface="Calibri"/>
                <a:ea typeface="Calibri"/>
                <a:cs typeface="Calibri"/>
              </a:defRPr>
            </a:pPr>
            <a:r>
              <a:rPr sz="863" b="0">
                <a:solidFill>
                  <a:srgbClr val="737373"/>
                </a:solidFill>
                <a:latin typeface="Calibri"/>
                <a:ea typeface="Calibri"/>
                <a:cs typeface="Calibri"/>
              </a:rPr>
              <a:t>B：Qwen3.5加兩類證據</a:t>
            </a:r>
          </a:p>
        </p:txBody>
      </p:sp>
      <p:sp>
        <p:nvSpPr>
          <p:cNvPr id="61" name="矩形 60">
            <a:extLst>
              <a:ext uri="{FF2B5EF4-FFF2-40B4-BE49-F238E27FC236}">
                <a16:creationId xmlns:a16="http://schemas.microsoft.com/office/drawing/2014/main" id="{1557D652-07BA-4E28-B7B6-7A586F075D06}"/>
              </a:ext>
            </a:extLst>
          </p:cNvPr>
          <p:cNvSpPr>
            <a:spLocks noGrp="1"/>
          </p:cNvSpPr>
          <p:nvPr/>
        </p:nvSpPr>
        <p:spPr>
          <a:xfrm>
            <a:off x="6474759" y="4955241"/>
            <a:ext cx="2095500" cy="952500"/>
          </a:xfrm>
          <a:prstGeom prst="rect">
            <a:avLst/>
          </a:prstGeom>
          <a:solidFill>
            <a:srgbClr val="FFFFFF"/>
          </a:solidFill>
          <a:ln w="9525">
            <a:solidFill>
              <a:srgbClr val="BFBFBF"/>
            </a:solidFill>
          </a:ln>
        </p:spPr>
      </p:sp>
      <p:sp>
        <p:nvSpPr>
          <p:cNvPr id="62" name="矩形 61">
            <a:extLst>
              <a:ext uri="{FF2B5EF4-FFF2-40B4-BE49-F238E27FC236}">
                <a16:creationId xmlns:a16="http://schemas.microsoft.com/office/drawing/2014/main" id="{ED139AFA-7657-4772-A1AC-8EE9DEB59554}"/>
              </a:ext>
            </a:extLst>
          </p:cNvPr>
          <p:cNvSpPr>
            <a:spLocks noGrp="1"/>
          </p:cNvSpPr>
          <p:nvPr/>
        </p:nvSpPr>
        <p:spPr>
          <a:xfrm>
            <a:off x="6589059" y="502191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11</a:t>
            </a:r>
          </a:p>
        </p:txBody>
      </p:sp>
      <p:sp>
        <p:nvSpPr>
          <p:cNvPr id="63" name="矩形 62">
            <a:extLst>
              <a:ext uri="{FF2B5EF4-FFF2-40B4-BE49-F238E27FC236}">
                <a16:creationId xmlns:a16="http://schemas.microsoft.com/office/drawing/2014/main" id="{EDB88D2A-9E03-4BDF-9E85-D4E24F2D618C}"/>
              </a:ext>
            </a:extLst>
          </p:cNvPr>
          <p:cNvSpPr>
            <a:spLocks noGrp="1"/>
          </p:cNvSpPr>
          <p:nvPr/>
        </p:nvSpPr>
        <p:spPr>
          <a:xfrm>
            <a:off x="6627159" y="521241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共同證據評分</a:t>
            </a:r>
          </a:p>
        </p:txBody>
      </p:sp>
      <p:sp>
        <p:nvSpPr>
          <p:cNvPr id="64" name="矩形 63">
            <a:extLst>
              <a:ext uri="{FF2B5EF4-FFF2-40B4-BE49-F238E27FC236}">
                <a16:creationId xmlns:a16="http://schemas.microsoft.com/office/drawing/2014/main" id="{1D3FA9D6-0851-460D-9111-F671E22E3288}"/>
              </a:ext>
            </a:extLst>
          </p:cNvPr>
          <p:cNvSpPr>
            <a:spLocks noGrp="1"/>
          </p:cNvSpPr>
          <p:nvPr/>
        </p:nvSpPr>
        <p:spPr>
          <a:xfrm>
            <a:off x="6570009" y="555531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使用相同MedlinePlus標準證據</a:t>
            </a:r>
          </a:p>
        </p:txBody>
      </p:sp>
      <p:sp>
        <p:nvSpPr>
          <p:cNvPr id="65" name="矩形 64">
            <a:extLst>
              <a:ext uri="{FF2B5EF4-FFF2-40B4-BE49-F238E27FC236}">
                <a16:creationId xmlns:a16="http://schemas.microsoft.com/office/drawing/2014/main" id="{9D8AABFD-1FB0-45A1-B940-77F820547C58}"/>
              </a:ext>
            </a:extLst>
          </p:cNvPr>
          <p:cNvSpPr>
            <a:spLocks noGrp="1"/>
          </p:cNvSpPr>
          <p:nvPr/>
        </p:nvSpPr>
        <p:spPr>
          <a:xfrm>
            <a:off x="9122709" y="4955241"/>
            <a:ext cx="2095500" cy="952500"/>
          </a:xfrm>
          <a:prstGeom prst="rect">
            <a:avLst/>
          </a:prstGeom>
          <a:solidFill>
            <a:srgbClr val="FFF3E5"/>
          </a:solidFill>
          <a:ln w="9525">
            <a:solidFill>
              <a:srgbClr val="E48312"/>
            </a:solidFill>
          </a:ln>
        </p:spPr>
      </p:sp>
      <p:sp>
        <p:nvSpPr>
          <p:cNvPr id="66" name="矩形 65">
            <a:extLst>
              <a:ext uri="{FF2B5EF4-FFF2-40B4-BE49-F238E27FC236}">
                <a16:creationId xmlns:a16="http://schemas.microsoft.com/office/drawing/2014/main" id="{47A30CA8-EC73-4AE0-A19F-BC4762D27C1D}"/>
              </a:ext>
            </a:extLst>
          </p:cNvPr>
          <p:cNvSpPr>
            <a:spLocks noGrp="1"/>
          </p:cNvSpPr>
          <p:nvPr/>
        </p:nvSpPr>
        <p:spPr>
          <a:xfrm>
            <a:off x="9237009" y="5021916"/>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12</a:t>
            </a:r>
          </a:p>
        </p:txBody>
      </p:sp>
      <p:sp>
        <p:nvSpPr>
          <p:cNvPr id="67" name="矩形 66">
            <a:extLst>
              <a:ext uri="{FF2B5EF4-FFF2-40B4-BE49-F238E27FC236}">
                <a16:creationId xmlns:a16="http://schemas.microsoft.com/office/drawing/2014/main" id="{3F6DBC6C-822C-458D-BD32-348B69D74FD3}"/>
              </a:ext>
            </a:extLst>
          </p:cNvPr>
          <p:cNvSpPr>
            <a:spLocks noGrp="1"/>
          </p:cNvSpPr>
          <p:nvPr/>
        </p:nvSpPr>
        <p:spPr>
          <a:xfrm>
            <a:off x="9275109" y="5212416"/>
            <a:ext cx="1790700" cy="323850"/>
          </a:xfrm>
          <a:prstGeom prst="rect">
            <a:avLst/>
          </a:prstGeom>
          <a:noFill/>
          <a:ln w="0">
            <a:noFill/>
          </a:ln>
        </p:spPr>
        <p:txBody>
          <a:bodyPr wrap="square" lIns="47625" tIns="28575" rIns="47625" bIns="28575" anchor="ctr">
            <a:noAutofit/>
          </a:bodyPr>
          <a:lstStyle/>
          <a:p>
            <a:pPr algn="ctr">
              <a:buNone/>
              <a:defRPr sz="1163" b="1">
                <a:solidFill>
                  <a:srgbClr val="414141"/>
                </a:solidFill>
                <a:latin typeface="Calibri"/>
                <a:ea typeface="Calibri"/>
                <a:cs typeface="Calibri"/>
              </a:defRPr>
            </a:pPr>
            <a:r>
              <a:rPr sz="1163" b="1">
                <a:solidFill>
                  <a:srgbClr val="414141"/>
                </a:solidFill>
                <a:latin typeface="Calibri"/>
                <a:ea typeface="Calibri"/>
                <a:cs typeface="Calibri"/>
              </a:rPr>
              <a:t>比較實驗結果</a:t>
            </a:r>
          </a:p>
        </p:txBody>
      </p:sp>
      <p:sp>
        <p:nvSpPr>
          <p:cNvPr id="68" name="矩形 67">
            <a:extLst>
              <a:ext uri="{FF2B5EF4-FFF2-40B4-BE49-F238E27FC236}">
                <a16:creationId xmlns:a16="http://schemas.microsoft.com/office/drawing/2014/main" id="{96B340BD-F892-403C-A561-63D41DAF5998}"/>
              </a:ext>
            </a:extLst>
          </p:cNvPr>
          <p:cNvSpPr>
            <a:spLocks noGrp="1"/>
          </p:cNvSpPr>
          <p:nvPr/>
        </p:nvSpPr>
        <p:spPr>
          <a:xfrm>
            <a:off x="9217959" y="5555316"/>
            <a:ext cx="1905000" cy="276225"/>
          </a:xfrm>
          <a:prstGeom prst="rect">
            <a:avLst/>
          </a:prstGeom>
          <a:noFill/>
          <a:ln w="0">
            <a:noFill/>
          </a:ln>
        </p:spPr>
        <p:txBody>
          <a:bodyPr wrap="square" lIns="19050" tIns="0" rIns="19050" bIns="0" anchor="t">
            <a:noAutofit/>
          </a:bodyPr>
          <a:lstStyle/>
          <a:p>
            <a:pPr algn="ctr">
              <a:buNone/>
              <a:defRPr sz="825" b="0">
                <a:solidFill>
                  <a:srgbClr val="737373"/>
                </a:solidFill>
                <a:latin typeface="Calibri"/>
                <a:ea typeface="Calibri"/>
                <a:cs typeface="Calibri"/>
              </a:defRPr>
            </a:pPr>
            <a:r>
              <a:rPr sz="825" b="0">
                <a:solidFill>
                  <a:srgbClr val="737373"/>
                </a:solidFill>
                <a:latin typeface="Calibri"/>
                <a:ea typeface="Calibri"/>
                <a:cs typeface="Calibri"/>
              </a:rPr>
              <a:t>整體結果與三種題型</a:t>
            </a:r>
          </a:p>
        </p:txBody>
      </p:sp>
      <p:sp>
        <p:nvSpPr>
          <p:cNvPr id="69" name="箭號: 向右 68">
            <a:extLst>
              <a:ext uri="{FF2B5EF4-FFF2-40B4-BE49-F238E27FC236}">
                <a16:creationId xmlns:a16="http://schemas.microsoft.com/office/drawing/2014/main" id="{C47F00F9-950E-4383-B158-3E0B564CAEA1}"/>
              </a:ext>
            </a:extLst>
          </p:cNvPr>
          <p:cNvSpPr>
            <a:spLocks noGrp="1"/>
          </p:cNvSpPr>
          <p:nvPr/>
        </p:nvSpPr>
        <p:spPr>
          <a:xfrm>
            <a:off x="3360084" y="5317191"/>
            <a:ext cx="381000" cy="238125"/>
          </a:xfrm>
          <a:prstGeom prst="rightArrow">
            <a:avLst/>
          </a:prstGeom>
          <a:solidFill>
            <a:srgbClr val="C9C2BC"/>
          </a:solidFill>
          <a:ln w="0">
            <a:solidFill>
              <a:srgbClr val="C9C2BC"/>
            </a:solidFill>
          </a:ln>
        </p:spPr>
      </p:sp>
      <p:sp>
        <p:nvSpPr>
          <p:cNvPr id="70" name="箭號: 向右 69">
            <a:extLst>
              <a:ext uri="{FF2B5EF4-FFF2-40B4-BE49-F238E27FC236}">
                <a16:creationId xmlns:a16="http://schemas.microsoft.com/office/drawing/2014/main" id="{5DB60151-9983-4858-8E70-39A6407B2AB5}"/>
              </a:ext>
            </a:extLst>
          </p:cNvPr>
          <p:cNvSpPr>
            <a:spLocks noGrp="1"/>
          </p:cNvSpPr>
          <p:nvPr/>
        </p:nvSpPr>
        <p:spPr>
          <a:xfrm>
            <a:off x="6008034" y="5317191"/>
            <a:ext cx="381000" cy="238125"/>
          </a:xfrm>
          <a:prstGeom prst="rightArrow">
            <a:avLst/>
          </a:prstGeom>
          <a:solidFill>
            <a:srgbClr val="C9C2BC"/>
          </a:solidFill>
          <a:ln w="0">
            <a:solidFill>
              <a:srgbClr val="C9C2BC"/>
            </a:solidFill>
          </a:ln>
        </p:spPr>
      </p:sp>
      <p:sp>
        <p:nvSpPr>
          <p:cNvPr id="71" name="箭號: 向右 70">
            <a:extLst>
              <a:ext uri="{FF2B5EF4-FFF2-40B4-BE49-F238E27FC236}">
                <a16:creationId xmlns:a16="http://schemas.microsoft.com/office/drawing/2014/main" id="{F3661750-3FAD-4EB7-83D4-70CB212DA70C}"/>
              </a:ext>
            </a:extLst>
          </p:cNvPr>
          <p:cNvSpPr>
            <a:spLocks noGrp="1"/>
          </p:cNvSpPr>
          <p:nvPr/>
        </p:nvSpPr>
        <p:spPr>
          <a:xfrm>
            <a:off x="8655984" y="5317191"/>
            <a:ext cx="381000" cy="238125"/>
          </a:xfrm>
          <a:prstGeom prst="rightArrow">
            <a:avLst/>
          </a:prstGeom>
          <a:solidFill>
            <a:srgbClr val="C9C2BC"/>
          </a:solidFill>
          <a:ln w="0">
            <a:solidFill>
              <a:srgbClr val="C9C2BC"/>
            </a:solidFill>
          </a:ln>
        </p:spPr>
      </p:sp>
    </p:spTree>
    <p:extLst>
      <p:ext uri="{BB962C8B-B14F-4D97-AF65-F5344CB8AC3E}">
        <p14:creationId xmlns:p14="http://schemas.microsoft.com/office/powerpoint/2010/main" val="41190596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sp>
        <p:nvSpPr>
          <p:cNvPr id="3" name="Rectangle 1">
            <a:extLst>
              <a:ext uri="{FF2B5EF4-FFF2-40B4-BE49-F238E27FC236}">
                <a16:creationId xmlns:a16="http://schemas.microsoft.com/office/drawing/2014/main" id="{55F3E0D2-7D66-9AED-4A47-4D96028B9FBD}"/>
              </a:ext>
            </a:extLst>
          </p:cNvPr>
          <p:cNvSpPr>
            <a:spLocks noGrp="1"/>
          </p:cNvSpPr>
          <p:nvPr/>
        </p:nvSpPr>
        <p:spPr>
          <a:xfrm>
            <a:off x="1097279" y="1880274"/>
            <a:ext cx="8264863" cy="1446550"/>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a:t>查看414題的問題:</a:t>
            </a:r>
          </a:p>
          <a:p>
            <a:pPr marL="0" indent="0">
              <a:lnSpc>
                <a:spcPct val="100000"/>
              </a:lnSpc>
              <a:spcBef>
                <a:spcPct val="0"/>
              </a:spcBef>
              <a:spcAft>
                <a:spcPct val="0"/>
              </a:spcAft>
              <a:buClrTx/>
              <a:buSzTx/>
              <a:buFont typeface="Calibri"/>
              <a:buNone/>
            </a:pPr>
            <a:endParaRPr sz="1600" b="1"/>
          </a:p>
          <a:p>
            <a:pPr>
              <a:lnSpc>
                <a:spcPct val="100000"/>
              </a:lnSpc>
              <a:spcBef>
                <a:spcPct val="0"/>
              </a:spcBef>
              <a:spcAft>
                <a:spcPct val="0"/>
              </a:spcAft>
              <a:buClrTx/>
              <a:buSzTx/>
              <a:buNone/>
            </a:pPr>
            <a:r>
              <a:rPr sz="1400"/>
              <a:t>題目編號：WMQ0001</a:t>
            </a:r>
          </a:p>
          <a:p>
            <a:pPr>
              <a:lnSpc>
                <a:spcPct val="100000"/>
              </a:lnSpc>
              <a:spcBef>
                <a:spcPct val="0"/>
              </a:spcBef>
              <a:spcAft>
                <a:spcPct val="0"/>
              </a:spcAft>
              <a:buClrTx/>
              <a:buSzTx/>
              <a:buNone/>
            </a:pPr>
            <a:r>
              <a:rPr sz="1400"/>
              <a:t>健康主題：Abdominal Pain</a:t>
            </a:r>
          </a:p>
          <a:p>
            <a:pPr>
              <a:lnSpc>
                <a:spcPct val="100000"/>
              </a:lnSpc>
              <a:spcBef>
                <a:spcPct val="0"/>
              </a:spcBef>
              <a:spcAft>
                <a:spcPct val="0"/>
              </a:spcAft>
              <a:buClrTx/>
              <a:buSzTx/>
              <a:buNone/>
            </a:pPr>
            <a:r>
              <a:rPr sz="1400"/>
              <a:t>題型：疾病基本認識</a:t>
            </a:r>
          </a:p>
          <a:p>
            <a:pPr>
              <a:lnSpc>
                <a:spcPct val="100000"/>
              </a:lnSpc>
              <a:spcBef>
                <a:spcPct val="0"/>
              </a:spcBef>
              <a:spcAft>
                <a:spcPct val="0"/>
              </a:spcAft>
              <a:buClrTx/>
              <a:buSzTx/>
              <a:buNone/>
            </a:pPr>
            <a:r>
              <a:rPr sz="1400"/>
              <a:t>問題：Please provide a brief overview of Abdominal Pain.</a:t>
            </a:r>
          </a:p>
        </p:txBody>
      </p:sp>
      <p:pic>
        <p:nvPicPr>
          <p:cNvPr id="8" name="圖片 5"/>
          <p:cNvPicPr>
            <a:picLocks noChangeAspect="1"/>
          </p:cNvPicPr>
          <p:nvPr/>
        </p:nvPicPr>
        <p:blipFill>
          <a:blip r:embed="rId3"/>
          <a:stretch>
            <a:fillRect/>
          </a:stretch>
        </p:blipFill>
        <p:spPr>
          <a:xfrm>
            <a:off x="2666694" y="3734385"/>
            <a:ext cx="6858612" cy="775532"/>
          </a:xfrm>
          <a:prstGeom prst="rect">
            <a:avLst/>
          </a:prstGeom>
        </p:spPr>
      </p:pic>
      <p:pic>
        <p:nvPicPr>
          <p:cNvPr id="9" name="圖片 7"/>
          <p:cNvPicPr>
            <a:picLocks noChangeAspect="1"/>
          </p:cNvPicPr>
          <p:nvPr/>
        </p:nvPicPr>
        <p:blipFill>
          <a:blip r:embed="rId4"/>
          <a:stretch>
            <a:fillRect/>
          </a:stretch>
        </p:blipFill>
        <p:spPr>
          <a:xfrm>
            <a:off x="2666694" y="4917478"/>
            <a:ext cx="6858612" cy="961696"/>
          </a:xfrm>
          <a:prstGeom prst="rect">
            <a:avLst/>
          </a:prstGeom>
        </p:spPr>
      </p:pic>
    </p:spTree>
    <p:extLst>
      <p:ext uri="{BB962C8B-B14F-4D97-AF65-F5344CB8AC3E}">
        <p14:creationId xmlns:p14="http://schemas.microsoft.com/office/powerpoint/2010/main" val="397384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pic>
        <p:nvPicPr>
          <p:cNvPr id="31" name="圖片 15"/>
          <p:cNvPicPr>
            <a:picLocks noChangeAspect="1"/>
          </p:cNvPicPr>
          <p:nvPr/>
        </p:nvPicPr>
        <p:blipFill>
          <a:blip r:embed="rId3"/>
          <a:stretch>
            <a:fillRect/>
          </a:stretch>
        </p:blipFill>
        <p:spPr>
          <a:xfrm>
            <a:off x="1165710" y="4983177"/>
            <a:ext cx="3248570" cy="1299428"/>
          </a:xfrm>
          <a:prstGeom prst="rect">
            <a:avLst/>
          </a:prstGeom>
        </p:spPr>
      </p:pic>
      <p:pic>
        <p:nvPicPr>
          <p:cNvPr id="32" name="圖片 17"/>
          <p:cNvPicPr>
            <a:picLocks noChangeAspect="1"/>
          </p:cNvPicPr>
          <p:nvPr/>
        </p:nvPicPr>
        <p:blipFill>
          <a:blip r:embed="rId4"/>
          <a:stretch>
            <a:fillRect/>
          </a:stretch>
        </p:blipFill>
        <p:spPr>
          <a:xfrm>
            <a:off x="5804845" y="4983177"/>
            <a:ext cx="5374143" cy="1155441"/>
          </a:xfrm>
          <a:prstGeom prst="rect">
            <a:avLst/>
          </a:prstGeom>
        </p:spPr>
      </p:pic>
      <p:graphicFrame>
        <p:nvGraphicFramePr>
          <p:cNvPr id="33" name="表格 19"/>
          <p:cNvGraphicFramePr/>
          <p:nvPr/>
        </p:nvGraphicFramePr>
        <p:xfrm>
          <a:off x="1089361" y="1918543"/>
          <a:ext cx="10013278" cy="2661920"/>
        </p:xfrm>
        <a:graphic>
          <a:graphicData uri="http://schemas.openxmlformats.org/drawingml/2006/table">
            <a:tbl>
              <a:tblPr firstRow="1" bandRow="1">
                <a:tableStyleId>{5940675A-B579-460E-94D1-54222C63F5DA}</a:tableStyleId>
              </a:tblPr>
              <a:tblGrid>
                <a:gridCol w="1200972">
                  <a:extLst>
                    <a:ext uri="{9D8B030D-6E8A-4147-A177-3AD203B41FA5}">
                      <a16:colId xmlns:a16="http://schemas.microsoft.com/office/drawing/2014/main" val="20000"/>
                    </a:ext>
                  </a:extLst>
                </a:gridCol>
                <a:gridCol w="4217694">
                  <a:extLst>
                    <a:ext uri="{9D8B030D-6E8A-4147-A177-3AD203B41FA5}">
                      <a16:colId xmlns:a16="http://schemas.microsoft.com/office/drawing/2014/main" val="20001"/>
                    </a:ext>
                  </a:extLst>
                </a:gridCol>
                <a:gridCol w="4594612">
                  <a:extLst>
                    <a:ext uri="{9D8B030D-6E8A-4147-A177-3AD203B41FA5}">
                      <a16:colId xmlns:a16="http://schemas.microsoft.com/office/drawing/2014/main" val="20002"/>
                    </a:ext>
                  </a:extLst>
                </a:gridCol>
              </a:tblGrid>
              <a:tr h="370840">
                <a:tc>
                  <a:txBody>
                    <a:bodyPr/>
                    <a:lstStyle/>
                    <a:p>
                      <a:r>
                        <a:t>比較項目</a:t>
                      </a:r>
                    </a:p>
                  </a:txBody>
                  <a:tcPr/>
                </a:tc>
                <a:tc>
                  <a:txBody>
                    <a:bodyPr/>
                    <a:lstStyle/>
                    <a:p>
                      <a:r>
                        <a:t>A組純LLM</a:t>
                      </a:r>
                    </a:p>
                  </a:txBody>
                  <a:tcPr/>
                </a:tc>
                <a:tc>
                  <a:txBody>
                    <a:bodyPr/>
                    <a:lstStyle/>
                    <a:p>
                      <a:r>
                        <a:t>B組檢索增強</a:t>
                      </a:r>
                    </a:p>
                  </a:txBody>
                  <a:tcPr/>
                </a:tc>
                <a:extLst>
                  <a:ext uri="{0D108BD9-81ED-4DB2-BD59-A6C34878D82A}">
                    <a16:rowId xmlns:a16="http://schemas.microsoft.com/office/drawing/2014/main" val="10000"/>
                  </a:ext>
                </a:extLst>
              </a:tr>
              <a:tr h="370840">
                <a:tc>
                  <a:txBody>
                    <a:bodyPr/>
                    <a:lstStyle/>
                    <a:p>
                      <a:r>
                        <a:t>腹痛定義</a:t>
                      </a:r>
                    </a:p>
                  </a:txBody>
                  <a:tcPr/>
                </a:tc>
                <a:tc>
                  <a:txBody>
                    <a:bodyPr/>
                    <a:lstStyle/>
                    <a:p>
                      <a:r>
                        <a:t>簡單說是腹部的不適或疼痛</a:t>
                      </a:r>
                    </a:p>
                  </a:txBody>
                  <a:tcPr/>
                </a:tc>
                <a:tc>
                  <a:txBody>
                    <a:bodyPr/>
                    <a:lstStyle/>
                    <a:p>
                      <a:r>
                        <a:t>更明確說明腹部範圍從胸部下方延伸至腹股溝，並包含多個器官</a:t>
                      </a:r>
                    </a:p>
                  </a:txBody>
                  <a:tcPr/>
                </a:tc>
                <a:extLst>
                  <a:ext uri="{0D108BD9-81ED-4DB2-BD59-A6C34878D82A}">
                    <a16:rowId xmlns:a16="http://schemas.microsoft.com/office/drawing/2014/main" val="10001"/>
                  </a:ext>
                </a:extLst>
              </a:tr>
              <a:tr h="370840">
                <a:tc>
                  <a:txBody>
                    <a:bodyPr/>
                    <a:lstStyle/>
                    <a:p>
                      <a:r>
                        <a:t>主要內容</a:t>
                      </a:r>
                    </a:p>
                  </a:txBody>
                  <a:tcPr/>
                </a:tc>
                <a:tc>
                  <a:txBody>
                    <a:bodyPr/>
                    <a:lstStyle/>
                    <a:p>
                      <a:r>
                        <a:t>列出消化不良、便祕、闌尾炎、膽結石等許多可能原因</a:t>
                      </a:r>
                    </a:p>
                  </a:txBody>
                  <a:tcPr/>
                </a:tc>
                <a:tc>
                  <a:txBody>
                    <a:bodyPr/>
                    <a:lstStyle/>
                    <a:p>
                      <a:r>
                        <a:t>說明疼痛程度不一定代表疾病嚴重程度</a:t>
                      </a:r>
                    </a:p>
                  </a:txBody>
                  <a:tcPr/>
                </a:tc>
                <a:extLst>
                  <a:ext uri="{0D108BD9-81ED-4DB2-BD59-A6C34878D82A}">
                    <a16:rowId xmlns:a16="http://schemas.microsoft.com/office/drawing/2014/main" val="10002"/>
                  </a:ext>
                </a:extLst>
              </a:tr>
              <a:tr h="370840">
                <a:tc>
                  <a:txBody>
                    <a:bodyPr/>
                    <a:lstStyle/>
                    <a:p>
                      <a:r>
                        <a:t>回答特性</a:t>
                      </a:r>
                    </a:p>
                  </a:txBody>
                  <a:tcPr/>
                </a:tc>
                <a:tc>
                  <a:txBody>
                    <a:bodyPr/>
                    <a:lstStyle/>
                    <a:p>
                      <a:r>
                        <a:t>內容範圍較廣，但部分資訊超出本題指定證據</a:t>
                      </a:r>
                    </a:p>
                  </a:txBody>
                  <a:tcPr/>
                </a:tc>
                <a:tc>
                  <a:txBody>
                    <a:bodyPr/>
                    <a:lstStyle/>
                    <a:p>
                      <a:r>
                        <a:t>內容較集中，與MedlinePlus證據的對應較明確</a:t>
                      </a:r>
                    </a:p>
                  </a:txBody>
                  <a:tcPr/>
                </a:tc>
                <a:extLst>
                  <a:ext uri="{0D108BD9-81ED-4DB2-BD59-A6C34878D82A}">
                    <a16:rowId xmlns:a16="http://schemas.microsoft.com/office/drawing/2014/main" val="10003"/>
                  </a:ext>
                </a:extLst>
              </a:tr>
              <a:tr h="370840">
                <a:tc>
                  <a:txBody>
                    <a:bodyPr/>
                    <a:lstStyle/>
                    <a:p>
                      <a:r>
                        <a:t>資料來源</a:t>
                      </a:r>
                    </a:p>
                  </a:txBody>
                  <a:tcPr/>
                </a:tc>
                <a:tc>
                  <a:txBody>
                    <a:bodyPr/>
                    <a:lstStyle/>
                    <a:p>
                      <a:r>
                        <a:t>沒有顯示</a:t>
                      </a:r>
                    </a:p>
                  </a:txBody>
                  <a:tcPr/>
                </a:tc>
                <a:tc>
                  <a:txBody>
                    <a:bodyPr/>
                    <a:lstStyle/>
                    <a:p>
                      <a:r>
                        <a:t>有MedlinePlus網址與SNOMED CT Concept ID</a:t>
                      </a:r>
                    </a:p>
                  </a:txBody>
                  <a:tcPr/>
                </a:tc>
                <a:extLst>
                  <a:ext uri="{0D108BD9-81ED-4DB2-BD59-A6C34878D82A}">
                    <a16:rowId xmlns:a16="http://schemas.microsoft.com/office/drawing/2014/main" val="10004"/>
                  </a:ext>
                </a:extLst>
              </a:tr>
            </a:tbl>
          </a:graphicData>
        </a:graphic>
      </p:graphicFrame>
      <p:cxnSp>
        <p:nvCxnSpPr>
          <p:cNvPr id="34" name="直線單箭頭接點 20"/>
          <p:cNvCxnSpPr/>
          <p:nvPr/>
        </p:nvCxnSpPr>
        <p:spPr>
          <a:xfrm flipH="1">
            <a:off x="2922494" y="4611264"/>
            <a:ext cx="304801" cy="256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單箭頭接點 25"/>
          <p:cNvCxnSpPr/>
          <p:nvPr/>
        </p:nvCxnSpPr>
        <p:spPr>
          <a:xfrm>
            <a:off x="8133328" y="4738170"/>
            <a:ext cx="358588" cy="2593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08073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graphicFrame>
        <p:nvGraphicFramePr>
          <p:cNvPr id="5" name="表格 5"/>
          <p:cNvGraphicFramePr/>
          <p:nvPr/>
        </p:nvGraphicFramePr>
        <p:xfrm>
          <a:off x="1128059" y="2179171"/>
          <a:ext cx="9935882" cy="21234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411506">
                  <a:extLst>
                    <a:ext uri="{9D8B030D-6E8A-4147-A177-3AD203B41FA5}">
                      <a16:colId xmlns:a16="http://schemas.microsoft.com/office/drawing/2014/main" val="20002"/>
                    </a:ext>
                  </a:extLst>
                </a:gridCol>
                <a:gridCol w="3460376">
                  <a:extLst>
                    <a:ext uri="{9D8B030D-6E8A-4147-A177-3AD203B41FA5}">
                      <a16:colId xmlns:a16="http://schemas.microsoft.com/office/drawing/2014/main" val="20003"/>
                    </a:ext>
                  </a:extLst>
                </a:gridCol>
              </a:tblGrid>
              <a:tr h="370840">
                <a:tc>
                  <a:txBody>
                    <a:bodyPr/>
                    <a:lstStyle/>
                    <a:p>
                      <a:r>
                        <a:t>評估指標</a:t>
                      </a:r>
                    </a:p>
                  </a:txBody>
                  <a:tcPr/>
                </a:tc>
                <a:tc>
                  <a:txBody>
                    <a:bodyPr/>
                    <a:lstStyle/>
                    <a:p>
                      <a:r>
                        <a:t>A：純LLM</a:t>
                      </a:r>
                    </a:p>
                  </a:txBody>
                  <a:tcPr/>
                </a:tc>
                <a:tc>
                  <a:txBody>
                    <a:bodyPr/>
                    <a:lstStyle/>
                    <a:p>
                      <a:r>
                        <a:t>B：LLM＋SNOMED CT＋MedlinePlus</a:t>
                      </a:r>
                    </a:p>
                  </a:txBody>
                  <a:tcPr/>
                </a:tc>
                <a:tc>
                  <a:txBody>
                    <a:bodyPr/>
                    <a:lstStyle/>
                    <a:p>
                      <a:r>
                        <a:t>差異</a:t>
                      </a:r>
                    </a:p>
                  </a:txBody>
                  <a:tcPr/>
                </a:tc>
                <a:extLst>
                  <a:ext uri="{0D108BD9-81ED-4DB2-BD59-A6C34878D82A}">
                    <a16:rowId xmlns:a16="http://schemas.microsoft.com/office/drawing/2014/main" val="10000"/>
                  </a:ext>
                </a:extLst>
              </a:tr>
              <a:tr h="370840">
                <a:tc>
                  <a:txBody>
                    <a:bodyPr/>
                    <a:lstStyle/>
                    <a:p>
                      <a:r>
                        <a:t>重要事實涵蓋率</a:t>
                      </a:r>
                    </a:p>
                  </a:txBody>
                  <a:tcPr/>
                </a:tc>
                <a:tc>
                  <a:txBody>
                    <a:bodyPr/>
                    <a:lstStyle/>
                    <a:p>
                      <a:r>
                        <a:t>57.09%</a:t>
                      </a:r>
                    </a:p>
                  </a:txBody>
                  <a:tcPr/>
                </a:tc>
                <a:tc>
                  <a:txBody>
                    <a:bodyPr/>
                    <a:lstStyle/>
                    <a:p>
                      <a:r>
                        <a:t>74.28%</a:t>
                      </a:r>
                    </a:p>
                  </a:txBody>
                  <a:tcPr/>
                </a:tc>
                <a:tc>
                  <a:txBody>
                    <a:bodyPr/>
                    <a:lstStyle/>
                    <a:p>
                      <a:r>
                        <a:t>B增加17.19%</a:t>
                      </a:r>
                    </a:p>
                  </a:txBody>
                  <a:tcPr/>
                </a:tc>
                <a:extLst>
                  <a:ext uri="{0D108BD9-81ED-4DB2-BD59-A6C34878D82A}">
                    <a16:rowId xmlns:a16="http://schemas.microsoft.com/office/drawing/2014/main" val="10001"/>
                  </a:ext>
                </a:extLst>
              </a:tr>
              <a:tr h="370840">
                <a:tc>
                  <a:txBody>
                    <a:bodyPr/>
                    <a:lstStyle/>
                    <a:p>
                      <a:r>
                        <a:t>證據支持比例</a:t>
                      </a:r>
                    </a:p>
                  </a:txBody>
                  <a:tcPr/>
                </a:tc>
                <a:tc>
                  <a:txBody>
                    <a:bodyPr/>
                    <a:lstStyle/>
                    <a:p>
                      <a:r>
                        <a:t>50.37%</a:t>
                      </a:r>
                    </a:p>
                  </a:txBody>
                  <a:tcPr/>
                </a:tc>
                <a:tc>
                  <a:txBody>
                    <a:bodyPr/>
                    <a:lstStyle/>
                    <a:p>
                      <a:r>
                        <a:t>99.51%</a:t>
                      </a:r>
                    </a:p>
                  </a:txBody>
                  <a:tcPr/>
                </a:tc>
                <a:tc>
                  <a:txBody>
                    <a:bodyPr/>
                    <a:lstStyle/>
                    <a:p>
                      <a:r>
                        <a:t>B增加49.14%</a:t>
                      </a:r>
                    </a:p>
                  </a:txBody>
                  <a:tcPr/>
                </a:tc>
                <a:extLst>
                  <a:ext uri="{0D108BD9-81ED-4DB2-BD59-A6C34878D82A}">
                    <a16:rowId xmlns:a16="http://schemas.microsoft.com/office/drawing/2014/main" val="10002"/>
                  </a:ext>
                </a:extLst>
              </a:tr>
              <a:tr h="370840">
                <a:tc>
                  <a:txBody>
                    <a:bodyPr/>
                    <a:lstStyle/>
                    <a:p>
                      <a:r>
                        <a:t>無證據支持比例</a:t>
                      </a:r>
                    </a:p>
                  </a:txBody>
                  <a:tcPr/>
                </a:tc>
                <a:tc>
                  <a:txBody>
                    <a:bodyPr/>
                    <a:lstStyle/>
                    <a:p>
                      <a:r>
                        <a:t>49.63%</a:t>
                      </a:r>
                    </a:p>
                  </a:txBody>
                  <a:tcPr/>
                </a:tc>
                <a:tc>
                  <a:txBody>
                    <a:bodyPr/>
                    <a:lstStyle/>
                    <a:p>
                      <a:r>
                        <a:t>0.49%</a:t>
                      </a:r>
                    </a:p>
                  </a:txBody>
                  <a:tcPr/>
                </a:tc>
                <a:tc>
                  <a:txBody>
                    <a:bodyPr/>
                    <a:lstStyle/>
                    <a:p>
                      <a:r>
                        <a:t>B降低49.14%</a:t>
                      </a:r>
                    </a:p>
                  </a:txBody>
                  <a:tcPr/>
                </a:tc>
                <a:extLst>
                  <a:ext uri="{0D108BD9-81ED-4DB2-BD59-A6C34878D82A}">
                    <a16:rowId xmlns:a16="http://schemas.microsoft.com/office/drawing/2014/main" val="10003"/>
                  </a:ext>
                </a:extLst>
              </a:tr>
              <a:tr h="370840">
                <a:tc>
                  <a:txBody>
                    <a:bodyPr/>
                    <a:lstStyle/>
                    <a:p>
                      <a:r>
                        <a:t>正確來源呈現率</a:t>
                      </a:r>
                    </a:p>
                  </a:txBody>
                  <a:tcPr/>
                </a:tc>
                <a:tc>
                  <a:txBody>
                    <a:bodyPr/>
                    <a:lstStyle/>
                    <a:p>
                      <a:r>
                        <a:t>0%</a:t>
                      </a:r>
                    </a:p>
                  </a:txBody>
                  <a:tcPr/>
                </a:tc>
                <a:tc>
                  <a:txBody>
                    <a:bodyPr/>
                    <a:lstStyle/>
                    <a:p>
                      <a:r>
                        <a:t>100%</a:t>
                      </a:r>
                    </a:p>
                  </a:txBody>
                  <a:tcPr/>
                </a:tc>
                <a:tc>
                  <a:txBody>
                    <a:bodyPr/>
                    <a:lstStyle/>
                    <a:p>
                      <a:r>
                        <a:t>B具備完整來源追溯</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671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13026"/>
            <a:ext cx="6092415" cy="338554"/>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不同題型的事實涵蓋率:</a:t>
            </a:r>
            <a:endParaRPr sz="1400"/>
          </a:p>
        </p:txBody>
      </p:sp>
      <p:graphicFrame>
        <p:nvGraphicFramePr>
          <p:cNvPr id="10" name="表格 5"/>
          <p:cNvGraphicFramePr/>
          <p:nvPr/>
        </p:nvGraphicFramePr>
        <p:xfrm>
          <a:off x="2032000" y="2687320"/>
          <a:ext cx="8128000" cy="148336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r>
                        <a:t>題型</a:t>
                      </a:r>
                    </a:p>
                  </a:txBody>
                  <a:tcPr/>
                </a:tc>
                <a:tc>
                  <a:txBody>
                    <a:bodyPr/>
                    <a:lstStyle/>
                    <a:p>
                      <a:r>
                        <a:t>A組</a:t>
                      </a:r>
                    </a:p>
                  </a:txBody>
                  <a:tcPr/>
                </a:tc>
                <a:tc>
                  <a:txBody>
                    <a:bodyPr/>
                    <a:lstStyle/>
                    <a:p>
                      <a:r>
                        <a:t>B組</a:t>
                      </a:r>
                    </a:p>
                  </a:txBody>
                  <a:tcPr/>
                </a:tc>
                <a:tc>
                  <a:txBody>
                    <a:bodyPr/>
                    <a:lstStyle/>
                    <a:p>
                      <a:r>
                        <a:t>B組增加</a:t>
                      </a:r>
                    </a:p>
                  </a:txBody>
                  <a:tcPr/>
                </a:tc>
                <a:extLst>
                  <a:ext uri="{0D108BD9-81ED-4DB2-BD59-A6C34878D82A}">
                    <a16:rowId xmlns:a16="http://schemas.microsoft.com/office/drawing/2014/main" val="10000"/>
                  </a:ext>
                </a:extLst>
              </a:tr>
              <a:tr h="370840">
                <a:tc>
                  <a:txBody>
                    <a:bodyPr/>
                    <a:lstStyle/>
                    <a:p>
                      <a:r>
                        <a:t>疾病基本認識</a:t>
                      </a:r>
                    </a:p>
                  </a:txBody>
                  <a:tcPr/>
                </a:tc>
                <a:tc>
                  <a:txBody>
                    <a:bodyPr/>
                    <a:lstStyle/>
                    <a:p>
                      <a:r>
                        <a:t>59.90%</a:t>
                      </a:r>
                    </a:p>
                  </a:txBody>
                  <a:tcPr/>
                </a:tc>
                <a:tc>
                  <a:txBody>
                    <a:bodyPr/>
                    <a:lstStyle/>
                    <a:p>
                      <a:r>
                        <a:t>90.46%</a:t>
                      </a:r>
                    </a:p>
                  </a:txBody>
                  <a:tcPr/>
                </a:tc>
                <a:tc>
                  <a:txBody>
                    <a:bodyPr/>
                    <a:lstStyle/>
                    <a:p>
                      <a:r>
                        <a:t>30.56%</a:t>
                      </a:r>
                    </a:p>
                  </a:txBody>
                  <a:tcPr/>
                </a:tc>
                <a:extLst>
                  <a:ext uri="{0D108BD9-81ED-4DB2-BD59-A6C34878D82A}">
                    <a16:rowId xmlns:a16="http://schemas.microsoft.com/office/drawing/2014/main" val="10001"/>
                  </a:ext>
                </a:extLst>
              </a:tr>
              <a:tr h="370840">
                <a:tc>
                  <a:txBody>
                    <a:bodyPr/>
                    <a:lstStyle/>
                    <a:p>
                      <a:r>
                        <a:t>症狀辨識</a:t>
                      </a:r>
                    </a:p>
                  </a:txBody>
                  <a:tcPr/>
                </a:tc>
                <a:tc>
                  <a:txBody>
                    <a:bodyPr/>
                    <a:lstStyle/>
                    <a:p>
                      <a:r>
                        <a:t>49.40%</a:t>
                      </a:r>
                    </a:p>
                  </a:txBody>
                  <a:tcPr/>
                </a:tc>
                <a:tc>
                  <a:txBody>
                    <a:bodyPr/>
                    <a:lstStyle/>
                    <a:p>
                      <a:r>
                        <a:t>60.87%</a:t>
                      </a:r>
                    </a:p>
                  </a:txBody>
                  <a:tcPr/>
                </a:tc>
                <a:tc>
                  <a:txBody>
                    <a:bodyPr/>
                    <a:lstStyle/>
                    <a:p>
                      <a:r>
                        <a:t>11.47%</a:t>
                      </a:r>
                    </a:p>
                  </a:txBody>
                  <a:tcPr/>
                </a:tc>
                <a:extLst>
                  <a:ext uri="{0D108BD9-81ED-4DB2-BD59-A6C34878D82A}">
                    <a16:rowId xmlns:a16="http://schemas.microsoft.com/office/drawing/2014/main" val="10002"/>
                  </a:ext>
                </a:extLst>
              </a:tr>
              <a:tr h="370840">
                <a:tc>
                  <a:txBody>
                    <a:bodyPr/>
                    <a:lstStyle/>
                    <a:p>
                      <a:r>
                        <a:t>治療與管理</a:t>
                      </a:r>
                    </a:p>
                  </a:txBody>
                  <a:tcPr/>
                </a:tc>
                <a:tc>
                  <a:txBody>
                    <a:bodyPr/>
                    <a:lstStyle/>
                    <a:p>
                      <a:r>
                        <a:t>61.96%</a:t>
                      </a:r>
                    </a:p>
                  </a:txBody>
                  <a:tcPr/>
                </a:tc>
                <a:tc>
                  <a:txBody>
                    <a:bodyPr/>
                    <a:lstStyle/>
                    <a:p>
                      <a:r>
                        <a:t>71.50%</a:t>
                      </a:r>
                    </a:p>
                  </a:txBody>
                  <a:tcPr/>
                </a:tc>
                <a:tc>
                  <a:txBody>
                    <a:bodyPr/>
                    <a:lstStyle/>
                    <a:p>
                      <a:r>
                        <a:t>9.54%</a:t>
                      </a:r>
                    </a:p>
                  </a:txBody>
                  <a:tcPr/>
                </a:tc>
                <a:extLst>
                  <a:ext uri="{0D108BD9-81ED-4DB2-BD59-A6C34878D82A}">
                    <a16:rowId xmlns:a16="http://schemas.microsoft.com/office/drawing/2014/main" val="10003"/>
                  </a:ext>
                </a:extLst>
              </a:tr>
            </a:tbl>
          </a:graphicData>
        </a:graphic>
      </p:graphicFrame>
      <p:sp>
        <p:nvSpPr>
          <p:cNvPr id="6" name="Rectangle 1">
            <a:extLst>
              <a:ext uri="{FF2B5EF4-FFF2-40B4-BE49-F238E27FC236}">
                <a16:creationId xmlns:a16="http://schemas.microsoft.com/office/drawing/2014/main" id="{5273E895-E7CC-C9BE-CD40-1346C80E0579}"/>
              </a:ext>
            </a:extLst>
          </p:cNvPr>
          <p:cNvSpPr>
            <a:spLocks noGrp="1"/>
          </p:cNvSpPr>
          <p:nvPr/>
        </p:nvSpPr>
        <p:spPr>
          <a:xfrm>
            <a:off x="2032000" y="4606420"/>
            <a:ext cx="8128000" cy="1169551"/>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400" b="1"/>
              <a:t>B組在三種題型皆提高涵蓋率，其中「疾病基本認識」改善最明顯；症狀與治療題雖然也改善，但仍有進一步提升空間。</a:t>
            </a:r>
          </a:p>
          <a:p>
            <a:pPr marL="0" indent="0">
              <a:lnSpc>
                <a:spcPct val="100000"/>
              </a:lnSpc>
              <a:spcBef>
                <a:spcPct val="0"/>
              </a:spcBef>
              <a:spcAft>
                <a:spcPct val="0"/>
              </a:spcAft>
              <a:buClrTx/>
              <a:buSzTx/>
              <a:buFont typeface="Calibri"/>
              <a:buNone/>
            </a:pPr>
            <a:endParaRPr sz="1400" b="1"/>
          </a:p>
          <a:p>
            <a:pPr marL="0" indent="0">
              <a:lnSpc>
                <a:spcPct val="100000"/>
              </a:lnSpc>
              <a:spcBef>
                <a:spcPct val="0"/>
              </a:spcBef>
              <a:spcAft>
                <a:spcPct val="0"/>
              </a:spcAft>
              <a:buClrTx/>
              <a:buSzTx/>
              <a:buFont typeface="Calibri"/>
              <a:buNone/>
            </a:pPr>
            <a:r>
              <a:rPr sz="1400" b="1"/>
              <a:t>在題目主題已知且能正確取得MedlinePlus摘要的情況下，加入SNOMED CT概念連結與MedlinePlus證據，可明顯提高回答的事實完整性、來源支持程度與來源可追溯性。</a:t>
            </a:r>
          </a:p>
        </p:txBody>
      </p:sp>
    </p:spTree>
    <p:extLst>
      <p:ext uri="{BB962C8B-B14F-4D97-AF65-F5344CB8AC3E}">
        <p14:creationId xmlns:p14="http://schemas.microsoft.com/office/powerpoint/2010/main" val="2857355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實驗-中醫</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880460"/>
            <a:ext cx="9750015" cy="830997"/>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a:t>研究問題:</a:t>
            </a:r>
          </a:p>
          <a:p>
            <a:pPr marL="0" marR="0" lvl="0" indent="0" algn="l" defTabSz="914400">
              <a:lnSpc>
                <a:spcPct val="100000"/>
              </a:lnSpc>
              <a:spcBef>
                <a:spcPct val="0"/>
              </a:spcBef>
              <a:spcAft>
                <a:spcPct val="0"/>
              </a:spcAft>
              <a:buClrTx/>
              <a:buSzTx/>
              <a:buNone/>
            </a:pPr>
            <a:r>
              <a:rPr sz="1600"/>
              <a:t>在使用同一個生成模型的情況下，加入「相似中醫病例」作為參考，是否能讓模型更準確地判斷臨床資訊、病機與證型？</a:t>
            </a:r>
          </a:p>
        </p:txBody>
      </p:sp>
      <p:sp>
        <p:nvSpPr>
          <p:cNvPr id="4" name="Rectangle 1">
            <a:extLst>
              <a:ext uri="{FF2B5EF4-FFF2-40B4-BE49-F238E27FC236}">
                <a16:creationId xmlns:a16="http://schemas.microsoft.com/office/drawing/2014/main" id="{CBBF5D7D-8F83-7BFF-A2F1-0D4C3C643D33}"/>
              </a:ext>
            </a:extLst>
          </p:cNvPr>
          <p:cNvSpPr>
            <a:spLocks noGrp="1"/>
          </p:cNvSpPr>
          <p:nvPr/>
        </p:nvSpPr>
        <p:spPr>
          <a:xfrm>
            <a:off x="1097278" y="2833421"/>
            <a:ext cx="9750015" cy="1569660"/>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a:t>比較兩組：</a:t>
            </a:r>
          </a:p>
          <a:p>
            <a:pPr marL="0" indent="0">
              <a:lnSpc>
                <a:spcPct val="100000"/>
              </a:lnSpc>
              <a:spcBef>
                <a:spcPct val="0"/>
              </a:spcBef>
              <a:spcAft>
                <a:spcPct val="0"/>
              </a:spcAft>
              <a:buClrTx/>
              <a:buSzTx/>
              <a:buFont typeface="Calibri"/>
              <a:buNone/>
            </a:pPr>
            <a:r>
              <a:rPr sz="1600"/>
              <a:t>A組：只使用 Qwen3.5:9b 回答。</a:t>
            </a:r>
          </a:p>
          <a:p>
            <a:pPr marL="0" indent="0">
              <a:lnSpc>
                <a:spcPct val="100000"/>
              </a:lnSpc>
              <a:spcBef>
                <a:spcPct val="0"/>
              </a:spcBef>
              <a:spcAft>
                <a:spcPct val="0"/>
              </a:spcAft>
              <a:buClrTx/>
              <a:buSzTx/>
              <a:buFont typeface="Calibri"/>
              <a:buNone/>
            </a:pPr>
            <a:r>
              <a:rPr sz="1600"/>
              <a:t>B組：先用 BGE-M3 找出3筆相似訓練病例，再交給相同的 Qwen3.5:9b 回答。</a:t>
            </a:r>
          </a:p>
          <a:p>
            <a:pPr marL="0" indent="0">
              <a:lnSpc>
                <a:spcPct val="100000"/>
              </a:lnSpc>
              <a:spcBef>
                <a:spcPct val="0"/>
              </a:spcBef>
              <a:spcAft>
                <a:spcPct val="0"/>
              </a:spcAft>
              <a:buClrTx/>
              <a:buSzTx/>
              <a:buFont typeface="Calibri"/>
              <a:buNone/>
            </a:pPr>
            <a:endParaRPr sz="1600"/>
          </a:p>
          <a:p>
            <a:pPr marL="0" indent="0">
              <a:lnSpc>
                <a:spcPct val="100000"/>
              </a:lnSpc>
              <a:spcBef>
                <a:spcPct val="0"/>
              </a:spcBef>
              <a:spcAft>
                <a:spcPct val="0"/>
              </a:spcAft>
              <a:buClrTx/>
              <a:buSzTx/>
              <a:buFont typeface="Calibri"/>
              <a:buNone/>
            </a:pPr>
            <a:endParaRPr sz="1600"/>
          </a:p>
          <a:p>
            <a:pPr marL="0" indent="0">
              <a:lnSpc>
                <a:spcPct val="100000"/>
              </a:lnSpc>
              <a:spcBef>
                <a:spcPct val="0"/>
              </a:spcBef>
              <a:spcAft>
                <a:spcPct val="0"/>
              </a:spcAft>
              <a:buClrTx/>
              <a:buSzTx/>
              <a:buFont typeface="Calibri"/>
              <a:buNone/>
            </a:pPr>
            <a:r>
              <a:rPr sz="1600"/>
              <a:t>因此，實驗重點是比較「有無檢索病例」的差異</a:t>
            </a:r>
          </a:p>
        </p:txBody>
      </p:sp>
    </p:spTree>
    <p:extLst>
      <p:ext uri="{BB962C8B-B14F-4D97-AF65-F5344CB8AC3E}">
        <p14:creationId xmlns:p14="http://schemas.microsoft.com/office/powerpoint/2010/main" val="418382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65316"/>
            <a:ext cx="9750015" cy="338554"/>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a:t>TCMEval-SDT 中醫辨證資料:</a:t>
            </a:r>
          </a:p>
        </p:txBody>
      </p:sp>
      <p:graphicFrame>
        <p:nvGraphicFramePr>
          <p:cNvPr id="10" name="表格 4"/>
          <p:cNvGraphicFramePr/>
          <p:nvPr/>
        </p:nvGraphicFramePr>
        <p:xfrm>
          <a:off x="1486648" y="2467784"/>
          <a:ext cx="9218705" cy="148336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3800039">
                  <a:extLst>
                    <a:ext uri="{9D8B030D-6E8A-4147-A177-3AD203B41FA5}">
                      <a16:colId xmlns:a16="http://schemas.microsoft.com/office/drawing/2014/main" val="20002"/>
                    </a:ext>
                  </a:extLst>
                </a:gridCol>
              </a:tblGrid>
              <a:tr h="370840">
                <a:tc>
                  <a:txBody>
                    <a:bodyPr/>
                    <a:lstStyle/>
                    <a:p>
                      <a:r>
                        <a:t>資料</a:t>
                      </a:r>
                    </a:p>
                  </a:txBody>
                  <a:tcPr/>
                </a:tc>
                <a:tc>
                  <a:txBody>
                    <a:bodyPr/>
                    <a:lstStyle/>
                    <a:p>
                      <a:r>
                        <a:t>數量</a:t>
                      </a:r>
                    </a:p>
                  </a:txBody>
                  <a:tcPr/>
                </a:tc>
                <a:tc>
                  <a:txBody>
                    <a:bodyPr/>
                    <a:lstStyle/>
                    <a:p>
                      <a:r>
                        <a:t>用途</a:t>
                      </a:r>
                    </a:p>
                  </a:txBody>
                  <a:tcPr/>
                </a:tc>
                <a:extLst>
                  <a:ext uri="{0D108BD9-81ED-4DB2-BD59-A6C34878D82A}">
                    <a16:rowId xmlns:a16="http://schemas.microsoft.com/office/drawing/2014/main" val="10000"/>
                  </a:ext>
                </a:extLst>
              </a:tr>
              <a:tr h="370840">
                <a:tc>
                  <a:txBody>
                    <a:bodyPr/>
                    <a:lstStyle/>
                    <a:p>
                      <a:r>
                        <a:t>訓練集</a:t>
                      </a:r>
                    </a:p>
                  </a:txBody>
                  <a:tcPr/>
                </a:tc>
                <a:tc>
                  <a:txBody>
                    <a:bodyPr/>
                    <a:lstStyle/>
                    <a:p>
                      <a:r>
                        <a:t>200筆</a:t>
                      </a:r>
                    </a:p>
                  </a:txBody>
                  <a:tcPr/>
                </a:tc>
                <a:tc>
                  <a:txBody>
                    <a:bodyPr/>
                    <a:lstStyle/>
                    <a:p>
                      <a:r>
                        <a:t>建立相似病例檢索庫</a:t>
                      </a:r>
                    </a:p>
                  </a:txBody>
                  <a:tcPr/>
                </a:tc>
                <a:extLst>
                  <a:ext uri="{0D108BD9-81ED-4DB2-BD59-A6C34878D82A}">
                    <a16:rowId xmlns:a16="http://schemas.microsoft.com/office/drawing/2014/main" val="10001"/>
                  </a:ext>
                </a:extLst>
              </a:tr>
              <a:tr h="370840">
                <a:tc>
                  <a:txBody>
                    <a:bodyPr/>
                    <a:lstStyle/>
                    <a:p>
                      <a:r>
                        <a:t>驗證集</a:t>
                      </a:r>
                    </a:p>
                  </a:txBody>
                  <a:tcPr/>
                </a:tc>
                <a:tc>
                  <a:txBody>
                    <a:bodyPr/>
                    <a:lstStyle/>
                    <a:p>
                      <a:r>
                        <a:t>50筆</a:t>
                      </a:r>
                    </a:p>
                  </a:txBody>
                  <a:tcPr/>
                </a:tc>
                <a:tc>
                  <a:txBody>
                    <a:bodyPr/>
                    <a:lstStyle/>
                    <a:p>
                      <a:r>
                        <a:t>比較BM25與BGE-M3，選擇檢索方法</a:t>
                      </a:r>
                    </a:p>
                  </a:txBody>
                  <a:tcPr/>
                </a:tc>
                <a:extLst>
                  <a:ext uri="{0D108BD9-81ED-4DB2-BD59-A6C34878D82A}">
                    <a16:rowId xmlns:a16="http://schemas.microsoft.com/office/drawing/2014/main" val="10002"/>
                  </a:ext>
                </a:extLst>
              </a:tr>
              <a:tr h="370840">
                <a:tc>
                  <a:txBody>
                    <a:bodyPr/>
                    <a:lstStyle/>
                    <a:p>
                      <a:r>
                        <a:t>測試集</a:t>
                      </a:r>
                    </a:p>
                  </a:txBody>
                  <a:tcPr/>
                </a:tc>
                <a:tc>
                  <a:txBody>
                    <a:bodyPr/>
                    <a:lstStyle/>
                    <a:p>
                      <a:r>
                        <a:t>50筆</a:t>
                      </a:r>
                    </a:p>
                  </a:txBody>
                  <a:tcPr/>
                </a:tc>
                <a:tc>
                  <a:txBody>
                    <a:bodyPr/>
                    <a:lstStyle/>
                    <a:p>
                      <a:r>
                        <a:t>執行最後A、B兩組正式比較</a:t>
                      </a:r>
                    </a:p>
                  </a:txBody>
                  <a:tcPr/>
                </a:tc>
                <a:extLst>
                  <a:ext uri="{0D108BD9-81ED-4DB2-BD59-A6C34878D82A}">
                    <a16:rowId xmlns:a16="http://schemas.microsoft.com/office/drawing/2014/main" val="10003"/>
                  </a:ext>
                </a:extLst>
              </a:tr>
            </a:tbl>
          </a:graphicData>
        </a:graphic>
      </p:graphicFrame>
      <p:sp>
        <p:nvSpPr>
          <p:cNvPr id="6" name="Rectangle 1">
            <a:extLst>
              <a:ext uri="{FF2B5EF4-FFF2-40B4-BE49-F238E27FC236}">
                <a16:creationId xmlns:a16="http://schemas.microsoft.com/office/drawing/2014/main" id="{F5FED3EE-D8E6-C1FD-731A-D37EC715F047}"/>
              </a:ext>
            </a:extLst>
          </p:cNvPr>
          <p:cNvSpPr>
            <a:spLocks noGrp="1"/>
          </p:cNvSpPr>
          <p:nvPr/>
        </p:nvSpPr>
        <p:spPr>
          <a:xfrm>
            <a:off x="1097279" y="4414760"/>
            <a:ext cx="9750015" cy="1231106"/>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dirty="0" err="1"/>
              <a:t>為什麼使用TCMEval</a:t>
            </a:r>
            <a:r>
              <a:rPr sz="1600" b="1" dirty="0"/>
              <a:t>-SDT？</a:t>
            </a:r>
          </a:p>
          <a:p>
            <a:pPr marL="0" indent="0">
              <a:lnSpc>
                <a:spcPct val="100000"/>
              </a:lnSpc>
              <a:spcBef>
                <a:spcPct val="0"/>
              </a:spcBef>
              <a:spcAft>
                <a:spcPct val="0"/>
              </a:spcAft>
              <a:buClrTx/>
              <a:buSzTx/>
              <a:buFont typeface="Calibri"/>
              <a:buNone/>
            </a:pPr>
            <a:endParaRPr sz="1600" b="1" dirty="0"/>
          </a:p>
          <a:p>
            <a:pPr>
              <a:lnSpc>
                <a:spcPct val="100000"/>
              </a:lnSpc>
              <a:spcBef>
                <a:spcPct val="0"/>
              </a:spcBef>
              <a:spcAft>
                <a:spcPct val="0"/>
              </a:spcAft>
              <a:buClrTx/>
              <a:buSzTx/>
              <a:buNone/>
            </a:pPr>
            <a:r>
              <a:rPr sz="1400" dirty="0" err="1"/>
              <a:t>真實形式的中醫病例文字</a:t>
            </a:r>
            <a:r>
              <a:rPr sz="1400" dirty="0"/>
              <a:t>。</a:t>
            </a:r>
          </a:p>
          <a:p>
            <a:pPr>
              <a:lnSpc>
                <a:spcPct val="100000"/>
              </a:lnSpc>
              <a:spcBef>
                <a:spcPct val="0"/>
              </a:spcBef>
              <a:spcAft>
                <a:spcPct val="0"/>
              </a:spcAft>
              <a:buClrTx/>
              <a:buSzTx/>
              <a:buNone/>
            </a:pPr>
            <a:r>
              <a:rPr sz="1400" dirty="0" err="1"/>
              <a:t>臨床資訊、病機、證型與辨證說明</a:t>
            </a:r>
            <a:r>
              <a:rPr sz="1400" dirty="0"/>
              <a:t>。</a:t>
            </a:r>
          </a:p>
          <a:p>
            <a:pPr>
              <a:lnSpc>
                <a:spcPct val="100000"/>
              </a:lnSpc>
              <a:spcBef>
                <a:spcPct val="0"/>
              </a:spcBef>
              <a:spcAft>
                <a:spcPct val="0"/>
              </a:spcAft>
              <a:buClrTx/>
              <a:buSzTx/>
              <a:buNone/>
            </a:pPr>
            <a:r>
              <a:rPr sz="1400" dirty="0" err="1"/>
              <a:t>官方標準答案與評分程式</a:t>
            </a:r>
            <a:r>
              <a:rPr sz="1400" dirty="0"/>
              <a:t>。</a:t>
            </a:r>
          </a:p>
        </p:txBody>
      </p:sp>
    </p:spTree>
    <p:extLst>
      <p:ext uri="{BB962C8B-B14F-4D97-AF65-F5344CB8AC3E}">
        <p14:creationId xmlns:p14="http://schemas.microsoft.com/office/powerpoint/2010/main" val="2961257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4" name="Rectangle 1">
            <a:extLst>
              <a:ext uri="{FF2B5EF4-FFF2-40B4-BE49-F238E27FC236}">
                <a16:creationId xmlns:a16="http://schemas.microsoft.com/office/drawing/2014/main" id="{57D7BDD1-495E-C33D-DC39-55D8EE331620}"/>
              </a:ext>
            </a:extLst>
          </p:cNvPr>
          <p:cNvSpPr>
            <a:spLocks noGrp="1"/>
          </p:cNvSpPr>
          <p:nvPr/>
        </p:nvSpPr>
        <p:spPr>
          <a:xfrm>
            <a:off x="1180353" y="1920278"/>
            <a:ext cx="9750015" cy="584775"/>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lnSpc>
                <a:spcPct val="100000"/>
              </a:lnSpc>
              <a:spcBef>
                <a:spcPct val="0"/>
              </a:spcBef>
              <a:spcAft>
                <a:spcPct val="0"/>
              </a:spcAft>
              <a:buClrTx/>
              <a:buSzTx/>
              <a:buFont typeface="Calibri"/>
              <a:buNone/>
            </a:pPr>
            <a:r>
              <a:rPr sz="1600" b="1" dirty="0"/>
              <a:t>BM25 vs BGE-M3:</a:t>
            </a:r>
          </a:p>
          <a:p>
            <a:pPr marL="0" indent="0">
              <a:lnSpc>
                <a:spcPct val="100000"/>
              </a:lnSpc>
              <a:spcBef>
                <a:spcPct val="0"/>
              </a:spcBef>
              <a:spcAft>
                <a:spcPct val="0"/>
              </a:spcAft>
              <a:buClrTx/>
              <a:buSzTx/>
              <a:buFont typeface="Calibri"/>
              <a:buNone/>
            </a:pPr>
            <a:endParaRPr sz="1600" b="1" dirty="0"/>
          </a:p>
        </p:txBody>
      </p:sp>
      <p:graphicFrame>
        <p:nvGraphicFramePr>
          <p:cNvPr id="8" name="表格 8"/>
          <p:cNvGraphicFramePr/>
          <p:nvPr/>
        </p:nvGraphicFramePr>
        <p:xfrm>
          <a:off x="1087717" y="2413995"/>
          <a:ext cx="10016565" cy="3032760"/>
        </p:xfrm>
        <a:graphic>
          <a:graphicData uri="http://schemas.openxmlformats.org/drawingml/2006/table">
            <a:tbl>
              <a:tblPr firstRow="1" bandRow="1">
                <a:tableStyleId>{5940675A-B579-460E-94D1-54222C63F5DA}</a:tableStyleId>
              </a:tblPr>
              <a:tblGrid>
                <a:gridCol w="1688353">
                  <a:extLst>
                    <a:ext uri="{9D8B030D-6E8A-4147-A177-3AD203B41FA5}">
                      <a16:colId xmlns:a16="http://schemas.microsoft.com/office/drawing/2014/main" val="20000"/>
                    </a:ext>
                  </a:extLst>
                </a:gridCol>
                <a:gridCol w="3730313">
                  <a:extLst>
                    <a:ext uri="{9D8B030D-6E8A-4147-A177-3AD203B41FA5}">
                      <a16:colId xmlns:a16="http://schemas.microsoft.com/office/drawing/2014/main" val="20001"/>
                    </a:ext>
                  </a:extLst>
                </a:gridCol>
                <a:gridCol w="4597899">
                  <a:extLst>
                    <a:ext uri="{9D8B030D-6E8A-4147-A177-3AD203B41FA5}">
                      <a16:colId xmlns:a16="http://schemas.microsoft.com/office/drawing/2014/main" val="20002"/>
                    </a:ext>
                  </a:extLst>
                </a:gridCol>
              </a:tblGrid>
              <a:tr h="370840">
                <a:tc>
                  <a:txBody>
                    <a:bodyPr/>
                    <a:lstStyle/>
                    <a:p>
                      <a:r>
                        <a:t>比較項目</a:t>
                      </a:r>
                    </a:p>
                  </a:txBody>
                  <a:tcPr/>
                </a:tc>
                <a:tc>
                  <a:txBody>
                    <a:bodyPr/>
                    <a:lstStyle/>
                    <a:p>
                      <a:r>
                        <a:t>BM25</a:t>
                      </a:r>
                    </a:p>
                  </a:txBody>
                  <a:tcPr/>
                </a:tc>
                <a:tc>
                  <a:txBody>
                    <a:bodyPr/>
                    <a:lstStyle/>
                    <a:p>
                      <a:r>
                        <a:t>BGE-M3</a:t>
                      </a:r>
                    </a:p>
                  </a:txBody>
                  <a:tcPr/>
                </a:tc>
                <a:extLst>
                  <a:ext uri="{0D108BD9-81ED-4DB2-BD59-A6C34878D82A}">
                    <a16:rowId xmlns:a16="http://schemas.microsoft.com/office/drawing/2014/main" val="10000"/>
                  </a:ext>
                </a:extLst>
              </a:tr>
              <a:tr h="370840">
                <a:tc>
                  <a:txBody>
                    <a:bodyPr/>
                    <a:lstStyle/>
                    <a:p>
                      <a:r>
                        <a:t>說明</a:t>
                      </a:r>
                    </a:p>
                  </a:txBody>
                  <a:tcPr/>
                </a:tc>
                <a:tc>
                  <a:txBody>
                    <a:bodyPr/>
                    <a:lstStyle/>
                    <a:p>
                      <a:r>
                        <a:t>傳統的關鍵字檢索方法</a:t>
                      </a:r>
                    </a:p>
                  </a:txBody>
                  <a:tcPr/>
                </a:tc>
                <a:tc>
                  <a:txBody>
                    <a:bodyPr/>
                    <a:lstStyle/>
                    <a:p>
                      <a:r>
                        <a:t>以語意向量為基礎的檢索模型</a:t>
                      </a:r>
                    </a:p>
                  </a:txBody>
                  <a:tcPr/>
                </a:tc>
                <a:extLst>
                  <a:ext uri="{0D108BD9-81ED-4DB2-BD59-A6C34878D82A}">
                    <a16:rowId xmlns:a16="http://schemas.microsoft.com/office/drawing/2014/main" val="10001"/>
                  </a:ext>
                </a:extLst>
              </a:tr>
              <a:tr h="370840">
                <a:tc>
                  <a:txBody>
                    <a:bodyPr/>
                    <a:lstStyle/>
                    <a:p>
                      <a:r>
                        <a:t>如何尋找病例</a:t>
                      </a:r>
                    </a:p>
                  </a:txBody>
                  <a:tcPr/>
                </a:tc>
                <a:tc>
                  <a:txBody>
                    <a:bodyPr/>
                    <a:lstStyle/>
                    <a:p>
                      <a:r>
                        <a:t>比較病例之間相同詞彙的數量與重要性</a:t>
                      </a:r>
                    </a:p>
                  </a:txBody>
                  <a:tcPr/>
                </a:tc>
                <a:tc>
                  <a:txBody>
                    <a:bodyPr/>
                    <a:lstStyle/>
                    <a:p>
                      <a:r>
                        <a:t>判斷兩個病例在「意思」上是否相似</a:t>
                      </a:r>
                    </a:p>
                  </a:txBody>
                  <a:tcPr/>
                </a:tc>
                <a:extLst>
                  <a:ext uri="{0D108BD9-81ED-4DB2-BD59-A6C34878D82A}">
                    <a16:rowId xmlns:a16="http://schemas.microsoft.com/office/drawing/2014/main" val="10002"/>
                  </a:ext>
                </a:extLst>
              </a:tr>
              <a:tr h="370840">
                <a:tc>
                  <a:txBody>
                    <a:bodyPr/>
                    <a:lstStyle/>
                    <a:p>
                      <a:r>
                        <a:t>主要優點</a:t>
                      </a:r>
                    </a:p>
                  </a:txBody>
                  <a:tcPr/>
                </a:tc>
                <a:tc>
                  <a:txBody>
                    <a:bodyPr/>
                    <a:lstStyle/>
                    <a:p>
                      <a:r>
                        <a:t>速度快、方法簡單，結果容易解釋</a:t>
                      </a:r>
                    </a:p>
                  </a:txBody>
                  <a:tcPr/>
                </a:tc>
                <a:tc>
                  <a:txBody>
                    <a:bodyPr/>
                    <a:lstStyle/>
                    <a:p>
                      <a:r>
                        <a:t>即使用詞不同，也可能找到病機或證型相近的病例</a:t>
                      </a:r>
                    </a:p>
                  </a:txBody>
                  <a:tcPr/>
                </a:tc>
                <a:extLst>
                  <a:ext uri="{0D108BD9-81ED-4DB2-BD59-A6C34878D82A}">
                    <a16:rowId xmlns:a16="http://schemas.microsoft.com/office/drawing/2014/main" val="10003"/>
                  </a:ext>
                </a:extLst>
              </a:tr>
              <a:tr h="370840">
                <a:tc>
                  <a:txBody>
                    <a:bodyPr/>
                    <a:lstStyle/>
                    <a:p>
                      <a:r>
                        <a:t>可能限制</a:t>
                      </a:r>
                    </a:p>
                  </a:txBody>
                  <a:tcPr/>
                </a:tc>
                <a:tc>
                  <a:txBody>
                    <a:bodyPr/>
                    <a:lstStyle/>
                    <a:p>
                      <a:r>
                        <a:t>相同意思若使用不同詞彙，可能無法找到</a:t>
                      </a:r>
                    </a:p>
                  </a:txBody>
                  <a:tcPr/>
                </a:tc>
                <a:tc>
                  <a:txBody>
                    <a:bodyPr/>
                    <a:lstStyle/>
                    <a:p>
                      <a:r>
                        <a:t>計算量較大，找到的語意相似病例不一定醫理完全相同</a:t>
                      </a:r>
                    </a:p>
                  </a:txBody>
                  <a:tcPr/>
                </a:tc>
                <a:extLst>
                  <a:ext uri="{0D108BD9-81ED-4DB2-BD59-A6C34878D82A}">
                    <a16:rowId xmlns:a16="http://schemas.microsoft.com/office/drawing/2014/main" val="10004"/>
                  </a:ext>
                </a:extLst>
              </a:tr>
              <a:tr h="370840">
                <a:tc>
                  <a:txBody>
                    <a:bodyPr/>
                    <a:lstStyle/>
                    <a:p>
                      <a:r>
                        <a:t>實驗用途</a:t>
                      </a:r>
                    </a:p>
                  </a:txBody>
                  <a:tcPr/>
                </a:tc>
                <a:tc>
                  <a:txBody>
                    <a:bodyPr/>
                    <a:lstStyle/>
                    <a:p>
                      <a:r>
                        <a:t>找出關鍵字最接近的3筆訓練病例</a:t>
                      </a:r>
                    </a:p>
                  </a:txBody>
                  <a:tcPr/>
                </a:tc>
                <a:tc>
                  <a:txBody>
                    <a:bodyPr/>
                    <a:lstStyle/>
                    <a:p>
                      <a:r>
                        <a:t>找出語意最接近的3筆訓練病例</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01795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實驗前準備</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2054167"/>
            <a:ext cx="9750015" cy="1446550"/>
          </a:xfrm>
          <a:prstGeom prst="rect">
            <a:avLst/>
          </a:prstGeom>
          <a:noFill/>
          <a:ln>
            <a:noFill/>
          </a:ln>
        </p:spPr>
        <p:txBody>
          <a:bodyPr vert="horz" wrap="square" lIns="91440" tIns="45720" rIns="91440" bIns="45720" anchor="ctr">
            <a:spAutoFit/>
          </a:bodyPr>
          <a:lstStyle/>
          <a:p>
            <a:pPr marL="0" marR="0" lvl="0" indent="0" algn="l" defTabSz="914400">
              <a:lnSpc>
                <a:spcPct val="100000"/>
              </a:lnSpc>
              <a:spcBef>
                <a:spcPct val="0"/>
              </a:spcBef>
              <a:spcAft>
                <a:spcPct val="0"/>
              </a:spcAft>
              <a:buClrTx/>
              <a:buSzTx/>
              <a:buNone/>
            </a:pPr>
            <a:r>
              <a:rPr sz="1600" b="1"/>
              <a:t>防止答案洩漏:</a:t>
            </a:r>
          </a:p>
          <a:p>
            <a:pPr marL="0" marR="0" lvl="0" indent="0" algn="l" defTabSz="914400">
              <a:lnSpc>
                <a:spcPct val="100000"/>
              </a:lnSpc>
              <a:spcBef>
                <a:spcPct val="0"/>
              </a:spcBef>
              <a:spcAft>
                <a:spcPct val="0"/>
              </a:spcAft>
              <a:buClrTx/>
              <a:buSzTx/>
              <a:buNone/>
            </a:pPr>
            <a:endParaRPr sz="1600" b="1"/>
          </a:p>
          <a:p>
            <a:pPr>
              <a:lnSpc>
                <a:spcPct val="100000"/>
              </a:lnSpc>
              <a:spcBef>
                <a:spcPct val="0"/>
              </a:spcBef>
              <a:spcAft>
                <a:spcPct val="0"/>
              </a:spcAft>
              <a:buClrTx/>
              <a:buSzTx/>
              <a:buNone/>
            </a:pPr>
            <a:r>
              <a:rPr sz="1400"/>
              <a:t>生成模型只讀取病例、病機選項與證型選項。</a:t>
            </a:r>
          </a:p>
          <a:p>
            <a:pPr>
              <a:lnSpc>
                <a:spcPct val="100000"/>
              </a:lnSpc>
              <a:spcBef>
                <a:spcPct val="0"/>
              </a:spcBef>
              <a:spcAft>
                <a:spcPct val="0"/>
              </a:spcAft>
              <a:buClrTx/>
              <a:buSzTx/>
              <a:buNone/>
            </a:pPr>
            <a:r>
              <a:rPr sz="1400"/>
              <a:t>驗證集和測試集的標準答案另外存放。</a:t>
            </a:r>
          </a:p>
          <a:p>
            <a:pPr>
              <a:lnSpc>
                <a:spcPct val="100000"/>
              </a:lnSpc>
              <a:spcBef>
                <a:spcPct val="0"/>
              </a:spcBef>
              <a:spcAft>
                <a:spcPct val="0"/>
              </a:spcAft>
              <a:buClrTx/>
              <a:buSzTx/>
              <a:buNone/>
            </a:pPr>
            <a:r>
              <a:rPr sz="1400"/>
              <a:t>標準答案只在模型完成作答後用於評分。</a:t>
            </a:r>
          </a:p>
          <a:p>
            <a:pPr>
              <a:lnSpc>
                <a:spcPct val="100000"/>
              </a:lnSpc>
              <a:spcBef>
                <a:spcPct val="0"/>
              </a:spcBef>
              <a:spcAft>
                <a:spcPct val="0"/>
              </a:spcAft>
              <a:buClrTx/>
              <a:buSzTx/>
              <a:buNone/>
            </a:pPr>
            <a:r>
              <a:rPr sz="1400"/>
              <a:t>B組只能從200筆訓練病例中檢索，不能查詢驗證集或測試集答案。</a:t>
            </a:r>
          </a:p>
        </p:txBody>
      </p:sp>
    </p:spTree>
    <p:extLst>
      <p:ext uri="{BB962C8B-B14F-4D97-AF65-F5344CB8AC3E}">
        <p14:creationId xmlns:p14="http://schemas.microsoft.com/office/powerpoint/2010/main" val="1962783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實驗設定</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1930953"/>
            <a:ext cx="2524462" cy="338554"/>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使用的模型與方法</a:t>
            </a:r>
          </a:p>
        </p:txBody>
      </p:sp>
      <p:graphicFrame>
        <p:nvGraphicFramePr>
          <p:cNvPr id="7" name="表格 5"/>
          <p:cNvGraphicFramePr/>
          <p:nvPr/>
        </p:nvGraphicFramePr>
        <p:xfrm>
          <a:off x="1279263" y="2501900"/>
          <a:ext cx="9633474" cy="18542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4214808">
                  <a:extLst>
                    <a:ext uri="{9D8B030D-6E8A-4147-A177-3AD203B41FA5}">
                      <a16:colId xmlns:a16="http://schemas.microsoft.com/office/drawing/2014/main" val="20002"/>
                    </a:ext>
                  </a:extLst>
                </a:gridCol>
              </a:tblGrid>
              <a:tr h="370840">
                <a:tc>
                  <a:txBody>
                    <a:bodyPr/>
                    <a:lstStyle/>
                    <a:p>
                      <a:r>
                        <a:t>功能</a:t>
                      </a:r>
                    </a:p>
                  </a:txBody>
                  <a:tcPr/>
                </a:tc>
                <a:tc>
                  <a:txBody>
                    <a:bodyPr/>
                    <a:lstStyle/>
                    <a:p>
                      <a:r>
                        <a:t>使用方法</a:t>
                      </a:r>
                    </a:p>
                  </a:txBody>
                  <a:tcPr/>
                </a:tc>
                <a:tc>
                  <a:txBody>
                    <a:bodyPr/>
                    <a:lstStyle/>
                    <a:p>
                      <a:r>
                        <a:t>主要用途</a:t>
                      </a:r>
                    </a:p>
                  </a:txBody>
                  <a:tcPr/>
                </a:tc>
                <a:extLst>
                  <a:ext uri="{0D108BD9-81ED-4DB2-BD59-A6C34878D82A}">
                    <a16:rowId xmlns:a16="http://schemas.microsoft.com/office/drawing/2014/main" val="10000"/>
                  </a:ext>
                </a:extLst>
              </a:tr>
              <a:tr h="370840">
                <a:tc>
                  <a:txBody>
                    <a:bodyPr/>
                    <a:lstStyle/>
                    <a:p>
                      <a:r>
                        <a:t>生成模型</a:t>
                      </a:r>
                    </a:p>
                  </a:txBody>
                  <a:tcPr/>
                </a:tc>
                <a:tc>
                  <a:txBody>
                    <a:bodyPr/>
                    <a:lstStyle/>
                    <a:p>
                      <a:r>
                        <a:t>Qwen3.5:9b</a:t>
                      </a:r>
                    </a:p>
                  </a:txBody>
                  <a:tcPr/>
                </a:tc>
                <a:tc>
                  <a:txBody>
                    <a:bodyPr/>
                    <a:lstStyle/>
                    <a:p>
                      <a:r>
                        <a:t>產生臨床資訊、病機、證型及辨證說明</a:t>
                      </a:r>
                    </a:p>
                  </a:txBody>
                  <a:tcPr/>
                </a:tc>
                <a:extLst>
                  <a:ext uri="{0D108BD9-81ED-4DB2-BD59-A6C34878D82A}">
                    <a16:rowId xmlns:a16="http://schemas.microsoft.com/office/drawing/2014/main" val="10001"/>
                  </a:ext>
                </a:extLst>
              </a:tr>
              <a:tr h="370840">
                <a:tc>
                  <a:txBody>
                    <a:bodyPr/>
                    <a:lstStyle/>
                    <a:p>
                      <a:r>
                        <a:t>關鍵字檢索候選</a:t>
                      </a:r>
                    </a:p>
                  </a:txBody>
                  <a:tcPr/>
                </a:tc>
                <a:tc>
                  <a:txBody>
                    <a:bodyPr/>
                    <a:lstStyle/>
                    <a:p>
                      <a:r>
                        <a:t>BM25</a:t>
                      </a:r>
                    </a:p>
                  </a:txBody>
                  <a:tcPr/>
                </a:tc>
                <a:tc>
                  <a:txBody>
                    <a:bodyPr/>
                    <a:lstStyle/>
                    <a:p>
                      <a:r>
                        <a:t>找出用詞相近的訓練病例</a:t>
                      </a:r>
                    </a:p>
                  </a:txBody>
                  <a:tcPr/>
                </a:tc>
                <a:extLst>
                  <a:ext uri="{0D108BD9-81ED-4DB2-BD59-A6C34878D82A}">
                    <a16:rowId xmlns:a16="http://schemas.microsoft.com/office/drawing/2014/main" val="10002"/>
                  </a:ext>
                </a:extLst>
              </a:tr>
              <a:tr h="370840">
                <a:tc>
                  <a:txBody>
                    <a:bodyPr/>
                    <a:lstStyle/>
                    <a:p>
                      <a:r>
                        <a:t>語意檢索候選</a:t>
                      </a:r>
                    </a:p>
                  </a:txBody>
                  <a:tcPr/>
                </a:tc>
                <a:tc>
                  <a:txBody>
                    <a:bodyPr/>
                    <a:lstStyle/>
                    <a:p>
                      <a:r>
                        <a:t>BGE-M3</a:t>
                      </a:r>
                    </a:p>
                  </a:txBody>
                  <a:tcPr/>
                </a:tc>
                <a:tc>
                  <a:txBody>
                    <a:bodyPr/>
                    <a:lstStyle/>
                    <a:p>
                      <a:r>
                        <a:t>找出整體語意相近的訓練病例</a:t>
                      </a:r>
                    </a:p>
                  </a:txBody>
                  <a:tcPr/>
                </a:tc>
                <a:extLst>
                  <a:ext uri="{0D108BD9-81ED-4DB2-BD59-A6C34878D82A}">
                    <a16:rowId xmlns:a16="http://schemas.microsoft.com/office/drawing/2014/main" val="10003"/>
                  </a:ext>
                </a:extLst>
              </a:tr>
              <a:tr h="370840">
                <a:tc>
                  <a:txBody>
                    <a:bodyPr/>
                    <a:lstStyle/>
                    <a:p>
                      <a:r>
                        <a:rPr dirty="0" err="1"/>
                        <a:t>正式評分</a:t>
                      </a:r>
                      <a:endParaRPr dirty="0"/>
                    </a:p>
                  </a:txBody>
                  <a:tcPr/>
                </a:tc>
                <a:tc>
                  <a:txBody>
                    <a:bodyPr/>
                    <a:lstStyle/>
                    <a:p>
                      <a:r>
                        <a:rPr dirty="0" err="1"/>
                        <a:t>TCMEval-SDT官方規則</a:t>
                      </a:r>
                      <a:endParaRPr dirty="0"/>
                    </a:p>
                  </a:txBody>
                  <a:tcPr/>
                </a:tc>
                <a:tc>
                  <a:txBody>
                    <a:bodyPr/>
                    <a:lstStyle/>
                    <a:p>
                      <a:r>
                        <a:rPr dirty="0" err="1"/>
                        <a:t>與官方標準答案進行客觀比較</a:t>
                      </a:r>
                      <a:endParaRPr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03854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實驗設定</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168997" y="1913023"/>
            <a:ext cx="2524462" cy="338554"/>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固定參數</a:t>
            </a:r>
          </a:p>
        </p:txBody>
      </p:sp>
      <p:graphicFrame>
        <p:nvGraphicFramePr>
          <p:cNvPr id="7" name="表格 6"/>
          <p:cNvGraphicFramePr/>
          <p:nvPr/>
        </p:nvGraphicFramePr>
        <p:xfrm>
          <a:off x="1316318" y="2449854"/>
          <a:ext cx="9559365" cy="296672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4140699">
                  <a:extLst>
                    <a:ext uri="{9D8B030D-6E8A-4147-A177-3AD203B41FA5}">
                      <a16:colId xmlns:a16="http://schemas.microsoft.com/office/drawing/2014/main" val="20002"/>
                    </a:ext>
                  </a:extLst>
                </a:gridCol>
              </a:tblGrid>
              <a:tr h="370840">
                <a:tc>
                  <a:txBody>
                    <a:bodyPr/>
                    <a:lstStyle/>
                    <a:p>
                      <a:r>
                        <a:t>參數</a:t>
                      </a:r>
                    </a:p>
                  </a:txBody>
                  <a:tcPr/>
                </a:tc>
                <a:tc>
                  <a:txBody>
                    <a:bodyPr/>
                    <a:lstStyle/>
                    <a:p>
                      <a:r>
                        <a:t>設定</a:t>
                      </a:r>
                    </a:p>
                  </a:txBody>
                  <a:tcPr/>
                </a:tc>
                <a:tc>
                  <a:txBody>
                    <a:bodyPr/>
                    <a:lstStyle/>
                    <a:p>
                      <a:r>
                        <a:t>用意</a:t>
                      </a:r>
                    </a:p>
                  </a:txBody>
                  <a:tcPr/>
                </a:tc>
                <a:extLst>
                  <a:ext uri="{0D108BD9-81ED-4DB2-BD59-A6C34878D82A}">
                    <a16:rowId xmlns:a16="http://schemas.microsoft.com/office/drawing/2014/main" val="10000"/>
                  </a:ext>
                </a:extLst>
              </a:tr>
              <a:tr h="370840">
                <a:tc>
                  <a:txBody>
                    <a:bodyPr/>
                    <a:lstStyle/>
                    <a:p>
                      <a:r>
                        <a:t>Temperature</a:t>
                      </a:r>
                    </a:p>
                  </a:txBody>
                  <a:tcPr/>
                </a:tc>
                <a:tc>
                  <a:txBody>
                    <a:bodyPr/>
                    <a:lstStyle/>
                    <a:p>
                      <a:r>
                        <a:t>0</a:t>
                      </a:r>
                    </a:p>
                  </a:txBody>
                  <a:tcPr/>
                </a:tc>
                <a:tc>
                  <a:txBody>
                    <a:bodyPr/>
                    <a:lstStyle/>
                    <a:p>
                      <a:r>
                        <a:t>降低隨機性，使結果較穩定</a:t>
                      </a:r>
                    </a:p>
                  </a:txBody>
                  <a:tcPr/>
                </a:tc>
                <a:extLst>
                  <a:ext uri="{0D108BD9-81ED-4DB2-BD59-A6C34878D82A}">
                    <a16:rowId xmlns:a16="http://schemas.microsoft.com/office/drawing/2014/main" val="10001"/>
                  </a:ext>
                </a:extLst>
              </a:tr>
              <a:tr h="370840">
                <a:tc>
                  <a:txBody>
                    <a:bodyPr/>
                    <a:lstStyle/>
                    <a:p>
                      <a:r>
                        <a:t>Think</a:t>
                      </a:r>
                    </a:p>
                  </a:txBody>
                  <a:tcPr/>
                </a:tc>
                <a:tc>
                  <a:txBody>
                    <a:bodyPr/>
                    <a:lstStyle/>
                    <a:p>
                      <a:r>
                        <a:t>false</a:t>
                      </a:r>
                    </a:p>
                  </a:txBody>
                  <a:tcPr/>
                </a:tc>
                <a:tc>
                  <a:txBody>
                    <a:bodyPr/>
                    <a:lstStyle/>
                    <a:p>
                      <a:r>
                        <a:t>關閉額外思考輸出，維持固定JSON格式</a:t>
                      </a:r>
                    </a:p>
                  </a:txBody>
                  <a:tcPr/>
                </a:tc>
                <a:extLst>
                  <a:ext uri="{0D108BD9-81ED-4DB2-BD59-A6C34878D82A}">
                    <a16:rowId xmlns:a16="http://schemas.microsoft.com/office/drawing/2014/main" val="10002"/>
                  </a:ext>
                </a:extLst>
              </a:tr>
              <a:tr h="370840">
                <a:tc>
                  <a:txBody>
                    <a:bodyPr/>
                    <a:lstStyle/>
                    <a:p>
                      <a:r>
                        <a:t>Top-k</a:t>
                      </a:r>
                    </a:p>
                  </a:txBody>
                  <a:tcPr/>
                </a:tc>
                <a:tc>
                  <a:txBody>
                    <a:bodyPr/>
                    <a:lstStyle/>
                    <a:p>
                      <a:r>
                        <a:t>3</a:t>
                      </a:r>
                    </a:p>
                  </a:txBody>
                  <a:tcPr/>
                </a:tc>
                <a:tc>
                  <a:txBody>
                    <a:bodyPr/>
                    <a:lstStyle/>
                    <a:p>
                      <a:r>
                        <a:t>每題提供3筆最相似病例</a:t>
                      </a:r>
                    </a:p>
                  </a:txBody>
                  <a:tcPr/>
                </a:tc>
                <a:extLst>
                  <a:ext uri="{0D108BD9-81ED-4DB2-BD59-A6C34878D82A}">
                    <a16:rowId xmlns:a16="http://schemas.microsoft.com/office/drawing/2014/main" val="10003"/>
                  </a:ext>
                </a:extLst>
              </a:tr>
              <a:tr h="370840">
                <a:tc>
                  <a:txBody>
                    <a:bodyPr/>
                    <a:lstStyle/>
                    <a:p>
                      <a:r>
                        <a:t>BGE-M3排序</a:t>
                      </a:r>
                    </a:p>
                  </a:txBody>
                  <a:tcPr/>
                </a:tc>
                <a:tc>
                  <a:txBody>
                    <a:bodyPr/>
                    <a:lstStyle/>
                    <a:p>
                      <a:r>
                        <a:t>Cosine similarity</a:t>
                      </a:r>
                    </a:p>
                  </a:txBody>
                  <a:tcPr/>
                </a:tc>
                <a:tc>
                  <a:txBody>
                    <a:bodyPr/>
                    <a:lstStyle/>
                    <a:p>
                      <a:r>
                        <a:t>比較病例向量的語意相似程度</a:t>
                      </a:r>
                    </a:p>
                  </a:txBody>
                  <a:tcPr/>
                </a:tc>
                <a:extLst>
                  <a:ext uri="{0D108BD9-81ED-4DB2-BD59-A6C34878D82A}">
                    <a16:rowId xmlns:a16="http://schemas.microsoft.com/office/drawing/2014/main" val="10004"/>
                  </a:ext>
                </a:extLst>
              </a:tr>
              <a:tr h="370840">
                <a:tc>
                  <a:txBody>
                    <a:bodyPr/>
                    <a:lstStyle/>
                    <a:p>
                      <a:r>
                        <a:rPr dirty="0"/>
                        <a:t>BM25 k1</a:t>
                      </a:r>
                    </a:p>
                  </a:txBody>
                  <a:tcPr/>
                </a:tc>
                <a:tc>
                  <a:txBody>
                    <a:bodyPr/>
                    <a:lstStyle/>
                    <a:p>
                      <a:r>
                        <a:t>1.2</a:t>
                      </a:r>
                    </a:p>
                  </a:txBody>
                  <a:tcPr/>
                </a:tc>
                <a:tc>
                  <a:txBody>
                    <a:bodyPr/>
                    <a:lstStyle/>
                    <a:p>
                      <a:r>
                        <a:t>控制詞頻對檢索分數的影響</a:t>
                      </a:r>
                    </a:p>
                  </a:txBody>
                  <a:tcPr/>
                </a:tc>
                <a:extLst>
                  <a:ext uri="{0D108BD9-81ED-4DB2-BD59-A6C34878D82A}">
                    <a16:rowId xmlns:a16="http://schemas.microsoft.com/office/drawing/2014/main" val="10005"/>
                  </a:ext>
                </a:extLst>
              </a:tr>
              <a:tr h="370840">
                <a:tc>
                  <a:txBody>
                    <a:bodyPr/>
                    <a:lstStyle/>
                    <a:p>
                      <a:r>
                        <a:t>BM25 b</a:t>
                      </a:r>
                    </a:p>
                  </a:txBody>
                  <a:tcPr/>
                </a:tc>
                <a:tc>
                  <a:txBody>
                    <a:bodyPr/>
                    <a:lstStyle/>
                    <a:p>
                      <a:r>
                        <a:t>0.75</a:t>
                      </a:r>
                    </a:p>
                  </a:txBody>
                  <a:tcPr/>
                </a:tc>
                <a:tc>
                  <a:txBody>
                    <a:bodyPr/>
                    <a:lstStyle/>
                    <a:p>
                      <a:r>
                        <a:t>調整病例長度差異</a:t>
                      </a:r>
                    </a:p>
                  </a:txBody>
                  <a:tcPr/>
                </a:tc>
                <a:extLst>
                  <a:ext uri="{0D108BD9-81ED-4DB2-BD59-A6C34878D82A}">
                    <a16:rowId xmlns:a16="http://schemas.microsoft.com/office/drawing/2014/main" val="10006"/>
                  </a:ext>
                </a:extLst>
              </a:tr>
              <a:tr h="370840">
                <a:tc>
                  <a:txBody>
                    <a:bodyPr/>
                    <a:lstStyle/>
                    <a:p>
                      <a:r>
                        <a:t>Bootstrap</a:t>
                      </a:r>
                    </a:p>
                  </a:txBody>
                  <a:tcPr/>
                </a:tc>
                <a:tc>
                  <a:txBody>
                    <a:bodyPr/>
                    <a:lstStyle/>
                    <a:p>
                      <a:r>
                        <a:t>10,000次</a:t>
                      </a:r>
                    </a:p>
                  </a:txBody>
                  <a:tcPr/>
                </a:tc>
                <a:tc>
                  <a:txBody>
                    <a:bodyPr/>
                    <a:lstStyle/>
                    <a:p>
                      <a:r>
                        <a:rPr dirty="0"/>
                        <a:t>計算A、B差異的95%信賴區間</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62756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評估指標</a:t>
            </a:r>
          </a:p>
        </p:txBody>
      </p:sp>
      <p:graphicFrame>
        <p:nvGraphicFramePr>
          <p:cNvPr id="9" name="表格 4"/>
          <p:cNvGraphicFramePr/>
          <p:nvPr/>
        </p:nvGraphicFramePr>
        <p:xfrm>
          <a:off x="1653988" y="2055408"/>
          <a:ext cx="8884024" cy="1849120"/>
        </p:xfrm>
        <a:graphic>
          <a:graphicData uri="http://schemas.openxmlformats.org/drawingml/2006/table">
            <a:tbl>
              <a:tblPr firstRow="1" bandRow="1">
                <a:tableStyleId>{5940675A-B579-460E-94D1-54222C63F5DA}</a:tableStyleId>
              </a:tblPr>
              <a:tblGrid>
                <a:gridCol w="1936377">
                  <a:extLst>
                    <a:ext uri="{9D8B030D-6E8A-4147-A177-3AD203B41FA5}">
                      <a16:colId xmlns:a16="http://schemas.microsoft.com/office/drawing/2014/main" val="20000"/>
                    </a:ext>
                  </a:extLst>
                </a:gridCol>
                <a:gridCol w="5620870">
                  <a:extLst>
                    <a:ext uri="{9D8B030D-6E8A-4147-A177-3AD203B41FA5}">
                      <a16:colId xmlns:a16="http://schemas.microsoft.com/office/drawing/2014/main" val="20001"/>
                    </a:ext>
                  </a:extLst>
                </a:gridCol>
                <a:gridCol w="1326777">
                  <a:extLst>
                    <a:ext uri="{9D8B030D-6E8A-4147-A177-3AD203B41FA5}">
                      <a16:colId xmlns:a16="http://schemas.microsoft.com/office/drawing/2014/main" val="20002"/>
                    </a:ext>
                  </a:extLst>
                </a:gridCol>
              </a:tblGrid>
              <a:tr h="370840">
                <a:tc>
                  <a:txBody>
                    <a:bodyPr/>
                    <a:lstStyle/>
                    <a:p>
                      <a:r>
                        <a:t>指標</a:t>
                      </a:r>
                    </a:p>
                  </a:txBody>
                  <a:tcPr/>
                </a:tc>
                <a:tc>
                  <a:txBody>
                    <a:bodyPr/>
                    <a:lstStyle/>
                    <a:p>
                      <a:r>
                        <a:t>說明</a:t>
                      </a:r>
                    </a:p>
                  </a:txBody>
                  <a:tcPr/>
                </a:tc>
                <a:tc>
                  <a:txBody>
                    <a:bodyPr/>
                    <a:lstStyle/>
                    <a:p>
                      <a:r>
                        <a:t>官方權重</a:t>
                      </a:r>
                    </a:p>
                  </a:txBody>
                  <a:tcPr/>
                </a:tc>
                <a:extLst>
                  <a:ext uri="{0D108BD9-81ED-4DB2-BD59-A6C34878D82A}">
                    <a16:rowId xmlns:a16="http://schemas.microsoft.com/office/drawing/2014/main" val="10000"/>
                  </a:ext>
                </a:extLst>
              </a:tr>
              <a:tr h="299023">
                <a:tc>
                  <a:txBody>
                    <a:bodyPr/>
                    <a:lstStyle/>
                    <a:p>
                      <a:r>
                        <a:rPr dirty="0" err="1"/>
                        <a:t>臨床資訊抽取</a:t>
                      </a:r>
                      <a:endParaRPr dirty="0"/>
                    </a:p>
                  </a:txBody>
                  <a:tcPr/>
                </a:tc>
                <a:tc>
                  <a:txBody>
                    <a:bodyPr/>
                    <a:lstStyle/>
                    <a:p>
                      <a:r>
                        <a:t>模型找出了多少標準答案中的重要症狀或資訊</a:t>
                      </a:r>
                    </a:p>
                  </a:txBody>
                  <a:tcPr/>
                </a:tc>
                <a:tc>
                  <a:txBody>
                    <a:bodyPr/>
                    <a:lstStyle/>
                    <a:p>
                      <a:r>
                        <a:t>20%</a:t>
                      </a:r>
                    </a:p>
                  </a:txBody>
                  <a:tcPr/>
                </a:tc>
                <a:extLst>
                  <a:ext uri="{0D108BD9-81ED-4DB2-BD59-A6C34878D82A}">
                    <a16:rowId xmlns:a16="http://schemas.microsoft.com/office/drawing/2014/main" val="10001"/>
                  </a:ext>
                </a:extLst>
              </a:tr>
              <a:tr h="370840">
                <a:tc>
                  <a:txBody>
                    <a:bodyPr/>
                    <a:lstStyle/>
                    <a:p>
                      <a:r>
                        <a:t>病機判斷</a:t>
                      </a:r>
                    </a:p>
                  </a:txBody>
                  <a:tcPr/>
                </a:tc>
                <a:tc>
                  <a:txBody>
                    <a:bodyPr/>
                    <a:lstStyle/>
                    <a:p>
                      <a:r>
                        <a:t>模型選對多少病機，錯選也會被扣分</a:t>
                      </a:r>
                    </a:p>
                  </a:txBody>
                  <a:tcPr/>
                </a:tc>
                <a:tc>
                  <a:txBody>
                    <a:bodyPr/>
                    <a:lstStyle/>
                    <a:p>
                      <a:r>
                        <a:t>30%</a:t>
                      </a:r>
                    </a:p>
                  </a:txBody>
                  <a:tcPr/>
                </a:tc>
                <a:extLst>
                  <a:ext uri="{0D108BD9-81ED-4DB2-BD59-A6C34878D82A}">
                    <a16:rowId xmlns:a16="http://schemas.microsoft.com/office/drawing/2014/main" val="10002"/>
                  </a:ext>
                </a:extLst>
              </a:tr>
              <a:tr h="370840">
                <a:tc>
                  <a:txBody>
                    <a:bodyPr/>
                    <a:lstStyle/>
                    <a:p>
                      <a:r>
                        <a:t>證型判斷</a:t>
                      </a:r>
                    </a:p>
                  </a:txBody>
                  <a:tcPr/>
                </a:tc>
                <a:tc>
                  <a:txBody>
                    <a:bodyPr/>
                    <a:lstStyle/>
                    <a:p>
                      <a:r>
                        <a:t>模型選對多少證型，錯選也會被扣分</a:t>
                      </a:r>
                    </a:p>
                  </a:txBody>
                  <a:tcPr/>
                </a:tc>
                <a:tc>
                  <a:txBody>
                    <a:bodyPr/>
                    <a:lstStyle/>
                    <a:p>
                      <a:r>
                        <a:t>40%</a:t>
                      </a:r>
                    </a:p>
                  </a:txBody>
                  <a:tcPr/>
                </a:tc>
                <a:extLst>
                  <a:ext uri="{0D108BD9-81ED-4DB2-BD59-A6C34878D82A}">
                    <a16:rowId xmlns:a16="http://schemas.microsoft.com/office/drawing/2014/main" val="10003"/>
                  </a:ext>
                </a:extLst>
              </a:tr>
              <a:tr h="370840">
                <a:tc>
                  <a:txBody>
                    <a:bodyPr/>
                    <a:lstStyle/>
                    <a:p>
                      <a:r>
                        <a:t>解釋ROUGE-L</a:t>
                      </a:r>
                    </a:p>
                  </a:txBody>
                  <a:tcPr/>
                </a:tc>
                <a:tc>
                  <a:txBody>
                    <a:bodyPr/>
                    <a:lstStyle/>
                    <a:p>
                      <a:r>
                        <a:t>模型說明與標準辨證說明的文字重疊程度</a:t>
                      </a:r>
                    </a:p>
                  </a:txBody>
                  <a:tcPr/>
                </a:tc>
                <a:tc>
                  <a:txBody>
                    <a:bodyPr/>
                    <a:lstStyle/>
                    <a:p>
                      <a:r>
                        <a:rPr dirty="0"/>
                        <a:t>10%</a:t>
                      </a:r>
                    </a:p>
                  </a:txBody>
                  <a:tcPr/>
                </a:tc>
                <a:extLst>
                  <a:ext uri="{0D108BD9-81ED-4DB2-BD59-A6C34878D82A}">
                    <a16:rowId xmlns:a16="http://schemas.microsoft.com/office/drawing/2014/main" val="10004"/>
                  </a:ext>
                </a:extLst>
              </a:tr>
            </a:tbl>
          </a:graphicData>
        </a:graphic>
      </p:graphicFrame>
      <p:sp>
        <p:nvSpPr>
          <p:cNvPr id="6" name="Rectangle 1">
            <a:extLst>
              <a:ext uri="{FF2B5EF4-FFF2-40B4-BE49-F238E27FC236}">
                <a16:creationId xmlns:a16="http://schemas.microsoft.com/office/drawing/2014/main" id="{A020E47E-AA12-EE47-497B-69ABA3FD03F1}"/>
              </a:ext>
            </a:extLst>
          </p:cNvPr>
          <p:cNvSpPr>
            <a:spLocks noGrp="1"/>
          </p:cNvSpPr>
          <p:nvPr>
            <p:ph idx="1"/>
          </p:nvPr>
        </p:nvSpPr>
        <p:spPr>
          <a:xfrm>
            <a:off x="1653988" y="5184406"/>
            <a:ext cx="8884024" cy="584775"/>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解釋語意相似度：判斷兩段說明意思是否接近。</a:t>
            </a:r>
          </a:p>
          <a:p>
            <a:pPr marL="0" indent="0">
              <a:lnSpc>
                <a:spcPct val="100000"/>
              </a:lnSpc>
              <a:spcBef>
                <a:spcPct val="0"/>
              </a:spcBef>
              <a:spcAft>
                <a:spcPct val="0"/>
              </a:spcAft>
              <a:buClrTx/>
              <a:buSzTx/>
              <a:buNone/>
            </a:pPr>
            <a:r>
              <a:rPr sz="1600" b="1"/>
              <a:t>病機／證型命中率@3：檢查找出的3筆病例中，是否真的包含相同病機或證型。</a:t>
            </a:r>
          </a:p>
        </p:txBody>
      </p:sp>
      <p:sp>
        <p:nvSpPr>
          <p:cNvPr id="3" name="Rectangle 1">
            <a:extLst>
              <a:ext uri="{FF2B5EF4-FFF2-40B4-BE49-F238E27FC236}">
                <a16:creationId xmlns:a16="http://schemas.microsoft.com/office/drawing/2014/main" id="{EE768701-8668-7489-B39F-99B5762DB02A}"/>
              </a:ext>
            </a:extLst>
          </p:cNvPr>
          <p:cNvSpPr>
            <a:spLocks noGrp="1"/>
          </p:cNvSpPr>
          <p:nvPr/>
        </p:nvSpPr>
        <p:spPr>
          <a:xfrm>
            <a:off x="1653988" y="4387501"/>
            <a:ext cx="8884024" cy="313932"/>
          </a:xfrm>
          <a:prstGeom prst="rect">
            <a:avLst/>
          </a:prstGeom>
          <a:noFill/>
          <a:ln>
            <a:noFill/>
          </a:ln>
        </p:spPr>
        <p:txBody>
          <a:bodyPr vert="horz" wrap="square" lIns="91440" tIns="45720" rIns="91440" bIns="45720" anchor="ctr">
            <a:spAutoFit/>
          </a:bodyPr>
          <a:lst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a:lstStyle>
          <a:p>
            <a:pPr marL="0" indent="0">
              <a:buNone/>
            </a:pPr>
            <a:r>
              <a:rPr sz="1600" b="1">
                <a:latin typeface="Calibri"/>
                <a:ea typeface="Calibri"/>
                <a:cs typeface="Calibri"/>
              </a:rPr>
              <a:t>總分: 0.2 x 臨床資訊 + 0.3 x 病機 + 0.4 x 證型 + 0.1 x 解釋</a:t>
            </a:r>
            <a:endParaRPr sz="1600" b="1" kern="100">
              <a:latin typeface="Calibri"/>
              <a:ea typeface="Calibri"/>
              <a:cs typeface="Calibri"/>
            </a:endParaRPr>
          </a:p>
        </p:txBody>
      </p:sp>
    </p:spTree>
    <p:extLst>
      <p:ext uri="{BB962C8B-B14F-4D97-AF65-F5344CB8AC3E}">
        <p14:creationId xmlns:p14="http://schemas.microsoft.com/office/powerpoint/2010/main" val="1083775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實驗流程</a:t>
            </a:r>
          </a:p>
        </p:txBody>
      </p:sp>
      <p:sp>
        <p:nvSpPr>
          <p:cNvPr id="3" name="矩形 2">
            <a:extLst>
              <a:ext uri="{FF2B5EF4-FFF2-40B4-BE49-F238E27FC236}">
                <a16:creationId xmlns:a16="http://schemas.microsoft.com/office/drawing/2014/main" id="{0DEF714D-DEE1-42AC-AF05-6518A5E74737}"/>
              </a:ext>
            </a:extLst>
          </p:cNvPr>
          <p:cNvSpPr>
            <a:spLocks noGrp="1"/>
          </p:cNvSpPr>
          <p:nvPr/>
        </p:nvSpPr>
        <p:spPr>
          <a:xfrm>
            <a:off x="1076325" y="1828800"/>
            <a:ext cx="1619250" cy="171450"/>
          </a:xfrm>
          <a:prstGeom prst="rect">
            <a:avLst/>
          </a:prstGeom>
          <a:noFill/>
          <a:ln w="0">
            <a:noFill/>
          </a:ln>
        </p:spPr>
        <p:txBody>
          <a:bodyPr wrap="square" lIns="0" tIns="0" rIns="0" bIns="0" anchor="t">
            <a:noAutofit/>
          </a:bodyPr>
          <a:lstStyle/>
          <a:p>
            <a:pPr algn="l">
              <a:buNone/>
              <a:defRPr sz="900" b="1">
                <a:solidFill>
                  <a:srgbClr val="865640"/>
                </a:solidFill>
                <a:latin typeface="Calibri"/>
                <a:ea typeface="Calibri"/>
                <a:cs typeface="Calibri"/>
              </a:defRPr>
            </a:pPr>
            <a:r>
              <a:rPr sz="900" b="1">
                <a:solidFill>
                  <a:srgbClr val="865640"/>
                </a:solidFill>
                <a:latin typeface="Calibri"/>
                <a:ea typeface="Calibri"/>
                <a:cs typeface="Calibri"/>
              </a:rPr>
              <a:t>資料準備</a:t>
            </a:r>
          </a:p>
        </p:txBody>
      </p:sp>
      <p:sp>
        <p:nvSpPr>
          <p:cNvPr id="4" name="矩形 3">
            <a:extLst>
              <a:ext uri="{FF2B5EF4-FFF2-40B4-BE49-F238E27FC236}">
                <a16:creationId xmlns:a16="http://schemas.microsoft.com/office/drawing/2014/main" id="{7165808A-5F96-4B19-B6FC-E6E17F898E04}"/>
              </a:ext>
            </a:extLst>
          </p:cNvPr>
          <p:cNvSpPr>
            <a:spLocks noGrp="1"/>
          </p:cNvSpPr>
          <p:nvPr/>
        </p:nvSpPr>
        <p:spPr>
          <a:xfrm>
            <a:off x="1076325" y="2000250"/>
            <a:ext cx="838200" cy="19050"/>
          </a:xfrm>
          <a:prstGeom prst="rect">
            <a:avLst/>
          </a:prstGeom>
          <a:solidFill>
            <a:srgbClr val="865640"/>
          </a:solidFill>
          <a:ln w="0">
            <a:solidFill>
              <a:srgbClr val="865640"/>
            </a:solidFill>
          </a:ln>
        </p:spPr>
      </p:sp>
      <p:sp>
        <p:nvSpPr>
          <p:cNvPr id="5" name="矩形 4">
            <a:extLst>
              <a:ext uri="{FF2B5EF4-FFF2-40B4-BE49-F238E27FC236}">
                <a16:creationId xmlns:a16="http://schemas.microsoft.com/office/drawing/2014/main" id="{3753AEFC-B3EA-4FF0-9CF6-02DE76F71E2E}"/>
              </a:ext>
            </a:extLst>
          </p:cNvPr>
          <p:cNvSpPr>
            <a:spLocks noGrp="1"/>
          </p:cNvSpPr>
          <p:nvPr/>
        </p:nvSpPr>
        <p:spPr>
          <a:xfrm>
            <a:off x="1076325" y="3209925"/>
            <a:ext cx="1619250" cy="171450"/>
          </a:xfrm>
          <a:prstGeom prst="rect">
            <a:avLst/>
          </a:prstGeom>
          <a:noFill/>
          <a:ln w="0">
            <a:noFill/>
          </a:ln>
        </p:spPr>
        <p:txBody>
          <a:bodyPr wrap="square" lIns="0" tIns="0" rIns="0" bIns="0" anchor="t">
            <a:noAutofit/>
          </a:bodyPr>
          <a:lstStyle/>
          <a:p>
            <a:pPr algn="l">
              <a:buNone/>
              <a:defRPr sz="900" b="1">
                <a:solidFill>
                  <a:srgbClr val="E48312"/>
                </a:solidFill>
                <a:latin typeface="Calibri"/>
                <a:ea typeface="Calibri"/>
                <a:cs typeface="Calibri"/>
              </a:defRPr>
            </a:pPr>
            <a:r>
              <a:rPr sz="900" b="1">
                <a:solidFill>
                  <a:srgbClr val="E48312"/>
                </a:solidFill>
                <a:latin typeface="Calibri"/>
                <a:ea typeface="Calibri"/>
                <a:cs typeface="Calibri"/>
              </a:rPr>
              <a:t>驗證與方法選擇</a:t>
            </a:r>
          </a:p>
        </p:txBody>
      </p:sp>
      <p:sp>
        <p:nvSpPr>
          <p:cNvPr id="6" name="矩形 5">
            <a:extLst>
              <a:ext uri="{FF2B5EF4-FFF2-40B4-BE49-F238E27FC236}">
                <a16:creationId xmlns:a16="http://schemas.microsoft.com/office/drawing/2014/main" id="{B15EB480-2630-4EE7-A4A9-F91F3D56A9FD}"/>
              </a:ext>
            </a:extLst>
          </p:cNvPr>
          <p:cNvSpPr>
            <a:spLocks noGrp="1"/>
          </p:cNvSpPr>
          <p:nvPr/>
        </p:nvSpPr>
        <p:spPr>
          <a:xfrm>
            <a:off x="1076325" y="3381375"/>
            <a:ext cx="838200" cy="19050"/>
          </a:xfrm>
          <a:prstGeom prst="rect">
            <a:avLst/>
          </a:prstGeom>
          <a:solidFill>
            <a:srgbClr val="E48312"/>
          </a:solidFill>
          <a:ln w="0">
            <a:solidFill>
              <a:srgbClr val="E48312"/>
            </a:solidFill>
          </a:ln>
        </p:spPr>
      </p:sp>
      <p:sp>
        <p:nvSpPr>
          <p:cNvPr id="7" name="矩形 6">
            <a:extLst>
              <a:ext uri="{FF2B5EF4-FFF2-40B4-BE49-F238E27FC236}">
                <a16:creationId xmlns:a16="http://schemas.microsoft.com/office/drawing/2014/main" id="{8E3C6054-5D81-46C0-8072-C551E9609FAD}"/>
              </a:ext>
            </a:extLst>
          </p:cNvPr>
          <p:cNvSpPr>
            <a:spLocks noGrp="1"/>
          </p:cNvSpPr>
          <p:nvPr/>
        </p:nvSpPr>
        <p:spPr>
          <a:xfrm>
            <a:off x="1076325" y="4591050"/>
            <a:ext cx="1619250" cy="171450"/>
          </a:xfrm>
          <a:prstGeom prst="rect">
            <a:avLst/>
          </a:prstGeom>
          <a:noFill/>
          <a:ln w="0">
            <a:noFill/>
          </a:ln>
        </p:spPr>
        <p:txBody>
          <a:bodyPr wrap="square" lIns="0" tIns="0" rIns="0" bIns="0" anchor="t">
            <a:noAutofit/>
          </a:bodyPr>
          <a:lstStyle/>
          <a:p>
            <a:pPr algn="l">
              <a:buNone/>
              <a:defRPr sz="900" b="1">
                <a:solidFill>
                  <a:srgbClr val="BD582C"/>
                </a:solidFill>
                <a:latin typeface="Calibri"/>
                <a:ea typeface="Calibri"/>
                <a:cs typeface="Calibri"/>
              </a:defRPr>
            </a:pPr>
            <a:r>
              <a:rPr sz="900" b="1">
                <a:solidFill>
                  <a:srgbClr val="BD582C"/>
                </a:solidFill>
                <a:latin typeface="Calibri"/>
                <a:ea typeface="Calibri"/>
                <a:cs typeface="Calibri"/>
              </a:rPr>
              <a:t>正式測試與分析</a:t>
            </a:r>
          </a:p>
        </p:txBody>
      </p:sp>
      <p:sp>
        <p:nvSpPr>
          <p:cNvPr id="8" name="矩形 7">
            <a:extLst>
              <a:ext uri="{FF2B5EF4-FFF2-40B4-BE49-F238E27FC236}">
                <a16:creationId xmlns:a16="http://schemas.microsoft.com/office/drawing/2014/main" id="{57510303-5E19-41EF-A02C-D8794855DB4A}"/>
              </a:ext>
            </a:extLst>
          </p:cNvPr>
          <p:cNvSpPr>
            <a:spLocks noGrp="1"/>
          </p:cNvSpPr>
          <p:nvPr/>
        </p:nvSpPr>
        <p:spPr>
          <a:xfrm>
            <a:off x="1076325" y="4762500"/>
            <a:ext cx="838200" cy="19050"/>
          </a:xfrm>
          <a:prstGeom prst="rect">
            <a:avLst/>
          </a:prstGeom>
          <a:solidFill>
            <a:srgbClr val="BD582C"/>
          </a:solidFill>
          <a:ln w="0">
            <a:solidFill>
              <a:srgbClr val="BD582C"/>
            </a:solidFill>
          </a:ln>
        </p:spPr>
      </p:sp>
      <p:sp>
        <p:nvSpPr>
          <p:cNvPr id="9" name="矩形 8">
            <a:extLst>
              <a:ext uri="{FF2B5EF4-FFF2-40B4-BE49-F238E27FC236}">
                <a16:creationId xmlns:a16="http://schemas.microsoft.com/office/drawing/2014/main" id="{1D0074D9-4AD6-4B9D-887F-AC9894E41DAA}"/>
              </a:ext>
            </a:extLst>
          </p:cNvPr>
          <p:cNvSpPr>
            <a:spLocks noGrp="1"/>
          </p:cNvSpPr>
          <p:nvPr/>
        </p:nvSpPr>
        <p:spPr>
          <a:xfrm>
            <a:off x="1076325" y="2076450"/>
            <a:ext cx="2095500" cy="952500"/>
          </a:xfrm>
          <a:prstGeom prst="rect">
            <a:avLst/>
          </a:prstGeom>
          <a:solidFill>
            <a:srgbClr val="FFFFFF"/>
          </a:solidFill>
          <a:ln w="9525">
            <a:solidFill>
              <a:srgbClr val="BFBFBF"/>
            </a:solidFill>
          </a:ln>
        </p:spPr>
      </p:sp>
      <p:sp>
        <p:nvSpPr>
          <p:cNvPr id="10" name="矩形 9">
            <a:extLst>
              <a:ext uri="{FF2B5EF4-FFF2-40B4-BE49-F238E27FC236}">
                <a16:creationId xmlns:a16="http://schemas.microsoft.com/office/drawing/2014/main" id="{03A29CCC-8D41-4E0A-83FA-E293924B1D66}"/>
              </a:ext>
            </a:extLst>
          </p:cNvPr>
          <p:cNvSpPr>
            <a:spLocks noGrp="1"/>
          </p:cNvSpPr>
          <p:nvPr/>
        </p:nvSpPr>
        <p:spPr>
          <a:xfrm>
            <a:off x="1190625" y="214312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01</a:t>
            </a:r>
          </a:p>
        </p:txBody>
      </p:sp>
      <p:sp>
        <p:nvSpPr>
          <p:cNvPr id="11" name="矩形 10">
            <a:extLst>
              <a:ext uri="{FF2B5EF4-FFF2-40B4-BE49-F238E27FC236}">
                <a16:creationId xmlns:a16="http://schemas.microsoft.com/office/drawing/2014/main" id="{280EF027-254A-4F4C-B160-86FD0846A198}"/>
              </a:ext>
            </a:extLst>
          </p:cNvPr>
          <p:cNvSpPr>
            <a:spLocks noGrp="1"/>
          </p:cNvSpPr>
          <p:nvPr/>
        </p:nvSpPr>
        <p:spPr>
          <a:xfrm>
            <a:off x="1190625" y="231457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整理TCMEval-SDT</a:t>
            </a:r>
          </a:p>
        </p:txBody>
      </p:sp>
      <p:sp>
        <p:nvSpPr>
          <p:cNvPr id="12" name="矩形 11">
            <a:extLst>
              <a:ext uri="{FF2B5EF4-FFF2-40B4-BE49-F238E27FC236}">
                <a16:creationId xmlns:a16="http://schemas.microsoft.com/office/drawing/2014/main" id="{85CBB09A-5683-4E78-B275-5C8AF7C27E31}"/>
              </a:ext>
            </a:extLst>
          </p:cNvPr>
          <p:cNvSpPr>
            <a:spLocks noGrp="1"/>
          </p:cNvSpPr>
          <p:nvPr/>
        </p:nvSpPr>
        <p:spPr>
          <a:xfrm>
            <a:off x="1171575" y="266700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確認病例、欄位與資料切分</a:t>
            </a:r>
          </a:p>
        </p:txBody>
      </p:sp>
      <p:sp>
        <p:nvSpPr>
          <p:cNvPr id="13" name="矩形 12">
            <a:extLst>
              <a:ext uri="{FF2B5EF4-FFF2-40B4-BE49-F238E27FC236}">
                <a16:creationId xmlns:a16="http://schemas.microsoft.com/office/drawing/2014/main" id="{CA6A30E8-26B4-4D4B-B481-BAC902F07D15}"/>
              </a:ext>
            </a:extLst>
          </p:cNvPr>
          <p:cNvSpPr>
            <a:spLocks noGrp="1"/>
          </p:cNvSpPr>
          <p:nvPr/>
        </p:nvSpPr>
        <p:spPr>
          <a:xfrm>
            <a:off x="3724275" y="2076450"/>
            <a:ext cx="2095500" cy="952500"/>
          </a:xfrm>
          <a:prstGeom prst="rect">
            <a:avLst/>
          </a:prstGeom>
          <a:solidFill>
            <a:srgbClr val="FFFFFF"/>
          </a:solidFill>
          <a:ln w="9525">
            <a:solidFill>
              <a:srgbClr val="BFBFBF"/>
            </a:solidFill>
          </a:ln>
        </p:spPr>
      </p:sp>
      <p:sp>
        <p:nvSpPr>
          <p:cNvPr id="14" name="矩形 13">
            <a:extLst>
              <a:ext uri="{FF2B5EF4-FFF2-40B4-BE49-F238E27FC236}">
                <a16:creationId xmlns:a16="http://schemas.microsoft.com/office/drawing/2014/main" id="{69A14C94-5464-4056-8CD0-5FBCB751A3CA}"/>
              </a:ext>
            </a:extLst>
          </p:cNvPr>
          <p:cNvSpPr>
            <a:spLocks noGrp="1"/>
          </p:cNvSpPr>
          <p:nvPr/>
        </p:nvSpPr>
        <p:spPr>
          <a:xfrm>
            <a:off x="3838575" y="214312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02</a:t>
            </a:r>
          </a:p>
        </p:txBody>
      </p:sp>
      <p:sp>
        <p:nvSpPr>
          <p:cNvPr id="15" name="矩形 14">
            <a:extLst>
              <a:ext uri="{FF2B5EF4-FFF2-40B4-BE49-F238E27FC236}">
                <a16:creationId xmlns:a16="http://schemas.microsoft.com/office/drawing/2014/main" id="{D17671B4-965B-40CB-AADD-0FD2F797A012}"/>
              </a:ext>
            </a:extLst>
          </p:cNvPr>
          <p:cNvSpPr>
            <a:spLocks noGrp="1"/>
          </p:cNvSpPr>
          <p:nvPr/>
        </p:nvSpPr>
        <p:spPr>
          <a:xfrm>
            <a:off x="3838575" y="231457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建立訓練檢索庫</a:t>
            </a:r>
          </a:p>
        </p:txBody>
      </p:sp>
      <p:sp>
        <p:nvSpPr>
          <p:cNvPr id="16" name="矩形 15">
            <a:extLst>
              <a:ext uri="{FF2B5EF4-FFF2-40B4-BE49-F238E27FC236}">
                <a16:creationId xmlns:a16="http://schemas.microsoft.com/office/drawing/2014/main" id="{3BAB999A-9104-409F-B3F8-D19FAADE9280}"/>
              </a:ext>
            </a:extLst>
          </p:cNvPr>
          <p:cNvSpPr>
            <a:spLocks noGrp="1"/>
          </p:cNvSpPr>
          <p:nvPr/>
        </p:nvSpPr>
        <p:spPr>
          <a:xfrm>
            <a:off x="3819525" y="266700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使用200筆訓練病例</a:t>
            </a:r>
          </a:p>
        </p:txBody>
      </p:sp>
      <p:sp>
        <p:nvSpPr>
          <p:cNvPr id="17" name="矩形 16">
            <a:extLst>
              <a:ext uri="{FF2B5EF4-FFF2-40B4-BE49-F238E27FC236}">
                <a16:creationId xmlns:a16="http://schemas.microsoft.com/office/drawing/2014/main" id="{9B659863-5201-46D3-852C-B09071718EE0}"/>
              </a:ext>
            </a:extLst>
          </p:cNvPr>
          <p:cNvSpPr>
            <a:spLocks noGrp="1"/>
          </p:cNvSpPr>
          <p:nvPr/>
        </p:nvSpPr>
        <p:spPr>
          <a:xfrm>
            <a:off x="6372225" y="2076450"/>
            <a:ext cx="2095500" cy="952500"/>
          </a:xfrm>
          <a:prstGeom prst="rect">
            <a:avLst/>
          </a:prstGeom>
          <a:solidFill>
            <a:srgbClr val="FFFFFF"/>
          </a:solidFill>
          <a:ln w="9525">
            <a:solidFill>
              <a:srgbClr val="BFBFBF"/>
            </a:solidFill>
          </a:ln>
        </p:spPr>
      </p:sp>
      <p:sp>
        <p:nvSpPr>
          <p:cNvPr id="18" name="矩形 17">
            <a:extLst>
              <a:ext uri="{FF2B5EF4-FFF2-40B4-BE49-F238E27FC236}">
                <a16:creationId xmlns:a16="http://schemas.microsoft.com/office/drawing/2014/main" id="{2455FB80-7B29-4A2B-95AB-E8531393114A}"/>
              </a:ext>
            </a:extLst>
          </p:cNvPr>
          <p:cNvSpPr>
            <a:spLocks noGrp="1"/>
          </p:cNvSpPr>
          <p:nvPr/>
        </p:nvSpPr>
        <p:spPr>
          <a:xfrm>
            <a:off x="6486525" y="214312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03</a:t>
            </a:r>
          </a:p>
        </p:txBody>
      </p:sp>
      <p:sp>
        <p:nvSpPr>
          <p:cNvPr id="19" name="矩形 18">
            <a:extLst>
              <a:ext uri="{FF2B5EF4-FFF2-40B4-BE49-F238E27FC236}">
                <a16:creationId xmlns:a16="http://schemas.microsoft.com/office/drawing/2014/main" id="{5A804886-F194-42CA-84B9-9356F2DDC4FD}"/>
              </a:ext>
            </a:extLst>
          </p:cNvPr>
          <p:cNvSpPr>
            <a:spLocks noGrp="1"/>
          </p:cNvSpPr>
          <p:nvPr/>
        </p:nvSpPr>
        <p:spPr>
          <a:xfrm>
            <a:off x="6486525" y="231457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轉換模型輸入</a:t>
            </a:r>
          </a:p>
        </p:txBody>
      </p:sp>
      <p:sp>
        <p:nvSpPr>
          <p:cNvPr id="20" name="矩形 19">
            <a:extLst>
              <a:ext uri="{FF2B5EF4-FFF2-40B4-BE49-F238E27FC236}">
                <a16:creationId xmlns:a16="http://schemas.microsoft.com/office/drawing/2014/main" id="{3048E6E1-C00B-4ABF-9734-C010A5D9EA83}"/>
              </a:ext>
            </a:extLst>
          </p:cNvPr>
          <p:cNvSpPr>
            <a:spLocks noGrp="1"/>
          </p:cNvSpPr>
          <p:nvPr/>
        </p:nvSpPr>
        <p:spPr>
          <a:xfrm>
            <a:off x="6467475" y="266700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驗證50筆、測試50筆</a:t>
            </a:r>
          </a:p>
        </p:txBody>
      </p:sp>
      <p:sp>
        <p:nvSpPr>
          <p:cNvPr id="21" name="矩形 20">
            <a:extLst>
              <a:ext uri="{FF2B5EF4-FFF2-40B4-BE49-F238E27FC236}">
                <a16:creationId xmlns:a16="http://schemas.microsoft.com/office/drawing/2014/main" id="{2C82DB92-AF94-4337-9E56-26D7DBBAEC92}"/>
              </a:ext>
            </a:extLst>
          </p:cNvPr>
          <p:cNvSpPr>
            <a:spLocks noGrp="1"/>
          </p:cNvSpPr>
          <p:nvPr/>
        </p:nvSpPr>
        <p:spPr>
          <a:xfrm>
            <a:off x="9020175" y="2076450"/>
            <a:ext cx="2095500" cy="952500"/>
          </a:xfrm>
          <a:prstGeom prst="rect">
            <a:avLst/>
          </a:prstGeom>
          <a:solidFill>
            <a:srgbClr val="FFFFFF"/>
          </a:solidFill>
          <a:ln w="9525">
            <a:solidFill>
              <a:srgbClr val="BFBFBF"/>
            </a:solidFill>
          </a:ln>
        </p:spPr>
      </p:sp>
      <p:sp>
        <p:nvSpPr>
          <p:cNvPr id="22" name="矩形 21">
            <a:extLst>
              <a:ext uri="{FF2B5EF4-FFF2-40B4-BE49-F238E27FC236}">
                <a16:creationId xmlns:a16="http://schemas.microsoft.com/office/drawing/2014/main" id="{31C61006-5CB0-4F3E-8AFC-B29A78FFE191}"/>
              </a:ext>
            </a:extLst>
          </p:cNvPr>
          <p:cNvSpPr>
            <a:spLocks noGrp="1"/>
          </p:cNvSpPr>
          <p:nvPr/>
        </p:nvSpPr>
        <p:spPr>
          <a:xfrm>
            <a:off x="9134475" y="214312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04</a:t>
            </a:r>
          </a:p>
        </p:txBody>
      </p:sp>
      <p:sp>
        <p:nvSpPr>
          <p:cNvPr id="23" name="矩形 22">
            <a:extLst>
              <a:ext uri="{FF2B5EF4-FFF2-40B4-BE49-F238E27FC236}">
                <a16:creationId xmlns:a16="http://schemas.microsoft.com/office/drawing/2014/main" id="{650C7968-BE53-4205-A539-AAAB749AD908}"/>
              </a:ext>
            </a:extLst>
          </p:cNvPr>
          <p:cNvSpPr>
            <a:spLocks noGrp="1"/>
          </p:cNvSpPr>
          <p:nvPr/>
        </p:nvSpPr>
        <p:spPr>
          <a:xfrm>
            <a:off x="9134475" y="231457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隔離標準答案</a:t>
            </a:r>
          </a:p>
        </p:txBody>
      </p:sp>
      <p:sp>
        <p:nvSpPr>
          <p:cNvPr id="24" name="矩形 23">
            <a:extLst>
              <a:ext uri="{FF2B5EF4-FFF2-40B4-BE49-F238E27FC236}">
                <a16:creationId xmlns:a16="http://schemas.microsoft.com/office/drawing/2014/main" id="{B50F85CF-6FC6-4A49-A26A-5D0CDFD06795}"/>
              </a:ext>
            </a:extLst>
          </p:cNvPr>
          <p:cNvSpPr>
            <a:spLocks noGrp="1"/>
          </p:cNvSpPr>
          <p:nvPr/>
        </p:nvSpPr>
        <p:spPr>
          <a:xfrm>
            <a:off x="9115425" y="266700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生成階段不讀取答案</a:t>
            </a:r>
          </a:p>
        </p:txBody>
      </p:sp>
      <p:sp>
        <p:nvSpPr>
          <p:cNvPr id="25" name="箭號: 向右 24">
            <a:extLst>
              <a:ext uri="{FF2B5EF4-FFF2-40B4-BE49-F238E27FC236}">
                <a16:creationId xmlns:a16="http://schemas.microsoft.com/office/drawing/2014/main" id="{5A313456-117C-413B-9787-74B91A2E490C}"/>
              </a:ext>
            </a:extLst>
          </p:cNvPr>
          <p:cNvSpPr>
            <a:spLocks noGrp="1"/>
          </p:cNvSpPr>
          <p:nvPr/>
        </p:nvSpPr>
        <p:spPr>
          <a:xfrm>
            <a:off x="3257550" y="2438400"/>
            <a:ext cx="381000" cy="238125"/>
          </a:xfrm>
          <a:prstGeom prst="rightArrow">
            <a:avLst/>
          </a:prstGeom>
          <a:solidFill>
            <a:srgbClr val="C9C2BC"/>
          </a:solidFill>
          <a:ln w="0">
            <a:solidFill>
              <a:srgbClr val="C9C2BC"/>
            </a:solidFill>
          </a:ln>
        </p:spPr>
      </p:sp>
      <p:sp>
        <p:nvSpPr>
          <p:cNvPr id="26" name="箭號: 向右 25">
            <a:extLst>
              <a:ext uri="{FF2B5EF4-FFF2-40B4-BE49-F238E27FC236}">
                <a16:creationId xmlns:a16="http://schemas.microsoft.com/office/drawing/2014/main" id="{06188777-802F-4535-A302-9CE549475C7A}"/>
              </a:ext>
            </a:extLst>
          </p:cNvPr>
          <p:cNvSpPr>
            <a:spLocks noGrp="1"/>
          </p:cNvSpPr>
          <p:nvPr/>
        </p:nvSpPr>
        <p:spPr>
          <a:xfrm>
            <a:off x="5905500" y="2438400"/>
            <a:ext cx="381000" cy="238125"/>
          </a:xfrm>
          <a:prstGeom prst="rightArrow">
            <a:avLst/>
          </a:prstGeom>
          <a:solidFill>
            <a:srgbClr val="C9C2BC"/>
          </a:solidFill>
          <a:ln w="0">
            <a:solidFill>
              <a:srgbClr val="C9C2BC"/>
            </a:solidFill>
          </a:ln>
        </p:spPr>
      </p:sp>
      <p:sp>
        <p:nvSpPr>
          <p:cNvPr id="27" name="箭號: 向右 26">
            <a:extLst>
              <a:ext uri="{FF2B5EF4-FFF2-40B4-BE49-F238E27FC236}">
                <a16:creationId xmlns:a16="http://schemas.microsoft.com/office/drawing/2014/main" id="{FA71261A-C273-4F35-9151-4E7638CCB5A2}"/>
              </a:ext>
            </a:extLst>
          </p:cNvPr>
          <p:cNvSpPr>
            <a:spLocks noGrp="1"/>
          </p:cNvSpPr>
          <p:nvPr/>
        </p:nvSpPr>
        <p:spPr>
          <a:xfrm>
            <a:off x="8553450" y="2438400"/>
            <a:ext cx="381000" cy="238125"/>
          </a:xfrm>
          <a:prstGeom prst="rightArrow">
            <a:avLst/>
          </a:prstGeom>
          <a:solidFill>
            <a:srgbClr val="C9C2BC"/>
          </a:solidFill>
          <a:ln w="0">
            <a:solidFill>
              <a:srgbClr val="C9C2BC"/>
            </a:solidFill>
          </a:ln>
        </p:spPr>
      </p:sp>
      <p:sp>
        <p:nvSpPr>
          <p:cNvPr id="28" name="箭號: 向下 27">
            <a:extLst>
              <a:ext uri="{FF2B5EF4-FFF2-40B4-BE49-F238E27FC236}">
                <a16:creationId xmlns:a16="http://schemas.microsoft.com/office/drawing/2014/main" id="{8464EF58-6262-444D-B243-FDE161FEE57E}"/>
              </a:ext>
            </a:extLst>
          </p:cNvPr>
          <p:cNvSpPr>
            <a:spLocks noGrp="1"/>
          </p:cNvSpPr>
          <p:nvPr/>
        </p:nvSpPr>
        <p:spPr>
          <a:xfrm>
            <a:off x="9934575" y="3076575"/>
            <a:ext cx="266700" cy="257175"/>
          </a:xfrm>
          <a:prstGeom prst="downArrow">
            <a:avLst/>
          </a:prstGeom>
          <a:solidFill>
            <a:srgbClr val="C9C2BC"/>
          </a:solidFill>
          <a:ln w="0">
            <a:solidFill>
              <a:srgbClr val="C9C2BC"/>
            </a:solidFill>
          </a:ln>
        </p:spPr>
      </p:sp>
      <p:sp>
        <p:nvSpPr>
          <p:cNvPr id="29" name="矩形 28">
            <a:extLst>
              <a:ext uri="{FF2B5EF4-FFF2-40B4-BE49-F238E27FC236}">
                <a16:creationId xmlns:a16="http://schemas.microsoft.com/office/drawing/2014/main" id="{264450CC-F926-410F-92F2-89C40248241F}"/>
              </a:ext>
            </a:extLst>
          </p:cNvPr>
          <p:cNvSpPr>
            <a:spLocks noGrp="1"/>
          </p:cNvSpPr>
          <p:nvPr/>
        </p:nvSpPr>
        <p:spPr>
          <a:xfrm>
            <a:off x="1076325" y="3457575"/>
            <a:ext cx="2095500" cy="952500"/>
          </a:xfrm>
          <a:prstGeom prst="rect">
            <a:avLst/>
          </a:prstGeom>
          <a:solidFill>
            <a:srgbClr val="FFF3E5"/>
          </a:solidFill>
          <a:ln w="9525">
            <a:solidFill>
              <a:srgbClr val="E48312"/>
            </a:solidFill>
          </a:ln>
        </p:spPr>
      </p:sp>
      <p:sp>
        <p:nvSpPr>
          <p:cNvPr id="30" name="矩形 29">
            <a:extLst>
              <a:ext uri="{FF2B5EF4-FFF2-40B4-BE49-F238E27FC236}">
                <a16:creationId xmlns:a16="http://schemas.microsoft.com/office/drawing/2014/main" id="{3B7DE863-F4A5-4450-B35B-CF77DFC1E59B}"/>
              </a:ext>
            </a:extLst>
          </p:cNvPr>
          <p:cNvSpPr>
            <a:spLocks noGrp="1"/>
          </p:cNvSpPr>
          <p:nvPr/>
        </p:nvSpPr>
        <p:spPr>
          <a:xfrm>
            <a:off x="1190625" y="3524250"/>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08</a:t>
            </a:r>
          </a:p>
        </p:txBody>
      </p:sp>
      <p:sp>
        <p:nvSpPr>
          <p:cNvPr id="31" name="矩形 30">
            <a:extLst>
              <a:ext uri="{FF2B5EF4-FFF2-40B4-BE49-F238E27FC236}">
                <a16:creationId xmlns:a16="http://schemas.microsoft.com/office/drawing/2014/main" id="{376A6219-FFC5-4570-8208-37E2D9CC81DD}"/>
              </a:ext>
            </a:extLst>
          </p:cNvPr>
          <p:cNvSpPr>
            <a:spLocks noGrp="1"/>
          </p:cNvSpPr>
          <p:nvPr/>
        </p:nvSpPr>
        <p:spPr>
          <a:xfrm>
            <a:off x="1190625" y="3695700"/>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凍結實驗設定</a:t>
            </a:r>
          </a:p>
        </p:txBody>
      </p:sp>
      <p:sp>
        <p:nvSpPr>
          <p:cNvPr id="32" name="矩形 31">
            <a:extLst>
              <a:ext uri="{FF2B5EF4-FFF2-40B4-BE49-F238E27FC236}">
                <a16:creationId xmlns:a16="http://schemas.microsoft.com/office/drawing/2014/main" id="{4150442E-FCB6-4344-9CB3-B0337D53472B}"/>
              </a:ext>
            </a:extLst>
          </p:cNvPr>
          <p:cNvSpPr>
            <a:spLocks noGrp="1"/>
          </p:cNvSpPr>
          <p:nvPr/>
        </p:nvSpPr>
        <p:spPr>
          <a:xfrm>
            <a:off x="1171575" y="4048125"/>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提示詞、模型、參數與評分</a:t>
            </a:r>
          </a:p>
        </p:txBody>
      </p:sp>
      <p:sp>
        <p:nvSpPr>
          <p:cNvPr id="33" name="矩形 32">
            <a:extLst>
              <a:ext uri="{FF2B5EF4-FFF2-40B4-BE49-F238E27FC236}">
                <a16:creationId xmlns:a16="http://schemas.microsoft.com/office/drawing/2014/main" id="{87C88483-2876-4B97-BDBD-FF1A8585C8CD}"/>
              </a:ext>
            </a:extLst>
          </p:cNvPr>
          <p:cNvSpPr>
            <a:spLocks noGrp="1"/>
          </p:cNvSpPr>
          <p:nvPr/>
        </p:nvSpPr>
        <p:spPr>
          <a:xfrm>
            <a:off x="3724275" y="3457575"/>
            <a:ext cx="2095500" cy="952500"/>
          </a:xfrm>
          <a:prstGeom prst="rect">
            <a:avLst/>
          </a:prstGeom>
          <a:solidFill>
            <a:srgbClr val="F8E8E1"/>
          </a:solidFill>
          <a:ln w="9525">
            <a:solidFill>
              <a:srgbClr val="BD582C"/>
            </a:solidFill>
          </a:ln>
        </p:spPr>
      </p:sp>
      <p:sp>
        <p:nvSpPr>
          <p:cNvPr id="34" name="矩形 33">
            <a:extLst>
              <a:ext uri="{FF2B5EF4-FFF2-40B4-BE49-F238E27FC236}">
                <a16:creationId xmlns:a16="http://schemas.microsoft.com/office/drawing/2014/main" id="{C792B9CB-1293-4A64-B17B-CDA1EECE4946}"/>
              </a:ext>
            </a:extLst>
          </p:cNvPr>
          <p:cNvSpPr>
            <a:spLocks noGrp="1"/>
          </p:cNvSpPr>
          <p:nvPr/>
        </p:nvSpPr>
        <p:spPr>
          <a:xfrm>
            <a:off x="3838575" y="3524250"/>
            <a:ext cx="342900" cy="209550"/>
          </a:xfrm>
          <a:prstGeom prst="rect">
            <a:avLst/>
          </a:prstGeom>
          <a:noFill/>
          <a:ln w="0">
            <a:noFill/>
          </a:ln>
        </p:spPr>
        <p:txBody>
          <a:bodyPr wrap="square" lIns="47625" tIns="28575" rIns="47625" bIns="28575" anchor="t">
            <a:noAutofit/>
          </a:bodyPr>
          <a:lstStyle/>
          <a:p>
            <a:pPr algn="l">
              <a:buNone/>
              <a:defRPr sz="975" b="1">
                <a:solidFill>
                  <a:srgbClr val="BD582C"/>
                </a:solidFill>
                <a:latin typeface="Calibri"/>
                <a:ea typeface="Calibri"/>
                <a:cs typeface="Calibri"/>
              </a:defRPr>
            </a:pPr>
            <a:r>
              <a:rPr sz="975" b="1">
                <a:solidFill>
                  <a:srgbClr val="BD582C"/>
                </a:solidFill>
                <a:latin typeface="Calibri"/>
                <a:ea typeface="Calibri"/>
                <a:cs typeface="Calibri"/>
              </a:rPr>
              <a:t>07</a:t>
            </a:r>
          </a:p>
        </p:txBody>
      </p:sp>
      <p:sp>
        <p:nvSpPr>
          <p:cNvPr id="35" name="矩形 34">
            <a:extLst>
              <a:ext uri="{FF2B5EF4-FFF2-40B4-BE49-F238E27FC236}">
                <a16:creationId xmlns:a16="http://schemas.microsoft.com/office/drawing/2014/main" id="{EDEE6F8A-96CD-4B54-B956-F4DB8AEF7A39}"/>
              </a:ext>
            </a:extLst>
          </p:cNvPr>
          <p:cNvSpPr>
            <a:spLocks noGrp="1"/>
          </p:cNvSpPr>
          <p:nvPr/>
        </p:nvSpPr>
        <p:spPr>
          <a:xfrm>
            <a:off x="3838575" y="3695700"/>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固定正式B組</a:t>
            </a:r>
          </a:p>
        </p:txBody>
      </p:sp>
      <p:sp>
        <p:nvSpPr>
          <p:cNvPr id="36" name="矩形 35">
            <a:extLst>
              <a:ext uri="{FF2B5EF4-FFF2-40B4-BE49-F238E27FC236}">
                <a16:creationId xmlns:a16="http://schemas.microsoft.com/office/drawing/2014/main" id="{56AE6883-D13F-4925-AD0E-0F446CD3E58A}"/>
              </a:ext>
            </a:extLst>
          </p:cNvPr>
          <p:cNvSpPr>
            <a:spLocks noGrp="1"/>
          </p:cNvSpPr>
          <p:nvPr/>
        </p:nvSpPr>
        <p:spPr>
          <a:xfrm>
            <a:off x="3819525" y="4048125"/>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選用最高分的BGE-M3 top-3</a:t>
            </a:r>
          </a:p>
        </p:txBody>
      </p:sp>
      <p:sp>
        <p:nvSpPr>
          <p:cNvPr id="37" name="矩形 36">
            <a:extLst>
              <a:ext uri="{FF2B5EF4-FFF2-40B4-BE49-F238E27FC236}">
                <a16:creationId xmlns:a16="http://schemas.microsoft.com/office/drawing/2014/main" id="{871C0652-EAB9-450C-8EA3-98E2FAC3258C}"/>
              </a:ext>
            </a:extLst>
          </p:cNvPr>
          <p:cNvSpPr>
            <a:spLocks noGrp="1"/>
          </p:cNvSpPr>
          <p:nvPr/>
        </p:nvSpPr>
        <p:spPr>
          <a:xfrm>
            <a:off x="6372225" y="3457575"/>
            <a:ext cx="2095500" cy="952500"/>
          </a:xfrm>
          <a:prstGeom prst="rect">
            <a:avLst/>
          </a:prstGeom>
          <a:solidFill>
            <a:srgbClr val="FFF3E5"/>
          </a:solidFill>
          <a:ln w="9525">
            <a:solidFill>
              <a:srgbClr val="E48312"/>
            </a:solidFill>
          </a:ln>
        </p:spPr>
      </p:sp>
      <p:sp>
        <p:nvSpPr>
          <p:cNvPr id="38" name="矩形 37">
            <a:extLst>
              <a:ext uri="{FF2B5EF4-FFF2-40B4-BE49-F238E27FC236}">
                <a16:creationId xmlns:a16="http://schemas.microsoft.com/office/drawing/2014/main" id="{055B0A83-5DE4-4207-B280-CB643E24734E}"/>
              </a:ext>
            </a:extLst>
          </p:cNvPr>
          <p:cNvSpPr>
            <a:spLocks noGrp="1"/>
          </p:cNvSpPr>
          <p:nvPr/>
        </p:nvSpPr>
        <p:spPr>
          <a:xfrm>
            <a:off x="6486525" y="3524250"/>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06</a:t>
            </a:r>
          </a:p>
        </p:txBody>
      </p:sp>
      <p:sp>
        <p:nvSpPr>
          <p:cNvPr id="39" name="矩形 38">
            <a:extLst>
              <a:ext uri="{FF2B5EF4-FFF2-40B4-BE49-F238E27FC236}">
                <a16:creationId xmlns:a16="http://schemas.microsoft.com/office/drawing/2014/main" id="{7C70EFFE-4CFE-444D-9DE0-A79A5F209289}"/>
              </a:ext>
            </a:extLst>
          </p:cNvPr>
          <p:cNvSpPr>
            <a:spLocks noGrp="1"/>
          </p:cNvSpPr>
          <p:nvPr/>
        </p:nvSpPr>
        <p:spPr>
          <a:xfrm>
            <a:off x="6486525" y="3695700"/>
            <a:ext cx="1866900" cy="361950"/>
          </a:xfrm>
          <a:prstGeom prst="rect">
            <a:avLst/>
          </a:prstGeom>
          <a:noFill/>
          <a:ln w="0">
            <a:noFill/>
          </a:ln>
        </p:spPr>
        <p:txBody>
          <a:bodyPr wrap="square" lIns="47625" tIns="28575" rIns="47625" bIns="28575" anchor="ctr">
            <a:noAutofit/>
          </a:bodyPr>
          <a:lstStyle/>
          <a:p>
            <a:pPr algn="ctr">
              <a:buNone/>
              <a:defRPr sz="1088" b="1">
                <a:solidFill>
                  <a:srgbClr val="414141"/>
                </a:solidFill>
                <a:latin typeface="Calibri"/>
                <a:ea typeface="Calibri"/>
                <a:cs typeface="Calibri"/>
              </a:defRPr>
            </a:pPr>
            <a:r>
              <a:rPr sz="1088" b="1">
                <a:solidFill>
                  <a:srgbClr val="414141"/>
                </a:solidFill>
                <a:latin typeface="Calibri"/>
                <a:ea typeface="Calibri"/>
                <a:cs typeface="Calibri"/>
              </a:rPr>
              <a:t>比較驗證分數</a:t>
            </a:r>
          </a:p>
        </p:txBody>
      </p:sp>
      <p:sp>
        <p:nvSpPr>
          <p:cNvPr id="40" name="矩形 39">
            <a:extLst>
              <a:ext uri="{FF2B5EF4-FFF2-40B4-BE49-F238E27FC236}">
                <a16:creationId xmlns:a16="http://schemas.microsoft.com/office/drawing/2014/main" id="{BDF96812-2B58-46F4-83FE-53D1B4072BD7}"/>
              </a:ext>
            </a:extLst>
          </p:cNvPr>
          <p:cNvSpPr>
            <a:spLocks noGrp="1"/>
          </p:cNvSpPr>
          <p:nvPr/>
        </p:nvSpPr>
        <p:spPr>
          <a:xfrm>
            <a:off x="6467475" y="4048125"/>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59.28%／59.64%／60.25%</a:t>
            </a:r>
          </a:p>
        </p:txBody>
      </p:sp>
      <p:sp>
        <p:nvSpPr>
          <p:cNvPr id="41" name="矩形 40">
            <a:extLst>
              <a:ext uri="{FF2B5EF4-FFF2-40B4-BE49-F238E27FC236}">
                <a16:creationId xmlns:a16="http://schemas.microsoft.com/office/drawing/2014/main" id="{7A9774AB-E420-4008-A38A-EA05CE0351C2}"/>
              </a:ext>
            </a:extLst>
          </p:cNvPr>
          <p:cNvSpPr>
            <a:spLocks noGrp="1"/>
          </p:cNvSpPr>
          <p:nvPr/>
        </p:nvSpPr>
        <p:spPr>
          <a:xfrm>
            <a:off x="9020175" y="3457575"/>
            <a:ext cx="2095500" cy="952500"/>
          </a:xfrm>
          <a:prstGeom prst="rect">
            <a:avLst/>
          </a:prstGeom>
          <a:solidFill>
            <a:srgbClr val="FFFFFF"/>
          </a:solidFill>
          <a:ln w="9525">
            <a:solidFill>
              <a:srgbClr val="E48312"/>
            </a:solidFill>
          </a:ln>
        </p:spPr>
      </p:sp>
      <p:sp>
        <p:nvSpPr>
          <p:cNvPr id="42" name="矩形 41">
            <a:extLst>
              <a:ext uri="{FF2B5EF4-FFF2-40B4-BE49-F238E27FC236}">
                <a16:creationId xmlns:a16="http://schemas.microsoft.com/office/drawing/2014/main" id="{75CCEE17-E6F6-4590-A599-1B607C4B6F40}"/>
              </a:ext>
            </a:extLst>
          </p:cNvPr>
          <p:cNvSpPr>
            <a:spLocks noGrp="1"/>
          </p:cNvSpPr>
          <p:nvPr/>
        </p:nvSpPr>
        <p:spPr>
          <a:xfrm>
            <a:off x="9134475" y="3524250"/>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05</a:t>
            </a:r>
          </a:p>
        </p:txBody>
      </p:sp>
      <p:sp>
        <p:nvSpPr>
          <p:cNvPr id="43" name="矩形 42">
            <a:extLst>
              <a:ext uri="{FF2B5EF4-FFF2-40B4-BE49-F238E27FC236}">
                <a16:creationId xmlns:a16="http://schemas.microsoft.com/office/drawing/2014/main" id="{D5F834DE-040B-4914-92E7-F3371750BCEC}"/>
              </a:ext>
            </a:extLst>
          </p:cNvPr>
          <p:cNvSpPr>
            <a:spLocks noGrp="1"/>
          </p:cNvSpPr>
          <p:nvPr/>
        </p:nvSpPr>
        <p:spPr>
          <a:xfrm>
            <a:off x="9134475" y="3695700"/>
            <a:ext cx="1866900" cy="361950"/>
          </a:xfrm>
          <a:prstGeom prst="rect">
            <a:avLst/>
          </a:prstGeom>
          <a:noFill/>
          <a:ln w="0">
            <a:noFill/>
          </a:ln>
        </p:spPr>
        <p:txBody>
          <a:bodyPr wrap="square" lIns="47625" tIns="28575" rIns="47625" bIns="28575" anchor="ctr">
            <a:noAutofit/>
          </a:bodyPr>
          <a:lstStyle/>
          <a:p>
            <a:pPr algn="ctr">
              <a:buNone/>
              <a:defRPr sz="1088" b="1">
                <a:solidFill>
                  <a:srgbClr val="414141"/>
                </a:solidFill>
                <a:latin typeface="Calibri"/>
                <a:ea typeface="Calibri"/>
                <a:cs typeface="Calibri"/>
              </a:defRPr>
            </a:pPr>
            <a:r>
              <a:rPr sz="1088" b="1">
                <a:solidFill>
                  <a:srgbClr val="414141"/>
                </a:solidFill>
                <a:latin typeface="Calibri"/>
                <a:ea typeface="Calibri"/>
                <a:cs typeface="Calibri"/>
              </a:rPr>
              <a:t>驗證三種方法</a:t>
            </a:r>
          </a:p>
        </p:txBody>
      </p:sp>
      <p:sp>
        <p:nvSpPr>
          <p:cNvPr id="44" name="矩形 43">
            <a:extLst>
              <a:ext uri="{FF2B5EF4-FFF2-40B4-BE49-F238E27FC236}">
                <a16:creationId xmlns:a16="http://schemas.microsoft.com/office/drawing/2014/main" id="{D0288517-AA92-42AA-A962-5B94EFAE4885}"/>
              </a:ext>
            </a:extLst>
          </p:cNvPr>
          <p:cNvSpPr>
            <a:spLocks noGrp="1"/>
          </p:cNvSpPr>
          <p:nvPr/>
        </p:nvSpPr>
        <p:spPr>
          <a:xfrm>
            <a:off x="9115425" y="4048125"/>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純LLM／BM25／BGE-M3 top-3</a:t>
            </a:r>
          </a:p>
        </p:txBody>
      </p:sp>
      <p:sp>
        <p:nvSpPr>
          <p:cNvPr id="45" name="箭號: 向左 44">
            <a:extLst>
              <a:ext uri="{FF2B5EF4-FFF2-40B4-BE49-F238E27FC236}">
                <a16:creationId xmlns:a16="http://schemas.microsoft.com/office/drawing/2014/main" id="{8AB3FFCB-DF09-4886-9C85-89CE9B8AE081}"/>
              </a:ext>
            </a:extLst>
          </p:cNvPr>
          <p:cNvSpPr>
            <a:spLocks noGrp="1"/>
          </p:cNvSpPr>
          <p:nvPr/>
        </p:nvSpPr>
        <p:spPr>
          <a:xfrm>
            <a:off x="3257550" y="3819525"/>
            <a:ext cx="381000" cy="238125"/>
          </a:xfrm>
          <a:prstGeom prst="leftArrow">
            <a:avLst/>
          </a:prstGeom>
          <a:solidFill>
            <a:srgbClr val="C9C2BC"/>
          </a:solidFill>
          <a:ln w="0">
            <a:solidFill>
              <a:srgbClr val="C9C2BC"/>
            </a:solidFill>
          </a:ln>
        </p:spPr>
      </p:sp>
      <p:sp>
        <p:nvSpPr>
          <p:cNvPr id="46" name="箭號: 向左 45">
            <a:extLst>
              <a:ext uri="{FF2B5EF4-FFF2-40B4-BE49-F238E27FC236}">
                <a16:creationId xmlns:a16="http://schemas.microsoft.com/office/drawing/2014/main" id="{11CE108E-0553-4989-9878-0831EF9F698A}"/>
              </a:ext>
            </a:extLst>
          </p:cNvPr>
          <p:cNvSpPr>
            <a:spLocks noGrp="1"/>
          </p:cNvSpPr>
          <p:nvPr/>
        </p:nvSpPr>
        <p:spPr>
          <a:xfrm>
            <a:off x="5905500" y="3819525"/>
            <a:ext cx="381000" cy="238125"/>
          </a:xfrm>
          <a:prstGeom prst="leftArrow">
            <a:avLst/>
          </a:prstGeom>
          <a:solidFill>
            <a:srgbClr val="C9C2BC"/>
          </a:solidFill>
          <a:ln w="0">
            <a:solidFill>
              <a:srgbClr val="C9C2BC"/>
            </a:solidFill>
          </a:ln>
        </p:spPr>
      </p:sp>
      <p:sp>
        <p:nvSpPr>
          <p:cNvPr id="47" name="箭號: 向左 46">
            <a:extLst>
              <a:ext uri="{FF2B5EF4-FFF2-40B4-BE49-F238E27FC236}">
                <a16:creationId xmlns:a16="http://schemas.microsoft.com/office/drawing/2014/main" id="{FB100F5E-B59C-4AB0-A62C-DE8168403F6C}"/>
              </a:ext>
            </a:extLst>
          </p:cNvPr>
          <p:cNvSpPr>
            <a:spLocks noGrp="1"/>
          </p:cNvSpPr>
          <p:nvPr/>
        </p:nvSpPr>
        <p:spPr>
          <a:xfrm>
            <a:off x="8553450" y="3819525"/>
            <a:ext cx="381000" cy="238125"/>
          </a:xfrm>
          <a:prstGeom prst="leftArrow">
            <a:avLst/>
          </a:prstGeom>
          <a:solidFill>
            <a:srgbClr val="C9C2BC"/>
          </a:solidFill>
          <a:ln w="0">
            <a:solidFill>
              <a:srgbClr val="C9C2BC"/>
            </a:solidFill>
          </a:ln>
        </p:spPr>
      </p:sp>
      <p:sp>
        <p:nvSpPr>
          <p:cNvPr id="48" name="箭號: 向下 47">
            <a:extLst>
              <a:ext uri="{FF2B5EF4-FFF2-40B4-BE49-F238E27FC236}">
                <a16:creationId xmlns:a16="http://schemas.microsoft.com/office/drawing/2014/main" id="{BE887DF5-5DF0-4C3C-93D9-45FE72553376}"/>
              </a:ext>
            </a:extLst>
          </p:cNvPr>
          <p:cNvSpPr>
            <a:spLocks noGrp="1"/>
          </p:cNvSpPr>
          <p:nvPr/>
        </p:nvSpPr>
        <p:spPr>
          <a:xfrm>
            <a:off x="1990725" y="4457700"/>
            <a:ext cx="266700" cy="257175"/>
          </a:xfrm>
          <a:prstGeom prst="downArrow">
            <a:avLst/>
          </a:prstGeom>
          <a:solidFill>
            <a:srgbClr val="C9C2BC"/>
          </a:solidFill>
          <a:ln w="0">
            <a:solidFill>
              <a:srgbClr val="C9C2BC"/>
            </a:solidFill>
          </a:ln>
        </p:spPr>
      </p:sp>
      <p:sp>
        <p:nvSpPr>
          <p:cNvPr id="49" name="矩形 48">
            <a:extLst>
              <a:ext uri="{FF2B5EF4-FFF2-40B4-BE49-F238E27FC236}">
                <a16:creationId xmlns:a16="http://schemas.microsoft.com/office/drawing/2014/main" id="{D8D096AC-94A8-45D0-9D8C-AC34F5BA910A}"/>
              </a:ext>
            </a:extLst>
          </p:cNvPr>
          <p:cNvSpPr>
            <a:spLocks noGrp="1"/>
          </p:cNvSpPr>
          <p:nvPr/>
        </p:nvSpPr>
        <p:spPr>
          <a:xfrm>
            <a:off x="1076325" y="4838700"/>
            <a:ext cx="2095500" cy="952500"/>
          </a:xfrm>
          <a:prstGeom prst="rect">
            <a:avLst/>
          </a:prstGeom>
          <a:solidFill>
            <a:srgbClr val="F8E8E1"/>
          </a:solidFill>
          <a:ln w="9525">
            <a:solidFill>
              <a:srgbClr val="BD582C"/>
            </a:solidFill>
          </a:ln>
        </p:spPr>
      </p:sp>
      <p:sp>
        <p:nvSpPr>
          <p:cNvPr id="50" name="矩形 49">
            <a:extLst>
              <a:ext uri="{FF2B5EF4-FFF2-40B4-BE49-F238E27FC236}">
                <a16:creationId xmlns:a16="http://schemas.microsoft.com/office/drawing/2014/main" id="{F17318CD-4111-49FE-AC09-9D04ED96398B}"/>
              </a:ext>
            </a:extLst>
          </p:cNvPr>
          <p:cNvSpPr>
            <a:spLocks noGrp="1"/>
          </p:cNvSpPr>
          <p:nvPr/>
        </p:nvSpPr>
        <p:spPr>
          <a:xfrm>
            <a:off x="1190625" y="4905375"/>
            <a:ext cx="342900" cy="209550"/>
          </a:xfrm>
          <a:prstGeom prst="rect">
            <a:avLst/>
          </a:prstGeom>
          <a:noFill/>
          <a:ln w="0">
            <a:noFill/>
          </a:ln>
        </p:spPr>
        <p:txBody>
          <a:bodyPr wrap="square" lIns="47625" tIns="28575" rIns="47625" bIns="28575" anchor="t">
            <a:noAutofit/>
          </a:bodyPr>
          <a:lstStyle/>
          <a:p>
            <a:pPr algn="l">
              <a:buNone/>
              <a:defRPr sz="975" b="1">
                <a:solidFill>
                  <a:srgbClr val="BD582C"/>
                </a:solidFill>
                <a:latin typeface="Calibri"/>
                <a:ea typeface="Calibri"/>
                <a:cs typeface="Calibri"/>
              </a:defRPr>
            </a:pPr>
            <a:r>
              <a:rPr sz="975" b="1">
                <a:solidFill>
                  <a:srgbClr val="BD582C"/>
                </a:solidFill>
                <a:latin typeface="Calibri"/>
                <a:ea typeface="Calibri"/>
                <a:cs typeface="Calibri"/>
              </a:rPr>
              <a:t>09</a:t>
            </a:r>
          </a:p>
        </p:txBody>
      </p:sp>
      <p:sp>
        <p:nvSpPr>
          <p:cNvPr id="51" name="矩形 50">
            <a:extLst>
              <a:ext uri="{FF2B5EF4-FFF2-40B4-BE49-F238E27FC236}">
                <a16:creationId xmlns:a16="http://schemas.microsoft.com/office/drawing/2014/main" id="{240AEA40-B91B-4472-8C8E-0839CA51EDE2}"/>
              </a:ext>
            </a:extLst>
          </p:cNvPr>
          <p:cNvSpPr>
            <a:spLocks noGrp="1"/>
          </p:cNvSpPr>
          <p:nvPr/>
        </p:nvSpPr>
        <p:spPr>
          <a:xfrm>
            <a:off x="1190625" y="507682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正式A／B測試</a:t>
            </a:r>
          </a:p>
        </p:txBody>
      </p:sp>
      <p:sp>
        <p:nvSpPr>
          <p:cNvPr id="52" name="矩形 51">
            <a:extLst>
              <a:ext uri="{FF2B5EF4-FFF2-40B4-BE49-F238E27FC236}">
                <a16:creationId xmlns:a16="http://schemas.microsoft.com/office/drawing/2014/main" id="{E6F81D17-8ADF-48A4-8A46-CC8C2A8927B6}"/>
              </a:ext>
            </a:extLst>
          </p:cNvPr>
          <p:cNvSpPr>
            <a:spLocks noGrp="1"/>
          </p:cNvSpPr>
          <p:nvPr/>
        </p:nvSpPr>
        <p:spPr>
          <a:xfrm>
            <a:off x="1171575" y="542925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使用50筆測試病例</a:t>
            </a:r>
          </a:p>
        </p:txBody>
      </p:sp>
      <p:sp>
        <p:nvSpPr>
          <p:cNvPr id="53" name="矩形 52">
            <a:extLst>
              <a:ext uri="{FF2B5EF4-FFF2-40B4-BE49-F238E27FC236}">
                <a16:creationId xmlns:a16="http://schemas.microsoft.com/office/drawing/2014/main" id="{298C660F-B7D2-4E63-A6A8-69964FF9C152}"/>
              </a:ext>
            </a:extLst>
          </p:cNvPr>
          <p:cNvSpPr>
            <a:spLocks noGrp="1"/>
          </p:cNvSpPr>
          <p:nvPr/>
        </p:nvSpPr>
        <p:spPr>
          <a:xfrm>
            <a:off x="3724275" y="4838700"/>
            <a:ext cx="2095500" cy="952500"/>
          </a:xfrm>
          <a:prstGeom prst="rect">
            <a:avLst/>
          </a:prstGeom>
          <a:solidFill>
            <a:srgbClr val="FFFFFF"/>
          </a:solidFill>
          <a:ln w="9525">
            <a:solidFill>
              <a:srgbClr val="BFBFBF"/>
            </a:solidFill>
          </a:ln>
        </p:spPr>
      </p:sp>
      <p:sp>
        <p:nvSpPr>
          <p:cNvPr id="54" name="矩形 53">
            <a:extLst>
              <a:ext uri="{FF2B5EF4-FFF2-40B4-BE49-F238E27FC236}">
                <a16:creationId xmlns:a16="http://schemas.microsoft.com/office/drawing/2014/main" id="{82329E59-7892-4D3F-AFAF-4A16A7EDF5CE}"/>
              </a:ext>
            </a:extLst>
          </p:cNvPr>
          <p:cNvSpPr>
            <a:spLocks noGrp="1"/>
          </p:cNvSpPr>
          <p:nvPr/>
        </p:nvSpPr>
        <p:spPr>
          <a:xfrm>
            <a:off x="3838575" y="490537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10</a:t>
            </a:r>
          </a:p>
        </p:txBody>
      </p:sp>
      <p:sp>
        <p:nvSpPr>
          <p:cNvPr id="55" name="矩形 54">
            <a:extLst>
              <a:ext uri="{FF2B5EF4-FFF2-40B4-BE49-F238E27FC236}">
                <a16:creationId xmlns:a16="http://schemas.microsoft.com/office/drawing/2014/main" id="{23D6331F-27C6-497E-9EAB-3CEFCE270DEB}"/>
              </a:ext>
            </a:extLst>
          </p:cNvPr>
          <p:cNvSpPr>
            <a:spLocks noGrp="1"/>
          </p:cNvSpPr>
          <p:nvPr/>
        </p:nvSpPr>
        <p:spPr>
          <a:xfrm>
            <a:off x="3838575" y="507682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官方答案評分</a:t>
            </a:r>
          </a:p>
        </p:txBody>
      </p:sp>
      <p:sp>
        <p:nvSpPr>
          <p:cNvPr id="56" name="矩形 55">
            <a:extLst>
              <a:ext uri="{FF2B5EF4-FFF2-40B4-BE49-F238E27FC236}">
                <a16:creationId xmlns:a16="http://schemas.microsoft.com/office/drawing/2014/main" id="{0A336B5E-999E-4455-90C1-F72C1068823E}"/>
              </a:ext>
            </a:extLst>
          </p:cNvPr>
          <p:cNvSpPr>
            <a:spLocks noGrp="1"/>
          </p:cNvSpPr>
          <p:nvPr/>
        </p:nvSpPr>
        <p:spPr>
          <a:xfrm>
            <a:off x="3819525" y="542925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使用隔離保存的標準答案</a:t>
            </a:r>
          </a:p>
        </p:txBody>
      </p:sp>
      <p:sp>
        <p:nvSpPr>
          <p:cNvPr id="57" name="矩形 56">
            <a:extLst>
              <a:ext uri="{FF2B5EF4-FFF2-40B4-BE49-F238E27FC236}">
                <a16:creationId xmlns:a16="http://schemas.microsoft.com/office/drawing/2014/main" id="{31A738AB-CBCC-4FF5-BD0F-3E970BE8F60F}"/>
              </a:ext>
            </a:extLst>
          </p:cNvPr>
          <p:cNvSpPr>
            <a:spLocks noGrp="1"/>
          </p:cNvSpPr>
          <p:nvPr/>
        </p:nvSpPr>
        <p:spPr>
          <a:xfrm>
            <a:off x="6372225" y="4838700"/>
            <a:ext cx="2095500" cy="952500"/>
          </a:xfrm>
          <a:prstGeom prst="rect">
            <a:avLst/>
          </a:prstGeom>
          <a:solidFill>
            <a:srgbClr val="FFFFFF"/>
          </a:solidFill>
          <a:ln w="9525">
            <a:solidFill>
              <a:srgbClr val="BFBFBF"/>
            </a:solidFill>
          </a:ln>
        </p:spPr>
      </p:sp>
      <p:sp>
        <p:nvSpPr>
          <p:cNvPr id="58" name="矩形 57">
            <a:extLst>
              <a:ext uri="{FF2B5EF4-FFF2-40B4-BE49-F238E27FC236}">
                <a16:creationId xmlns:a16="http://schemas.microsoft.com/office/drawing/2014/main" id="{8AE36A70-80BA-4D44-8569-66AC4A21CF01}"/>
              </a:ext>
            </a:extLst>
          </p:cNvPr>
          <p:cNvSpPr>
            <a:spLocks noGrp="1"/>
          </p:cNvSpPr>
          <p:nvPr/>
        </p:nvSpPr>
        <p:spPr>
          <a:xfrm>
            <a:off x="6486525" y="490537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11</a:t>
            </a:r>
          </a:p>
        </p:txBody>
      </p:sp>
      <p:sp>
        <p:nvSpPr>
          <p:cNvPr id="59" name="矩形 58">
            <a:extLst>
              <a:ext uri="{FF2B5EF4-FFF2-40B4-BE49-F238E27FC236}">
                <a16:creationId xmlns:a16="http://schemas.microsoft.com/office/drawing/2014/main" id="{30E72904-2CDF-432E-A1BD-71182D2EA3EE}"/>
              </a:ext>
            </a:extLst>
          </p:cNvPr>
          <p:cNvSpPr>
            <a:spLocks noGrp="1"/>
          </p:cNvSpPr>
          <p:nvPr/>
        </p:nvSpPr>
        <p:spPr>
          <a:xfrm>
            <a:off x="6486525" y="507682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統計兩組差異</a:t>
            </a:r>
          </a:p>
        </p:txBody>
      </p:sp>
      <p:sp>
        <p:nvSpPr>
          <p:cNvPr id="60" name="矩形 59">
            <a:extLst>
              <a:ext uri="{FF2B5EF4-FFF2-40B4-BE49-F238E27FC236}">
                <a16:creationId xmlns:a16="http://schemas.microsoft.com/office/drawing/2014/main" id="{C64FAB25-9491-421E-B95C-BA9BEE725F66}"/>
              </a:ext>
            </a:extLst>
          </p:cNvPr>
          <p:cNvSpPr>
            <a:spLocks noGrp="1"/>
          </p:cNvSpPr>
          <p:nvPr/>
        </p:nvSpPr>
        <p:spPr>
          <a:xfrm>
            <a:off x="6467475" y="542925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分數差異與95%信賴區間</a:t>
            </a:r>
          </a:p>
        </p:txBody>
      </p:sp>
      <p:sp>
        <p:nvSpPr>
          <p:cNvPr id="61" name="矩形 60">
            <a:extLst>
              <a:ext uri="{FF2B5EF4-FFF2-40B4-BE49-F238E27FC236}">
                <a16:creationId xmlns:a16="http://schemas.microsoft.com/office/drawing/2014/main" id="{4251EF32-256A-436B-9159-DABEE41CE407}"/>
              </a:ext>
            </a:extLst>
          </p:cNvPr>
          <p:cNvSpPr>
            <a:spLocks noGrp="1"/>
          </p:cNvSpPr>
          <p:nvPr/>
        </p:nvSpPr>
        <p:spPr>
          <a:xfrm>
            <a:off x="9020175" y="4838700"/>
            <a:ext cx="2095500" cy="952500"/>
          </a:xfrm>
          <a:prstGeom prst="rect">
            <a:avLst/>
          </a:prstGeom>
          <a:solidFill>
            <a:srgbClr val="FFF3E5"/>
          </a:solidFill>
          <a:ln w="9525">
            <a:solidFill>
              <a:srgbClr val="E48312"/>
            </a:solidFill>
          </a:ln>
        </p:spPr>
      </p:sp>
      <p:sp>
        <p:nvSpPr>
          <p:cNvPr id="62" name="矩形 61">
            <a:extLst>
              <a:ext uri="{FF2B5EF4-FFF2-40B4-BE49-F238E27FC236}">
                <a16:creationId xmlns:a16="http://schemas.microsoft.com/office/drawing/2014/main" id="{975DBD63-713E-451C-9BC1-92A00FB8FA7F}"/>
              </a:ext>
            </a:extLst>
          </p:cNvPr>
          <p:cNvSpPr>
            <a:spLocks noGrp="1"/>
          </p:cNvSpPr>
          <p:nvPr/>
        </p:nvSpPr>
        <p:spPr>
          <a:xfrm>
            <a:off x="9134475" y="4905375"/>
            <a:ext cx="342900" cy="209550"/>
          </a:xfrm>
          <a:prstGeom prst="rect">
            <a:avLst/>
          </a:prstGeom>
          <a:noFill/>
          <a:ln w="0">
            <a:noFill/>
          </a:ln>
        </p:spPr>
        <p:txBody>
          <a:bodyPr wrap="square" lIns="47625" tIns="28575" rIns="47625" bIns="28575" anchor="t">
            <a:noAutofit/>
          </a:bodyPr>
          <a:lstStyle/>
          <a:p>
            <a:pPr algn="l">
              <a:buNone/>
              <a:defRPr sz="975" b="1">
                <a:solidFill>
                  <a:srgbClr val="E48312"/>
                </a:solidFill>
                <a:latin typeface="Calibri"/>
                <a:ea typeface="Calibri"/>
                <a:cs typeface="Calibri"/>
              </a:defRPr>
            </a:pPr>
            <a:r>
              <a:rPr sz="975" b="1">
                <a:solidFill>
                  <a:srgbClr val="E48312"/>
                </a:solidFill>
                <a:latin typeface="Calibri"/>
                <a:ea typeface="Calibri"/>
                <a:cs typeface="Calibri"/>
              </a:rPr>
              <a:t>12</a:t>
            </a:r>
          </a:p>
        </p:txBody>
      </p:sp>
      <p:sp>
        <p:nvSpPr>
          <p:cNvPr id="63" name="矩形 62">
            <a:extLst>
              <a:ext uri="{FF2B5EF4-FFF2-40B4-BE49-F238E27FC236}">
                <a16:creationId xmlns:a16="http://schemas.microsoft.com/office/drawing/2014/main" id="{943EF6EF-84A2-4DDD-8B75-E26202B4DEF7}"/>
              </a:ext>
            </a:extLst>
          </p:cNvPr>
          <p:cNvSpPr>
            <a:spLocks noGrp="1"/>
          </p:cNvSpPr>
          <p:nvPr/>
        </p:nvSpPr>
        <p:spPr>
          <a:xfrm>
            <a:off x="9134475" y="5076825"/>
            <a:ext cx="1866900" cy="361950"/>
          </a:xfrm>
          <a:prstGeom prst="rect">
            <a:avLst/>
          </a:prstGeom>
          <a:noFill/>
          <a:ln w="0">
            <a:noFill/>
          </a:ln>
        </p:spPr>
        <p:txBody>
          <a:bodyPr wrap="square" lIns="47625" tIns="28575" rIns="47625" bIns="28575" anchor="ctr">
            <a:noAutofit/>
          </a:bodyPr>
          <a:lstStyle/>
          <a:p>
            <a:pPr algn="ctr">
              <a:buNone/>
              <a:defRPr sz="1125" b="1">
                <a:solidFill>
                  <a:srgbClr val="414141"/>
                </a:solidFill>
                <a:latin typeface="Calibri"/>
                <a:ea typeface="Calibri"/>
                <a:cs typeface="Calibri"/>
              </a:defRPr>
            </a:pPr>
            <a:r>
              <a:rPr sz="1125" b="1">
                <a:solidFill>
                  <a:srgbClr val="414141"/>
                </a:solidFill>
                <a:latin typeface="Calibri"/>
                <a:ea typeface="Calibri"/>
                <a:cs typeface="Calibri"/>
              </a:rPr>
              <a:t>檢索病例診斷</a:t>
            </a:r>
          </a:p>
        </p:txBody>
      </p:sp>
      <p:sp>
        <p:nvSpPr>
          <p:cNvPr id="64" name="矩形 63">
            <a:extLst>
              <a:ext uri="{FF2B5EF4-FFF2-40B4-BE49-F238E27FC236}">
                <a16:creationId xmlns:a16="http://schemas.microsoft.com/office/drawing/2014/main" id="{48EA75DB-BD2E-43D1-BA28-D86E3AC83657}"/>
              </a:ext>
            </a:extLst>
          </p:cNvPr>
          <p:cNvSpPr>
            <a:spLocks noGrp="1"/>
          </p:cNvSpPr>
          <p:nvPr/>
        </p:nvSpPr>
        <p:spPr>
          <a:xfrm>
            <a:off x="9115425" y="5429250"/>
            <a:ext cx="1905000" cy="295275"/>
          </a:xfrm>
          <a:prstGeom prst="rect">
            <a:avLst/>
          </a:prstGeom>
          <a:noFill/>
          <a:ln w="0">
            <a:noFill/>
          </a:ln>
        </p:spPr>
        <p:txBody>
          <a:bodyPr wrap="square" lIns="19050" tIns="0" rIns="19050" bIns="0" anchor="t">
            <a:noAutofit/>
          </a:bodyPr>
          <a:lstStyle/>
          <a:p>
            <a:pPr algn="ctr">
              <a:buNone/>
              <a:defRPr sz="788" b="0">
                <a:solidFill>
                  <a:srgbClr val="737373"/>
                </a:solidFill>
                <a:latin typeface="Calibri"/>
                <a:ea typeface="Calibri"/>
                <a:cs typeface="Calibri"/>
              </a:defRPr>
            </a:pPr>
            <a:r>
              <a:rPr sz="788" b="0">
                <a:solidFill>
                  <a:srgbClr val="737373"/>
                </a:solidFill>
                <a:latin typeface="Calibri"/>
                <a:ea typeface="Calibri"/>
                <a:cs typeface="Calibri"/>
              </a:rPr>
              <a:t>檢查病機或證型是否相同</a:t>
            </a:r>
          </a:p>
        </p:txBody>
      </p:sp>
      <p:sp>
        <p:nvSpPr>
          <p:cNvPr id="65" name="箭號: 向右 64">
            <a:extLst>
              <a:ext uri="{FF2B5EF4-FFF2-40B4-BE49-F238E27FC236}">
                <a16:creationId xmlns:a16="http://schemas.microsoft.com/office/drawing/2014/main" id="{E5EC0D86-081F-46A2-9673-37E15332C49E}"/>
              </a:ext>
            </a:extLst>
          </p:cNvPr>
          <p:cNvSpPr>
            <a:spLocks noGrp="1"/>
          </p:cNvSpPr>
          <p:nvPr/>
        </p:nvSpPr>
        <p:spPr>
          <a:xfrm>
            <a:off x="3257550" y="5200650"/>
            <a:ext cx="381000" cy="238125"/>
          </a:xfrm>
          <a:prstGeom prst="rightArrow">
            <a:avLst/>
          </a:prstGeom>
          <a:solidFill>
            <a:srgbClr val="C9C2BC"/>
          </a:solidFill>
          <a:ln w="0">
            <a:solidFill>
              <a:srgbClr val="C9C2BC"/>
            </a:solidFill>
          </a:ln>
        </p:spPr>
      </p:sp>
      <p:sp>
        <p:nvSpPr>
          <p:cNvPr id="66" name="箭號: 向右 65">
            <a:extLst>
              <a:ext uri="{FF2B5EF4-FFF2-40B4-BE49-F238E27FC236}">
                <a16:creationId xmlns:a16="http://schemas.microsoft.com/office/drawing/2014/main" id="{72900FC2-D9E8-4D86-B644-B534D8BEF0FC}"/>
              </a:ext>
            </a:extLst>
          </p:cNvPr>
          <p:cNvSpPr>
            <a:spLocks noGrp="1"/>
          </p:cNvSpPr>
          <p:nvPr/>
        </p:nvSpPr>
        <p:spPr>
          <a:xfrm>
            <a:off x="5905500" y="5200650"/>
            <a:ext cx="381000" cy="238125"/>
          </a:xfrm>
          <a:prstGeom prst="rightArrow">
            <a:avLst/>
          </a:prstGeom>
          <a:solidFill>
            <a:srgbClr val="C9C2BC"/>
          </a:solidFill>
          <a:ln w="0">
            <a:solidFill>
              <a:srgbClr val="C9C2BC"/>
            </a:solidFill>
          </a:ln>
        </p:spPr>
      </p:sp>
      <p:sp>
        <p:nvSpPr>
          <p:cNvPr id="67" name="箭號: 向右 66">
            <a:extLst>
              <a:ext uri="{FF2B5EF4-FFF2-40B4-BE49-F238E27FC236}">
                <a16:creationId xmlns:a16="http://schemas.microsoft.com/office/drawing/2014/main" id="{C735D7EE-702C-4BBE-A5F6-6F8EA65E5D9F}"/>
              </a:ext>
            </a:extLst>
          </p:cNvPr>
          <p:cNvSpPr>
            <a:spLocks noGrp="1"/>
          </p:cNvSpPr>
          <p:nvPr/>
        </p:nvSpPr>
        <p:spPr>
          <a:xfrm>
            <a:off x="8553450" y="5200650"/>
            <a:ext cx="381000" cy="238125"/>
          </a:xfrm>
          <a:prstGeom prst="rightArrow">
            <a:avLst/>
          </a:prstGeom>
          <a:solidFill>
            <a:srgbClr val="C9C2BC"/>
          </a:solidFill>
          <a:ln w="0">
            <a:solidFill>
              <a:srgbClr val="C9C2BC"/>
            </a:solidFill>
          </a:ln>
        </p:spPr>
      </p:sp>
    </p:spTree>
    <p:extLst>
      <p:ext uri="{BB962C8B-B14F-4D97-AF65-F5344CB8AC3E}">
        <p14:creationId xmlns:p14="http://schemas.microsoft.com/office/powerpoint/2010/main" val="1824547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198282" y="2125190"/>
            <a:ext cx="6092415" cy="338554"/>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B組在證型判斷及整體分數上有小幅提升</a:t>
            </a:r>
          </a:p>
        </p:txBody>
      </p:sp>
      <p:graphicFrame>
        <p:nvGraphicFramePr>
          <p:cNvPr id="7" name="表格 4"/>
          <p:cNvGraphicFramePr/>
          <p:nvPr/>
        </p:nvGraphicFramePr>
        <p:xfrm>
          <a:off x="2032000" y="2680588"/>
          <a:ext cx="8128000" cy="22250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393576">
                  <a:extLst>
                    <a:ext uri="{9D8B030D-6E8A-4147-A177-3AD203B41FA5}">
                      <a16:colId xmlns:a16="http://schemas.microsoft.com/office/drawing/2014/main" val="20002"/>
                    </a:ext>
                  </a:extLst>
                </a:gridCol>
                <a:gridCol w="1670424">
                  <a:extLst>
                    <a:ext uri="{9D8B030D-6E8A-4147-A177-3AD203B41FA5}">
                      <a16:colId xmlns:a16="http://schemas.microsoft.com/office/drawing/2014/main" val="20003"/>
                    </a:ext>
                  </a:extLst>
                </a:gridCol>
              </a:tblGrid>
              <a:tr h="370840">
                <a:tc>
                  <a:txBody>
                    <a:bodyPr/>
                    <a:lstStyle/>
                    <a:p>
                      <a:r>
                        <a:t>指標</a:t>
                      </a:r>
                    </a:p>
                  </a:txBody>
                  <a:tcPr/>
                </a:tc>
                <a:tc>
                  <a:txBody>
                    <a:bodyPr/>
                    <a:lstStyle/>
                    <a:p>
                      <a:r>
                        <a:t>A：純LLM</a:t>
                      </a:r>
                    </a:p>
                  </a:txBody>
                  <a:tcPr/>
                </a:tc>
                <a:tc>
                  <a:txBody>
                    <a:bodyPr/>
                    <a:lstStyle/>
                    <a:p>
                      <a:r>
                        <a:t>B：BGE-M3檢索增強</a:t>
                      </a:r>
                    </a:p>
                  </a:txBody>
                  <a:tcPr/>
                </a:tc>
                <a:tc>
                  <a:txBody>
                    <a:bodyPr/>
                    <a:lstStyle/>
                    <a:p>
                      <a:r>
                        <a:t>差異</a:t>
                      </a:r>
                    </a:p>
                  </a:txBody>
                  <a:tcPr/>
                </a:tc>
                <a:extLst>
                  <a:ext uri="{0D108BD9-81ED-4DB2-BD59-A6C34878D82A}">
                    <a16:rowId xmlns:a16="http://schemas.microsoft.com/office/drawing/2014/main" val="10000"/>
                  </a:ext>
                </a:extLst>
              </a:tr>
              <a:tr h="370840">
                <a:tc>
                  <a:txBody>
                    <a:bodyPr/>
                    <a:lstStyle/>
                    <a:p>
                      <a:r>
                        <a:t>臨床資訊抽取</a:t>
                      </a:r>
                    </a:p>
                  </a:txBody>
                  <a:tcPr/>
                </a:tc>
                <a:tc>
                  <a:txBody>
                    <a:bodyPr/>
                    <a:lstStyle/>
                    <a:p>
                      <a:r>
                        <a:t>76.70%</a:t>
                      </a:r>
                    </a:p>
                  </a:txBody>
                  <a:tcPr/>
                </a:tc>
                <a:tc>
                  <a:txBody>
                    <a:bodyPr/>
                    <a:lstStyle/>
                    <a:p>
                      <a:r>
                        <a:t>76.76%</a:t>
                      </a:r>
                    </a:p>
                  </a:txBody>
                  <a:tcPr/>
                </a:tc>
                <a:tc>
                  <a:txBody>
                    <a:bodyPr/>
                    <a:lstStyle/>
                    <a:p>
                      <a:r>
                        <a:t>+0.06%</a:t>
                      </a:r>
                    </a:p>
                  </a:txBody>
                  <a:tcPr/>
                </a:tc>
                <a:extLst>
                  <a:ext uri="{0D108BD9-81ED-4DB2-BD59-A6C34878D82A}">
                    <a16:rowId xmlns:a16="http://schemas.microsoft.com/office/drawing/2014/main" val="10001"/>
                  </a:ext>
                </a:extLst>
              </a:tr>
              <a:tr h="370840">
                <a:tc>
                  <a:txBody>
                    <a:bodyPr/>
                    <a:lstStyle/>
                    <a:p>
                      <a:r>
                        <a:t>病機判斷</a:t>
                      </a:r>
                    </a:p>
                  </a:txBody>
                  <a:tcPr/>
                </a:tc>
                <a:tc>
                  <a:txBody>
                    <a:bodyPr/>
                    <a:lstStyle/>
                    <a:p>
                      <a:r>
                        <a:t>44.75%</a:t>
                      </a:r>
                    </a:p>
                  </a:txBody>
                  <a:tcPr/>
                </a:tc>
                <a:tc>
                  <a:txBody>
                    <a:bodyPr/>
                    <a:lstStyle/>
                    <a:p>
                      <a:r>
                        <a:t>44.80%</a:t>
                      </a:r>
                    </a:p>
                  </a:txBody>
                  <a:tcPr/>
                </a:tc>
                <a:tc>
                  <a:txBody>
                    <a:bodyPr/>
                    <a:lstStyle/>
                    <a:p>
                      <a:r>
                        <a:t>+0.05%</a:t>
                      </a:r>
                    </a:p>
                  </a:txBody>
                  <a:tcPr/>
                </a:tc>
                <a:extLst>
                  <a:ext uri="{0D108BD9-81ED-4DB2-BD59-A6C34878D82A}">
                    <a16:rowId xmlns:a16="http://schemas.microsoft.com/office/drawing/2014/main" val="10002"/>
                  </a:ext>
                </a:extLst>
              </a:tr>
              <a:tr h="370840">
                <a:tc>
                  <a:txBody>
                    <a:bodyPr/>
                    <a:lstStyle/>
                    <a:p>
                      <a:r>
                        <a:t>證型判斷</a:t>
                      </a:r>
                    </a:p>
                  </a:txBody>
                  <a:tcPr/>
                </a:tc>
                <a:tc>
                  <a:txBody>
                    <a:bodyPr/>
                    <a:lstStyle/>
                    <a:p>
                      <a:r>
                        <a:t>49.17%</a:t>
                      </a:r>
                    </a:p>
                  </a:txBody>
                  <a:tcPr/>
                </a:tc>
                <a:tc>
                  <a:txBody>
                    <a:bodyPr/>
                    <a:lstStyle/>
                    <a:p>
                      <a:r>
                        <a:t>52.83%</a:t>
                      </a:r>
                    </a:p>
                  </a:txBody>
                  <a:tcPr/>
                </a:tc>
                <a:tc>
                  <a:txBody>
                    <a:bodyPr/>
                    <a:lstStyle/>
                    <a:p>
                      <a:r>
                        <a:t>+3.67%</a:t>
                      </a:r>
                    </a:p>
                  </a:txBody>
                  <a:tcPr/>
                </a:tc>
                <a:extLst>
                  <a:ext uri="{0D108BD9-81ED-4DB2-BD59-A6C34878D82A}">
                    <a16:rowId xmlns:a16="http://schemas.microsoft.com/office/drawing/2014/main" val="10003"/>
                  </a:ext>
                </a:extLst>
              </a:tr>
              <a:tr h="370840">
                <a:tc>
                  <a:txBody>
                    <a:bodyPr/>
                    <a:lstStyle/>
                    <a:p>
                      <a:r>
                        <a:t>解釋ROUGE-L</a:t>
                      </a:r>
                    </a:p>
                  </a:txBody>
                  <a:tcPr/>
                </a:tc>
                <a:tc>
                  <a:txBody>
                    <a:bodyPr/>
                    <a:lstStyle/>
                    <a:p>
                      <a:r>
                        <a:t>23.43%</a:t>
                      </a:r>
                    </a:p>
                  </a:txBody>
                  <a:tcPr/>
                </a:tc>
                <a:tc>
                  <a:txBody>
                    <a:bodyPr/>
                    <a:lstStyle/>
                    <a:p>
                      <a:r>
                        <a:t>23.21%</a:t>
                      </a:r>
                    </a:p>
                  </a:txBody>
                  <a:tcPr/>
                </a:tc>
                <a:tc>
                  <a:txBody>
                    <a:bodyPr/>
                    <a:lstStyle/>
                    <a:p>
                      <a:r>
                        <a:t>−0.22%</a:t>
                      </a:r>
                    </a:p>
                  </a:txBody>
                  <a:tcPr/>
                </a:tc>
                <a:extLst>
                  <a:ext uri="{0D108BD9-81ED-4DB2-BD59-A6C34878D82A}">
                    <a16:rowId xmlns:a16="http://schemas.microsoft.com/office/drawing/2014/main" val="10004"/>
                  </a:ext>
                </a:extLst>
              </a:tr>
              <a:tr h="370840">
                <a:tc>
                  <a:txBody>
                    <a:bodyPr/>
                    <a:lstStyle/>
                    <a:p>
                      <a:r>
                        <a:t>官方加權總分</a:t>
                      </a:r>
                    </a:p>
                  </a:txBody>
                  <a:tcPr/>
                </a:tc>
                <a:tc>
                  <a:txBody>
                    <a:bodyPr/>
                    <a:lstStyle/>
                    <a:p>
                      <a:r>
                        <a:t>50.78%</a:t>
                      </a:r>
                    </a:p>
                  </a:txBody>
                  <a:tcPr/>
                </a:tc>
                <a:tc>
                  <a:txBody>
                    <a:bodyPr/>
                    <a:lstStyle/>
                    <a:p>
                      <a:r>
                        <a:t>52.25%</a:t>
                      </a:r>
                    </a:p>
                  </a:txBody>
                  <a:tcPr/>
                </a:tc>
                <a:tc>
                  <a:txBody>
                    <a:bodyPr/>
                    <a:lstStyle/>
                    <a:p>
                      <a:r>
                        <a:t>+1.47%</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10582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實驗結果</a:t>
            </a:r>
          </a:p>
        </p:txBody>
      </p:sp>
      <p:sp>
        <p:nvSpPr>
          <p:cNvPr id="3" name="Rectangle 1">
            <a:extLst>
              <a:ext uri="{FF2B5EF4-FFF2-40B4-BE49-F238E27FC236}">
                <a16:creationId xmlns:a16="http://schemas.microsoft.com/office/drawing/2014/main" id="{F7F77CF7-361A-7FB2-0AFA-CB8DE30A0AEA}"/>
              </a:ext>
            </a:extLst>
          </p:cNvPr>
          <p:cNvSpPr>
            <a:spLocks noGrp="1"/>
          </p:cNvSpPr>
          <p:nvPr>
            <p:ph idx="1"/>
          </p:nvPr>
        </p:nvSpPr>
        <p:spPr>
          <a:xfrm>
            <a:off x="1097279" y="2190520"/>
            <a:ext cx="9651403" cy="2215991"/>
          </a:xfrm>
          <a:prstGeom prst="rect">
            <a:avLst/>
          </a:prstGeom>
          <a:noFill/>
          <a:ln>
            <a:noFill/>
          </a:ln>
        </p:spPr>
        <p:txBody>
          <a:bodyPr vert="horz" wrap="square" lIns="91440" tIns="45720" rIns="91440" bIns="45720" anchor="ctr">
            <a:spAutoFit/>
          </a:bodyPr>
          <a:lstStyle/>
          <a:p>
            <a:pPr marL="0" indent="0">
              <a:lnSpc>
                <a:spcPct val="100000"/>
              </a:lnSpc>
              <a:spcBef>
                <a:spcPct val="0"/>
              </a:spcBef>
              <a:spcAft>
                <a:spcPct val="0"/>
              </a:spcAft>
              <a:buClrTx/>
              <a:buSzTx/>
              <a:buNone/>
            </a:pPr>
            <a:r>
              <a:rPr sz="1600" b="1"/>
              <a:t>為什麼提升幅度不大？</a:t>
            </a:r>
          </a:p>
          <a:p>
            <a:pPr marL="0" indent="0">
              <a:lnSpc>
                <a:spcPct val="100000"/>
              </a:lnSpc>
              <a:spcBef>
                <a:spcPct val="0"/>
              </a:spcBef>
              <a:spcAft>
                <a:spcPct val="0"/>
              </a:spcAft>
              <a:buClrTx/>
              <a:buSzTx/>
              <a:buNone/>
            </a:pPr>
            <a:endParaRPr sz="1600" b="1"/>
          </a:p>
          <a:p>
            <a:pPr marL="0" indent="0">
              <a:lnSpc>
                <a:spcPct val="100000"/>
              </a:lnSpc>
              <a:spcBef>
                <a:spcPct val="0"/>
              </a:spcBef>
              <a:spcAft>
                <a:spcPct val="0"/>
              </a:spcAft>
              <a:buClrTx/>
              <a:buSzTx/>
              <a:buNone/>
            </a:pPr>
            <a:r>
              <a:rPr sz="1600" b="1"/>
              <a:t>檢索診斷結果顯示：</a:t>
            </a:r>
          </a:p>
          <a:p>
            <a:pPr>
              <a:lnSpc>
                <a:spcPct val="100000"/>
              </a:lnSpc>
              <a:spcBef>
                <a:spcPct val="0"/>
              </a:spcBef>
              <a:spcAft>
                <a:spcPct val="0"/>
              </a:spcAft>
              <a:buClrTx/>
              <a:buSzTx/>
              <a:buNone/>
            </a:pPr>
            <a:r>
              <a:rPr sz="1400"/>
              <a:t>病機命中率@3：4% </a:t>
            </a:r>
          </a:p>
          <a:p>
            <a:pPr>
              <a:lnSpc>
                <a:spcPct val="100000"/>
              </a:lnSpc>
              <a:spcBef>
                <a:spcPct val="0"/>
              </a:spcBef>
              <a:spcAft>
                <a:spcPct val="0"/>
              </a:spcAft>
              <a:buClrTx/>
              <a:buSzTx/>
              <a:buNone/>
            </a:pPr>
            <a:r>
              <a:rPr sz="1400"/>
              <a:t>證型命中率@3：2% </a:t>
            </a:r>
          </a:p>
          <a:p>
            <a:pPr marL="0" indent="0">
              <a:lnSpc>
                <a:spcPct val="100000"/>
              </a:lnSpc>
              <a:spcBef>
                <a:spcPct val="0"/>
              </a:spcBef>
              <a:spcAft>
                <a:spcPct val="0"/>
              </a:spcAft>
              <a:buClrTx/>
              <a:buSzTx/>
              <a:buNone/>
            </a:pPr>
            <a:endParaRPr sz="1600" b="1"/>
          </a:p>
          <a:p>
            <a:pPr marL="0" indent="0">
              <a:lnSpc>
                <a:spcPct val="100000"/>
              </a:lnSpc>
              <a:spcBef>
                <a:spcPct val="0"/>
              </a:spcBef>
              <a:spcAft>
                <a:spcPct val="0"/>
              </a:spcAft>
              <a:buClrTx/>
              <a:buSzTx/>
              <a:buNone/>
            </a:pPr>
            <a:r>
              <a:rPr sz="1600" b="1"/>
              <a:t>也就是說，找到的病例雖然文字或症狀看起來相似，但通常沒有相同的病機或證型。</a:t>
            </a:r>
          </a:p>
          <a:p>
            <a:pPr marL="0" indent="0">
              <a:lnSpc>
                <a:spcPct val="100000"/>
              </a:lnSpc>
              <a:spcBef>
                <a:spcPct val="0"/>
              </a:spcBef>
              <a:spcAft>
                <a:spcPct val="0"/>
              </a:spcAft>
              <a:buClrTx/>
              <a:buSzTx/>
              <a:buNone/>
            </a:pPr>
            <a:endParaRPr sz="1600" b="1"/>
          </a:p>
          <a:p>
            <a:pPr marL="0" indent="0">
              <a:lnSpc>
                <a:spcPct val="100000"/>
              </a:lnSpc>
              <a:spcBef>
                <a:spcPct val="0"/>
              </a:spcBef>
              <a:spcAft>
                <a:spcPct val="0"/>
              </a:spcAft>
              <a:buClrTx/>
              <a:buSzTx/>
              <a:buNone/>
            </a:pPr>
            <a:r>
              <a:rPr sz="1400"/>
              <a:t>症狀相似不一定代表中醫辨證結果相同。若檢索只比較整段病例的語意，很可能找不到真正具有辨證參考價值的病例。</a:t>
            </a:r>
            <a:endParaRPr sz="1600" b="1"/>
          </a:p>
        </p:txBody>
      </p:sp>
    </p:spTree>
    <p:extLst>
      <p:ext uri="{BB962C8B-B14F-4D97-AF65-F5344CB8AC3E}">
        <p14:creationId xmlns:p14="http://schemas.microsoft.com/office/powerpoint/2010/main" val="206618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建議</a:t>
            </a:r>
          </a:p>
        </p:txBody>
      </p:sp>
      <p:sp>
        <p:nvSpPr>
          <p:cNvPr id="5" name="內容版面配置區 4">
            <a:extLst>
              <a:ext uri="{FF2B5EF4-FFF2-40B4-BE49-F238E27FC236}">
                <a16:creationId xmlns:a16="http://schemas.microsoft.com/office/drawing/2014/main" id="{07D8AA0A-FBD6-9D4F-3AA5-4D9CEC432400}"/>
              </a:ext>
            </a:extLst>
          </p:cNvPr>
          <p:cNvSpPr>
            <a:spLocks noGrp="1"/>
          </p:cNvSpPr>
          <p:nvPr>
            <p:ph idx="1"/>
          </p:nvPr>
        </p:nvSpPr>
        <p:spPr>
          <a:xfrm>
            <a:off x="1097280" y="1845734"/>
            <a:ext cx="10001250" cy="4023360"/>
          </a:xfrm>
        </p:spPr>
        <p:txBody>
          <a:bodyPr>
            <a:normAutofit/>
          </a:bodyPr>
          <a:lstStyle/>
          <a:p>
            <a:r>
              <a:rPr sz="1600" b="1"/>
              <a:t>強化中醫病例檢索</a:t>
            </a:r>
          </a:p>
          <a:p>
            <a:r>
              <a:rPr sz="1400"/>
              <a:t>目前找到的病例雖然症狀相似，但病機與證型不一定相同。後續可分別比對症狀、舌脈、病機與證型，提升檢索結果的辨證參考價值。</a:t>
            </a:r>
          </a:p>
          <a:p>
            <a:endParaRPr sz="1400"/>
          </a:p>
          <a:p>
            <a:r>
              <a:rPr sz="1600" b="1"/>
              <a:t>擴充並檢查資料品質</a:t>
            </a:r>
          </a:p>
          <a:p>
            <a:r>
              <a:rPr sz="1400"/>
              <a:t>增加中醫訓練病例及西醫健康主題，同時檢查SNOMED CT與MedlinePlus的對照是否正確，降低資料不足或對照錯誤造成的影響。</a:t>
            </a:r>
          </a:p>
        </p:txBody>
      </p:sp>
    </p:spTree>
    <p:extLst>
      <p:ext uri="{BB962C8B-B14F-4D97-AF65-F5344CB8AC3E}">
        <p14:creationId xmlns:p14="http://schemas.microsoft.com/office/powerpoint/2010/main" val="10044148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結論</a:t>
            </a:r>
          </a:p>
        </p:txBody>
      </p:sp>
      <p:sp>
        <p:nvSpPr>
          <p:cNvPr id="5" name="內容版面配置區 4">
            <a:extLst>
              <a:ext uri="{FF2B5EF4-FFF2-40B4-BE49-F238E27FC236}">
                <a16:creationId xmlns:a16="http://schemas.microsoft.com/office/drawing/2014/main" id="{07D8AA0A-FBD6-9D4F-3AA5-4D9CEC432400}"/>
              </a:ext>
            </a:extLst>
          </p:cNvPr>
          <p:cNvSpPr>
            <a:spLocks noGrp="1"/>
          </p:cNvSpPr>
          <p:nvPr>
            <p:ph idx="1"/>
          </p:nvPr>
        </p:nvSpPr>
        <p:spPr/>
        <p:txBody>
          <a:bodyPr>
            <a:normAutofit/>
          </a:bodyPr>
          <a:lstStyle/>
          <a:p>
            <a:r>
              <a:rPr sz="1600"/>
              <a:t>整體而言，加入外部資料對回答品質具有一定的幫助，其改善程度會受到資料內容、檢索相關性及任務特性的影響。</a:t>
            </a:r>
          </a:p>
          <a:p>
            <a:r>
              <a:rPr sz="1600"/>
              <a:t>西醫實驗因具有較明確的主題對照與可信資料來源，因此呈現較明顯的改善；中醫實驗目前也有小幅提升，未來可進一步優化病例檢索方式，以提升辨證回答的效果。</a:t>
            </a:r>
          </a:p>
        </p:txBody>
      </p:sp>
    </p:spTree>
    <p:extLst>
      <p:ext uri="{BB962C8B-B14F-4D97-AF65-F5344CB8AC3E}">
        <p14:creationId xmlns:p14="http://schemas.microsoft.com/office/powerpoint/2010/main" val="450108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65B748-9EBA-F4EC-F82B-750AFBE8BBEA}"/>
              </a:ext>
            </a:extLst>
          </p:cNvPr>
          <p:cNvSpPr>
            <a:spLocks noGrp="1"/>
          </p:cNvSpPr>
          <p:nvPr>
            <p:ph type="title"/>
          </p:nvPr>
        </p:nvSpPr>
        <p:spPr>
          <a:xfrm>
            <a:off x="1097279" y="481337"/>
            <a:ext cx="9088121" cy="797130"/>
          </a:xfrm>
        </p:spPr>
        <p:txBody>
          <a:bodyPr>
            <a:normAutofit/>
          </a:bodyPr>
          <a:lstStyle/>
          <a:p>
            <a:r>
              <a:rPr sz="3600"/>
              <a:t>結論</a:t>
            </a:r>
          </a:p>
        </p:txBody>
      </p:sp>
      <p:sp>
        <p:nvSpPr>
          <p:cNvPr id="5" name="內容版面配置區 4">
            <a:extLst>
              <a:ext uri="{FF2B5EF4-FFF2-40B4-BE49-F238E27FC236}">
                <a16:creationId xmlns:a16="http://schemas.microsoft.com/office/drawing/2014/main" id="{07D8AA0A-FBD6-9D4F-3AA5-4D9CEC432400}"/>
              </a:ext>
            </a:extLst>
          </p:cNvPr>
          <p:cNvSpPr>
            <a:spLocks noGrp="1"/>
          </p:cNvSpPr>
          <p:nvPr>
            <p:ph idx="1"/>
          </p:nvPr>
        </p:nvSpPr>
        <p:spPr>
          <a:xfrm>
            <a:off x="1097280" y="1827805"/>
            <a:ext cx="10001250" cy="4023360"/>
          </a:xfrm>
        </p:spPr>
        <p:txBody>
          <a:bodyPr>
            <a:normAutofit/>
          </a:bodyPr>
          <a:lstStyle/>
          <a:p>
            <a:pPr marL="0" indent="0">
              <a:buNone/>
            </a:pPr>
            <a:r>
              <a:rPr sz="1600" b="1"/>
              <a:t>對使用者的幫助</a:t>
            </a:r>
          </a:p>
          <a:p>
            <a:r>
              <a:rPr sz="1400"/>
              <a:t>本研究希望讓一般民眾獲得更完整、容易理解且有資料來源的健康資訊。</a:t>
            </a:r>
          </a:p>
          <a:p>
            <a:r>
              <a:rPr sz="1400"/>
              <a:t>加入外部可信資料後，使用者不只能看到回答，也能確認資訊來源，減少接收到錯誤或缺乏根據內容的風險。</a:t>
            </a:r>
          </a:p>
          <a:p>
            <a:r>
              <a:rPr sz="1400"/>
              <a:t>中醫部分則透過相似病例提供辨證參考，協助使用者初步了解可能的病機與證型；但結果僅供健康資訊參考。</a:t>
            </a:r>
          </a:p>
        </p:txBody>
      </p:sp>
    </p:spTree>
    <p:extLst>
      <p:ext uri="{BB962C8B-B14F-4D97-AF65-F5344CB8AC3E}">
        <p14:creationId xmlns:p14="http://schemas.microsoft.com/office/powerpoint/2010/main" val="3741187088"/>
      </p:ext>
    </p:extLst>
  </p:cSld>
  <p:clrMapOvr>
    <a:masterClrMapping/>
  </p:clrMapOvr>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2.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7436</TotalTime>
  <Words>1974</Words>
  <Application>Microsoft Office PowerPoint</Application>
  <DocSecurity>0</DocSecurity>
  <PresentationFormat>寬螢幕</PresentationFormat>
  <Paragraphs>706</Paragraphs>
  <Slides>49</Slides>
  <Notes>49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49</vt:i4>
      </vt:variant>
    </vt:vector>
  </HeadingPairs>
  <TitlesOfParts>
    <vt:vector size="55" baseType="lpstr">
      <vt:lpstr>Arial Unicode MS</vt:lpstr>
      <vt:lpstr>Microsoft JhengHei</vt:lpstr>
      <vt:lpstr>Arial</vt:lpstr>
      <vt:lpstr>Calibri</vt:lpstr>
      <vt:lpstr>Calibri Light</vt:lpstr>
      <vt:lpstr>回顧</vt:lpstr>
      <vt:lpstr>檢索增強大型語言模型在中醫辨證與西醫健康資訊問答之應用與評估</vt:lpstr>
      <vt:lpstr>研究背景</vt:lpstr>
      <vt:lpstr>研究動機</vt:lpstr>
      <vt:lpstr>目前研究面對的問題</vt:lpstr>
      <vt:lpstr>研究主線問題</vt:lpstr>
      <vt:lpstr>完整系統架構</vt:lpstr>
      <vt:lpstr>中醫資料集- TCMEval-SDT</vt:lpstr>
      <vt:lpstr>資料來源</vt:lpstr>
      <vt:lpstr>資料來源</vt:lpstr>
      <vt:lpstr>資料前處理</vt:lpstr>
      <vt:lpstr>西醫資料集- SNOMED CT</vt:lpstr>
      <vt:lpstr>資料來源</vt:lpstr>
      <vt:lpstr>資料前處理</vt:lpstr>
      <vt:lpstr>PowerPoint 簡報</vt:lpstr>
      <vt:lpstr>西醫資料集- MedlinePlus</vt:lpstr>
      <vt:lpstr>資料來源</vt:lpstr>
      <vt:lpstr>資料來源</vt:lpstr>
      <vt:lpstr>資料來源</vt:lpstr>
      <vt:lpstr>資料前處理</vt:lpstr>
      <vt:lpstr>實驗-西醫</vt:lpstr>
      <vt:lpstr>實驗前準備</vt:lpstr>
      <vt:lpstr>實驗前準備</vt:lpstr>
      <vt:lpstr>實驗前準備</vt:lpstr>
      <vt:lpstr>實驗前準備</vt:lpstr>
      <vt:lpstr>實驗前準備</vt:lpstr>
      <vt:lpstr>實驗前準備</vt:lpstr>
      <vt:lpstr>實驗前準備</vt:lpstr>
      <vt:lpstr>實驗設定</vt:lpstr>
      <vt:lpstr>實驗設定</vt:lpstr>
      <vt:lpstr>實驗設定</vt:lpstr>
      <vt:lpstr>評估指標</vt:lpstr>
      <vt:lpstr>實驗流程</vt:lpstr>
      <vt:lpstr>實驗結果</vt:lpstr>
      <vt:lpstr>實驗結果</vt:lpstr>
      <vt:lpstr>實驗結果</vt:lpstr>
      <vt:lpstr>實驗結果</vt:lpstr>
      <vt:lpstr>實驗-中醫</vt:lpstr>
      <vt:lpstr>實驗前準備</vt:lpstr>
      <vt:lpstr>實驗前準備</vt:lpstr>
      <vt:lpstr>實驗前準備</vt:lpstr>
      <vt:lpstr>實驗設定</vt:lpstr>
      <vt:lpstr>實驗設定</vt:lpstr>
      <vt:lpstr>評估指標</vt:lpstr>
      <vt:lpstr>實驗流程</vt:lpstr>
      <vt:lpstr>實驗結果</vt:lpstr>
      <vt:lpstr>實驗結果</vt:lpstr>
      <vt:lpstr>建議</vt:lpstr>
      <vt:lpstr>結論</vt:lpstr>
      <vt:lpstr>結論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6</cp:revision>
  <dcterms:created xsi:type="dcterms:W3CDTF">2026-10-01T12:33:18Z</dcterms:created>
  <dcterms:modified xsi:type="dcterms:W3CDTF">2026-10-14T08:53:27Z</dcterms:modified>
</cp:coreProperties>
</file>