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48" r:id="rId1"/>
  </p:sldMasterIdLst>
  <p:notesMasterIdLst>
    <p:notesMasterId r:id="rId8"/>
  </p:notesMasterIdLst>
  <p:sldIdLst>
    <p:sldId id="262" r:id="rId2"/>
    <p:sldId id="263" r:id="rId3"/>
    <p:sldId id="264" r:id="rId4"/>
    <p:sldId id="265" r:id="rId5"/>
    <p:sldId id="266" r:id="rId6"/>
    <p:sldId id="272" r:id="rId7"/>
  </p:sldIdLst>
  <p:sldSz cx="9144000" cy="5143500" type="screen16x9"/>
  <p:notesSz cx="6858000" cy="9144000"/>
  <p:embeddedFontLst>
    <p:embeddedFont>
      <p:font typeface="Adobe 繁黑體 Std B" panose="020B0700000000000000" pitchFamily="34" charset="-128"/>
      <p:bold r:id="rId9"/>
    </p:embeddedFont>
    <p:embeddedFont>
      <p:font typeface="Montserrat" panose="00000500000000000000" pitchFamily="2" charset="0"/>
      <p:regular r:id="rId10"/>
      <p:bold r:id="rId11"/>
      <p:italic r:id="rId12"/>
      <p:boldItalic r:id="rId13"/>
    </p:embeddedFont>
    <p:embeddedFont>
      <p:font typeface="Poppins" panose="00000500000000000000" pitchFamily="2" charset="0"/>
      <p:regular r:id="rId14"/>
      <p:bold r:id="rId15"/>
      <p:italic r:id="rId16"/>
      <p:boldItalic r:id="rId17"/>
    </p:embeddedFont>
    <p:embeddedFont>
      <p:font typeface="PT Serif" panose="020A0603040505020204" pitchFamily="18" charset="0"/>
      <p:regular r:id="rId18"/>
      <p:bold r:id="rId19"/>
      <p:italic r:id="rId20"/>
      <p:boldItalic r:id="rId21"/>
    </p:embeddedFont>
    <p:embeddedFont>
      <p:font typeface="微软雅黑" panose="020B0503020204020204" pitchFamily="34" charset="-122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iFo3EzPKLk9ieBmi+eVNXi6qtqW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7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font" Target="fonts/font10.fntdata"/><Relationship Id="rId3" Type="http://schemas.openxmlformats.org/officeDocument/2006/relationships/slide" Target="slides/slide2.xml"/><Relationship Id="rId21" Type="http://schemas.openxmlformats.org/officeDocument/2006/relationships/font" Target="fonts/font13.fntdata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font" Target="fonts/font9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23" Type="http://schemas.openxmlformats.org/officeDocument/2006/relationships/font" Target="fonts/font15.fntdata"/><Relationship Id="rId36" Type="http://schemas.openxmlformats.org/officeDocument/2006/relationships/viewProps" Target="viewProps.xml"/><Relationship Id="rId10" Type="http://schemas.openxmlformats.org/officeDocument/2006/relationships/font" Target="fonts/font2.fntdata"/><Relationship Id="rId19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openxmlformats.org/officeDocument/2006/relationships/font" Target="fonts/font14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1" name="Google Shape;6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2" name="Google Shape;8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5" name="Google Shape;115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034958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body" idx="1"/>
          </p:nvPr>
        </p:nvSpPr>
        <p:spPr>
          <a:xfrm>
            <a:off x="626350" y="1346063"/>
            <a:ext cx="36444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1pPr>
            <a:lvl2pPr marL="914400" lvl="1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2pPr>
            <a:lvl3pPr marL="1371600" lvl="2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3pPr>
            <a:lvl4pPr marL="1828800" lvl="3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4pPr>
            <a:lvl5pPr marL="2286000" lvl="4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36444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2000"/>
              <a:buChar char="○"/>
              <a:defRPr sz="2000"/>
            </a:lvl1pPr>
            <a:lvl2pPr marL="914400" lvl="1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2pPr>
            <a:lvl3pPr marL="1371600" lvl="2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3pPr>
            <a:lvl4pPr marL="1828800" lvl="3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□"/>
              <a:defRPr sz="2000"/>
            </a:lvl4pPr>
            <a:lvl5pPr marL="2286000" lvl="4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/>
            </a:lvl9pPr>
          </a:lstStyle>
          <a:p>
            <a:endParaRPr/>
          </a:p>
        </p:txBody>
      </p:sp>
      <p:cxnSp>
        <p:nvCxnSpPr>
          <p:cNvPr id="13" name="Google Shape;13;p19"/>
          <p:cNvCxnSpPr/>
          <p:nvPr/>
        </p:nvCxnSpPr>
        <p:spPr>
          <a:xfrm rot="10800000">
            <a:off x="-23700" y="541800"/>
            <a:ext cx="23418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sm" len="sm"/>
          </a:ln>
        </p:spPr>
      </p:cxnSp>
      <p:cxnSp>
        <p:nvCxnSpPr>
          <p:cNvPr id="14" name="Google Shape;14;p19"/>
          <p:cNvCxnSpPr/>
          <p:nvPr/>
        </p:nvCxnSpPr>
        <p:spPr>
          <a:xfrm>
            <a:off x="6825900" y="541800"/>
            <a:ext cx="2331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oval" w="med" len="med"/>
            <a:tailEnd type="none" w="sm" len="sm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blipFill>
          <a:blip r:embed="rId4">
            <a:alphaModFix/>
          </a:blip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7"/>
          <p:cNvSpPr txBox="1">
            <a:spLocks noGrp="1"/>
          </p:cNvSpPr>
          <p:nvPr>
            <p:ph type="title"/>
          </p:nvPr>
        </p:nvSpPr>
        <p:spPr>
          <a:xfrm>
            <a:off x="2430350" y="206000"/>
            <a:ext cx="42834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Montserrat"/>
              <a:buNone/>
              <a:defRPr sz="16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7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8100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T Serif"/>
              <a:buChar char="○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1pPr>
            <a:lvl2pPr marL="914400" marR="0" lvl="1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T Serif"/>
              <a:buChar char="□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2pPr>
            <a:lvl3pPr marL="1371600" marR="0" lvl="2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00"/>
              <a:buFont typeface="PT Serif"/>
              <a:buChar char="○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3pPr>
            <a:lvl4pPr marL="1828800" marR="0" lvl="3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□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4pPr>
            <a:lvl5pPr marL="2286000" marR="0" lvl="4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○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5pPr>
            <a:lvl6pPr marL="2743200" marR="0" lvl="5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■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6pPr>
            <a:lvl7pPr marL="3200400" marR="0" lvl="6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●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7pPr>
            <a:lvl8pPr marL="3657600" marR="0" lvl="7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○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8pPr>
            <a:lvl9pPr marL="4114800" marR="0" lvl="8" indent="-3810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erif"/>
              <a:buChar char="■"/>
              <a:defRPr sz="2400" b="0" i="0" u="none" strike="noStrike" cap="none">
                <a:solidFill>
                  <a:schemeClr val="dk1"/>
                </a:solidFill>
                <a:latin typeface="PT Serif"/>
                <a:ea typeface="PT Serif"/>
                <a:cs typeface="PT Serif"/>
                <a:sym typeface="PT Serif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mc.ncbi.nlm.nih.gov/articles/PMC8237334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rxiv.org/abs/2111.03299" TargetMode="External"/><Relationship Id="rId5" Type="http://schemas.openxmlformats.org/officeDocument/2006/relationships/hyperlink" Target="https://arxiv.org/abs/2407.02122" TargetMode="External"/><Relationship Id="rId4" Type="http://schemas.openxmlformats.org/officeDocument/2006/relationships/hyperlink" Target="https://arxiv.org/abs/1812.00315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" name="Google Shape;57;p7"/>
          <p:cNvCxnSpPr/>
          <p:nvPr/>
        </p:nvCxnSpPr>
        <p:spPr>
          <a:xfrm rot="10800000">
            <a:off x="2588100" y="3488719"/>
            <a:ext cx="3967800" cy="0"/>
          </a:xfrm>
          <a:prstGeom prst="straightConnector1">
            <a:avLst/>
          </a:prstGeom>
          <a:noFill/>
          <a:ln w="9525" cap="flat" cmpd="sng">
            <a:solidFill>
              <a:srgbClr val="1C1C19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58" name="Google Shape;58;p7"/>
          <p:cNvSpPr txBox="1"/>
          <p:nvPr/>
        </p:nvSpPr>
        <p:spPr>
          <a:xfrm>
            <a:off x="1411200" y="1317602"/>
            <a:ext cx="6624000" cy="1732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zh-TW" altLang="en-US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假新聞偵測</a:t>
            </a:r>
            <a:endParaRPr lang="en-US" altLang="zh-TW" sz="44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algn="l"/>
            <a:r>
              <a:rPr lang="zh-TW" altLang="en-US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（</a:t>
            </a:r>
            <a:r>
              <a:rPr lang="en-US" altLang="zh-TW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Fake News Detection</a:t>
            </a:r>
            <a:r>
              <a:rPr lang="zh-TW" altLang="en-US" sz="44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）</a:t>
            </a:r>
          </a:p>
        </p:txBody>
      </p:sp>
      <p:sp>
        <p:nvSpPr>
          <p:cNvPr id="4" name="Google Shape;58;p7">
            <a:extLst>
              <a:ext uri="{FF2B5EF4-FFF2-40B4-BE49-F238E27FC236}">
                <a16:creationId xmlns:a16="http://schemas.microsoft.com/office/drawing/2014/main" id="{83FB9E39-899E-400D-BEFC-CF8A3873CAC7}"/>
              </a:ext>
            </a:extLst>
          </p:cNvPr>
          <p:cNvSpPr txBox="1"/>
          <p:nvPr/>
        </p:nvSpPr>
        <p:spPr>
          <a:xfrm>
            <a:off x="1260000" y="3356402"/>
            <a:ext cx="6624000" cy="17320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ctr"/>
            <a:r>
              <a:rPr lang="zh-TW" altLang="en-US" sz="2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報告者</a:t>
            </a:r>
            <a:r>
              <a:rPr lang="en-US" altLang="zh-TW" sz="2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:</a:t>
            </a:r>
            <a:r>
              <a:rPr lang="zh-TW" altLang="en-US" sz="2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陳先正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8"/>
          <p:cNvSpPr txBox="1">
            <a:spLocks noGrp="1"/>
          </p:cNvSpPr>
          <p:nvPr>
            <p:ph type="body" idx="1"/>
          </p:nvPr>
        </p:nvSpPr>
        <p:spPr>
          <a:xfrm>
            <a:off x="-165600" y="906449"/>
            <a:ext cx="9144000" cy="381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現有假新聞偵測模型多在特定資料集上報告準確率、</a:t>
            </a:r>
            <a:r>
              <a:rPr lang="en-US" altLang="zh-TW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F1 </a:t>
            </a: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分數，但不同資料集之間定義、語言、來源與時間分布差異很大，導致模型可遷移性與實務效果不明。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b="0" i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最新調查強調</a:t>
            </a: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要系統性整理資料集特徵（媒體平台、標註方式、主題、語言等），並分析 </a:t>
            </a:r>
            <a:r>
              <a:rPr lang="en-US" altLang="zh-TW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bias </a:t>
            </a: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對模型評估的影響。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r>
              <a:rPr lang="zh-TW" altLang="en-US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評估優化可以聚焦在：跨資料集、跨平台與跨語言的泛化能力，以及對「邊界案例」與對抗樣本的穩健性。</a:t>
            </a: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819150" lvl="1" indent="-285750" algn="just">
              <a:spcBef>
                <a:spcPts val="400"/>
              </a:spcBef>
              <a:buClr>
                <a:srgbClr val="00B0F0"/>
              </a:buClr>
              <a:buSzPts val="1400"/>
            </a:pPr>
            <a:endParaRPr lang="en-US" altLang="zh-TW" sz="18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r>
              <a:rPr lang="en-US" altLang="zh-TW" sz="18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	[1][2][3][4]</a:t>
            </a:r>
            <a:endParaRPr lang="en-US" altLang="zh-TW" sz="18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533400" lvl="1" indent="0" algn="just">
              <a:spcBef>
                <a:spcPts val="400"/>
              </a:spcBef>
              <a:buClr>
                <a:srgbClr val="00B0F0"/>
              </a:buClr>
              <a:buSzPts val="1400"/>
              <a:buNone/>
            </a:pPr>
            <a:endParaRPr lang="en-US" sz="1800" dirty="0">
              <a:solidFill>
                <a:srgbClr val="FF0000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sym typeface="PT Serif"/>
            </a:endParaRPr>
          </a:p>
        </p:txBody>
      </p:sp>
      <p:sp>
        <p:nvSpPr>
          <p:cNvPr id="64" name="Google Shape;64;p8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Evaluation optimization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325100" y="1346063"/>
            <a:ext cx="42469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多數研究在單一英文或特定語言資料集上訓練與評估，忽略真實世界中的多語、多平台、多型態（文字、圖片、影片）假訊息。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dirty="0"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許多模型高度依賴標題或文字風格特徵，當假新聞寫得更像「正規新聞」時，偵測效果會明顯下降。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870698" y="1346063"/>
            <a:ext cx="3644400" cy="32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結合內容特徵、傳播路徑（轉貼網路）、來源可信度與使用者立場等多維訊號，構建圖模型或多模態模型提升偵測能力。</a:t>
            </a: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3556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Char char="#"/>
            </a:pPr>
            <a:r>
              <a:rPr lang="zh-TW" altLang="en-US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建立針對資料集的標準化描述與評估協議，讓新模型能被公平比較，並促進跨資料集 </a:t>
            </a:r>
            <a:r>
              <a:rPr lang="en-US" altLang="zh-TW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benchmark</a:t>
            </a:r>
            <a:r>
              <a:rPr lang="zh-TW" altLang="en-US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。</a:t>
            </a: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2794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457200" lvl="0" indent="-279400" algn="just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T Serif"/>
              <a:buNone/>
            </a:pP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</p:txBody>
      </p:sp>
      <p:sp>
        <p:nvSpPr>
          <p:cNvPr id="71" name="Google Shape;71;p9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As-Is To-Be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626350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#As-Is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  <p:sp>
        <p:nvSpPr>
          <p:cNvPr id="73" name="Google Shape;73;p9"/>
          <p:cNvSpPr txBox="1"/>
          <p:nvPr/>
        </p:nvSpPr>
        <p:spPr>
          <a:xfrm>
            <a:off x="4870698" y="832086"/>
            <a:ext cx="3644400" cy="5139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01600" marR="0" lvl="0" indent="0" algn="ctr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T Serif"/>
              <a:buNone/>
            </a:pPr>
            <a:r>
              <a:rPr lang="en-US" sz="1800" b="1" i="0" u="sng" strike="noStrike" cap="none" dirty="0">
                <a:solidFill>
                  <a:schemeClr val="dk1"/>
                </a:solidFill>
                <a:latin typeface="Adobe 繁黑體 Std B" panose="020B0700000000000000" pitchFamily="34" charset="-128"/>
                <a:ea typeface="Adobe 繁黑體 Std B" panose="020B0700000000000000" pitchFamily="34" charset="-128"/>
                <a:cs typeface="PT Serif"/>
                <a:sym typeface="PT Serif"/>
              </a:rPr>
              <a:t>#To-Be</a:t>
            </a:r>
            <a:endParaRPr sz="1800" b="1" i="0" u="sng" strike="noStrike" cap="none" dirty="0">
              <a:solidFill>
                <a:schemeClr val="dk1"/>
              </a:solidFill>
              <a:latin typeface="Adobe 繁黑體 Std B" panose="020B0700000000000000" pitchFamily="34" charset="-128"/>
              <a:ea typeface="Adobe 繁黑體 Std B" panose="020B0700000000000000" pitchFamily="34" charset="-128"/>
              <a:cs typeface="PT Serif"/>
              <a:sym typeface="PT Serif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Poppins"/>
                <a:sym typeface="Poppins"/>
              </a:rPr>
              <a:t>Framework</a:t>
            </a:r>
            <a:endParaRPr sz="2000" dirty="0">
              <a:latin typeface="微软雅黑" panose="020B0503020204020204" pitchFamily="34" charset="-122"/>
              <a:ea typeface="微软雅黑" panose="020B0503020204020204" pitchFamily="34" charset="-122"/>
              <a:cs typeface="Poppins"/>
              <a:sym typeface="Poppins"/>
            </a:endParaRP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C026EB74-0D04-4868-AD96-860A7B19C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0382" y="1192733"/>
            <a:ext cx="5418418" cy="353954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Poppins"/>
                <a:ea typeface="Poppins"/>
                <a:cs typeface="Poppins"/>
                <a:sym typeface="Poppins"/>
              </a:rPr>
              <a:t>Overview</a:t>
            </a:r>
            <a:endParaRPr sz="2000" dirty="0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r>
              <a:rPr lang="zh-TW" altLang="en-US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在實務上，假新聞偵測系統應該是「輔助審查工具」還是「自動封鎖引擎」，不同定位會如何影響評估指標設計？</a:t>
            </a:r>
            <a:endParaRPr lang="en-US" altLang="zh-TW" sz="1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endParaRPr lang="en-US" altLang="zh-TW" sz="1600" dirty="0"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r>
              <a:rPr lang="zh-TW" altLang="en-US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如何減少資料集與標註中的政治立場與文化偏見，避免模型只學會「誰說的話」而不是「內容真假」？</a:t>
            </a:r>
            <a:endParaRPr lang="en-US" altLang="zh-TW" sz="1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endParaRPr lang="en-US" altLang="zh-TW" sz="1600" b="0" i="0" dirty="0">
              <a:effectLst/>
              <a:latin typeface="Adobe 繁黑體 Std B" panose="020B0700000000000000" pitchFamily="34" charset="-128"/>
              <a:ea typeface="Adobe 繁黑體 Std B" panose="020B0700000000000000" pitchFamily="34" charset="-128"/>
            </a:endParaRPr>
          </a:p>
          <a:p>
            <a:pPr marL="704850" lvl="1" indent="-17145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Char char="#"/>
            </a:pPr>
            <a:r>
              <a:rPr lang="zh-TW" altLang="en-US" sz="1600" b="0" i="0" dirty="0">
                <a:effectLst/>
                <a:latin typeface="Adobe 繁黑體 Std B" panose="020B0700000000000000" pitchFamily="34" charset="-128"/>
                <a:ea typeface="Adobe 繁黑體 Std B" panose="020B0700000000000000" pitchFamily="34" charset="-128"/>
              </a:rPr>
              <a:t>能否結合使用者教育與介面設計（例如顯示可信度分數、解釋理由）來降低假新聞的擴散效果？</a:t>
            </a:r>
            <a:endParaRPr sz="16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>
            <a:spLocks noGrp="1"/>
          </p:cNvSpPr>
          <p:nvPr>
            <p:ph type="title"/>
          </p:nvPr>
        </p:nvSpPr>
        <p:spPr>
          <a:xfrm>
            <a:off x="2318100" y="113175"/>
            <a:ext cx="4507800" cy="8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rPr lang="en-US" sz="2000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reference</a:t>
            </a:r>
            <a:endParaRPr sz="2000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  <p:sp>
        <p:nvSpPr>
          <p:cNvPr id="118" name="Google Shape;118;p16"/>
          <p:cNvSpPr txBox="1">
            <a:spLocks noGrp="1"/>
          </p:cNvSpPr>
          <p:nvPr>
            <p:ph type="body" idx="1"/>
          </p:nvPr>
        </p:nvSpPr>
        <p:spPr>
          <a:xfrm>
            <a:off x="617100" y="1269863"/>
            <a:ext cx="7909800" cy="3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[1] </a:t>
            </a:r>
            <a:r>
              <a:rPr lang="en-US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3"/>
              </a:rPr>
              <a:t>https://pmc.ncbi.nlm.nih.gov/articles/PMC8237334/</a:t>
            </a:r>
            <a:endParaRPr lang="en-US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[2] </a:t>
            </a:r>
            <a:r>
              <a:rPr lang="en-US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4"/>
              </a:rPr>
              <a:t>https://arxiv.org/abs/1812.00315</a:t>
            </a:r>
            <a:endParaRPr lang="en-US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[3] </a:t>
            </a:r>
            <a:r>
              <a:rPr lang="en-US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5"/>
              </a:rPr>
              <a:t>https://arxiv.org/abs/2407.02122</a:t>
            </a:r>
            <a:endParaRPr lang="en-US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  <a:p>
            <a:pPr marL="533400" lvl="1" indent="0" algn="l" rtl="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en-US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</a:rPr>
              <a:t>[4] </a:t>
            </a:r>
            <a:r>
              <a:rPr lang="en-US" dirty="0">
                <a:latin typeface="Adobe 繁黑體 Std B" panose="020B0700000000000000" pitchFamily="34" charset="-128"/>
                <a:ea typeface="Adobe 繁黑體 Std B" panose="020B0700000000000000" pitchFamily="34" charset="-128"/>
                <a:cs typeface="Poppins"/>
                <a:sym typeface="Poppins"/>
                <a:hlinkClick r:id="rId6"/>
              </a:rPr>
              <a:t>https://arxiv.org/abs/2111.03299</a:t>
            </a:r>
            <a:endParaRPr lang="en-US" dirty="0">
              <a:latin typeface="Adobe 繁黑體 Std B" panose="020B0700000000000000" pitchFamily="34" charset="-128"/>
              <a:ea typeface="Adobe 繁黑體 Std B" panose="020B0700000000000000" pitchFamily="34" charset="-128"/>
              <a:cs typeface="Poppins"/>
              <a:sym typeface="Poppins"/>
            </a:endParaRPr>
          </a:p>
        </p:txBody>
      </p:sp>
    </p:spTree>
    <p:extLst>
      <p:ext uri="{BB962C8B-B14F-4D97-AF65-F5344CB8AC3E}">
        <p14:creationId xmlns:p14="http://schemas.microsoft.com/office/powerpoint/2010/main" val="529412299"/>
      </p:ext>
    </p:extLst>
  </p:cSld>
  <p:clrMapOvr>
    <a:masterClrMapping/>
  </p:clrMapOvr>
</p:sld>
</file>

<file path=ppt/theme/theme1.xml><?xml version="1.0" encoding="utf-8"?>
<a:theme xmlns:a="http://schemas.openxmlformats.org/drawingml/2006/main" name="Beatrice template">
  <a:themeElements>
    <a:clrScheme name="Custom 347">
      <a:dk1>
        <a:srgbClr val="1D1D1B"/>
      </a:dk1>
      <a:lt1>
        <a:srgbClr val="F3EFEA"/>
      </a:lt1>
      <a:dk2>
        <a:srgbClr val="434343"/>
      </a:dk2>
      <a:lt2>
        <a:srgbClr val="FFFFFF"/>
      </a:lt2>
      <a:accent1>
        <a:srgbClr val="8F7B87"/>
      </a:accent1>
      <a:accent2>
        <a:srgbClr val="A797A1"/>
      </a:accent2>
      <a:accent3>
        <a:srgbClr val="C0B5BC"/>
      </a:accent3>
      <a:accent4>
        <a:srgbClr val="E4DDE1"/>
      </a:accent4>
      <a:accent5>
        <a:srgbClr val="EFECED"/>
      </a:accent5>
      <a:accent6>
        <a:srgbClr val="F3EFEA"/>
      </a:accent6>
      <a:hlink>
        <a:srgbClr val="1D1D1B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302</TotalTime>
  <Words>409</Words>
  <Application>Microsoft Office PowerPoint</Application>
  <PresentationFormat>如螢幕大小 (16:9)</PresentationFormat>
  <Paragraphs>30</Paragraphs>
  <Slides>6</Slides>
  <Notes>6</Notes>
  <HiddenSlides>2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PT Serif</vt:lpstr>
      <vt:lpstr>Montserrat</vt:lpstr>
      <vt:lpstr>微软雅黑</vt:lpstr>
      <vt:lpstr>Arial</vt:lpstr>
      <vt:lpstr>Adobe 繁黑體 Std B</vt:lpstr>
      <vt:lpstr>Poppins</vt:lpstr>
      <vt:lpstr>Beatrice template</vt:lpstr>
      <vt:lpstr>PowerPoint 簡報</vt:lpstr>
      <vt:lpstr>Evaluation optimization</vt:lpstr>
      <vt:lpstr>As-Is To-Be</vt:lpstr>
      <vt:lpstr>Framework</vt:lpstr>
      <vt:lpstr>Overview</vt:lpstr>
      <vt:lpstr>reference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Tony Wu</dc:creator>
  <cp:lastModifiedBy>先正 陳</cp:lastModifiedBy>
  <cp:revision>21</cp:revision>
  <dcterms:modified xsi:type="dcterms:W3CDTF">2025-11-18T06:07:19Z</dcterms:modified>
</cp:coreProperties>
</file>