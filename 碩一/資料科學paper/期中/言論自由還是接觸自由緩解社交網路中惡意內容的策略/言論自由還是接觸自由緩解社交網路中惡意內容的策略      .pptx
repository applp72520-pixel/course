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Nunito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95b6b46be_0_1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95b6b46be_0_1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95b6b46be_0_1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95b6b46be_0_1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5b6b46be_0_1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5b6b46be_0_1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95b6b46be_0_1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95b6b46be_0_1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95b6b46be_0_1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95b6b46be_0_1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95b6b46be_0_1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95b6b46be_0_1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5b6b46be_0_1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95b6b46be_0_1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5b6b46be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5b6b46be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5b6b46be_0_1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95b6b46be_0_1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95b6b46be_0_1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95b6b46be_0_1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95b6b46be_0_1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95b6b46be_0_1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5b6b46be_0_1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95b6b46be_0_1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5b6b46be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95b6b46be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95b6b46be_0_1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95b6b46be_0_1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95b6b46be_0_1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95b6b46be_0_1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95b6b46be_0_1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95b6b46be_0_1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95b6b46be_0_1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95b6b46be_0_1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95b6b46be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95b6b46be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5b6b46be_0_1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95b6b46be_0_1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95b6b46be_0_1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95b6b46be_0_1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95b6b46be_0_1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95b6b46be_0_1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95b6b46be_0_1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95b6b46be_0_1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95b6b46be_0_1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95b6b46be_0_1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95b6b46be_0_1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95b6b46be_0_1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95b6b46be_0_1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95b6b46be_0_1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0926A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2907A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897731"/>
            <a:ext cx="8229600" cy="3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897731"/>
            <a:ext cx="4038600" cy="3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897731"/>
            <a:ext cx="4038600" cy="3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762851" y="-1407918"/>
            <a:ext cx="3618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5400313" y="1218459"/>
            <a:ext cx="4536300" cy="20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203675" y="-766791"/>
            <a:ext cx="4536300" cy="60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786313"/>
            <a:ext cx="9144000" cy="3573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-20241"/>
            <a:ext cx="9144000" cy="8643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57200" y="897731"/>
            <a:ext cx="8229600" cy="3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4806554"/>
            <a:ext cx="9144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zh-TW" sz="1200" b="0" i="1" u="none" strike="noStrike" cap="none">
                <a:solidFill>
                  <a:srgbClr val="2907A5"/>
                </a:solidFill>
                <a:latin typeface="Arial"/>
                <a:ea typeface="Arial"/>
                <a:cs typeface="Arial"/>
                <a:sym typeface="Arial"/>
              </a:rPr>
              <a:t>Institute of Information Management, NCTU                                                                                                          2012,</a:t>
            </a:r>
            <a:r>
              <a:rPr lang="zh-TW" sz="1200" b="0" i="0" u="none" strike="noStrike" cap="none">
                <a:solidFill>
                  <a:srgbClr val="2907A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sz="1200" b="0" i="1" u="none" strike="noStrike" cap="none">
                <a:solidFill>
                  <a:srgbClr val="2907A5"/>
                </a:solidFill>
                <a:latin typeface="Arial"/>
                <a:ea typeface="Arial"/>
                <a:cs typeface="Arial"/>
                <a:sym typeface="Arial"/>
              </a:rPr>
              <a:t>IEBI Lab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" descr="logo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513" y="4832747"/>
            <a:ext cx="282178" cy="28336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824000" y="904725"/>
            <a:ext cx="8105700" cy="187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言論自由還是接觸自由緩解社交網路中惡意內容的策略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50"/>
              <a:t>    Freedom of speech or freedom of reach Strategies for mitigating malicious content in social networks</a:t>
            </a:r>
            <a:endParaRPr sz="265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629050" y="3206800"/>
            <a:ext cx="6991200" cy="69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論文出處:Decision Support Systems,182,2024年4月27日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007325" y="3837350"/>
            <a:ext cx="3475500" cy="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Nunito"/>
                <a:ea typeface="Nunito"/>
                <a:cs typeface="Nunito"/>
                <a:sym typeface="Nunito"/>
              </a:rPr>
              <a:t>     報告人:陳先正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Nunito"/>
                <a:ea typeface="Nunito"/>
                <a:cs typeface="Nunito"/>
                <a:sym typeface="Nunito"/>
              </a:rPr>
              <a:t>日期:2025年10月7號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目錄</a:t>
            </a:r>
            <a:endParaRPr sz="2650"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69912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前言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文獻探討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系統架構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實驗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結果</a:t>
            </a:r>
            <a:r>
              <a:rPr lang="en-US" altLang="zh-TW" sz="3000" dirty="0"/>
              <a:t>&amp;</a:t>
            </a:r>
            <a:r>
              <a:rPr lang="zh-TW" altLang="en-US" sz="3000" dirty="0"/>
              <a:t>建議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結論</a:t>
            </a:r>
            <a:endParaRPr sz="3000"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ctrTitle"/>
          </p:nvPr>
        </p:nvSpPr>
        <p:spPr>
          <a:xfrm>
            <a:off x="3853125" y="1977525"/>
            <a:ext cx="1970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前言</a:t>
            </a:r>
            <a:endParaRPr sz="4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前言</a:t>
            </a:r>
            <a:endParaRPr sz="2650"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83094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/>
              <a:t>       本研究背景聚焦於社交媒體上惡意內容（如假新聞和操控信息）的廣泛傳播，這受到網絡結構中的偏好連結（PA）和用戶的認知負荷（LIP）影響。傳統的內容刪除或帳號移除策略存在效果有限、成本高且可能侵犯言論自由的問題。因此，研究提出一種名為PDFM的策略，通過調整內容排序來限制惡意內容傳播，旨在有效且可持續地解決這一挑戰。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前言</a:t>
            </a:r>
            <a:endParaRPr sz="265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83094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/>
              <a:t>研究問題:</a:t>
            </a:r>
            <a:endParaRPr sz="200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/>
              <a:t>      如何有效減少社交網絡中惡意內容的擴散，同時避免對言論自由造成不當限制？ </a:t>
            </a:r>
            <a:endParaRPr sz="200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/>
              <a:t>研究動機:</a:t>
            </a:r>
            <a:endParaRPr sz="200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/>
              <a:t>     基於現有策略（如內容刪除和帳號屏蔽）在效果、成本和倫理方面的局限性，急需提出一種既能抑制惡意內容傳播，又能保持平台責任與自由的創新方案。因此，本文旨在設計並驗證一種基於調整內容排序的干預策略（PDFM），以達成長遠和可持續的解決方案。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ctrTitle"/>
          </p:nvPr>
        </p:nvSpPr>
        <p:spPr>
          <a:xfrm>
            <a:off x="3253850" y="1977500"/>
            <a:ext cx="2729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文獻探討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文獻探討</a:t>
            </a:r>
            <a:endParaRPr sz="2650"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83094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SzPts val="1400"/>
              <a:buChar char="●"/>
            </a:pPr>
            <a:r>
              <a:rPr lang="zh-TW" sz="1400" b="1"/>
              <a:t>偏好連結（PA）</a:t>
            </a:r>
            <a:r>
              <a:rPr lang="zh-TW" sz="1400"/>
              <a:t> :新節點傾向連結到已經流行的節點，形成“富者越富”的結構，影響內容傳播與意見領袖的產生[3][41]。</a:t>
            </a:r>
            <a:br>
              <a:rPr lang="zh-TW" sz="1400"/>
            </a:b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 b="1"/>
              <a:t>內容篩選與排序</a:t>
            </a:r>
            <a:r>
              <a:rPr lang="zh-TW" sz="1400"/>
              <a:t> :排名前的內容更易被曝光。採用隨機或時間排序能降低熱門內容的優勢，促進多樣性[26][68][51]。</a:t>
            </a:r>
            <a:br>
              <a:rPr lang="zh-TW" sz="1400"/>
            </a:b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 b="1"/>
              <a:t>認知負荷（LIP）</a:t>
            </a:r>
            <a:r>
              <a:rPr lang="zh-TW" sz="1400"/>
              <a:t> :高負荷減少用戶分析能力，易導致相信錯誤資訊。用戶只能處理部分內容，偏好熱門內容[26][44][51]。</a:t>
            </a:r>
            <a:br>
              <a:rPr lang="zh-TW" sz="1400"/>
            </a:b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 b="1"/>
              <a:t>現有內容控制措施的限制</a:t>
            </a:r>
            <a:r>
              <a:rPr lang="zh-TW" sz="1400"/>
              <a:t>:內容刪除與封號困難重重，可能引發審查與言論自由疑慮，成本高[10][28][36]。</a:t>
            </a:r>
            <a:br>
              <a:rPr lang="zh-TW" sz="1400"/>
            </a:b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 b="1"/>
              <a:t>PDFM策略</a:t>
            </a:r>
            <a:r>
              <a:rPr lang="zh-TW" sz="1400"/>
              <a:t>:不刪除內容，而是調整內容的顯示優先度，減少惡意內容曝光，有助長期管理[4][7][8]。</a:t>
            </a:r>
            <a:endParaRPr sz="140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ctrTitle"/>
          </p:nvPr>
        </p:nvSpPr>
        <p:spPr>
          <a:xfrm>
            <a:off x="3253850" y="1977500"/>
            <a:ext cx="2729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系統架構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"/>
          </p:nvPr>
        </p:nvSpPr>
        <p:spPr>
          <a:xfrm>
            <a:off x="367375" y="848950"/>
            <a:ext cx="6485100" cy="389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偏好性抑制訊息流管理 (PDFM):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PDFM 是一種替代性的網路干預策略，目的在於遏制社交網路中惡意內容的傳播，其核心理念是限制惡意內容的曝光，而非刪除或審查任何內容。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PDFM 的理論基礎: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PDFM 建立在兩個關鍵機制之上，這些機制共同決定了用戶在其訊息流中接觸到的內容。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偏好性依附 (Preferential Attachment, PA)：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新加入的用戶傾向於連結到已經較為熱門或連結較多的用戶，形成“多者越多”的成長機制，促使重要節點越來越重要。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有限資訊處理 (Limited Information Processing, LIP)：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  用戶的認知能力有限，只能處理和專注於資訊的部分內容（例如只注意到內容的前幾個或較顯著的內容），導致用戶較難廣泛瀏覽所有資訊。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PA 與 LIP 的協同作用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：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LIP 使得用戶傾向於只關注其訊息流的頂部，PA 則使最受歡迎的內容優先排序在頂部。兩者共同作用，導致最受歡迎的內容獲得不成比例的曝光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050" b="1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136" name="Google Shape;136;p21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475" y="2669225"/>
            <a:ext cx="2249000" cy="2073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142" name="Google Shape;142;p22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PDFM 的四個級別（系統架構的變化）: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PDFM 的四個級別（No PDFM、Low PDFM、Medium PDFM 和 High PDFM）是透過調整上述選擇和排序過程中的 PA 依賴性來定義的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143" name="Google Shape;143;p2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275" y="1782325"/>
            <a:ext cx="6019726" cy="29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230825" y="809025"/>
            <a:ext cx="8913300" cy="402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代理人基模型 (ABM) 架構: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為了評估 PDFM 的有效性並與現有的網路修改策略（例如機器人移除）進行比較，研究開發了一個模仿真實社交網路（類似 Twitter）的 ABM。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ABM 的組成與特徵: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系統類型：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ABM 是一種底層至上的計算建模方法，用於研究複雜自適應系統（Complex Adaptive Systems, CAS）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代理人（Agent）類別：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模擬模型包含八種代理人，每種代理人具有不同的屬性和行為（如追隨、發文、轉發）。這八類包括：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簡單機器人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（simple bot）、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複雜機器人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（sophisticated bot）、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影響者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（influencer）、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名人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（celebrity）、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廣播者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（broadcaster）、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擴音器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（amplifier）、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評論者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（commentator）和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觀眾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（viewer）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網路結構：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網路的基礎是基於連結的拓撲結構。網路呈現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無尺度分佈（scale-free degree distribution）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，即少數代理人擁有比其他代理人多得多的追隨者，這反映了現實世界社交媒體平臺的連接多樣性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模擬設定：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-模擬包含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10,000 個代理人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-每次模擬運行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30 天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（即 30 個「時點」）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-內容的預設排序規則是「TWTD」（Default），即按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時間順序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顯示最新的貼文。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1"/>
          </p:nvPr>
        </p:nvSpPr>
        <p:spPr>
          <a:xfrm>
            <a:off x="370650" y="809025"/>
            <a:ext cx="8773500" cy="402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機制整合: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PA 的實施：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PA 機制在兩個階段實施：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1.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網路創建初期：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用於建立追隨者與被追隨者之間的連結。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2.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內容傳播後期：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影響內容傳播，塑造用戶的內容訊息流，從而決定資訊的可見性和傳播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LIP 的實施：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-LIP 容量決定了單個代理人在達到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認知疲勞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之前會參與處理的內容數量，這對用戶與內容的互動產生實質性影響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干預機制的整合：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-在 ABM 中，透過調整內容的「選擇」和「排序」來模擬 PDFM 的四個級別。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ctrTitle"/>
          </p:nvPr>
        </p:nvSpPr>
        <p:spPr>
          <a:xfrm>
            <a:off x="3473575" y="1977500"/>
            <a:ext cx="17910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實驗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實驗</a:t>
            </a:r>
            <a:endParaRPr sz="2650"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評估指標: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為了評估網路干預策略的有效性，實驗使用了兩種內容傳播的指標進行衡量。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參與度 (Engagement)：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操作化為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轉發分佈 (repost distribution)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，即計算每個生成貼文的轉發次數。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曝光度 (Exposure)：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操作化為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貼文讀者數 (post readership)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，即追蹤在其訊息流中查看每個貼文的用戶數量。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實驗</a:t>
            </a:r>
            <a:endParaRPr sz="2650"/>
          </a:p>
        </p:txBody>
      </p:sp>
      <p:sp>
        <p:nvSpPr>
          <p:cNvPr id="172" name="Google Shape;172;p27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實驗1-機器人移除 (Bot Removal):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此實驗著重於評估網路修改策略（即消除惡意機器人帳戶）的有效性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實驗條件：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比較四個不同層次的帳戶移除效果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移除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25%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的機器人。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移除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50%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的機器人。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移除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75%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的機器人。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移除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99%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的機器人。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比較基礎：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將上述四種操作與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無干預的基線模擬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進行比較，以找出最佳的帳戶移除水準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實驗</a:t>
            </a:r>
            <a:endParaRPr sz="2650"/>
          </a:p>
        </p:txBody>
      </p:sp>
      <p:sp>
        <p:nvSpPr>
          <p:cNvPr id="178" name="Google Shape;178;p28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實驗2-偏好性抑制訊息流管理 (PDFM):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此實驗著重於評估 PDFM 策略在抑制惡意影響力帳戶的觸及率，從而限制有害內容傳播的有效性。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實驗條件：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比較 PDFM 的四個不同級別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No PDFM (無 PDFM)：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作為基線，內容選擇和排序皆依賴 PA（人氣）。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Low PDFM (低 PDFM)：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內容選擇為非 PA-based，但排序仍依賴 PA。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Medium PDFM (中 PDFM)：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內容選擇依賴 PA，但排序為非 PA-based（如時間順序）。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High PDFM (高 PDFM)：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內容選擇和排序皆為非 PA-based。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比較基礎：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將上述四種操作與無干預的基線模擬進行比較，以找出最佳的 PDFM 級別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實驗</a:t>
            </a:r>
            <a:endParaRPr sz="2650"/>
          </a:p>
        </p:txBody>
      </p:sp>
      <p:sp>
        <p:nvSpPr>
          <p:cNvPr id="184" name="Google Shape;184;p29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模型驗證: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在進行實驗之前，研究透過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內部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和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外部驗證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確保 ABM 模型能夠模擬真實的社交網路行為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外部驗證關鍵點：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透過建立一個名為「CELEBRITY」的客製化代理人，模仿前美國總統唐納·川普的帳戶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驗證結果：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將現實生活中該帳戶在 Twitter 移除機器人前後的轉發幅度平均下降 56.8%，與模擬結果進行比較。結果發現，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移除 50% 機器人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的模擬策略（轉發幅度下降 54%）與現實生活中的下降幅度最為接近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統計驗證：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透過 Welch t 檢驗，確認真實數據集和模擬觀察結果在傳播上沒有顯著差異 (p &gt; 0.16)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實驗</a:t>
            </a:r>
            <a:endParaRPr sz="2650"/>
          </a:p>
        </p:txBody>
      </p:sp>
      <p:sp>
        <p:nvSpPr>
          <p:cNvPr id="190" name="Google Shape;190;p30"/>
          <p:cNvSpPr txBox="1">
            <a:spLocks noGrp="1"/>
          </p:cNvSpPr>
          <p:nvPr>
            <p:ph type="subTitle" idx="1"/>
          </p:nvPr>
        </p:nvSpPr>
        <p:spPr>
          <a:xfrm>
            <a:off x="220825" y="1099650"/>
            <a:ext cx="4564200" cy="2604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內容傳播分佈的四個關鍵指標: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      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這些指標用於分析貼文的曝光度（讀者數）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和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參與度（轉發數）的分佈是否均勻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目標: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透過干預（PDFM 或機器人移除）來「扁平化」分佈，即讓內容傳播更平均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191" name="Google Shape;191;p30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056" y="1099650"/>
            <a:ext cx="4351194" cy="26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ctrTitle"/>
          </p:nvPr>
        </p:nvSpPr>
        <p:spPr>
          <a:xfrm>
            <a:off x="2924275" y="1967525"/>
            <a:ext cx="35286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結果&amp;建議</a:t>
            </a:r>
            <a:endParaRPr sz="4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220825" y="1099650"/>
            <a:ext cx="5203500" cy="147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比較了四種不同比例的機器人移除對內容傳播指標的影響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從圖表的數值中觀察到，隨著機器人被逐步移除，讀者數和轉發數分佈的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偏度 (Skewness)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和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峰度 (Kurtosis)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均有下降。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例如，移除 99% 機器人後，廣播者和名人的轉發次數平均減少了 70%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203" name="Google Shape;203;p32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150" y="1038200"/>
            <a:ext cx="3595325" cy="10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6552850" y="2081425"/>
            <a:ext cx="11187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31314"/>
                </a:solidFill>
                <a:highlight>
                  <a:srgbClr val="FFFFFF"/>
                </a:highlight>
              </a:rPr>
              <a:t>讀者數分佈統計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05" name="Google Shape;205;p32" title="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4150" y="2690650"/>
            <a:ext cx="3595325" cy="101284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/>
        </p:nvSpPr>
        <p:spPr>
          <a:xfrm>
            <a:off x="6552850" y="3703500"/>
            <a:ext cx="11187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31314"/>
                </a:solidFill>
                <a:highlight>
                  <a:srgbClr val="FFFFFF"/>
                </a:highlight>
              </a:rPr>
              <a:t>轉發數分佈統計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12" name="Google Shape;212;p33"/>
          <p:cNvSpPr txBox="1">
            <a:spLocks noGrp="1"/>
          </p:cNvSpPr>
          <p:nvPr>
            <p:ph type="subTitle" idx="1"/>
          </p:nvPr>
        </p:nvSpPr>
        <p:spPr>
          <a:xfrm>
            <a:off x="220825" y="1099650"/>
            <a:ext cx="5203500" cy="2604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比較了四個不同級別的 PDFM 策略對內容傳播指標的抑制效果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在 PDFM 干預下，讀者數和轉發數的分佈顯著「扁平化」（Skewness 和 Kurtosis 顯著下降）。例如，在 High PDFM（高抑制級別）干預下，讀者數分佈的峰度從 No PDFM 設置下的 108.33 降至 11.75。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此外，研究觀察到，抑制 PA 在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排序過程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中（Medium PDFM）比抑制在選擇過程中（Low PDFM）對曲線的扁平化有更顯著的影響。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6552850" y="2081425"/>
            <a:ext cx="11187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31314"/>
                </a:solidFill>
                <a:highlight>
                  <a:srgbClr val="FFFFFF"/>
                </a:highlight>
              </a:rPr>
              <a:t>讀者數分佈統計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6552850" y="3663550"/>
            <a:ext cx="11187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31314"/>
                </a:solidFill>
                <a:highlight>
                  <a:srgbClr val="FFFFFF"/>
                </a:highlight>
              </a:rPr>
              <a:t>轉發數分佈統計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15" name="Google Shape;215;p33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150" y="1185900"/>
            <a:ext cx="3595325" cy="900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 title="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4313" y="2678175"/>
            <a:ext cx="3663558" cy="9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建議</a:t>
            </a:r>
            <a:endParaRPr sz="2650"/>
          </a:p>
        </p:txBody>
      </p:sp>
      <p:sp>
        <p:nvSpPr>
          <p:cNvPr id="222" name="Google Shape;222;p34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對平臺提供商（Platform Providers）的建議: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策略首選 PDFM： 建議平臺採用 PDFM 策略，而非勞力密集、效果短暫且高成本的機器人移除策略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建議級別 Medium PDFM：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推薦實施 Medium PDFM 策略（抑制內容排序中的偏好性依附 PA），因為它在減少惡意傳播方面的效果與高水準的機器人移除相當，但不會顯著減少網路流量。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•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優勢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： PDFM 策略可自動減少惡意代理人曝光，無需人工重複審查、識別和移除工作，因此更有效率且可持續。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•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避免審查爭議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： Medium PDFM 不會像 High PDFM 那樣過於限制或明顯，因此不會引起平臺對「絕對審查」的擔憂。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•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利用 ABM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： 建議平臺使用本研究的 ABM 模型作為政策評估工具，以預測惡意行為趨勢並測試緩解策略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建議</a:t>
            </a:r>
            <a:endParaRPr sz="2650"/>
          </a:p>
        </p:txBody>
      </p:sp>
      <p:sp>
        <p:nvSpPr>
          <p:cNvPr id="228" name="Google Shape;228;p35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對用戶與社會大眾的建議: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增強用戶體驗：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PDFM 透過降低被惡意代理人操縱的可能性，增強了用戶體驗，使用戶能更安心地將社交網路作為新聞來源。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維護公正輿論：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PDFM 以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非侵入性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方式支持維持公正的輿論環境，減少錯誤資訊和操縱，從而有助於民主決策過程中的資訊獲取基礎。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對未來研究的建議: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擴展模型複雜性：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應將 ABM 擴展到納入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動態網路結構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、更多元的用戶角色、以及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圖形和文本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等惡意訊息內容，以增強模型的現實性。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560"/>
              </a:spcBef>
              <a:spcAft>
                <a:spcPts val="0"/>
              </a:spcAft>
              <a:buClr>
                <a:srgbClr val="131314"/>
              </a:buClr>
              <a:buSzPts val="1400"/>
              <a:buChar char="●"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考量平臺經濟利益：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未來研究應考慮平臺提供商在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用戶參與度、用戶留存率和收入流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等方面的特定利益。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>
            <a:spLocks noGrp="1"/>
          </p:cNvSpPr>
          <p:nvPr>
            <p:ph type="ctrTitle"/>
          </p:nvPr>
        </p:nvSpPr>
        <p:spPr>
          <a:xfrm>
            <a:off x="3473575" y="1977500"/>
            <a:ext cx="17910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結論</a:t>
            </a:r>
            <a:endParaRPr sz="4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</a:t>
            </a:r>
            <a:endParaRPr sz="2650"/>
          </a:p>
        </p:txBody>
      </p:sp>
      <p:sp>
        <p:nvSpPr>
          <p:cNvPr id="239" name="Google Shape;239;p37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策略有效性：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研究證明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PDFM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是一種有效的替代策略，它透過抑制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偏好性依附 (PA)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和考慮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有限資訊處理 (LIP)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容量，能有效地遏制惡意內容傳播。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•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機制優勢：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PDFM 透過針對內容傳播的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潛在機制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（PA 和 LIP）來運作，而非僅處理症狀（如移除帳戶或內容）。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•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實務價值：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PDFM 可以在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不引發審查爭議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或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損害網路流量和平臺收入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的情況下，達到遏制惡意內容的目的。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•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效率與永續性：</a:t>
            </a: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 PDFM 不要求手動且重複的帳戶識別或移除工作。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• </a:t>
            </a:r>
            <a:r>
              <a:rPr lang="zh-TW" sz="1400" b="1">
                <a:solidFill>
                  <a:srgbClr val="131314"/>
                </a:solidFill>
                <a:highlight>
                  <a:srgbClr val="FFFFFF"/>
                </a:highlight>
              </a:rPr>
              <a:t>貢獻：</a:t>
            </a: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131314"/>
                </a:solidFill>
                <a:highlight>
                  <a:srgbClr val="FFFFFF"/>
                </a:highlight>
              </a:rPr>
              <a:t>    本研究為網路干預文獻提供了一個新的策略類別（訊息流管理），並對平臺提供商、用戶和社會具有重要的實務意義</a:t>
            </a:r>
            <a:endParaRPr sz="140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 b="1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>
            <a:spLocks noGrp="1"/>
          </p:cNvSpPr>
          <p:nvPr>
            <p:ph type="ctrTitle"/>
          </p:nvPr>
        </p:nvSpPr>
        <p:spPr>
          <a:xfrm>
            <a:off x="2594675" y="1898700"/>
            <a:ext cx="4387500" cy="134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solidFill>
                  <a:schemeClr val="dk1"/>
                </a:solidFill>
              </a:rPr>
              <a:t>Thank 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2484</Words>
  <Application>Microsoft Office PowerPoint</Application>
  <PresentationFormat>如螢幕大小 (16:9)</PresentationFormat>
  <Paragraphs>161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29" baseType="lpstr">
      <vt:lpstr>Nunito</vt:lpstr>
      <vt:lpstr>Arial</vt:lpstr>
      <vt:lpstr>SEAD</vt:lpstr>
      <vt:lpstr>言論自由還是接觸自由緩解社交網路中惡意內容的策略     Freedom of speech or freedom of reach Strategies for mitigating malicious content in social networks</vt:lpstr>
      <vt:lpstr>目錄</vt:lpstr>
      <vt:lpstr>前言</vt:lpstr>
      <vt:lpstr>前言</vt:lpstr>
      <vt:lpstr>前言</vt:lpstr>
      <vt:lpstr>文獻探討</vt:lpstr>
      <vt:lpstr>文獻探討</vt:lpstr>
      <vt:lpstr>系統架構</vt:lpstr>
      <vt:lpstr>系統架構</vt:lpstr>
      <vt:lpstr>系統架構</vt:lpstr>
      <vt:lpstr>系統架構</vt:lpstr>
      <vt:lpstr>系統架構</vt:lpstr>
      <vt:lpstr>實驗</vt:lpstr>
      <vt:lpstr>實驗</vt:lpstr>
      <vt:lpstr>實驗</vt:lpstr>
      <vt:lpstr>實驗</vt:lpstr>
      <vt:lpstr>實驗</vt:lpstr>
      <vt:lpstr>實驗</vt:lpstr>
      <vt:lpstr>結果&amp;建議</vt:lpstr>
      <vt:lpstr>結果</vt:lpstr>
      <vt:lpstr>結果</vt:lpstr>
      <vt:lpstr>建議</vt:lpstr>
      <vt:lpstr>建議</vt:lpstr>
      <vt:lpstr>結論</vt:lpstr>
      <vt:lpstr>結論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言論自由還是接觸自由緩解社交網路中惡意內容的策略     Freedom of speech or freedom of reach Strategies for mitigating malicious content in social networks</dc:title>
  <cp:lastModifiedBy>chan weihao</cp:lastModifiedBy>
  <cp:revision>1</cp:revision>
  <dcterms:modified xsi:type="dcterms:W3CDTF">2025-10-07T06:18:50Z</dcterms:modified>
</cp:coreProperties>
</file>