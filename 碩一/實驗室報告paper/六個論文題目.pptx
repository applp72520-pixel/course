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58"/>
  </p:notesMasterIdLst>
  <p:sldIdLst>
    <p:sldId id="321" r:id="rId2"/>
    <p:sldId id="323" r:id="rId3"/>
    <p:sldId id="263" r:id="rId4"/>
    <p:sldId id="325" r:id="rId5"/>
    <p:sldId id="264" r:id="rId6"/>
    <p:sldId id="324" r:id="rId7"/>
    <p:sldId id="265" r:id="rId8"/>
    <p:sldId id="266" r:id="rId9"/>
    <p:sldId id="283" r:id="rId10"/>
    <p:sldId id="284" r:id="rId11"/>
    <p:sldId id="273" r:id="rId12"/>
    <p:sldId id="274" r:id="rId13"/>
    <p:sldId id="326" r:id="rId14"/>
    <p:sldId id="276" r:id="rId15"/>
    <p:sldId id="327" r:id="rId16"/>
    <p:sldId id="275" r:id="rId17"/>
    <p:sldId id="277" r:id="rId18"/>
    <p:sldId id="287" r:id="rId19"/>
    <p:sldId id="285" r:id="rId20"/>
    <p:sldId id="278" r:id="rId21"/>
    <p:sldId id="279" r:id="rId22"/>
    <p:sldId id="329" r:id="rId23"/>
    <p:sldId id="280" r:id="rId24"/>
    <p:sldId id="331" r:id="rId25"/>
    <p:sldId id="281" r:id="rId26"/>
    <p:sldId id="286" r:id="rId27"/>
    <p:sldId id="289" r:id="rId28"/>
    <p:sldId id="296" r:id="rId29"/>
    <p:sldId id="290" r:id="rId30"/>
    <p:sldId id="291" r:id="rId31"/>
    <p:sldId id="330" r:id="rId32"/>
    <p:sldId id="292" r:id="rId33"/>
    <p:sldId id="328" r:id="rId34"/>
    <p:sldId id="293" r:id="rId35"/>
    <p:sldId id="294" r:id="rId36"/>
    <p:sldId id="295" r:id="rId37"/>
    <p:sldId id="297" r:id="rId38"/>
    <p:sldId id="298" r:id="rId39"/>
    <p:sldId id="299" r:id="rId40"/>
    <p:sldId id="332" r:id="rId41"/>
    <p:sldId id="300" r:id="rId42"/>
    <p:sldId id="333" r:id="rId43"/>
    <p:sldId id="301" r:id="rId44"/>
    <p:sldId id="309" r:id="rId45"/>
    <p:sldId id="310" r:id="rId46"/>
    <p:sldId id="303" r:id="rId47"/>
    <p:sldId id="314" r:id="rId48"/>
    <p:sldId id="315" r:id="rId49"/>
    <p:sldId id="334" r:id="rId50"/>
    <p:sldId id="316" r:id="rId51"/>
    <p:sldId id="335" r:id="rId52"/>
    <p:sldId id="317" r:id="rId53"/>
    <p:sldId id="318" r:id="rId54"/>
    <p:sldId id="319" r:id="rId55"/>
    <p:sldId id="320" r:id="rId56"/>
    <p:sldId id="322" r:id="rId57"/>
  </p:sldIdLst>
  <p:sldSz cx="9144000" cy="5143500" type="screen16x9"/>
  <p:notesSz cx="6858000" cy="9144000"/>
  <p:embeddedFontLst>
    <p:embeddedFont>
      <p:font typeface="Adobe 繁黑體 Std B" panose="020B0700000000000000" pitchFamily="34" charset="-128"/>
      <p:bold r:id="rId59"/>
    </p:embeddedFont>
    <p:embeddedFont>
      <p:font typeface="Montserrat" panose="00000500000000000000" pitchFamily="2" charset="0"/>
      <p:regular r:id="rId60"/>
      <p:bold r:id="rId61"/>
      <p:italic r:id="rId62"/>
      <p:boldItalic r:id="rId63"/>
    </p:embeddedFont>
    <p:embeddedFont>
      <p:font typeface="Poppins" panose="00000500000000000000" pitchFamily="2" charset="0"/>
      <p:regular r:id="rId64"/>
      <p:bold r:id="rId65"/>
      <p:italic r:id="rId66"/>
      <p:boldItalic r:id="rId67"/>
    </p:embeddedFont>
    <p:embeddedFont>
      <p:font typeface="PT Serif" panose="020A0603040505020204" pitchFamily="18" charset="0"/>
      <p:regular r:id="rId68"/>
      <p:bold r:id="rId69"/>
      <p:italic r:id="rId70"/>
      <p:boldItalic r:id="rId71"/>
    </p:embeddedFont>
    <p:embeddedFont>
      <p:font typeface="微软雅黑" panose="020B0503020204020204" pitchFamily="34" charset="-122"/>
      <p:regular r:id="rId72"/>
      <p:bold r:id="rId7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4" roundtripDataSignature="AMtx7miFo3EzPKLk9ieBmi+eVNXi6qtq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56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7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5.fntdata"/><Relationship Id="rId68" Type="http://schemas.openxmlformats.org/officeDocument/2006/relationships/font" Target="fonts/font10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66" Type="http://schemas.openxmlformats.org/officeDocument/2006/relationships/font" Target="fonts/font8.fntdata"/><Relationship Id="rId74" Type="http://customschemas.google.com/relationships/presentationmetadata" Target="metadata"/><Relationship Id="rId5" Type="http://schemas.openxmlformats.org/officeDocument/2006/relationships/slide" Target="slides/slide4.xml"/><Relationship Id="rId61" Type="http://schemas.openxmlformats.org/officeDocument/2006/relationships/font" Target="fonts/font3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6.fntdata"/><Relationship Id="rId69" Type="http://schemas.openxmlformats.org/officeDocument/2006/relationships/font" Target="fonts/font11.fntdata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1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.fntdata"/><Relationship Id="rId67" Type="http://schemas.openxmlformats.org/officeDocument/2006/relationships/font" Target="fonts/font9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4.fntdata"/><Relationship Id="rId70" Type="http://schemas.openxmlformats.org/officeDocument/2006/relationships/font" Target="fonts/font12.fntdata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2.fntdata"/><Relationship Id="rId65" Type="http://schemas.openxmlformats.org/officeDocument/2006/relationships/font" Target="fonts/font7.fntdata"/><Relationship Id="rId73" Type="http://schemas.openxmlformats.org/officeDocument/2006/relationships/font" Target="fonts/font15.fntdata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font" Target="fonts/font13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04110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870168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24591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28289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5605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82121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990761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73629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21689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10217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96933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93842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41295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58785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61355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091343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040021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48214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2745170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607000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8491498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792022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412293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730880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1974138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576140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150246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1678718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018607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2996831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321533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058762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974861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109564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014316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54651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1257495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616552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2897974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147323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453761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338236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3595230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11934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3337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2287629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890141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415575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961818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27994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961057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61422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body" idx="1"/>
          </p:nvPr>
        </p:nvSpPr>
        <p:spPr>
          <a:xfrm>
            <a:off x="626350" y="1346063"/>
            <a:ext cx="3644400" cy="32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Char char="○"/>
              <a:defRPr sz="2000"/>
            </a:lvl1pPr>
            <a:lvl2pPr marL="914400" lvl="1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□"/>
              <a:defRPr sz="2000"/>
            </a:lvl2pPr>
            <a:lvl3pPr marL="1371600" lvl="2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3pPr>
            <a:lvl4pPr marL="1828800" lvl="3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□"/>
              <a:defRPr sz="2000"/>
            </a:lvl4pPr>
            <a:lvl5pPr marL="2286000" lvl="4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body" idx="2"/>
          </p:nvPr>
        </p:nvSpPr>
        <p:spPr>
          <a:xfrm>
            <a:off x="4870698" y="1346063"/>
            <a:ext cx="3644400" cy="32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Char char="○"/>
              <a:defRPr sz="2000"/>
            </a:lvl1pPr>
            <a:lvl2pPr marL="914400" lvl="1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□"/>
              <a:defRPr sz="2000"/>
            </a:lvl2pPr>
            <a:lvl3pPr marL="1371600" lvl="2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3pPr>
            <a:lvl4pPr marL="1828800" lvl="3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□"/>
              <a:defRPr sz="2000"/>
            </a:lvl4pPr>
            <a:lvl5pPr marL="2286000" lvl="4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cxnSp>
        <p:nvCxnSpPr>
          <p:cNvPr id="13" name="Google Shape;13;p19"/>
          <p:cNvCxnSpPr/>
          <p:nvPr/>
        </p:nvCxnSpPr>
        <p:spPr>
          <a:xfrm rot="10800000">
            <a:off x="-23700" y="541800"/>
            <a:ext cx="2341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oval" w="med" len="med"/>
            <a:tailEnd type="none" w="sm" len="sm"/>
          </a:ln>
        </p:spPr>
      </p:cxnSp>
      <p:cxnSp>
        <p:nvCxnSpPr>
          <p:cNvPr id="14" name="Google Shape;14;p19"/>
          <p:cNvCxnSpPr/>
          <p:nvPr/>
        </p:nvCxnSpPr>
        <p:spPr>
          <a:xfrm>
            <a:off x="6825900" y="541800"/>
            <a:ext cx="2331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oval" w="med" len="med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blipFill>
          <a:blip r:embed="rId4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>
            <a:spLocks noGrp="1"/>
          </p:cNvSpPr>
          <p:nvPr>
            <p:ph type="title"/>
          </p:nvPr>
        </p:nvSpPr>
        <p:spPr>
          <a:xfrm>
            <a:off x="2430350" y="206000"/>
            <a:ext cx="4283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7"/>
          <p:cNvSpPr txBox="1">
            <a:spLocks noGrp="1"/>
          </p:cNvSpPr>
          <p:nvPr>
            <p:ph type="body" idx="1"/>
          </p:nvPr>
        </p:nvSpPr>
        <p:spPr>
          <a:xfrm>
            <a:off x="617100" y="1269863"/>
            <a:ext cx="7909800" cy="3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PT Serif"/>
              <a:buChar char="○"/>
              <a:defRPr sz="2400" b="0" i="0" u="none" strike="noStrike" cap="none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1pPr>
            <a:lvl2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PT Serif"/>
              <a:buChar char="□"/>
              <a:defRPr sz="2400" b="0" i="0" u="none" strike="noStrike" cap="none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2pPr>
            <a:lvl3pPr marL="1371600" marR="0" lvl="2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PT Serif"/>
              <a:buChar char="○"/>
              <a:defRPr sz="2400" b="0" i="0" u="none" strike="noStrike" cap="none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3pPr>
            <a:lvl4pPr marL="1828800" marR="0" lvl="3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erif"/>
              <a:buChar char="□"/>
              <a:defRPr sz="2400" b="0" i="0" u="none" strike="noStrike" cap="none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erif"/>
              <a:buChar char="○"/>
              <a:defRPr sz="2400" b="0" i="0" u="none" strike="noStrike" cap="none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erif"/>
              <a:buChar char="■"/>
              <a:defRPr sz="2400" b="0" i="0" u="none" strike="noStrike" cap="none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erif"/>
              <a:buChar char="●"/>
              <a:defRPr sz="2400" b="0" i="0" u="none" strike="noStrike" cap="none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erif"/>
              <a:buChar char="○"/>
              <a:defRPr sz="2400" b="0" i="0" u="none" strike="noStrike" cap="none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erif"/>
              <a:buChar char="■"/>
              <a:defRPr sz="2400" b="0" i="0" u="none" strike="noStrike" cap="none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nlm.nih.gov/research/umls/" TargetMode="External"/><Relationship Id="rId3" Type="http://schemas.openxmlformats.org/officeDocument/2006/relationships/hyperlink" Target="https://pubmed.ncbi.nlm.nih.gov/" TargetMode="External"/><Relationship Id="rId7" Type="http://schemas.openxmlformats.org/officeDocument/2006/relationships/hyperlink" Target="https://ufal.mff.cuni.cz/ufal_medical_corpus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figshare.com/articles/dataset/DDXPlus_Dataset/20043374" TargetMode="External"/><Relationship Id="rId5" Type="http://schemas.openxmlformats.org/officeDocument/2006/relationships/hyperlink" Target="https://physionet.org/content/mimiciii/" TargetMode="External"/><Relationship Id="rId4" Type="http://schemas.openxmlformats.org/officeDocument/2006/relationships/hyperlink" Target="https://icd.who.int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html/2510.17476v1" TargetMode="External"/><Relationship Id="rId7" Type="http://schemas.openxmlformats.org/officeDocument/2006/relationships/hyperlink" Target="https://aclanthology.org/2025.findings-naacl.402.pdf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jmir.org/2025/1/e69857" TargetMode="External"/><Relationship Id="rId5" Type="http://schemas.openxmlformats.org/officeDocument/2006/relationships/hyperlink" Target="https://www.sciencedirect.com/science/article/pii/S2319417025000423" TargetMode="External"/><Relationship Id="rId4" Type="http://schemas.openxmlformats.org/officeDocument/2006/relationships/hyperlink" Target="https://pmc.ncbi.nlm.nih.gov/articles/PMC12189880/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html/2506.23102v1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mc.ncbi.nlm.nih.gov/articles/PMC12479233/" TargetMode="External"/><Relationship Id="rId4" Type="http://schemas.openxmlformats.org/officeDocument/2006/relationships/hyperlink" Target="https://www.nature.com/articles/s41597-025-05922-9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409.00097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2412.15957" TargetMode="External"/><Relationship Id="rId5" Type="http://schemas.openxmlformats.org/officeDocument/2006/relationships/hyperlink" Target="https://arxiv.org/abs/2509.18690" TargetMode="External"/><Relationship Id="rId4" Type="http://schemas.openxmlformats.org/officeDocument/2006/relationships/hyperlink" Target="https://arxiv.org/abs/2506.23102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atapult.com/blog/wearable-technology-in-sports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traitsresearch.com/report/smart-sports-equipment-market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402.15862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jaem.net/issue_dcp/AI%20Driven%20Biomechanical%20Analysis%20Advancing%20Injury%20Prevention,%20Performance%20Optimization,%20and%20Rehabilitation%20in%20Competitive%20Sports.pdf" TargetMode="External"/><Relationship Id="rId5" Type="http://schemas.openxmlformats.org/officeDocument/2006/relationships/hyperlink" Target="https://pubmed.ncbi.nlm.nih.gov/39613453/" TargetMode="External"/><Relationship Id="rId4" Type="http://schemas.openxmlformats.org/officeDocument/2006/relationships/hyperlink" Target="https://www.mdpi.com/2306-5354/12/8/887" TargetMode="Externa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arthdata.nasa.gov/data/tools/firms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esdis.noaa.gov/" TargetMode="External"/><Relationship Id="rId5" Type="http://schemas.openxmlformats.org/officeDocument/2006/relationships/hyperlink" Target="https://www.preventionweb.net/understanding-disaster-risk/disaster-losses-and-statistics/global-risk-data-sets" TargetMode="External"/><Relationship Id="rId4" Type="http://schemas.openxmlformats.org/officeDocument/2006/relationships/hyperlink" Target="https://ui.adsabs.harvard.edu/abs/2020arXiv200414456M/abstract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405.18732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2501.06932" TargetMode="External"/><Relationship Id="rId5" Type="http://schemas.openxmlformats.org/officeDocument/2006/relationships/hyperlink" Target="https://arxiv.org/abs/2504.17200" TargetMode="External"/><Relationship Id="rId4" Type="http://schemas.openxmlformats.org/officeDocument/2006/relationships/hyperlink" Target="https://www.sciencedirect.com/science/article/pii/S2212420925004662" TargetMode="Externa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.toronto.edu/~lcharlin/camra2011/" TargetMode="Externa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kaggle.com/datasets/sirpunch/meetups-data-from-meetupcom" TargetMode="External"/><Relationship Id="rId5" Type="http://schemas.openxmlformats.org/officeDocument/2006/relationships/hyperlink" Target="https://www.cse.cuhk.edu.hk/irwin.king.new/pub/data/douban" TargetMode="External"/><Relationship Id="rId4" Type="http://schemas.openxmlformats.org/officeDocument/2006/relationships/hyperlink" Target="https://www.yelp.com/dataset" TargetMode="Externa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104.07368" TargetMode="External"/><Relationship Id="rId7" Type="http://schemas.openxmlformats.org/officeDocument/2006/relationships/hyperlink" Target="http://www.cs.toronto.edu/~lcharlin/camra2011/" TargetMode="Externa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2407.10240" TargetMode="External"/><Relationship Id="rId5" Type="http://schemas.openxmlformats.org/officeDocument/2006/relationships/hyperlink" Target="https://www.semanticscholar.org/paper/3443efc855cebd17d1512d1a703b6e9ee2e4da8b" TargetMode="External"/><Relationship Id="rId4" Type="http://schemas.openxmlformats.org/officeDocument/2006/relationships/hyperlink" Target="https://ieeexplore.ieee.org/document/10870189/" TargetMode="Externa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html/2404.11343v1" TargetMode="External"/><Relationship Id="rId7" Type="http://schemas.openxmlformats.org/officeDocument/2006/relationships/hyperlink" Target="https://arxiv.org/html/2510.01606v1" TargetMode="External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2404.11343" TargetMode="External"/><Relationship Id="rId5" Type="http://schemas.openxmlformats.org/officeDocument/2006/relationships/hyperlink" Target="https://ssanner.github.io/papers/recsys24_pebol.pdf" TargetMode="External"/><Relationship Id="rId4" Type="http://schemas.openxmlformats.org/officeDocument/2006/relationships/hyperlink" Target="https://github.com/D3Mlab/llm-convrec" TargetMode="Externa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502.14137" TargetMode="External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D3Mlab/llm-convrec" TargetMode="Externa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 txBox="1"/>
          <p:nvPr/>
        </p:nvSpPr>
        <p:spPr>
          <a:xfrm>
            <a:off x="1108800" y="1346402"/>
            <a:ext cx="6624000" cy="1732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zh-TW" altLang="en-US" sz="36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六個論文題目</a:t>
            </a:r>
            <a:endParaRPr lang="en-US" altLang="zh-TW" sz="36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algn="ctr"/>
            <a:endParaRPr lang="en-US" altLang="zh-TW" sz="36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algn="ctr"/>
            <a:r>
              <a:rPr lang="zh-TW" altLang="en-US" sz="20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學生 </a:t>
            </a:r>
            <a:r>
              <a:rPr lang="en-US" altLang="zh-TW" sz="20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: </a:t>
            </a:r>
            <a:r>
              <a:rPr lang="zh-TW" altLang="en-US" sz="20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陳先正</a:t>
            </a:r>
            <a:endParaRPr lang="zh-TW" altLang="en-US" sz="20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57947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Google Shape;57;p7"/>
          <p:cNvCxnSpPr/>
          <p:nvPr/>
        </p:nvCxnSpPr>
        <p:spPr>
          <a:xfrm rot="10800000">
            <a:off x="2588100" y="3488719"/>
            <a:ext cx="3967800" cy="0"/>
          </a:xfrm>
          <a:prstGeom prst="straightConnector1">
            <a:avLst/>
          </a:prstGeom>
          <a:noFill/>
          <a:ln w="9525" cap="flat" cmpd="sng">
            <a:solidFill>
              <a:srgbClr val="1C1C19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8" name="Google Shape;58;p7"/>
          <p:cNvSpPr txBox="1"/>
          <p:nvPr/>
        </p:nvSpPr>
        <p:spPr>
          <a:xfrm>
            <a:off x="1411200" y="1317602"/>
            <a:ext cx="6624000" cy="1732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altLang="zh-TW" sz="36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LLM</a:t>
            </a:r>
            <a:r>
              <a:rPr lang="zh-TW" altLang="en-US" sz="36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醫療診斷系統</a:t>
            </a:r>
            <a:endParaRPr lang="en-US" altLang="zh-TW" sz="3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algn="ctr"/>
            <a:r>
              <a:rPr lang="zh-TW" altLang="en-US" sz="36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多語言與跨文化醫療知識整合</a:t>
            </a:r>
          </a:p>
        </p:txBody>
      </p:sp>
    </p:spTree>
    <p:extLst>
      <p:ext uri="{BB962C8B-B14F-4D97-AF65-F5344CB8AC3E}">
        <p14:creationId xmlns:p14="http://schemas.microsoft.com/office/powerpoint/2010/main" val="1837423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>
            <a:spLocks noGrp="1"/>
          </p:cNvSpPr>
          <p:nvPr>
            <p:ph type="body" idx="1"/>
          </p:nvPr>
        </p:nvSpPr>
        <p:spPr>
          <a:xfrm>
            <a:off x="-165600" y="906449"/>
            <a:ext cx="9144000" cy="38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zh-TW" altLang="en-US" sz="18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現有</a:t>
            </a:r>
            <a:r>
              <a:rPr lang="en-US" altLang="zh-TW" sz="18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LLM</a:t>
            </a:r>
            <a:r>
              <a:rPr lang="zh-TW" altLang="en-US" sz="18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在醫療診斷展現潛力，但多數研究集中在英文醫療資料，缺乏多語言與跨文化醫療知識整合。</a:t>
            </a:r>
            <a:endParaRPr lang="en-US" altLang="zh-TW" sz="18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533400" lvl="1" indent="0" algn="just">
              <a:spcBef>
                <a:spcPts val="400"/>
              </a:spcBef>
              <a:buClr>
                <a:srgbClr val="00B0F0"/>
              </a:buClr>
              <a:buSzPts val="1400"/>
              <a:buNone/>
            </a:pPr>
            <a:endParaRPr lang="en-US" altLang="zh-TW" sz="18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zh-TW" altLang="en-US" sz="18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病患描述症狀的方式因語言與文化差異而異，影響診斷準確度。</a:t>
            </a:r>
            <a:endParaRPr lang="en-US" altLang="zh-TW" sz="18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533400" lvl="1" indent="0" algn="just">
              <a:spcBef>
                <a:spcPts val="400"/>
              </a:spcBef>
              <a:buClr>
                <a:srgbClr val="00B0F0"/>
              </a:buClr>
              <a:buSzPts val="1400"/>
              <a:buNone/>
            </a:pPr>
            <a:r>
              <a:rPr lang="en-US" altLang="zh-TW" sz="18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	</a:t>
            </a:r>
            <a:endParaRPr lang="en-US" sz="1800" dirty="0">
              <a:solidFill>
                <a:srgbClr val="FF0000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sym typeface="PT Serif"/>
            </a:endParaRPr>
          </a:p>
        </p:txBody>
      </p:sp>
      <p:sp>
        <p:nvSpPr>
          <p:cNvPr id="64" name="Google Shape;64;p8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Poppins"/>
                <a:sym typeface="Poppins"/>
              </a:rPr>
              <a:t>Research Background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>
            <a:spLocks noGrp="1"/>
          </p:cNvSpPr>
          <p:nvPr>
            <p:ph type="body" idx="1"/>
          </p:nvPr>
        </p:nvSpPr>
        <p:spPr>
          <a:xfrm>
            <a:off x="0" y="970575"/>
            <a:ext cx="9144000" cy="38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zh-TW" altLang="en-US" sz="18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研究問題：</a:t>
            </a: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zh-TW" altLang="en-US" sz="18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     如何使 </a:t>
            </a:r>
            <a:r>
              <a:rPr lang="en-US" altLang="zh-TW" sz="18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LLM </a:t>
            </a:r>
            <a:r>
              <a:rPr lang="zh-TW" altLang="en-US" sz="18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醫療診斷系統能夠理解多語言症狀描述，並整合跨文化的醫療知識（如中醫術 語、地區特有疾病），以提升非英語環境下的診斷準確度？</a:t>
            </a:r>
          </a:p>
          <a:p>
            <a:pPr marL="533400" lvl="1" indent="0" algn="just">
              <a:spcBef>
                <a:spcPts val="400"/>
              </a:spcBef>
              <a:buClr>
                <a:srgbClr val="00B0F0"/>
              </a:buClr>
              <a:buSzPts val="1400"/>
              <a:buNone/>
            </a:pPr>
            <a:r>
              <a:rPr lang="en-US" altLang="zh-TW" sz="18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	</a:t>
            </a:r>
            <a:endParaRPr lang="en-US" sz="1800" dirty="0">
              <a:solidFill>
                <a:srgbClr val="FF0000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sym typeface="PT Serif"/>
            </a:endParaRPr>
          </a:p>
        </p:txBody>
      </p:sp>
      <p:sp>
        <p:nvSpPr>
          <p:cNvPr id="64" name="Google Shape;64;p8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Poppins"/>
                <a:sym typeface="Poppins"/>
              </a:rPr>
              <a:t>Research Question</a:t>
            </a:r>
          </a:p>
        </p:txBody>
      </p:sp>
    </p:spTree>
    <p:extLst>
      <p:ext uri="{BB962C8B-B14F-4D97-AF65-F5344CB8AC3E}">
        <p14:creationId xmlns:p14="http://schemas.microsoft.com/office/powerpoint/2010/main" val="1691226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 txBox="1">
            <a:spLocks noGrp="1"/>
          </p:cNvSpPr>
          <p:nvPr>
            <p:ph type="body" idx="1"/>
          </p:nvPr>
        </p:nvSpPr>
        <p:spPr>
          <a:xfrm>
            <a:off x="325100" y="1346063"/>
            <a:ext cx="4246900" cy="32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現有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LLM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診斷系統主要依賴英文醫學文獻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01600" lvl="0" indent="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對於非英語系病患的症狀描述理解有限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缺乏整合在地醫療習慣與術語的機制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01600" lvl="0" indent="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診斷準確度在跨語言情境下顯著下降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</p:txBody>
      </p:sp>
      <p:sp>
        <p:nvSpPr>
          <p:cNvPr id="70" name="Google Shape;70;p9"/>
          <p:cNvSpPr txBox="1">
            <a:spLocks noGrp="1"/>
          </p:cNvSpPr>
          <p:nvPr>
            <p:ph type="body" idx="2"/>
          </p:nvPr>
        </p:nvSpPr>
        <p:spPr>
          <a:xfrm>
            <a:off x="4870698" y="1346063"/>
            <a:ext cx="3644400" cy="32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建立多語言醫療知識圖譜整合系統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01600" lvl="0" indent="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開發跨文化症狀描述理解模型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01600" lvl="0" indent="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提升非英語語境下的診斷準確度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01600" lvl="0" indent="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支援醫師進行更精準的臨床決策</a:t>
            </a:r>
            <a:endParaRPr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2794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None/>
            </a:pPr>
            <a:endParaRPr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</p:txBody>
      </p:sp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As-Is To-Be</a:t>
            </a:r>
            <a:endParaRPr sz="20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</p:txBody>
      </p:sp>
      <p:sp>
        <p:nvSpPr>
          <p:cNvPr id="72" name="Google Shape;72;p9"/>
          <p:cNvSpPr txBox="1"/>
          <p:nvPr/>
        </p:nvSpPr>
        <p:spPr>
          <a:xfrm>
            <a:off x="626350" y="832086"/>
            <a:ext cx="3644400" cy="513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1600" marR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T Serif"/>
              <a:buNone/>
            </a:pPr>
            <a:r>
              <a:rPr lang="en-US" sz="1800" b="1" i="0" u="sng" strike="noStrike" cap="none" dirty="0">
                <a:solidFill>
                  <a:schemeClr val="dk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cs typeface="PT Serif"/>
                <a:sym typeface="PT Serif"/>
              </a:rPr>
              <a:t>#As-Is</a:t>
            </a:r>
            <a:endParaRPr sz="1800" b="1" i="0" u="sng" strike="noStrike" cap="none" dirty="0">
              <a:solidFill>
                <a:schemeClr val="dk1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cs typeface="PT Serif"/>
              <a:sym typeface="PT Serif"/>
            </a:endParaRPr>
          </a:p>
        </p:txBody>
      </p:sp>
      <p:sp>
        <p:nvSpPr>
          <p:cNvPr id="73" name="Google Shape;73;p9"/>
          <p:cNvSpPr txBox="1"/>
          <p:nvPr/>
        </p:nvSpPr>
        <p:spPr>
          <a:xfrm>
            <a:off x="4870698" y="832086"/>
            <a:ext cx="3644400" cy="513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1600" marR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T Serif"/>
              <a:buNone/>
            </a:pPr>
            <a:r>
              <a:rPr lang="en-US" sz="1800" b="1" i="0" u="sng" strike="noStrike" cap="none" dirty="0">
                <a:solidFill>
                  <a:schemeClr val="dk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cs typeface="PT Serif"/>
                <a:sym typeface="PT Serif"/>
              </a:rPr>
              <a:t>#To-Be</a:t>
            </a:r>
            <a:endParaRPr sz="1800" b="1" i="0" u="sng" strike="noStrike" cap="none" dirty="0">
              <a:solidFill>
                <a:schemeClr val="dk1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cs typeface="PT Serif"/>
              <a:sym typeface="PT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>
            <a:spLocks noGrp="1"/>
          </p:cNvSpPr>
          <p:nvPr>
            <p:ph type="body" idx="1"/>
          </p:nvPr>
        </p:nvSpPr>
        <p:spPr>
          <a:xfrm>
            <a:off x="-165600" y="906448"/>
            <a:ext cx="9309600" cy="4237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en-US" altLang="zh-TW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1. </a:t>
            </a:r>
            <a:r>
              <a:rPr lang="zh-TW" altLang="en-US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多語言醫學文獻：</a:t>
            </a:r>
            <a:endParaRPr lang="en-US" altLang="zh-TW" sz="14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zh-TW" altLang="en-US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 </a:t>
            </a:r>
            <a:r>
              <a:rPr lang="en-US" altLang="zh-TW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PubMed</a:t>
            </a:r>
            <a:r>
              <a:rPr lang="zh-TW" altLang="en-US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：</a:t>
            </a:r>
            <a:r>
              <a:rPr lang="en-US" altLang="zh-TW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  <a:hlinkClick r:id="rId3"/>
              </a:rPr>
              <a:t>https://pubmed.ncbi.nlm.nih.gov/</a:t>
            </a:r>
            <a:r>
              <a:rPr lang="en-US" altLang="zh-TW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(</a:t>
            </a:r>
            <a:r>
              <a:rPr lang="zh-TW" altLang="en-US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免費，需</a:t>
            </a:r>
            <a:r>
              <a:rPr lang="en-US" altLang="zh-TW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API</a:t>
            </a:r>
            <a:r>
              <a:rPr lang="zh-TW" altLang="en-US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申請</a:t>
            </a:r>
            <a:r>
              <a:rPr lang="en-US" altLang="zh-TW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)</a:t>
            </a: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en-US" altLang="zh-TW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WHO ICD-11</a:t>
            </a:r>
            <a:r>
              <a:rPr lang="zh-TW" altLang="en-US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：</a:t>
            </a:r>
            <a:r>
              <a:rPr lang="en-US" altLang="zh-TW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  <a:hlinkClick r:id="rId4"/>
              </a:rPr>
              <a:t>https://icd.who.int/</a:t>
            </a:r>
            <a:r>
              <a:rPr lang="en-US" altLang="zh-TW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(</a:t>
            </a:r>
            <a:r>
              <a:rPr lang="zh-TW" altLang="en-US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國際疾病分類，多語言版本</a:t>
            </a:r>
            <a:r>
              <a:rPr lang="en-US" altLang="zh-TW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)</a:t>
            </a: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zh-TW" altLang="en-US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中文醫學文獻：中國知網 </a:t>
            </a:r>
            <a:r>
              <a:rPr lang="en-US" altLang="zh-TW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(CNKI) </a:t>
            </a:r>
            <a:r>
              <a:rPr lang="zh-TW" altLang="en-US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醫學資料庫</a:t>
            </a:r>
            <a:endParaRPr lang="en-US" altLang="zh-TW" sz="14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en-US" altLang="zh-TW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2. </a:t>
            </a:r>
            <a:r>
              <a:rPr lang="zh-TW" altLang="en-US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症狀</a:t>
            </a:r>
            <a:r>
              <a:rPr lang="en-US" altLang="zh-TW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-</a:t>
            </a:r>
            <a:r>
              <a:rPr lang="zh-TW" altLang="en-US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疾病標註資料集：</a:t>
            </a:r>
            <a:endParaRPr lang="en-US" altLang="zh-TW" sz="14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en-US" altLang="zh-TW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MIMIC-III</a:t>
            </a:r>
            <a:r>
              <a:rPr lang="zh-TW" altLang="en-US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：</a:t>
            </a:r>
            <a:r>
              <a:rPr lang="en-US" altLang="zh-TW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  <a:hlinkClick r:id="rId5"/>
              </a:rPr>
              <a:t>https://physionet.org/content/mimiciii/</a:t>
            </a:r>
            <a:r>
              <a:rPr lang="en-US" altLang="zh-TW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(</a:t>
            </a:r>
            <a:r>
              <a:rPr lang="zh-TW" altLang="en-US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需申請，免費</a:t>
            </a:r>
            <a:r>
              <a:rPr lang="en-US" altLang="zh-TW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)</a:t>
            </a: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en-US" altLang="zh-TW" sz="1400" dirty="0" err="1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DDXPlus</a:t>
            </a:r>
            <a:r>
              <a:rPr lang="zh-TW" altLang="en-US" sz="14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：</a:t>
            </a:r>
            <a:r>
              <a:rPr lang="en-US" altLang="zh-TW" sz="1400" dirty="0">
                <a:latin typeface="Adobe 繁黑體 Std B" panose="020B0700000000000000" pitchFamily="34" charset="-128"/>
                <a:ea typeface="Adobe 繁黑體 Std B" panose="020B0700000000000000" pitchFamily="34" charset="-128"/>
                <a:hlinkClick r:id="rId6"/>
              </a:rPr>
              <a:t>https://figshare.com/articles/dataset/DDXPlus_Dataset/20043374</a:t>
            </a:r>
            <a:r>
              <a:rPr lang="en-US" altLang="zh-TW" sz="14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(</a:t>
            </a:r>
            <a:r>
              <a:rPr lang="zh-TW" altLang="en-US" sz="14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開源症狀診斷資料集</a:t>
            </a:r>
            <a:r>
              <a:rPr lang="en-US" altLang="zh-TW" sz="14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)</a:t>
            </a:r>
          </a:p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en-US" altLang="zh-TW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3. </a:t>
            </a:r>
            <a:r>
              <a:rPr lang="zh-TW" altLang="en-US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多語言平行語料： </a:t>
            </a:r>
            <a:endParaRPr lang="en-US" altLang="zh-TW" sz="14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en-US" altLang="zh-TW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UFAL Medical Corpus</a:t>
            </a:r>
            <a:r>
              <a:rPr lang="zh-TW" altLang="en-US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：</a:t>
            </a:r>
            <a:r>
              <a:rPr lang="en-US" altLang="zh-TW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  <a:hlinkClick r:id="rId7"/>
              </a:rPr>
              <a:t>https://ufal.mff.cuni.cz/ufal_medical_corpus</a:t>
            </a:r>
            <a:r>
              <a:rPr lang="en-US" altLang="zh-TW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(</a:t>
            </a:r>
            <a:r>
              <a:rPr lang="zh-TW" altLang="en-US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多語言醫學平行語料</a:t>
            </a:r>
            <a:r>
              <a:rPr lang="en-US" altLang="zh-TW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)</a:t>
            </a:r>
          </a:p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en-US" altLang="zh-TW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4. </a:t>
            </a:r>
            <a:r>
              <a:rPr lang="zh-TW" altLang="en-US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知識圖譜資源：</a:t>
            </a:r>
            <a:endParaRPr lang="en-US" altLang="zh-TW" sz="14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en-US" altLang="zh-TW" sz="14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UMLS (Unified Medical Language System)</a:t>
            </a:r>
            <a:r>
              <a:rPr lang="zh-TW" altLang="en-US" sz="14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：</a:t>
            </a:r>
            <a:r>
              <a:rPr lang="en-US" altLang="zh-TW" sz="14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 </a:t>
            </a:r>
            <a:r>
              <a:rPr lang="en-US" altLang="zh-TW" sz="1400" dirty="0">
                <a:latin typeface="Adobe 繁黑體 Std B" panose="020B0700000000000000" pitchFamily="34" charset="-128"/>
                <a:ea typeface="Adobe 繁黑體 Std B" panose="020B0700000000000000" pitchFamily="34" charset="-128"/>
                <a:hlinkClick r:id="rId8"/>
              </a:rPr>
              <a:t>https://www.nlm.nih.gov/research/umls/</a:t>
            </a:r>
            <a:r>
              <a:rPr lang="zh-TW" altLang="en-US" sz="14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 </a:t>
            </a:r>
            <a:r>
              <a:rPr lang="en-US" altLang="zh-TW" sz="14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(</a:t>
            </a:r>
            <a:r>
              <a:rPr lang="zh-TW" altLang="en-US" sz="14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需免費註冊</a:t>
            </a:r>
            <a:r>
              <a:rPr lang="en-US" altLang="zh-TW" sz="14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)</a:t>
            </a: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4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990600" lvl="2" indent="0" algn="just">
              <a:spcBef>
                <a:spcPts val="400"/>
              </a:spcBef>
              <a:buClr>
                <a:srgbClr val="00B0F0"/>
              </a:buClr>
              <a:buSzPts val="1400"/>
              <a:buNone/>
            </a:pP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990600" lvl="2" indent="0" algn="just">
              <a:spcBef>
                <a:spcPts val="400"/>
              </a:spcBef>
              <a:buClr>
                <a:srgbClr val="00B0F0"/>
              </a:buClr>
              <a:buSzPts val="1400"/>
              <a:buNone/>
            </a:pP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4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990600" lvl="2" indent="0" algn="just">
              <a:spcBef>
                <a:spcPts val="400"/>
              </a:spcBef>
              <a:buClr>
                <a:srgbClr val="00B0F0"/>
              </a:buClr>
              <a:buSzPts val="1400"/>
              <a:buNone/>
            </a:pPr>
            <a:r>
              <a:rPr lang="en-US" altLang="zh-TW" sz="14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	</a:t>
            </a:r>
            <a:r>
              <a:rPr lang="en-US" altLang="zh-TW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	</a:t>
            </a:r>
            <a:endParaRPr lang="en-US" sz="1400" dirty="0">
              <a:solidFill>
                <a:srgbClr val="FF0000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sym typeface="PT Serif"/>
            </a:endParaRPr>
          </a:p>
        </p:txBody>
      </p:sp>
      <p:sp>
        <p:nvSpPr>
          <p:cNvPr id="64" name="Google Shape;64;p8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Poppins"/>
                <a:sym typeface="Poppins"/>
              </a:rPr>
              <a:t>Dataset</a:t>
            </a:r>
          </a:p>
        </p:txBody>
      </p:sp>
    </p:spTree>
    <p:extLst>
      <p:ext uri="{BB962C8B-B14F-4D97-AF65-F5344CB8AC3E}">
        <p14:creationId xmlns:p14="http://schemas.microsoft.com/office/powerpoint/2010/main" val="953266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Poppins"/>
                <a:sym typeface="Poppins"/>
              </a:rPr>
              <a:t>Framework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Poppins"/>
              <a:sym typeface="Poppins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2A9F6E1-7224-4C17-918A-3E967DF9F5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4684" y="1192417"/>
            <a:ext cx="5558516" cy="31901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Poppins"/>
                <a:ea typeface="Poppins"/>
                <a:cs typeface="Poppins"/>
                <a:sym typeface="Poppins"/>
              </a:rPr>
              <a:t>Overview</a:t>
            </a:r>
            <a:endParaRPr sz="20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>
            <a:off x="617100" y="1269863"/>
            <a:ext cx="7909800" cy="3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33400" lvl="1" indent="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相關論文研究現狀：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 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現有研究如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Med-</a:t>
            </a:r>
            <a:r>
              <a:rPr lang="en-US" altLang="zh-TW" sz="1600" dirty="0" err="1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PaLM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 2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和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KG4Diagnosis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主要聚焦於英文醫療知識圖譜的構 建，在英文環境下達到醫師水準的診斷能力。 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發現的問題：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  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在跨語言醫療診斷中，症狀描述的文化差異導致診斷錯誤率高達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30-40%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，例如中文使用者描述的「上火」、「氣虛」等傳統醫學術語無法被英文為主的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LLM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正確理解。此外，現有系統缺乏跨語言醫學術語對齊機制，各地區醫學知識更新不同步。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Poppins"/>
                <a:ea typeface="Poppins"/>
                <a:cs typeface="Poppins"/>
                <a:sym typeface="Poppins"/>
              </a:rPr>
              <a:t>Overview</a:t>
            </a:r>
            <a:endParaRPr sz="20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>
            <a:off x="617100" y="1231200"/>
            <a:ext cx="7909800" cy="3912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提出的解決方法：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  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建立多語言醫學知識圖譜，整合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RAG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檢索系統與跨語言對齊模組（使用</a:t>
            </a:r>
            <a:r>
              <a:rPr lang="en-US" altLang="zh-TW" sz="1600" dirty="0" err="1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mBERT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或</a:t>
            </a:r>
            <a:r>
              <a:rPr lang="en-US" altLang="zh-TW" sz="1600" dirty="0" err="1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XLMRoBERTa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），並針對各地區常見疾病進行模型微調。透過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RLHF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基於醫師反饋優化診斷推理過程。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研究貢獻：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   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首次提出整合多語言知識圖譜與跨文化症狀對齊的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LLM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醫療診斷框架，預期將非英語環境下的診斷準確度從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60-70%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提升至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85%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以上，並提供多語言可解釋性診斷說明，增強臨床實用性。</a:t>
            </a:r>
            <a:endParaRPr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516891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Poppins"/>
                <a:ea typeface="Poppins"/>
                <a:cs typeface="Poppins"/>
                <a:sym typeface="Poppins"/>
              </a:rPr>
              <a:t>Reference</a:t>
            </a:r>
            <a:endParaRPr sz="20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>
            <a:off x="617100" y="768974"/>
            <a:ext cx="7909800" cy="437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  <a:hlinkClick r:id="rId3"/>
              </a:rPr>
              <a:t>https://arxiv.org/html/2510.17476v1</a:t>
            </a: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  <a:hlinkClick r:id="rId4"/>
              </a:rPr>
              <a:t>https://pmc.ncbi.nlm.nih.gov/articles/PMC12189880/</a:t>
            </a: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  <a:hlinkClick r:id="rId5"/>
              </a:rPr>
              <a:t>https://www.sciencedirect.com/science/article/pii/S2319417025000423</a:t>
            </a: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  <a:hlinkClick r:id="rId6"/>
              </a:rPr>
              <a:t>https://www.jmir.org/2025/1/e69857</a:t>
            </a: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  <a:hlinkClick r:id="rId7"/>
              </a:rPr>
              <a:t>https://aclanthology.org/2025.findings-naacl.402.pdf</a:t>
            </a: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6120681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Google Shape;57;p7"/>
          <p:cNvCxnSpPr/>
          <p:nvPr/>
        </p:nvCxnSpPr>
        <p:spPr>
          <a:xfrm rot="10800000">
            <a:off x="2588100" y="3488719"/>
            <a:ext cx="3967800" cy="0"/>
          </a:xfrm>
          <a:prstGeom prst="straightConnector1">
            <a:avLst/>
          </a:prstGeom>
          <a:noFill/>
          <a:ln w="9525" cap="flat" cmpd="sng">
            <a:solidFill>
              <a:srgbClr val="1C1C19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8" name="Google Shape;58;p7"/>
          <p:cNvSpPr txBox="1"/>
          <p:nvPr/>
        </p:nvSpPr>
        <p:spPr>
          <a:xfrm>
            <a:off x="878400" y="936004"/>
            <a:ext cx="7603200" cy="2128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zh-TW" altLang="en-US" sz="4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多模態 </a:t>
            </a:r>
            <a:r>
              <a:rPr lang="en-US" altLang="zh-TW" sz="4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LLM </a:t>
            </a:r>
          </a:p>
          <a:p>
            <a:pPr algn="ctr"/>
            <a:r>
              <a:rPr lang="zh-TW" altLang="en-US" sz="4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輔助臨床診斷與個人化治療</a:t>
            </a:r>
          </a:p>
        </p:txBody>
      </p:sp>
    </p:spTree>
    <p:extLst>
      <p:ext uri="{BB962C8B-B14F-4D97-AF65-F5344CB8AC3E}">
        <p14:creationId xmlns:p14="http://schemas.microsoft.com/office/powerpoint/2010/main" val="3145212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>
            <a:spLocks noGrp="1"/>
          </p:cNvSpPr>
          <p:nvPr>
            <p:ph type="body" idx="1"/>
          </p:nvPr>
        </p:nvSpPr>
        <p:spPr>
          <a:xfrm>
            <a:off x="-165600" y="906449"/>
            <a:ext cx="9144000" cy="38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現有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LLM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（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GPT-4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、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Med-</a:t>
            </a:r>
            <a:r>
              <a:rPr lang="en-US" altLang="zh-TW" sz="1600" dirty="0" err="1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PaLM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）診斷準確率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60-77%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，僅處理文字病歷。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533400" lvl="1" indent="0" algn="just">
              <a:spcBef>
                <a:spcPts val="400"/>
              </a:spcBef>
              <a:buClr>
                <a:srgbClr val="00B0F0"/>
              </a:buClr>
              <a:buSzPts val="14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醫療影像診斷準確率達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87-97%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，但影像與文字系統分離，無法整合多模態資訊與患者特定屬性（器官體積、病灶位置等）。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533400" lvl="1" indent="0" algn="just">
              <a:spcBef>
                <a:spcPts val="400"/>
              </a:spcBef>
              <a:buClr>
                <a:srgbClr val="00B0F0"/>
              </a:buClr>
              <a:buSzPts val="1400"/>
              <a:buNone/>
            </a:pPr>
            <a:endParaRPr lang="en-US" altLang="zh-TW" sz="16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533400" lvl="1" indent="0" algn="just">
              <a:spcBef>
                <a:spcPts val="400"/>
              </a:spcBef>
              <a:buClr>
                <a:srgbClr val="00B0F0"/>
              </a:buClr>
              <a:buSzPts val="1400"/>
              <a:buNone/>
            </a:pPr>
            <a:endParaRPr lang="en-US" sz="1800" dirty="0">
              <a:solidFill>
                <a:srgbClr val="FF0000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sym typeface="PT Serif"/>
            </a:endParaRPr>
          </a:p>
        </p:txBody>
      </p:sp>
      <p:sp>
        <p:nvSpPr>
          <p:cNvPr id="64" name="Google Shape;64;p8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  <a:cs typeface="Poppins"/>
                <a:sym typeface="Poppins"/>
              </a:rPr>
              <a:t>Research Background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3002939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>
            <a:spLocks noGrp="1"/>
          </p:cNvSpPr>
          <p:nvPr>
            <p:ph type="body" idx="1"/>
          </p:nvPr>
        </p:nvSpPr>
        <p:spPr>
          <a:xfrm>
            <a:off x="0" y="970575"/>
            <a:ext cx="9144000" cy="38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zh-TW" altLang="en-US" sz="18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研究問題</a:t>
            </a:r>
            <a:r>
              <a:rPr lang="en-US" altLang="zh-TW" sz="18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:</a:t>
            </a: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zh-TW" altLang="en-US" sz="18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     如何建構端到端系統同時處理影像與文字，自動提取患者屬性並生成個人化診斷？</a:t>
            </a:r>
            <a:endParaRPr lang="en-US" altLang="zh-TW" sz="18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</p:txBody>
      </p:sp>
      <p:sp>
        <p:nvSpPr>
          <p:cNvPr id="64" name="Google Shape;64;p8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Poppins"/>
                <a:sym typeface="Poppins"/>
              </a:rPr>
              <a:t>Research Question</a:t>
            </a:r>
          </a:p>
        </p:txBody>
      </p:sp>
    </p:spTree>
    <p:extLst>
      <p:ext uri="{BB962C8B-B14F-4D97-AF65-F5344CB8AC3E}">
        <p14:creationId xmlns:p14="http://schemas.microsoft.com/office/powerpoint/2010/main" val="18757430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 txBox="1">
            <a:spLocks noGrp="1"/>
          </p:cNvSpPr>
          <p:nvPr>
            <p:ph type="body" idx="1"/>
          </p:nvPr>
        </p:nvSpPr>
        <p:spPr>
          <a:xfrm>
            <a:off x="325100" y="1346063"/>
            <a:ext cx="4246900" cy="32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目前臨床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AI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系統多採單模態診斷架構，影像分析模型與文字處理模型各自獨立運作，放射科醫師需手動整合兩者結果 。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系統無法自動提取患者特定屬性（如肝臟體積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1500 cm³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、腫瘤位於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S7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段），導致治療建議過於通用化 。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</p:txBody>
      </p:sp>
      <p:sp>
        <p:nvSpPr>
          <p:cNvPr id="70" name="Google Shape;70;p9"/>
          <p:cNvSpPr txBox="1">
            <a:spLocks noGrp="1"/>
          </p:cNvSpPr>
          <p:nvPr>
            <p:ph type="body" idx="2"/>
          </p:nvPr>
        </p:nvSpPr>
        <p:spPr>
          <a:xfrm>
            <a:off x="4870698" y="1346063"/>
            <a:ext cx="3948202" cy="32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建構端到端多模態醫療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LLM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系統，能同時處理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CT/X-ray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影像與臨床文字報告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01600" lvl="0" indent="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自動提取並量化患者特定屬性，生成結合影像證據、病歷脈絡與個體特徵的個人化診斷報告與治療建議 。</a:t>
            </a:r>
          </a:p>
          <a:p>
            <a:pPr marL="457200" lvl="0" indent="-2794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None/>
            </a:pPr>
            <a:endParaRPr lang="zh-TW" alt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</p:txBody>
      </p:sp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As-Is To-Be</a:t>
            </a:r>
            <a:endParaRPr sz="20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</p:txBody>
      </p:sp>
      <p:sp>
        <p:nvSpPr>
          <p:cNvPr id="72" name="Google Shape;72;p9"/>
          <p:cNvSpPr txBox="1"/>
          <p:nvPr/>
        </p:nvSpPr>
        <p:spPr>
          <a:xfrm>
            <a:off x="626350" y="832086"/>
            <a:ext cx="3644400" cy="513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1600" marR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T Serif"/>
              <a:buNone/>
            </a:pPr>
            <a:r>
              <a:rPr lang="en-US" sz="1800" b="1" i="0" u="sng" strike="noStrike" cap="none" dirty="0">
                <a:solidFill>
                  <a:schemeClr val="dk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cs typeface="PT Serif"/>
                <a:sym typeface="PT Serif"/>
              </a:rPr>
              <a:t>#As-Is</a:t>
            </a:r>
            <a:endParaRPr sz="1800" b="1" i="0" u="sng" strike="noStrike" cap="none" dirty="0">
              <a:solidFill>
                <a:schemeClr val="dk1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cs typeface="PT Serif"/>
              <a:sym typeface="PT Serif"/>
            </a:endParaRPr>
          </a:p>
        </p:txBody>
      </p:sp>
      <p:sp>
        <p:nvSpPr>
          <p:cNvPr id="73" name="Google Shape;73;p9"/>
          <p:cNvSpPr txBox="1"/>
          <p:nvPr/>
        </p:nvSpPr>
        <p:spPr>
          <a:xfrm>
            <a:off x="4870698" y="832086"/>
            <a:ext cx="3644400" cy="513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1600" marR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T Serif"/>
              <a:buNone/>
            </a:pPr>
            <a:r>
              <a:rPr lang="en-US" sz="1800" b="1" i="0" u="sng" strike="noStrike" cap="none" dirty="0">
                <a:solidFill>
                  <a:schemeClr val="dk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cs typeface="PT Serif"/>
                <a:sym typeface="PT Serif"/>
              </a:rPr>
              <a:t>#To-Be</a:t>
            </a:r>
            <a:endParaRPr sz="1800" b="1" i="0" u="sng" strike="noStrike" cap="none" dirty="0">
              <a:solidFill>
                <a:schemeClr val="dk1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cs typeface="PT Serif"/>
              <a:sym typeface="PT Serif"/>
            </a:endParaRPr>
          </a:p>
        </p:txBody>
      </p:sp>
    </p:spTree>
    <p:extLst>
      <p:ext uri="{BB962C8B-B14F-4D97-AF65-F5344CB8AC3E}">
        <p14:creationId xmlns:p14="http://schemas.microsoft.com/office/powerpoint/2010/main" val="10427473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>
            <a:spLocks noGrp="1"/>
          </p:cNvSpPr>
          <p:nvPr>
            <p:ph type="body" idx="1"/>
          </p:nvPr>
        </p:nvSpPr>
        <p:spPr>
          <a:xfrm>
            <a:off x="-165600" y="906448"/>
            <a:ext cx="9309600" cy="4237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en-US" altLang="zh-TW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1.RadGenome‑Chest CT </a:t>
            </a:r>
            <a:r>
              <a:rPr lang="zh-TW" altLang="en-US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公開 </a:t>
            </a:r>
            <a:r>
              <a:rPr lang="en-US" altLang="zh-TW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3D </a:t>
            </a:r>
            <a:r>
              <a:rPr lang="zh-TW" altLang="en-US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胸腔 </a:t>
            </a:r>
            <a:r>
              <a:rPr lang="en-US" altLang="zh-TW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CT</a:t>
            </a:r>
            <a:r>
              <a:rPr lang="zh-TW" altLang="en-US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＋報告＋器官分割標註資料集</a:t>
            </a:r>
            <a:r>
              <a:rPr lang="en-US" altLang="zh-TW" sz="14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-</a:t>
            </a:r>
            <a:r>
              <a:rPr lang="zh-TW" altLang="en-US" sz="14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相關文獻</a:t>
            </a:r>
            <a:endParaRPr lang="en-US" altLang="zh-TW" sz="14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en-US" altLang="zh-TW" sz="1400" dirty="0">
                <a:latin typeface="Adobe 繁黑體 Std B" panose="020B0700000000000000" pitchFamily="34" charset="-128"/>
                <a:ea typeface="Adobe 繁黑體 Std B" panose="020B0700000000000000" pitchFamily="34" charset="-128"/>
                <a:hlinkClick r:id="rId3"/>
              </a:rPr>
              <a:t>https://arxiv.org/html/2506.23102v1</a:t>
            </a: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en-US" altLang="zh-TW" sz="1400" dirty="0">
                <a:latin typeface="Adobe 繁黑體 Std B" panose="020B0700000000000000" pitchFamily="34" charset="-128"/>
                <a:ea typeface="Adobe 繁黑體 Std B" panose="020B0700000000000000" pitchFamily="34" charset="-128"/>
                <a:hlinkClick r:id="rId4"/>
              </a:rPr>
              <a:t>https://www.nature.com/articles/s41597-025-05922-9</a:t>
            </a: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en-US" altLang="zh-TW" sz="1400" dirty="0">
                <a:latin typeface="Adobe 繁黑體 Std B" panose="020B0700000000000000" pitchFamily="34" charset="-128"/>
                <a:ea typeface="Adobe 繁黑體 Std B" panose="020B0700000000000000" pitchFamily="34" charset="-128"/>
                <a:hlinkClick r:id="rId5"/>
              </a:rPr>
              <a:t>https://pmc.ncbi.nlm.nih.gov/articles/PMC12479233/</a:t>
            </a: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990600" lvl="2" indent="0" algn="just">
              <a:spcBef>
                <a:spcPts val="400"/>
              </a:spcBef>
              <a:buClr>
                <a:srgbClr val="00B0F0"/>
              </a:buClr>
              <a:buSzPts val="1400"/>
              <a:buNone/>
            </a:pP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4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4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990600" lvl="2" indent="0" algn="just">
              <a:spcBef>
                <a:spcPts val="400"/>
              </a:spcBef>
              <a:buClr>
                <a:srgbClr val="00B0F0"/>
              </a:buClr>
              <a:buSzPts val="1400"/>
              <a:buNone/>
            </a:pP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990600" lvl="2" indent="0" algn="just">
              <a:spcBef>
                <a:spcPts val="400"/>
              </a:spcBef>
              <a:buClr>
                <a:srgbClr val="00B0F0"/>
              </a:buClr>
              <a:buSzPts val="1400"/>
              <a:buNone/>
            </a:pP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4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990600" lvl="2" indent="0" algn="just">
              <a:spcBef>
                <a:spcPts val="400"/>
              </a:spcBef>
              <a:buClr>
                <a:srgbClr val="00B0F0"/>
              </a:buClr>
              <a:buSzPts val="1400"/>
              <a:buNone/>
            </a:pPr>
            <a:r>
              <a:rPr lang="en-US" altLang="zh-TW" sz="14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	</a:t>
            </a:r>
            <a:r>
              <a:rPr lang="en-US" altLang="zh-TW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	</a:t>
            </a:r>
            <a:endParaRPr lang="en-US" sz="1400" dirty="0">
              <a:solidFill>
                <a:srgbClr val="FF0000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sym typeface="PT Serif"/>
            </a:endParaRPr>
          </a:p>
        </p:txBody>
      </p:sp>
      <p:sp>
        <p:nvSpPr>
          <p:cNvPr id="64" name="Google Shape;64;p8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Poppins"/>
                <a:sym typeface="Poppins"/>
              </a:rPr>
              <a:t>Dataset</a:t>
            </a:r>
          </a:p>
        </p:txBody>
      </p:sp>
    </p:spTree>
    <p:extLst>
      <p:ext uri="{BB962C8B-B14F-4D97-AF65-F5344CB8AC3E}">
        <p14:creationId xmlns:p14="http://schemas.microsoft.com/office/powerpoint/2010/main" val="2278745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Poppins"/>
                <a:sym typeface="Poppins"/>
              </a:rPr>
              <a:t>Framework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Poppins"/>
              <a:sym typeface="Poppins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E17E1FAA-4209-4EE2-B0B1-C35FA71AE3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470" y="1097670"/>
            <a:ext cx="5997460" cy="345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234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Poppins"/>
                <a:ea typeface="Poppins"/>
                <a:cs typeface="Poppins"/>
                <a:sym typeface="Poppins"/>
              </a:rPr>
              <a:t>Overview</a:t>
            </a:r>
            <a:endParaRPr sz="20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>
            <a:off x="617100" y="1269863"/>
            <a:ext cx="7909800" cy="3760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33400" lvl="1" indent="0">
              <a:spcBef>
                <a:spcPts val="600"/>
              </a:spcBef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相關論文研究現狀：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     現有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Med-</a:t>
            </a:r>
            <a:r>
              <a:rPr lang="en-US" altLang="zh-TW" sz="1600" dirty="0" err="1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PaLM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準確率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60-77%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，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MedTVT-R1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整合多模態但缺乏端到端屬性提取系統 。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發現的問題：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    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(1)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影像文字系統分離需手動整合、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(2)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無法自動量化患者特定屬性、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(3)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缺乏可解釋性 。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5358096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Poppins"/>
                <a:ea typeface="Poppins"/>
                <a:cs typeface="Poppins"/>
                <a:sym typeface="Poppins"/>
              </a:rPr>
              <a:t>Overview</a:t>
            </a:r>
            <a:endParaRPr sz="20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>
            <a:off x="617100" y="1269863"/>
            <a:ext cx="7909800" cy="3760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33400" lvl="1" indent="0">
              <a:spcBef>
                <a:spcPts val="600"/>
              </a:spcBef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提出的解決方法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:</a:t>
            </a:r>
          </a:p>
          <a:p>
            <a:pPr marL="533400" lvl="1" indent="0">
              <a:spcBef>
                <a:spcPts val="600"/>
              </a:spcBef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四層架構整合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3D U-Net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分割、屬性量化、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LLaMA-2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微調與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RAG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個人化引擎 。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>
              <a:spcBef>
                <a:spcPts val="600"/>
              </a:spcBef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>
              <a:spcBef>
                <a:spcPts val="600"/>
              </a:spcBef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研究貢獻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:</a:t>
            </a:r>
          </a:p>
          <a:p>
            <a:pPr marL="533400" lvl="1" indent="0">
              <a:spcBef>
                <a:spcPts val="600"/>
              </a:spcBef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   端到端多模態架構整合影像分割、屬性量化與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LLM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，生成可解釋個人化治療建議，優化臨床決策流程。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8013452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Poppins"/>
                <a:ea typeface="Poppins"/>
                <a:cs typeface="Poppins"/>
                <a:sym typeface="Poppins"/>
              </a:rPr>
              <a:t>Reference</a:t>
            </a:r>
            <a:endParaRPr sz="20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>
            <a:off x="617100" y="768974"/>
            <a:ext cx="7909800" cy="437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  <a:hlinkClick r:id="rId3"/>
              </a:rPr>
              <a:t>https://arxiv.org/abs/2409.00097</a:t>
            </a: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  <a:hlinkClick r:id="rId4"/>
              </a:rPr>
              <a:t>https://arxiv.org/abs/2506.23102</a:t>
            </a: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  <a:hlinkClick r:id="rId5"/>
              </a:rPr>
              <a:t>https://arxiv.org/abs/2509.18690</a:t>
            </a: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  <a:hlinkClick r:id="rId6"/>
              </a:rPr>
              <a:t>https://arxiv.org/abs/2412.15957</a:t>
            </a: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864237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Google Shape;57;p7"/>
          <p:cNvCxnSpPr/>
          <p:nvPr/>
        </p:nvCxnSpPr>
        <p:spPr>
          <a:xfrm rot="10800000">
            <a:off x="2588100" y="3488719"/>
            <a:ext cx="3967800" cy="0"/>
          </a:xfrm>
          <a:prstGeom prst="straightConnector1">
            <a:avLst/>
          </a:prstGeom>
          <a:noFill/>
          <a:ln w="9525" cap="flat" cmpd="sng">
            <a:solidFill>
              <a:srgbClr val="1C1C19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8" name="Google Shape;58;p7"/>
          <p:cNvSpPr txBox="1"/>
          <p:nvPr/>
        </p:nvSpPr>
        <p:spPr>
          <a:xfrm>
            <a:off x="770400" y="1022404"/>
            <a:ext cx="7603200" cy="2128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altLang="zh-TW" sz="5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LLM </a:t>
            </a:r>
            <a:r>
              <a:rPr lang="zh-TW" altLang="en-US" sz="5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驅動的運動員</a:t>
            </a:r>
            <a:endParaRPr lang="en-US" altLang="zh-TW" sz="54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algn="ctr"/>
            <a:r>
              <a:rPr lang="zh-TW" altLang="en-US" sz="5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傷害預測與表現優化</a:t>
            </a:r>
          </a:p>
        </p:txBody>
      </p:sp>
    </p:spTree>
    <p:extLst>
      <p:ext uri="{BB962C8B-B14F-4D97-AF65-F5344CB8AC3E}">
        <p14:creationId xmlns:p14="http://schemas.microsoft.com/office/powerpoint/2010/main" val="42029189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>
            <a:spLocks noGrp="1"/>
          </p:cNvSpPr>
          <p:nvPr>
            <p:ph type="body" idx="1"/>
          </p:nvPr>
        </p:nvSpPr>
        <p:spPr>
          <a:xfrm>
            <a:off x="-165600" y="906449"/>
            <a:ext cx="9144000" cy="38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zh-TW" altLang="en-US" sz="18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傳統機器學習模型（</a:t>
            </a:r>
            <a:r>
              <a:rPr lang="en-US" altLang="zh-TW" sz="18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Random Forest</a:t>
            </a:r>
            <a:r>
              <a:rPr lang="zh-TW" altLang="en-US" sz="18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、</a:t>
            </a:r>
            <a:r>
              <a:rPr lang="en-US" altLang="zh-TW" sz="1800" dirty="0" err="1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XGBoost</a:t>
            </a:r>
            <a:r>
              <a:rPr lang="zh-TW" altLang="en-US" sz="18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）在運動傷害預測任務中已達 </a:t>
            </a:r>
            <a:r>
              <a:rPr lang="en-US" altLang="zh-TW" sz="18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85% </a:t>
            </a:r>
            <a:r>
              <a:rPr lang="zh-TW" altLang="en-US" sz="18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準確率，</a:t>
            </a:r>
            <a:r>
              <a:rPr lang="en-US" altLang="zh-TW" sz="18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AI </a:t>
            </a:r>
            <a:r>
              <a:rPr lang="zh-TW" altLang="en-US" sz="18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驅動的生物力學分析使訓練準確度提升 </a:t>
            </a:r>
            <a:r>
              <a:rPr lang="en-US" altLang="zh-TW" sz="18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25%</a:t>
            </a:r>
            <a:r>
              <a:rPr lang="zh-TW" altLang="en-US" sz="18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，重傷發生率降低 </a:t>
            </a:r>
            <a:r>
              <a:rPr lang="en-US" altLang="zh-TW" sz="18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23% </a:t>
            </a:r>
            <a:r>
              <a:rPr lang="zh-TW" altLang="en-US" sz="18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。</a:t>
            </a:r>
            <a:endParaRPr lang="en-US" altLang="zh-TW" sz="18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8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zh-TW" altLang="en-US" sz="18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然而，這些系統存在「黑箱」問題，教練與運動醫學專家難以理解模型如何做出預測，限制了實務應用的信任度 。此外，現有系統缺乏自然語言互動能力，教練無法用對話方式查詢原因或調整建議 。</a:t>
            </a:r>
            <a:endParaRPr lang="en-US" altLang="zh-TW" sz="18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8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sz="1800" dirty="0">
              <a:solidFill>
                <a:srgbClr val="FF0000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sym typeface="PT Serif"/>
            </a:endParaRPr>
          </a:p>
        </p:txBody>
      </p:sp>
      <p:sp>
        <p:nvSpPr>
          <p:cNvPr id="64" name="Google Shape;64;p8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  <a:cs typeface="Poppins"/>
                <a:sym typeface="Poppins"/>
              </a:rPr>
              <a:t>Research Background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0034432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>
            <a:spLocks noGrp="1"/>
          </p:cNvSpPr>
          <p:nvPr>
            <p:ph type="body" idx="1"/>
          </p:nvPr>
        </p:nvSpPr>
        <p:spPr>
          <a:xfrm>
            <a:off x="0" y="970575"/>
            <a:ext cx="9144000" cy="38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zh-TW" altLang="en-US" sz="18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研究問題</a:t>
            </a:r>
            <a:r>
              <a:rPr lang="en-US" altLang="zh-TW" sz="18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:</a:t>
            </a: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zh-TW" altLang="en-US" sz="18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       如何保留 </a:t>
            </a:r>
            <a:r>
              <a:rPr lang="en-US" altLang="zh-TW" sz="18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ML </a:t>
            </a:r>
            <a:r>
              <a:rPr lang="zh-TW" altLang="en-US" sz="18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高準確率同時整合 </a:t>
            </a:r>
            <a:r>
              <a:rPr lang="en-US" altLang="zh-TW" sz="18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LLM </a:t>
            </a:r>
            <a:r>
              <a:rPr lang="zh-TW" altLang="en-US" sz="18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解釋與對話能力，提供脈絡化訓練建議？</a:t>
            </a:r>
            <a:endParaRPr lang="en-US" altLang="zh-TW" sz="18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</p:txBody>
      </p:sp>
      <p:sp>
        <p:nvSpPr>
          <p:cNvPr id="64" name="Google Shape;64;p8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Poppins"/>
                <a:sym typeface="Poppins"/>
              </a:rPr>
              <a:t>Research Question</a:t>
            </a:r>
          </a:p>
        </p:txBody>
      </p:sp>
    </p:spTree>
    <p:extLst>
      <p:ext uri="{BB962C8B-B14F-4D97-AF65-F5344CB8AC3E}">
        <p14:creationId xmlns:p14="http://schemas.microsoft.com/office/powerpoint/2010/main" val="37092208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 txBox="1">
            <a:spLocks noGrp="1"/>
          </p:cNvSpPr>
          <p:nvPr>
            <p:ph type="body" idx="1"/>
          </p:nvPr>
        </p:nvSpPr>
        <p:spPr>
          <a:xfrm>
            <a:off x="325100" y="1346063"/>
            <a:ext cx="4246900" cy="32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當前系統採用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Random Forest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或 </a:t>
            </a:r>
            <a:r>
              <a:rPr lang="en-US" altLang="zh-TW" sz="1600" dirty="0" err="1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XGBoost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模型分析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GPS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追蹤數據與生理數據，輸出傷害風險機率值（如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78%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），但教練只能看到數字結果，無法得知「為何風險升高」。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系統無法回應教練的自然語言提問，也無法根據球隊戰術需求、賽程密度等脈絡因素調整訓練建議 。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</p:txBody>
      </p:sp>
      <p:sp>
        <p:nvSpPr>
          <p:cNvPr id="70" name="Google Shape;70;p9"/>
          <p:cNvSpPr txBox="1">
            <a:spLocks noGrp="1"/>
          </p:cNvSpPr>
          <p:nvPr>
            <p:ph type="body" idx="2"/>
          </p:nvPr>
        </p:nvSpPr>
        <p:spPr>
          <a:xfrm>
            <a:off x="4870698" y="1346063"/>
            <a:ext cx="4136502" cy="32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建構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LLM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驅動的智能運動助手，保留傳統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ML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模型的高準確率預測能力，同時加入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LLM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解釋層，自動生成可讀性高的傷害風險報告 。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01600" lvl="0" indent="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系統支援自然語言對話查詢，教練可詢問「如何在保持競技狀態下降低傷害風險？」並獲得個人化訓練計畫調整建議</a:t>
            </a:r>
          </a:p>
        </p:txBody>
      </p:sp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As-Is To-Be</a:t>
            </a:r>
            <a:endParaRPr sz="20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</p:txBody>
      </p:sp>
      <p:sp>
        <p:nvSpPr>
          <p:cNvPr id="72" name="Google Shape;72;p9"/>
          <p:cNvSpPr txBox="1"/>
          <p:nvPr/>
        </p:nvSpPr>
        <p:spPr>
          <a:xfrm>
            <a:off x="626350" y="832086"/>
            <a:ext cx="3644400" cy="513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1600" marR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T Serif"/>
              <a:buNone/>
            </a:pPr>
            <a:r>
              <a:rPr lang="en-US" sz="1800" b="1" i="0" u="sng" strike="noStrike" cap="none" dirty="0">
                <a:solidFill>
                  <a:schemeClr val="dk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cs typeface="PT Serif"/>
                <a:sym typeface="PT Serif"/>
              </a:rPr>
              <a:t>#As-Is</a:t>
            </a:r>
            <a:endParaRPr sz="1800" b="1" i="0" u="sng" strike="noStrike" cap="none" dirty="0">
              <a:solidFill>
                <a:schemeClr val="dk1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cs typeface="PT Serif"/>
              <a:sym typeface="PT Serif"/>
            </a:endParaRPr>
          </a:p>
        </p:txBody>
      </p:sp>
      <p:sp>
        <p:nvSpPr>
          <p:cNvPr id="73" name="Google Shape;73;p9"/>
          <p:cNvSpPr txBox="1"/>
          <p:nvPr/>
        </p:nvSpPr>
        <p:spPr>
          <a:xfrm>
            <a:off x="4870698" y="832086"/>
            <a:ext cx="3644400" cy="513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1600" marR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T Serif"/>
              <a:buNone/>
            </a:pPr>
            <a:r>
              <a:rPr lang="en-US" sz="1800" b="1" i="0" u="sng" strike="noStrike" cap="none" dirty="0">
                <a:solidFill>
                  <a:schemeClr val="dk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cs typeface="PT Serif"/>
                <a:sym typeface="PT Serif"/>
              </a:rPr>
              <a:t>#To-Be</a:t>
            </a:r>
            <a:endParaRPr sz="1800" b="1" i="0" u="sng" strike="noStrike" cap="none" dirty="0">
              <a:solidFill>
                <a:schemeClr val="dk1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cs typeface="PT Serif"/>
              <a:sym typeface="PT Serif"/>
            </a:endParaRPr>
          </a:p>
        </p:txBody>
      </p:sp>
    </p:spTree>
    <p:extLst>
      <p:ext uri="{BB962C8B-B14F-4D97-AF65-F5344CB8AC3E}">
        <p14:creationId xmlns:p14="http://schemas.microsoft.com/office/powerpoint/2010/main" val="38759307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>
            <a:spLocks noGrp="1"/>
          </p:cNvSpPr>
          <p:nvPr>
            <p:ph type="body" idx="1"/>
          </p:nvPr>
        </p:nvSpPr>
        <p:spPr>
          <a:xfrm>
            <a:off x="-165600" y="906448"/>
            <a:ext cx="9309600" cy="4237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en-US" altLang="zh-TW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1.</a:t>
            </a:r>
            <a:r>
              <a:rPr lang="zh-TW" altLang="en-US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資料來源：職業／大學球隊之 </a:t>
            </a:r>
            <a:r>
              <a:rPr lang="en-US" altLang="zh-TW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GPS </a:t>
            </a:r>
            <a:r>
              <a:rPr lang="zh-TW" altLang="en-US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與穿戴裝置數據（</a:t>
            </a:r>
            <a:r>
              <a:rPr lang="en-US" altLang="zh-TW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Catapult</a:t>
            </a:r>
            <a:r>
              <a:rPr lang="zh-TW" altLang="en-US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、</a:t>
            </a:r>
            <a:r>
              <a:rPr lang="en-US" altLang="zh-TW" sz="1400" b="0" i="0" dirty="0" err="1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STATSports</a:t>
            </a:r>
            <a:r>
              <a:rPr lang="zh-TW" altLang="en-US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、</a:t>
            </a:r>
            <a:r>
              <a:rPr lang="en-US" altLang="zh-TW" sz="1400" b="0" i="0" dirty="0" err="1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Oura</a:t>
            </a:r>
            <a:r>
              <a:rPr lang="zh-TW" altLang="en-US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、 </a:t>
            </a:r>
            <a:r>
              <a:rPr lang="en-US" altLang="zh-TW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Whoop</a:t>
            </a:r>
            <a:r>
              <a:rPr lang="zh-TW" altLang="en-US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、</a:t>
            </a:r>
            <a:r>
              <a:rPr lang="en-US" altLang="zh-TW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Vicon </a:t>
            </a:r>
            <a:r>
              <a:rPr lang="zh-TW" altLang="en-US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等）與歷史傷害紀錄，另輔以公開運動問答資料集（</a:t>
            </a:r>
            <a:r>
              <a:rPr lang="en-US" altLang="zh-TW" sz="1400" b="0" i="0" dirty="0" err="1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SportQA</a:t>
            </a:r>
            <a:r>
              <a:rPr lang="zh-TW" altLang="en-US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、</a:t>
            </a:r>
            <a:r>
              <a:rPr lang="en-US" altLang="zh-TW" sz="1400" b="0" i="0" dirty="0" err="1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SportsMetrics</a:t>
            </a:r>
            <a:r>
              <a:rPr lang="zh-TW" altLang="en-US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） 訓練 </a:t>
            </a:r>
            <a:r>
              <a:rPr lang="en-US" altLang="zh-TW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LLM </a:t>
            </a:r>
            <a:r>
              <a:rPr lang="zh-TW" altLang="en-US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解釋層</a:t>
            </a:r>
            <a:r>
              <a:rPr lang="en-US" altLang="zh-TW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:</a:t>
            </a: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en-US" altLang="zh-TW" sz="1400" dirty="0">
                <a:latin typeface="Adobe 繁黑體 Std B" panose="020B0700000000000000" pitchFamily="34" charset="-128"/>
                <a:ea typeface="Adobe 繁黑體 Std B" panose="020B0700000000000000" pitchFamily="34" charset="-128"/>
                <a:hlinkClick r:id="rId3"/>
              </a:rPr>
              <a:t>https://www.catapult.com/blog/wearable-technology-in-sports</a:t>
            </a: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en-US" altLang="zh-TW" sz="1400" dirty="0">
                <a:latin typeface="Adobe 繁黑體 Std B" panose="020B0700000000000000" pitchFamily="34" charset="-128"/>
                <a:ea typeface="Adobe 繁黑體 Std B" panose="020B0700000000000000" pitchFamily="34" charset="-128"/>
                <a:hlinkClick r:id="rId4"/>
              </a:rPr>
              <a:t>https://straitsresearch.com/report/smart-sports-equipment-market</a:t>
            </a: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990600" lvl="2" indent="0" algn="just">
              <a:spcBef>
                <a:spcPts val="400"/>
              </a:spcBef>
              <a:buClr>
                <a:srgbClr val="00B0F0"/>
              </a:buClr>
              <a:buSzPts val="1400"/>
              <a:buNone/>
            </a:pP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4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4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990600" lvl="2" indent="0" algn="just">
              <a:spcBef>
                <a:spcPts val="400"/>
              </a:spcBef>
              <a:buClr>
                <a:srgbClr val="00B0F0"/>
              </a:buClr>
              <a:buSzPts val="1400"/>
              <a:buNone/>
            </a:pP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990600" lvl="2" indent="0" algn="just">
              <a:spcBef>
                <a:spcPts val="400"/>
              </a:spcBef>
              <a:buClr>
                <a:srgbClr val="00B0F0"/>
              </a:buClr>
              <a:buSzPts val="1400"/>
              <a:buNone/>
            </a:pP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4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990600" lvl="2" indent="0" algn="just">
              <a:spcBef>
                <a:spcPts val="400"/>
              </a:spcBef>
              <a:buClr>
                <a:srgbClr val="00B0F0"/>
              </a:buClr>
              <a:buSzPts val="1400"/>
              <a:buNone/>
            </a:pPr>
            <a:r>
              <a:rPr lang="en-US" altLang="zh-TW" sz="14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	</a:t>
            </a:r>
            <a:r>
              <a:rPr lang="en-US" altLang="zh-TW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	</a:t>
            </a:r>
            <a:endParaRPr lang="en-US" sz="1400" dirty="0">
              <a:solidFill>
                <a:srgbClr val="FF0000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sym typeface="PT Serif"/>
            </a:endParaRPr>
          </a:p>
        </p:txBody>
      </p:sp>
      <p:sp>
        <p:nvSpPr>
          <p:cNvPr id="64" name="Google Shape;64;p8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Poppins"/>
                <a:sym typeface="Poppins"/>
              </a:rPr>
              <a:t>Dataset</a:t>
            </a:r>
          </a:p>
        </p:txBody>
      </p:sp>
    </p:spTree>
    <p:extLst>
      <p:ext uri="{BB962C8B-B14F-4D97-AF65-F5344CB8AC3E}">
        <p14:creationId xmlns:p14="http://schemas.microsoft.com/office/powerpoint/2010/main" val="17870261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Poppins"/>
                <a:sym typeface="Poppins"/>
              </a:rPr>
              <a:t>Framework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Poppins"/>
              <a:sym typeface="Poppins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1C9BA438-04A2-4A9C-8D1F-D4DC485D98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967" y="1124367"/>
            <a:ext cx="6073666" cy="3528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6099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Poppins"/>
                <a:ea typeface="Poppins"/>
                <a:cs typeface="Poppins"/>
                <a:sym typeface="Poppins"/>
              </a:rPr>
              <a:t>Overview</a:t>
            </a:r>
            <a:endParaRPr sz="20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>
            <a:off x="617100" y="970575"/>
            <a:ext cx="7909800" cy="4059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33400" lvl="1" indent="0">
              <a:spcBef>
                <a:spcPts val="600"/>
              </a:spcBef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相關論文研究現狀：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   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ML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模型（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RF/</a:t>
            </a:r>
            <a:r>
              <a:rPr lang="en-US" altLang="zh-TW" sz="1600" dirty="0" err="1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XGBoost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）達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85%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準確率；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AI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生物力學分析降低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23%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重傷率；但缺乏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LLM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互動與解釋層。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發現問題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:</a:t>
            </a:r>
          </a:p>
          <a:p>
            <a:pPr marL="533400" lvl="1" indent="0">
              <a:spcBef>
                <a:spcPts val="600"/>
              </a:spcBef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   預測結果黑箱無法解釋給教練；缺乏自然語言查詢能力；無法整合多維數據生成個人化建議。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5086690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Poppins"/>
                <a:ea typeface="Poppins"/>
                <a:cs typeface="Poppins"/>
                <a:sym typeface="Poppins"/>
              </a:rPr>
              <a:t>Overview</a:t>
            </a:r>
            <a:endParaRPr sz="20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>
            <a:off x="617100" y="1269863"/>
            <a:ext cx="7909800" cy="3760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33400" lvl="1" indent="0">
              <a:spcBef>
                <a:spcPts val="600"/>
              </a:spcBef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提出的解決方法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:</a:t>
            </a:r>
          </a:p>
          <a:p>
            <a:pPr marL="533400" lvl="1" indent="0">
              <a:spcBef>
                <a:spcPts val="600"/>
              </a:spcBef>
              <a:buClr>
                <a:schemeClr val="dk1"/>
              </a:buClr>
              <a:buSzPts val="1200"/>
              <a:buNone/>
            </a:pPr>
            <a:r>
              <a:rPr lang="en-US" altLang="zh-TW" sz="1600" dirty="0" err="1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XGBoost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預測引擎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+ LLaMA-2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解釋層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+ RAG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對話介面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+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個人化優化引擎 。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>
              <a:spcBef>
                <a:spcPts val="600"/>
              </a:spcBef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>
              <a:spcBef>
                <a:spcPts val="600"/>
              </a:spcBef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研究貢獻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:</a:t>
            </a:r>
          </a:p>
          <a:p>
            <a:pPr marL="533400" lvl="1" indent="0">
              <a:spcBef>
                <a:spcPts val="600"/>
              </a:spcBef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   首個整合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ML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預測引擎與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LLM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對話介面的系統，提供可解釋傷害風險報告與互動式教練建議。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6095857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Poppins"/>
                <a:ea typeface="Poppins"/>
                <a:cs typeface="Poppins"/>
                <a:sym typeface="Poppins"/>
              </a:rPr>
              <a:t>Reference</a:t>
            </a:r>
            <a:endParaRPr sz="20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>
            <a:off x="617100" y="768974"/>
            <a:ext cx="7909800" cy="437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  <a:hlinkClick r:id="rId3"/>
              </a:rPr>
              <a:t>https://arxiv.org/abs/2402.15862</a:t>
            </a: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  <a:hlinkClick r:id="rId4"/>
              </a:rPr>
              <a:t>https://www.mdpi.com/2306-5354/12/8/887</a:t>
            </a: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  <a:hlinkClick r:id="rId5"/>
              </a:rPr>
              <a:t>https://pubmed.ncbi.nlm.nih.gov/39613453/</a:t>
            </a: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  <a:hlinkClick r:id="rId6"/>
              </a:rPr>
              <a:t>https://ijaem.net/issue_dcp/AI%20Driven%20Biomechanical%20Analysis%20Advancing%20Injury%20Prevention,%20Performance%20Optimization,%20and%20Rehabilitation%20in%20Competitive%20Sports.pdf</a:t>
            </a: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4866385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Google Shape;57;p7"/>
          <p:cNvCxnSpPr/>
          <p:nvPr/>
        </p:nvCxnSpPr>
        <p:spPr>
          <a:xfrm rot="10800000">
            <a:off x="2588100" y="3488719"/>
            <a:ext cx="3967800" cy="0"/>
          </a:xfrm>
          <a:prstGeom prst="straightConnector1">
            <a:avLst/>
          </a:prstGeom>
          <a:noFill/>
          <a:ln w="9525" cap="flat" cmpd="sng">
            <a:solidFill>
              <a:srgbClr val="1C1C19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8" name="Google Shape;58;p7"/>
          <p:cNvSpPr txBox="1"/>
          <p:nvPr/>
        </p:nvSpPr>
        <p:spPr>
          <a:xfrm>
            <a:off x="770400" y="1022404"/>
            <a:ext cx="7603200" cy="2128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zh-TW" altLang="en-US" sz="5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多智能體 </a:t>
            </a:r>
            <a:r>
              <a:rPr lang="en-US" altLang="zh-TW" sz="5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LLM </a:t>
            </a:r>
            <a:r>
              <a:rPr lang="zh-TW" altLang="en-US" sz="5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災害預警與應急響應協調系統</a:t>
            </a:r>
          </a:p>
        </p:txBody>
      </p:sp>
    </p:spTree>
    <p:extLst>
      <p:ext uri="{BB962C8B-B14F-4D97-AF65-F5344CB8AC3E}">
        <p14:creationId xmlns:p14="http://schemas.microsoft.com/office/powerpoint/2010/main" val="10020447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>
            <a:spLocks noGrp="1"/>
          </p:cNvSpPr>
          <p:nvPr>
            <p:ph type="body" idx="1"/>
          </p:nvPr>
        </p:nvSpPr>
        <p:spPr>
          <a:xfrm>
            <a:off x="-165600" y="906449"/>
            <a:ext cx="9144000" cy="38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en-US" altLang="zh-TW" sz="18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LLM </a:t>
            </a:r>
            <a:r>
              <a:rPr lang="zh-TW" altLang="en-US" sz="18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可從社交媒體估計地震強度。</a:t>
            </a:r>
            <a:endParaRPr lang="en-US" altLang="zh-TW" sz="18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533400" lvl="1" indent="0" algn="just">
              <a:spcBef>
                <a:spcPts val="400"/>
              </a:spcBef>
              <a:buClr>
                <a:srgbClr val="00B0F0"/>
              </a:buClr>
              <a:buSzPts val="1400"/>
              <a:buNone/>
            </a:pPr>
            <a:endParaRPr lang="en-US" altLang="zh-TW" sz="18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zh-TW" altLang="en-US" sz="18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但傳統系統難以即時整合多模態異質數據（文字、影像、感測器、衛星），且跨機構協調效率低 。</a:t>
            </a:r>
            <a:endParaRPr lang="en-US" altLang="zh-TW" sz="18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sz="1800" dirty="0">
              <a:solidFill>
                <a:srgbClr val="FF0000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sym typeface="PT Serif"/>
            </a:endParaRPr>
          </a:p>
        </p:txBody>
      </p:sp>
      <p:sp>
        <p:nvSpPr>
          <p:cNvPr id="64" name="Google Shape;64;p8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  <a:cs typeface="Poppins"/>
                <a:sym typeface="Poppins"/>
              </a:rPr>
              <a:t>Research Background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9725911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>
            <a:spLocks noGrp="1"/>
          </p:cNvSpPr>
          <p:nvPr>
            <p:ph type="body" idx="1"/>
          </p:nvPr>
        </p:nvSpPr>
        <p:spPr>
          <a:xfrm>
            <a:off x="0" y="970575"/>
            <a:ext cx="9144000" cy="38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zh-TW" altLang="en-US" sz="18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研究問題</a:t>
            </a:r>
            <a:r>
              <a:rPr lang="en-US" altLang="zh-TW" sz="18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:</a:t>
            </a: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zh-TW" altLang="en-US" sz="18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      如何建構多智能體系統即時整合異質數據，在 </a:t>
            </a:r>
            <a:r>
              <a:rPr lang="en-US" altLang="zh-TW" sz="18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5-10 </a:t>
            </a:r>
            <a:r>
              <a:rPr lang="zh-TW" altLang="en-US" sz="18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分鐘內完成評估與應急決策？</a:t>
            </a:r>
            <a:endParaRPr lang="en-US" altLang="zh-TW" sz="18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</p:txBody>
      </p:sp>
      <p:sp>
        <p:nvSpPr>
          <p:cNvPr id="64" name="Google Shape;64;p8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Poppins"/>
                <a:sym typeface="Poppins"/>
              </a:rPr>
              <a:t>Research Question</a:t>
            </a:r>
          </a:p>
        </p:txBody>
      </p:sp>
    </p:spTree>
    <p:extLst>
      <p:ext uri="{BB962C8B-B14F-4D97-AF65-F5344CB8AC3E}">
        <p14:creationId xmlns:p14="http://schemas.microsoft.com/office/powerpoint/2010/main" val="42822445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 txBox="1">
            <a:spLocks noGrp="1"/>
          </p:cNvSpPr>
          <p:nvPr>
            <p:ph type="body" idx="1"/>
          </p:nvPr>
        </p:nvSpPr>
        <p:spPr>
          <a:xfrm>
            <a:off x="325100" y="1346063"/>
            <a:ext cx="4246900" cy="32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人工監看多數據源，手動溝通協調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01600" lvl="0" indent="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單一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AI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模型無法跨模態處理，災情評估延遲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30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分鐘以上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</p:txBody>
      </p:sp>
      <p:sp>
        <p:nvSpPr>
          <p:cNvPr id="70" name="Google Shape;70;p9"/>
          <p:cNvSpPr txBox="1">
            <a:spLocks noGrp="1"/>
          </p:cNvSpPr>
          <p:nvPr>
            <p:ph type="body" idx="2"/>
          </p:nvPr>
        </p:nvSpPr>
        <p:spPr>
          <a:xfrm>
            <a:off x="4870698" y="1346063"/>
            <a:ext cx="4136502" cy="32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多智能體協作（偵測、評估、協調、決策），災後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5-10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分鐘完成評估與響應建議 。</a:t>
            </a:r>
          </a:p>
        </p:txBody>
      </p:sp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As-Is To-Be</a:t>
            </a:r>
            <a:endParaRPr sz="20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</p:txBody>
      </p:sp>
      <p:sp>
        <p:nvSpPr>
          <p:cNvPr id="72" name="Google Shape;72;p9"/>
          <p:cNvSpPr txBox="1"/>
          <p:nvPr/>
        </p:nvSpPr>
        <p:spPr>
          <a:xfrm>
            <a:off x="626350" y="832086"/>
            <a:ext cx="3644400" cy="513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1600" marR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T Serif"/>
              <a:buNone/>
            </a:pPr>
            <a:r>
              <a:rPr lang="en-US" sz="1800" b="1" i="0" u="sng" strike="noStrike" cap="none" dirty="0">
                <a:solidFill>
                  <a:schemeClr val="dk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cs typeface="PT Serif"/>
                <a:sym typeface="PT Serif"/>
              </a:rPr>
              <a:t>#As-Is</a:t>
            </a:r>
            <a:endParaRPr sz="1800" b="1" i="0" u="sng" strike="noStrike" cap="none" dirty="0">
              <a:solidFill>
                <a:schemeClr val="dk1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cs typeface="PT Serif"/>
              <a:sym typeface="PT Serif"/>
            </a:endParaRPr>
          </a:p>
        </p:txBody>
      </p:sp>
      <p:sp>
        <p:nvSpPr>
          <p:cNvPr id="73" name="Google Shape;73;p9"/>
          <p:cNvSpPr txBox="1"/>
          <p:nvPr/>
        </p:nvSpPr>
        <p:spPr>
          <a:xfrm>
            <a:off x="4870698" y="832086"/>
            <a:ext cx="3644400" cy="513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1600" marR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T Serif"/>
              <a:buNone/>
            </a:pPr>
            <a:r>
              <a:rPr lang="en-US" sz="1800" b="1" i="0" u="sng" strike="noStrike" cap="none" dirty="0">
                <a:solidFill>
                  <a:schemeClr val="dk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cs typeface="PT Serif"/>
                <a:sym typeface="PT Serif"/>
              </a:rPr>
              <a:t>#To-Be</a:t>
            </a:r>
            <a:endParaRPr sz="1800" b="1" i="0" u="sng" strike="noStrike" cap="none" dirty="0">
              <a:solidFill>
                <a:schemeClr val="dk1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cs typeface="PT Serif"/>
              <a:sym typeface="PT Serif"/>
            </a:endParaRPr>
          </a:p>
        </p:txBody>
      </p:sp>
    </p:spTree>
    <p:extLst>
      <p:ext uri="{BB962C8B-B14F-4D97-AF65-F5344CB8AC3E}">
        <p14:creationId xmlns:p14="http://schemas.microsoft.com/office/powerpoint/2010/main" val="26605197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>
            <a:spLocks noGrp="1"/>
          </p:cNvSpPr>
          <p:nvPr>
            <p:ph type="body" idx="1"/>
          </p:nvPr>
        </p:nvSpPr>
        <p:spPr>
          <a:xfrm>
            <a:off x="-165600" y="906448"/>
            <a:ext cx="9309600" cy="4237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en-US" altLang="zh-TW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1.</a:t>
            </a:r>
            <a:r>
              <a:rPr lang="zh-TW" altLang="en-US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 </a:t>
            </a:r>
            <a:r>
              <a:rPr lang="en-US" altLang="zh-TW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Twitter/X </a:t>
            </a:r>
            <a:r>
              <a:rPr lang="zh-TW" altLang="en-US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災害相關貼文串流、</a:t>
            </a:r>
            <a:r>
              <a:rPr lang="en-US" altLang="zh-TW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USGS </a:t>
            </a:r>
            <a:r>
              <a:rPr lang="zh-TW" altLang="en-US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地震資料、</a:t>
            </a:r>
            <a:r>
              <a:rPr lang="en-US" altLang="zh-TW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NOAA </a:t>
            </a:r>
            <a:r>
              <a:rPr lang="zh-TW" altLang="en-US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天氣警報、</a:t>
            </a:r>
            <a:r>
              <a:rPr lang="en-US" altLang="zh-TW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NASA FIRMS </a:t>
            </a:r>
            <a:r>
              <a:rPr lang="zh-TW" altLang="en-US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野火遙測資料與開放災害風險資料集，整合為多模態災害監測資料庫</a:t>
            </a:r>
            <a:r>
              <a:rPr lang="en-US" altLang="zh-TW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:</a:t>
            </a: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en-US" altLang="zh-TW" sz="1400" dirty="0">
                <a:latin typeface="Adobe 繁黑體 Std B" panose="020B0700000000000000" pitchFamily="34" charset="-128"/>
                <a:ea typeface="Adobe 繁黑體 Std B" panose="020B0700000000000000" pitchFamily="34" charset="-128"/>
                <a:hlinkClick r:id="rId3"/>
              </a:rPr>
              <a:t>https://www.earthdata.nasa.gov/data/tools/firms</a:t>
            </a: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en-US" altLang="zh-TW" sz="1400" dirty="0">
                <a:latin typeface="Adobe 繁黑體 Std B" panose="020B0700000000000000" pitchFamily="34" charset="-128"/>
                <a:ea typeface="Adobe 繁黑體 Std B" panose="020B0700000000000000" pitchFamily="34" charset="-128"/>
                <a:hlinkClick r:id="rId4"/>
              </a:rPr>
              <a:t>https://ui.adsabs.harvard.edu/abs/2020arXiv200414456M/abstract</a:t>
            </a: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en-US" altLang="zh-TW" sz="1400" dirty="0">
                <a:latin typeface="Adobe 繁黑體 Std B" panose="020B0700000000000000" pitchFamily="34" charset="-128"/>
                <a:ea typeface="Adobe 繁黑體 Std B" panose="020B0700000000000000" pitchFamily="34" charset="-128"/>
                <a:hlinkClick r:id="rId5"/>
              </a:rPr>
              <a:t>https://www.preventionweb.net/understanding-disaster-risk/disaster-losses-and-statistics/global-risk-data-sets</a:t>
            </a: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en-US" altLang="zh-TW" sz="1400" dirty="0">
                <a:latin typeface="Adobe 繁黑體 Std B" panose="020B0700000000000000" pitchFamily="34" charset="-128"/>
                <a:ea typeface="Adobe 繁黑體 Std B" panose="020B0700000000000000" pitchFamily="34" charset="-128"/>
                <a:hlinkClick r:id="rId6"/>
              </a:rPr>
              <a:t>https://www.nesdis.noaa.gov/</a:t>
            </a: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4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4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990600" lvl="2" indent="0" algn="just">
              <a:spcBef>
                <a:spcPts val="400"/>
              </a:spcBef>
              <a:buClr>
                <a:srgbClr val="00B0F0"/>
              </a:buClr>
              <a:buSzPts val="1400"/>
              <a:buNone/>
            </a:pP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990600" lvl="2" indent="0" algn="just">
              <a:spcBef>
                <a:spcPts val="400"/>
              </a:spcBef>
              <a:buClr>
                <a:srgbClr val="00B0F0"/>
              </a:buClr>
              <a:buSzPts val="1400"/>
              <a:buNone/>
            </a:pP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4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990600" lvl="2" indent="0" algn="just">
              <a:spcBef>
                <a:spcPts val="400"/>
              </a:spcBef>
              <a:buClr>
                <a:srgbClr val="00B0F0"/>
              </a:buClr>
              <a:buSzPts val="1400"/>
              <a:buNone/>
            </a:pPr>
            <a:r>
              <a:rPr lang="en-US" altLang="zh-TW" sz="14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	</a:t>
            </a:r>
            <a:r>
              <a:rPr lang="en-US" altLang="zh-TW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	</a:t>
            </a:r>
            <a:endParaRPr lang="en-US" sz="1400" dirty="0">
              <a:solidFill>
                <a:srgbClr val="FF0000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sym typeface="PT Serif"/>
            </a:endParaRPr>
          </a:p>
        </p:txBody>
      </p:sp>
      <p:sp>
        <p:nvSpPr>
          <p:cNvPr id="64" name="Google Shape;64;p8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Poppins"/>
                <a:sym typeface="Poppins"/>
              </a:rPr>
              <a:t>Dataset</a:t>
            </a:r>
          </a:p>
        </p:txBody>
      </p:sp>
    </p:spTree>
    <p:extLst>
      <p:ext uri="{BB962C8B-B14F-4D97-AF65-F5344CB8AC3E}">
        <p14:creationId xmlns:p14="http://schemas.microsoft.com/office/powerpoint/2010/main" val="26130285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Poppins"/>
                <a:sym typeface="Poppins"/>
              </a:rPr>
              <a:t>Framework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Poppins"/>
              <a:sym typeface="Poppins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F842048E-6A5F-45A6-ADE0-0823A2A715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3270" y="1079064"/>
            <a:ext cx="5997460" cy="360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7609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Poppins"/>
                <a:ea typeface="Poppins"/>
                <a:cs typeface="Poppins"/>
                <a:sym typeface="Poppins"/>
              </a:rPr>
              <a:t>Overview</a:t>
            </a:r>
            <a:endParaRPr sz="20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>
            <a:off x="617100" y="970575"/>
            <a:ext cx="7909800" cy="4059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33400" lvl="1" indent="0">
              <a:spcBef>
                <a:spcPts val="600"/>
              </a:spcBef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相關論文研究現狀：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   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LLM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可估計地震強度，</a:t>
            </a:r>
            <a:r>
              <a:rPr lang="en-US" altLang="zh-TW" sz="1600" dirty="0" err="1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WildfireGPT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提出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RAG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多智能體架構，但跨模態整合與機構協調仍有差距 。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發現問題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:</a:t>
            </a:r>
          </a:p>
          <a:p>
            <a:pPr marL="533400" lvl="1" indent="0">
              <a:spcBef>
                <a:spcPts val="600"/>
              </a:spcBef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   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(1)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單一模型難處理跨模態數據、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(2)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機構間資訊孤島延遲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30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分鐘以上、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(3)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缺乏即時動態決策 。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4210200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Poppins"/>
                <a:ea typeface="Poppins"/>
                <a:cs typeface="Poppins"/>
                <a:sym typeface="Poppins"/>
              </a:rPr>
              <a:t>Overview</a:t>
            </a:r>
            <a:endParaRPr sz="20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>
            <a:off x="617100" y="1269863"/>
            <a:ext cx="7909800" cy="3760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33400" lvl="1" indent="0">
              <a:spcBef>
                <a:spcPts val="600"/>
              </a:spcBef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提出的解決方法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:</a:t>
            </a:r>
          </a:p>
          <a:p>
            <a:pPr marL="533400" lvl="1" indent="0">
              <a:spcBef>
                <a:spcPts val="600"/>
              </a:spcBef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   「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3M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」架構（偵測、評估、協調、決策智能體）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+ Kafka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即時流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+ RAG + GIS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疏散優化 。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>
              <a:spcBef>
                <a:spcPts val="600"/>
              </a:spcBef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>
              <a:spcBef>
                <a:spcPts val="600"/>
              </a:spcBef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研究貢獻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:</a:t>
            </a: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    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(1)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 提出完整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“3M”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框架、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(2)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響應時間縮短至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5-10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分鐘、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(3)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跨機構自動協調 。​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7206748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Poppins"/>
                <a:ea typeface="Poppins"/>
                <a:cs typeface="Poppins"/>
                <a:sym typeface="Poppins"/>
              </a:rPr>
              <a:t>Reference</a:t>
            </a:r>
            <a:endParaRPr sz="20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>
            <a:off x="617100" y="768974"/>
            <a:ext cx="7909800" cy="437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  <a:hlinkClick r:id="rId3"/>
              </a:rPr>
              <a:t>https://arxiv.org/abs/2405.18732</a:t>
            </a: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  <a:hlinkClick r:id="rId4"/>
              </a:rPr>
              <a:t>https://www.sciencedirect.com/science/article/pii/S2212420925004662</a:t>
            </a: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  <a:hlinkClick r:id="rId5"/>
              </a:rPr>
              <a:t>https://arxiv.org/abs/2504.17200</a:t>
            </a: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  <a:hlinkClick r:id="rId6"/>
              </a:rPr>
              <a:t>https://arxiv.org/abs/2501.06932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’</a:t>
            </a: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0675622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Google Shape;57;p7"/>
          <p:cNvCxnSpPr/>
          <p:nvPr/>
        </p:nvCxnSpPr>
        <p:spPr>
          <a:xfrm rot="10800000">
            <a:off x="2588100" y="3488719"/>
            <a:ext cx="3967800" cy="0"/>
          </a:xfrm>
          <a:prstGeom prst="straightConnector1">
            <a:avLst/>
          </a:prstGeom>
          <a:noFill/>
          <a:ln w="9525" cap="flat" cmpd="sng">
            <a:solidFill>
              <a:srgbClr val="1C1C19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8" name="Google Shape;58;p7"/>
          <p:cNvSpPr txBox="1"/>
          <p:nvPr/>
        </p:nvSpPr>
        <p:spPr>
          <a:xfrm>
            <a:off x="770400" y="669603"/>
            <a:ext cx="7603200" cy="2480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altLang="zh-TW" sz="40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GNN</a:t>
            </a:r>
            <a:r>
              <a:rPr lang="zh-TW" altLang="en-US" sz="40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動態群組推薦</a:t>
            </a:r>
            <a:endParaRPr lang="en-US" altLang="zh-TW" sz="40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algn="ctr"/>
            <a:r>
              <a:rPr lang="zh-TW" altLang="en-US" sz="40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時序圖神經網路的群組推薦系統</a:t>
            </a:r>
          </a:p>
        </p:txBody>
      </p:sp>
    </p:spTree>
    <p:extLst>
      <p:ext uri="{BB962C8B-B14F-4D97-AF65-F5344CB8AC3E}">
        <p14:creationId xmlns:p14="http://schemas.microsoft.com/office/powerpoint/2010/main" val="1325289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>
            <a:spLocks noGrp="1"/>
          </p:cNvSpPr>
          <p:nvPr>
            <p:ph type="body" idx="1"/>
          </p:nvPr>
        </p:nvSpPr>
        <p:spPr>
          <a:xfrm>
            <a:off x="-165600" y="906449"/>
            <a:ext cx="9144000" cy="38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zh-TW" altLang="en-US" sz="1800" dirty="0">
                <a:solidFill>
                  <a:schemeClr val="tx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sym typeface="PT Serif"/>
              </a:rPr>
              <a:t>現有的推薦系統主要針對個人用戶設計，但許多實際場景涉及群組決策：家庭選擇電影、朋友聚餐選餐廳、團隊旅遊規劃。</a:t>
            </a:r>
            <a:endParaRPr lang="en-US" altLang="zh-TW" sz="1800" dirty="0">
              <a:solidFill>
                <a:schemeClr val="tx1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sym typeface="PT Serif"/>
            </a:endParaRPr>
          </a:p>
          <a:p>
            <a:pPr marL="533400" lvl="1" indent="0" algn="just">
              <a:spcBef>
                <a:spcPts val="400"/>
              </a:spcBef>
              <a:buClr>
                <a:srgbClr val="00B0F0"/>
              </a:buClr>
              <a:buSzPts val="1400"/>
              <a:buNone/>
            </a:pPr>
            <a:endParaRPr lang="en-US" altLang="zh-TW" sz="1800" dirty="0">
              <a:solidFill>
                <a:schemeClr val="tx1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sym typeface="PT Serif"/>
            </a:endParaRPr>
          </a:p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zh-TW" altLang="en-US" sz="1800" dirty="0">
                <a:solidFill>
                  <a:schemeClr val="tx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sym typeface="PT Serif"/>
              </a:rPr>
              <a:t>群組推薦的挑戰在於需要平衡不同成員的偏好，同時考量成員間的社交影響力與群組動態變化。</a:t>
            </a:r>
            <a:endParaRPr lang="en-US" altLang="zh-TW" sz="1800" dirty="0">
              <a:solidFill>
                <a:schemeClr val="tx1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sym typeface="PT Serif"/>
            </a:endParaRPr>
          </a:p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800" dirty="0">
              <a:solidFill>
                <a:schemeClr val="tx1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sym typeface="PT Serif"/>
            </a:endParaRPr>
          </a:p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zh-TW" altLang="en-US" sz="1800" dirty="0">
                <a:solidFill>
                  <a:schemeClr val="tx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sym typeface="PT Serif"/>
              </a:rPr>
              <a:t>圖神經網路</a:t>
            </a:r>
            <a:r>
              <a:rPr lang="en-US" altLang="zh-TW" sz="1800" dirty="0">
                <a:solidFill>
                  <a:schemeClr val="tx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sym typeface="PT Serif"/>
              </a:rPr>
              <a:t>(GNN)</a:t>
            </a:r>
            <a:r>
              <a:rPr lang="zh-TW" altLang="en-US" sz="1800" dirty="0">
                <a:solidFill>
                  <a:schemeClr val="tx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sym typeface="PT Serif"/>
              </a:rPr>
              <a:t>擅長建模關係網路，但現有</a:t>
            </a:r>
            <a:r>
              <a:rPr lang="en-US" altLang="zh-TW" sz="1800" dirty="0">
                <a:solidFill>
                  <a:schemeClr val="tx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sym typeface="PT Serif"/>
              </a:rPr>
              <a:t>GNN</a:t>
            </a:r>
            <a:r>
              <a:rPr lang="zh-TW" altLang="en-US" sz="1800" dirty="0">
                <a:solidFill>
                  <a:schemeClr val="tx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sym typeface="PT Serif"/>
              </a:rPr>
              <a:t>推薦研究多聚焦個人層級，缺乏群組動態建模機制。</a:t>
            </a:r>
            <a:endParaRPr lang="en-US" sz="1800" dirty="0">
              <a:solidFill>
                <a:schemeClr val="tx1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sym typeface="PT Serif"/>
            </a:endParaRPr>
          </a:p>
        </p:txBody>
      </p:sp>
      <p:sp>
        <p:nvSpPr>
          <p:cNvPr id="64" name="Google Shape;64;p8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  <a:cs typeface="Poppins"/>
                <a:sym typeface="Poppins"/>
              </a:rPr>
              <a:t>Research Background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757091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>
            <a:spLocks noGrp="1"/>
          </p:cNvSpPr>
          <p:nvPr>
            <p:ph type="body" idx="1"/>
          </p:nvPr>
        </p:nvSpPr>
        <p:spPr>
          <a:xfrm>
            <a:off x="0" y="970575"/>
            <a:ext cx="9144000" cy="38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zh-TW" altLang="en-US" sz="18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研究問題</a:t>
            </a:r>
            <a:r>
              <a:rPr lang="en-US" altLang="zh-TW" sz="18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:</a:t>
            </a: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zh-TW" altLang="en-US" sz="18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      如何讓</a:t>
            </a:r>
            <a:r>
              <a:rPr lang="en-US" altLang="zh-TW" sz="18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GNN</a:t>
            </a:r>
            <a:r>
              <a:rPr lang="zh-TW" altLang="en-US" sz="18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推薦系統考量群組動態與成員互動？</a:t>
            </a:r>
            <a:endParaRPr lang="en-US" altLang="zh-TW" sz="18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</p:txBody>
      </p:sp>
      <p:sp>
        <p:nvSpPr>
          <p:cNvPr id="64" name="Google Shape;64;p8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Poppins"/>
                <a:sym typeface="Poppins"/>
              </a:rPr>
              <a:t>Research Question</a:t>
            </a:r>
          </a:p>
        </p:txBody>
      </p:sp>
    </p:spTree>
    <p:extLst>
      <p:ext uri="{BB962C8B-B14F-4D97-AF65-F5344CB8AC3E}">
        <p14:creationId xmlns:p14="http://schemas.microsoft.com/office/powerpoint/2010/main" val="26653998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 txBox="1">
            <a:spLocks noGrp="1"/>
          </p:cNvSpPr>
          <p:nvPr>
            <p:ph type="body" idx="1"/>
          </p:nvPr>
        </p:nvSpPr>
        <p:spPr>
          <a:xfrm>
            <a:off x="325100" y="1346063"/>
            <a:ext cx="4246900" cy="32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GNN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推薦系統聚焦於個人偏好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01600" lvl="0" indent="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群組推薦採用簡單偏好聚合策略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01600" lvl="0" indent="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忽略群組成員間的社交影響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01600" lvl="0" indent="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無法處理群組組成動態變化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</p:txBody>
      </p:sp>
      <p:sp>
        <p:nvSpPr>
          <p:cNvPr id="70" name="Google Shape;70;p9"/>
          <p:cNvSpPr txBox="1">
            <a:spLocks noGrp="1"/>
          </p:cNvSpPr>
          <p:nvPr>
            <p:ph type="body" idx="2"/>
          </p:nvPr>
        </p:nvSpPr>
        <p:spPr>
          <a:xfrm>
            <a:off x="4870698" y="1346063"/>
            <a:ext cx="4136502" cy="32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建立動態群組偏好建模機制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01600" lvl="0" indent="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捕捉群組成員間的社交影響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01600" lvl="0" indent="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支援群組組成變化的即時更新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01600" lvl="0" indent="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提升群組推薦滿意度</a:t>
            </a:r>
          </a:p>
        </p:txBody>
      </p:sp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As-Is To-Be</a:t>
            </a:r>
            <a:endParaRPr sz="20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</p:txBody>
      </p:sp>
      <p:sp>
        <p:nvSpPr>
          <p:cNvPr id="72" name="Google Shape;72;p9"/>
          <p:cNvSpPr txBox="1"/>
          <p:nvPr/>
        </p:nvSpPr>
        <p:spPr>
          <a:xfrm>
            <a:off x="626350" y="832086"/>
            <a:ext cx="3644400" cy="513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1600" marR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T Serif"/>
              <a:buNone/>
            </a:pPr>
            <a:r>
              <a:rPr lang="en-US" sz="1800" b="1" i="0" u="sng" strike="noStrike" cap="none" dirty="0">
                <a:solidFill>
                  <a:schemeClr val="dk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cs typeface="PT Serif"/>
                <a:sym typeface="PT Serif"/>
              </a:rPr>
              <a:t>#As-Is</a:t>
            </a:r>
            <a:endParaRPr sz="1800" b="1" i="0" u="sng" strike="noStrike" cap="none" dirty="0">
              <a:solidFill>
                <a:schemeClr val="dk1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cs typeface="PT Serif"/>
              <a:sym typeface="PT Serif"/>
            </a:endParaRPr>
          </a:p>
        </p:txBody>
      </p:sp>
      <p:sp>
        <p:nvSpPr>
          <p:cNvPr id="73" name="Google Shape;73;p9"/>
          <p:cNvSpPr txBox="1"/>
          <p:nvPr/>
        </p:nvSpPr>
        <p:spPr>
          <a:xfrm>
            <a:off x="4870698" y="832086"/>
            <a:ext cx="3644400" cy="513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1600" marR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T Serif"/>
              <a:buNone/>
            </a:pPr>
            <a:r>
              <a:rPr lang="en-US" sz="1800" b="1" i="0" u="sng" strike="noStrike" cap="none" dirty="0">
                <a:solidFill>
                  <a:schemeClr val="dk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cs typeface="PT Serif"/>
                <a:sym typeface="PT Serif"/>
              </a:rPr>
              <a:t>#To-Be</a:t>
            </a:r>
            <a:endParaRPr sz="1800" b="1" i="0" u="sng" strike="noStrike" cap="none" dirty="0">
              <a:solidFill>
                <a:schemeClr val="dk1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cs typeface="PT Serif"/>
              <a:sym typeface="PT Serif"/>
            </a:endParaRPr>
          </a:p>
        </p:txBody>
      </p:sp>
    </p:spTree>
    <p:extLst>
      <p:ext uri="{BB962C8B-B14F-4D97-AF65-F5344CB8AC3E}">
        <p14:creationId xmlns:p14="http://schemas.microsoft.com/office/powerpoint/2010/main" val="367702688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>
            <a:spLocks noGrp="1"/>
          </p:cNvSpPr>
          <p:nvPr>
            <p:ph type="body" idx="1"/>
          </p:nvPr>
        </p:nvSpPr>
        <p:spPr>
          <a:xfrm>
            <a:off x="-165600" y="906448"/>
            <a:ext cx="9309600" cy="4237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en-US" altLang="zh-TW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1. </a:t>
            </a:r>
            <a:r>
              <a:rPr lang="zh-TW" altLang="en-US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群組推薦基準資料集：</a:t>
            </a:r>
            <a:endParaRPr lang="en-US" altLang="zh-TW" sz="14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zh-TW" altLang="en-US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 </a:t>
            </a:r>
            <a:r>
              <a:rPr lang="en-US" altLang="zh-TW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CAMRa2011</a:t>
            </a:r>
            <a:r>
              <a:rPr lang="zh-TW" altLang="en-US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：</a:t>
            </a:r>
            <a:r>
              <a:rPr lang="en-US" altLang="zh-TW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  <a:hlinkClick r:id="rId3"/>
              </a:rPr>
              <a:t>http://www.cs.toronto.edu/~lcharlin/camra2011/</a:t>
            </a:r>
            <a:r>
              <a:rPr lang="en-US" altLang="zh-TW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(</a:t>
            </a:r>
            <a:r>
              <a:rPr lang="zh-TW" altLang="en-US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餐廳群組推薦</a:t>
            </a:r>
            <a:r>
              <a:rPr lang="en-US" altLang="zh-TW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)</a:t>
            </a: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en-US" altLang="zh-TW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Yelp Open Dataset</a:t>
            </a:r>
            <a:r>
              <a:rPr lang="zh-TW" altLang="en-US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：</a:t>
            </a:r>
            <a:r>
              <a:rPr lang="en-US" altLang="zh-TW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  <a:hlinkClick r:id="rId4"/>
              </a:rPr>
              <a:t>https://www.yelp.com/dataset</a:t>
            </a:r>
            <a:r>
              <a:rPr lang="en-US" altLang="zh-TW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(</a:t>
            </a:r>
            <a:r>
              <a:rPr lang="zh-TW" altLang="en-US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可用於構建群組餐廳推薦</a:t>
            </a:r>
            <a:r>
              <a:rPr lang="en-US" altLang="zh-TW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)</a:t>
            </a:r>
          </a:p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en-US" altLang="zh-TW" sz="14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2</a:t>
            </a:r>
            <a:r>
              <a:rPr lang="en-US" altLang="zh-TW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.</a:t>
            </a:r>
            <a:r>
              <a:rPr lang="zh-TW" altLang="en-US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社交網路資料：</a:t>
            </a:r>
            <a:endParaRPr lang="en-US" altLang="zh-TW" sz="14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zh-TW" altLang="en-US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 </a:t>
            </a:r>
            <a:r>
              <a:rPr lang="en-US" altLang="zh-TW" sz="1400" b="0" i="0" dirty="0" err="1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Douban</a:t>
            </a:r>
            <a:r>
              <a:rPr lang="zh-TW" altLang="en-US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：</a:t>
            </a:r>
            <a:r>
              <a:rPr lang="en-US" altLang="zh-TW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 </a:t>
            </a:r>
            <a:r>
              <a:rPr lang="en-US" altLang="zh-TW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  <a:hlinkClick r:id="rId5"/>
              </a:rPr>
              <a:t>https://www.cse.cuhk.edu.hk/irwin.king.new/pub/data/douban</a:t>
            </a:r>
            <a:r>
              <a:rPr lang="zh-TW" altLang="en-US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 </a:t>
            </a:r>
            <a:r>
              <a:rPr lang="en-US" altLang="zh-TW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(</a:t>
            </a:r>
            <a:r>
              <a:rPr lang="zh-TW" altLang="en-US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社交</a:t>
            </a:r>
            <a:r>
              <a:rPr lang="en-US" altLang="zh-TW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+</a:t>
            </a:r>
            <a:r>
              <a:rPr lang="zh-TW" altLang="en-US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評分</a:t>
            </a:r>
            <a:r>
              <a:rPr lang="en-US" altLang="zh-TW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)</a:t>
            </a: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en-US" altLang="zh-TW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Meetup</a:t>
            </a:r>
            <a:r>
              <a:rPr lang="zh-TW" altLang="en-US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：</a:t>
            </a:r>
            <a:r>
              <a:rPr lang="en-US" altLang="zh-TW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 </a:t>
            </a:r>
            <a:r>
              <a:rPr lang="en-US" altLang="zh-TW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  <a:hlinkClick r:id="rId6"/>
              </a:rPr>
              <a:t>https://www.kaggle.com/datasets/sirpunch/meetups-data-from-meetupcom</a:t>
            </a:r>
            <a:r>
              <a:rPr lang="zh-TW" altLang="en-US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 </a:t>
            </a:r>
            <a:r>
              <a:rPr lang="en-US" altLang="zh-TW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(</a:t>
            </a:r>
            <a:r>
              <a:rPr lang="zh-TW" altLang="en-US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群組活動資料</a:t>
            </a:r>
            <a:r>
              <a:rPr lang="en-US" altLang="zh-TW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)</a:t>
            </a:r>
          </a:p>
          <a:p>
            <a:pPr marL="990600" lvl="2" indent="0" algn="just">
              <a:spcBef>
                <a:spcPts val="400"/>
              </a:spcBef>
              <a:buClr>
                <a:srgbClr val="00B0F0"/>
              </a:buClr>
              <a:buSzPts val="1400"/>
              <a:buNone/>
            </a:pP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4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4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4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990600" lvl="2" indent="0" algn="just">
              <a:spcBef>
                <a:spcPts val="400"/>
              </a:spcBef>
              <a:buClr>
                <a:srgbClr val="00B0F0"/>
              </a:buClr>
              <a:buSzPts val="1400"/>
              <a:buNone/>
            </a:pP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990600" lvl="2" indent="0" algn="just">
              <a:spcBef>
                <a:spcPts val="400"/>
              </a:spcBef>
              <a:buClr>
                <a:srgbClr val="00B0F0"/>
              </a:buClr>
              <a:buSzPts val="1400"/>
              <a:buNone/>
            </a:pP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4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990600" lvl="2" indent="0" algn="just">
              <a:spcBef>
                <a:spcPts val="400"/>
              </a:spcBef>
              <a:buClr>
                <a:srgbClr val="00B0F0"/>
              </a:buClr>
              <a:buSzPts val="1400"/>
              <a:buNone/>
            </a:pPr>
            <a:r>
              <a:rPr lang="en-US" altLang="zh-TW" sz="14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	</a:t>
            </a:r>
            <a:r>
              <a:rPr lang="en-US" altLang="zh-TW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	</a:t>
            </a:r>
            <a:endParaRPr lang="en-US" sz="1400" dirty="0">
              <a:solidFill>
                <a:srgbClr val="FF0000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sym typeface="PT Serif"/>
            </a:endParaRPr>
          </a:p>
        </p:txBody>
      </p:sp>
      <p:sp>
        <p:nvSpPr>
          <p:cNvPr id="64" name="Google Shape;64;p8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Poppins"/>
                <a:sym typeface="Poppins"/>
              </a:rPr>
              <a:t>Dataset</a:t>
            </a:r>
          </a:p>
        </p:txBody>
      </p:sp>
    </p:spTree>
    <p:extLst>
      <p:ext uri="{BB962C8B-B14F-4D97-AF65-F5344CB8AC3E}">
        <p14:creationId xmlns:p14="http://schemas.microsoft.com/office/powerpoint/2010/main" val="250229983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Poppins"/>
                <a:sym typeface="Poppins"/>
              </a:rPr>
              <a:t>Framework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Poppins"/>
              <a:sym typeface="Poppins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24D55D7-A6A8-40E5-AAF0-AB4DAED1D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1409" y="1140352"/>
            <a:ext cx="5265639" cy="319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9409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Poppins"/>
                <a:ea typeface="Poppins"/>
                <a:cs typeface="Poppins"/>
                <a:sym typeface="Poppins"/>
              </a:rPr>
              <a:t>Overview</a:t>
            </a:r>
            <a:endParaRPr sz="20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>
            <a:off x="617100" y="970575"/>
            <a:ext cx="7909800" cy="4059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33400" lvl="1" indent="0">
              <a:spcBef>
                <a:spcPts val="600"/>
              </a:spcBef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相關論文研究現狀：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   現有群組推薦使用簡單平均策略，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GNN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推薦研究主要聚焦個人層級，缺乏群組動態建模機制。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發現問題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:</a:t>
            </a: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現有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GNN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推薦研究忽略群組情境，簡單平均策略無法反映社交影響。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66506718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Poppins"/>
                <a:ea typeface="Poppins"/>
                <a:cs typeface="Poppins"/>
                <a:sym typeface="Poppins"/>
              </a:rPr>
              <a:t>Overview</a:t>
            </a:r>
            <a:endParaRPr sz="20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>
            <a:off x="617100" y="1269863"/>
            <a:ext cx="7909800" cy="3760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33400" lvl="1" indent="0">
              <a:spcBef>
                <a:spcPts val="600"/>
              </a:spcBef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提出的解決方法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:</a:t>
            </a: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提出時序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GNN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架構，整合注意力機制建模成員影響力動態變化。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>
              <a:spcBef>
                <a:spcPts val="600"/>
              </a:spcBef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>
              <a:spcBef>
                <a:spcPts val="600"/>
              </a:spcBef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研究貢獻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:</a:t>
            </a:r>
          </a:p>
          <a:p>
            <a:pPr marL="533400" lvl="1" indent="0">
              <a:spcBef>
                <a:spcPts val="600"/>
              </a:spcBef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       首次將時序圖神經網路應用於群組推薦，實現動態群組建模與社交影響力識別，優化整體滿意度而非簡單平均。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0825307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Poppins"/>
                <a:ea typeface="Poppins"/>
                <a:cs typeface="Poppins"/>
                <a:sym typeface="Poppins"/>
              </a:rPr>
              <a:t>Reference</a:t>
            </a:r>
            <a:endParaRPr sz="20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>
            <a:off x="617100" y="768974"/>
            <a:ext cx="7909800" cy="437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  <a:hlinkClick r:id="rId3"/>
              </a:rPr>
              <a:t>https://arxiv.org/abs/2104.07368</a:t>
            </a: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  <a:hlinkClick r:id="rId4"/>
              </a:rPr>
              <a:t>https://ieeexplore.ieee.org/document/10870189/</a:t>
            </a: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  <a:hlinkClick r:id="rId5"/>
              </a:rPr>
              <a:t>https://www.semanticscholar.org/paper/3443efc855cebd17d1512d1a703b6e9ee2e4da8b</a:t>
            </a: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  <a:hlinkClick r:id="rId6"/>
              </a:rPr>
              <a:t>https://arxiv.org/abs/2407.10240</a:t>
            </a: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  <a:hlinkClick r:id="rId7"/>
              </a:rPr>
              <a:t>http://www.cs.toronto.edu/~lcharlin/camra2011/</a:t>
            </a: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40781744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Google Shape;57;p7"/>
          <p:cNvCxnSpPr/>
          <p:nvPr/>
        </p:nvCxnSpPr>
        <p:spPr>
          <a:xfrm rot="10800000">
            <a:off x="2588100" y="3488719"/>
            <a:ext cx="3967800" cy="0"/>
          </a:xfrm>
          <a:prstGeom prst="straightConnector1">
            <a:avLst/>
          </a:prstGeom>
          <a:noFill/>
          <a:ln w="9525" cap="flat" cmpd="sng">
            <a:solidFill>
              <a:srgbClr val="1C1C19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8" name="Google Shape;58;p7"/>
          <p:cNvSpPr txBox="1"/>
          <p:nvPr/>
        </p:nvSpPr>
        <p:spPr>
          <a:xfrm>
            <a:off x="770400" y="669603"/>
            <a:ext cx="7603200" cy="2480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zh-TW" altLang="en-US" sz="40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協同過濾增強的 </a:t>
            </a:r>
            <a:r>
              <a:rPr lang="en-US" altLang="zh-TW" sz="40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LLM</a:t>
            </a:r>
          </a:p>
          <a:p>
            <a:pPr algn="ctr"/>
            <a:r>
              <a:rPr lang="en-US" altLang="zh-TW" sz="40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 </a:t>
            </a:r>
            <a:r>
              <a:rPr lang="zh-TW" altLang="en-US" sz="40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對話式推薦冷啟動</a:t>
            </a:r>
          </a:p>
        </p:txBody>
      </p:sp>
    </p:spTree>
    <p:extLst>
      <p:ext uri="{BB962C8B-B14F-4D97-AF65-F5344CB8AC3E}">
        <p14:creationId xmlns:p14="http://schemas.microsoft.com/office/powerpoint/2010/main" val="356184404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>
            <a:spLocks noGrp="1"/>
          </p:cNvSpPr>
          <p:nvPr>
            <p:ph type="body" idx="1"/>
          </p:nvPr>
        </p:nvSpPr>
        <p:spPr>
          <a:xfrm>
            <a:off x="-165600" y="906449"/>
            <a:ext cx="9144000" cy="38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en-US" altLang="zh-TW" sz="1800" dirty="0">
                <a:solidFill>
                  <a:schemeClr val="tx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sym typeface="PT Serif"/>
              </a:rPr>
              <a:t>CRAG (2024) </a:t>
            </a:r>
            <a:r>
              <a:rPr lang="zh-TW" altLang="en-US" sz="1800" dirty="0">
                <a:solidFill>
                  <a:schemeClr val="tx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sym typeface="PT Serif"/>
              </a:rPr>
              <a:t>整合協同過濾和 </a:t>
            </a:r>
            <a:r>
              <a:rPr lang="en-US" altLang="zh-TW" sz="1800" dirty="0">
                <a:solidFill>
                  <a:schemeClr val="tx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sym typeface="PT Serif"/>
              </a:rPr>
              <a:t>LLM </a:t>
            </a:r>
            <a:r>
              <a:rPr lang="zh-TW" altLang="en-US" sz="1800" dirty="0">
                <a:solidFill>
                  <a:schemeClr val="tx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sym typeface="PT Serif"/>
              </a:rPr>
              <a:t>的對話式推薦系統。但對於完全新用戶（沒有任何歷史記錄），系統只能透過多輪問答來了解偏好。</a:t>
            </a:r>
            <a:endParaRPr lang="en-US" altLang="zh-TW" sz="1800" dirty="0">
              <a:solidFill>
                <a:schemeClr val="tx1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sym typeface="PT Serif"/>
            </a:endParaRPr>
          </a:p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800" dirty="0">
              <a:solidFill>
                <a:schemeClr val="tx1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sym typeface="PT Serif"/>
            </a:endParaRPr>
          </a:p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zh-TW" altLang="en-US" sz="1800" dirty="0">
                <a:solidFill>
                  <a:schemeClr val="tx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sym typeface="PT Serif"/>
              </a:rPr>
              <a:t>問題是：用戶可能不耐煩，前幾輪推薦準確度很低。</a:t>
            </a:r>
            <a:endParaRPr lang="en-US" altLang="zh-TW" sz="1800" dirty="0">
              <a:solidFill>
                <a:schemeClr val="tx1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sym typeface="PT Serif"/>
            </a:endParaRPr>
          </a:p>
          <a:p>
            <a:pPr marL="533400" lvl="1" indent="0" algn="just">
              <a:spcBef>
                <a:spcPts val="400"/>
              </a:spcBef>
              <a:buClr>
                <a:srgbClr val="00B0F0"/>
              </a:buClr>
              <a:buSzPts val="1400"/>
              <a:buNone/>
            </a:pPr>
            <a:r>
              <a:rPr lang="zh-TW" altLang="en-US" sz="1800" dirty="0">
                <a:solidFill>
                  <a:schemeClr val="tx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sym typeface="PT Serif"/>
              </a:rPr>
              <a:t> </a:t>
            </a:r>
            <a:endParaRPr lang="en-US" altLang="zh-TW" sz="1800" dirty="0">
              <a:solidFill>
                <a:schemeClr val="tx1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sym typeface="PT Serif"/>
            </a:endParaRPr>
          </a:p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zh-TW" altLang="en-US" sz="1800" dirty="0">
                <a:solidFill>
                  <a:schemeClr val="tx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sym typeface="PT Serif"/>
              </a:rPr>
              <a:t>延伸方向：如何在最少對話輪次內，快速建立準確的用戶畫像？這涉及「智能問題選擇」</a:t>
            </a:r>
            <a:r>
              <a:rPr lang="en-US" altLang="zh-TW" sz="1800" dirty="0">
                <a:solidFill>
                  <a:schemeClr val="tx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sym typeface="PT Serif"/>
              </a:rPr>
              <a:t>——</a:t>
            </a:r>
            <a:r>
              <a:rPr lang="zh-TW" altLang="en-US" sz="1800" dirty="0">
                <a:solidFill>
                  <a:schemeClr val="tx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sym typeface="PT Serif"/>
              </a:rPr>
              <a:t>問「信息量最大」的問題。</a:t>
            </a:r>
            <a:endParaRPr lang="en-US" sz="1800" dirty="0">
              <a:solidFill>
                <a:schemeClr val="tx1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sym typeface="PT Serif"/>
            </a:endParaRPr>
          </a:p>
        </p:txBody>
      </p:sp>
      <p:sp>
        <p:nvSpPr>
          <p:cNvPr id="64" name="Google Shape;64;p8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  <a:cs typeface="Poppins"/>
                <a:sym typeface="Poppins"/>
              </a:rPr>
              <a:t>Research Background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51187883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>
            <a:spLocks noGrp="1"/>
          </p:cNvSpPr>
          <p:nvPr>
            <p:ph type="body" idx="1"/>
          </p:nvPr>
        </p:nvSpPr>
        <p:spPr>
          <a:xfrm>
            <a:off x="0" y="970575"/>
            <a:ext cx="9144000" cy="38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zh-TW" altLang="en-US" sz="18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研究問題</a:t>
            </a:r>
            <a:r>
              <a:rPr lang="en-US" altLang="zh-TW" sz="18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:</a:t>
            </a: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zh-TW" altLang="en-US" sz="18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   如何量化「問題的信息價值」並選擇最大化信息獲取的問題？在有限輪次內如何平衡「探索新偏好」和「利用已知信息推薦」？如何從對話的語氣、停頓、用詞中推斷偏好強度加速用戶建模？</a:t>
            </a:r>
            <a:endParaRPr lang="en-US" altLang="zh-TW" sz="18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</p:txBody>
      </p:sp>
      <p:sp>
        <p:nvSpPr>
          <p:cNvPr id="64" name="Google Shape;64;p8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Poppins"/>
                <a:sym typeface="Poppins"/>
              </a:rPr>
              <a:t>Research Question</a:t>
            </a:r>
          </a:p>
        </p:txBody>
      </p:sp>
    </p:spTree>
    <p:extLst>
      <p:ext uri="{BB962C8B-B14F-4D97-AF65-F5344CB8AC3E}">
        <p14:creationId xmlns:p14="http://schemas.microsoft.com/office/powerpoint/2010/main" val="276371413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 txBox="1">
            <a:spLocks noGrp="1"/>
          </p:cNvSpPr>
          <p:nvPr>
            <p:ph type="body" idx="1"/>
          </p:nvPr>
        </p:nvSpPr>
        <p:spPr>
          <a:xfrm>
            <a:off x="325100" y="1346063"/>
            <a:ext cx="4246900" cy="32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冷啟動用戶需要回答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5-10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個問題才能得到合理推薦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系統可能問重複或低價值的問題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初期推薦準確度低，用戶體驗差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</p:txBody>
      </p:sp>
      <p:sp>
        <p:nvSpPr>
          <p:cNvPr id="70" name="Google Shape;70;p9"/>
          <p:cNvSpPr txBox="1">
            <a:spLocks noGrp="1"/>
          </p:cNvSpPr>
          <p:nvPr>
            <p:ph type="body" idx="2"/>
          </p:nvPr>
        </p:nvSpPr>
        <p:spPr>
          <a:xfrm>
            <a:off x="4870698" y="1346063"/>
            <a:ext cx="4136502" cy="32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2-3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輪對話就能捕捉核心偏好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每個問題都經過優化，最大化信息獲取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從用戶的隱式反饋中學習（停頓、猶豫等）</a:t>
            </a:r>
          </a:p>
        </p:txBody>
      </p:sp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As-Is To-Be</a:t>
            </a:r>
            <a:endParaRPr sz="20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</p:txBody>
      </p:sp>
      <p:sp>
        <p:nvSpPr>
          <p:cNvPr id="72" name="Google Shape;72;p9"/>
          <p:cNvSpPr txBox="1"/>
          <p:nvPr/>
        </p:nvSpPr>
        <p:spPr>
          <a:xfrm>
            <a:off x="626350" y="832086"/>
            <a:ext cx="3644400" cy="513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1600" marR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T Serif"/>
              <a:buNone/>
            </a:pPr>
            <a:r>
              <a:rPr lang="en-US" sz="1800" b="1" i="0" u="sng" strike="noStrike" cap="none" dirty="0">
                <a:solidFill>
                  <a:schemeClr val="dk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cs typeface="PT Serif"/>
                <a:sym typeface="PT Serif"/>
              </a:rPr>
              <a:t>#As-Is</a:t>
            </a:r>
            <a:endParaRPr sz="1800" b="1" i="0" u="sng" strike="noStrike" cap="none" dirty="0">
              <a:solidFill>
                <a:schemeClr val="dk1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cs typeface="PT Serif"/>
              <a:sym typeface="PT Serif"/>
            </a:endParaRPr>
          </a:p>
        </p:txBody>
      </p:sp>
      <p:sp>
        <p:nvSpPr>
          <p:cNvPr id="73" name="Google Shape;73;p9"/>
          <p:cNvSpPr txBox="1"/>
          <p:nvPr/>
        </p:nvSpPr>
        <p:spPr>
          <a:xfrm>
            <a:off x="4870698" y="832086"/>
            <a:ext cx="3644400" cy="513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1600" marR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T Serif"/>
              <a:buNone/>
            </a:pPr>
            <a:r>
              <a:rPr lang="en-US" sz="1800" b="1" i="0" u="sng" strike="noStrike" cap="none" dirty="0">
                <a:solidFill>
                  <a:schemeClr val="dk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cs typeface="PT Serif"/>
                <a:sym typeface="PT Serif"/>
              </a:rPr>
              <a:t>#To-Be</a:t>
            </a:r>
            <a:endParaRPr sz="1800" b="1" i="0" u="sng" strike="noStrike" cap="none" dirty="0">
              <a:solidFill>
                <a:schemeClr val="dk1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cs typeface="PT Serif"/>
              <a:sym typeface="PT Serif"/>
            </a:endParaRPr>
          </a:p>
        </p:txBody>
      </p:sp>
    </p:spTree>
    <p:extLst>
      <p:ext uri="{BB962C8B-B14F-4D97-AF65-F5344CB8AC3E}">
        <p14:creationId xmlns:p14="http://schemas.microsoft.com/office/powerpoint/2010/main" val="359127550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>
            <a:spLocks noGrp="1"/>
          </p:cNvSpPr>
          <p:nvPr>
            <p:ph type="body" idx="1"/>
          </p:nvPr>
        </p:nvSpPr>
        <p:spPr>
          <a:xfrm>
            <a:off x="-165600" y="906448"/>
            <a:ext cx="9309600" cy="4237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en-US" altLang="zh-TW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1. </a:t>
            </a:r>
            <a:r>
              <a:rPr lang="en-US" altLang="zh-TW" sz="1400" b="0" i="0" dirty="0" err="1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GroupLens</a:t>
            </a:r>
            <a:r>
              <a:rPr lang="en-US" altLang="zh-TW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 </a:t>
            </a:r>
            <a:r>
              <a:rPr lang="en-US" altLang="zh-TW" sz="1400" b="0" i="0" dirty="0" err="1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MovieLens</a:t>
            </a:r>
            <a:r>
              <a:rPr lang="en-US" altLang="zh-TW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 </a:t>
            </a:r>
            <a:r>
              <a:rPr lang="zh-TW" altLang="en-US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官方網站（電影互動）</a:t>
            </a:r>
            <a:endParaRPr lang="en-US" altLang="zh-TW" sz="14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en-US" altLang="zh-TW" sz="14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2. Kaggle / UCSD Amazon Product Review </a:t>
            </a:r>
            <a:r>
              <a:rPr lang="zh-TW" altLang="en-US" sz="14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公開資料（電商互動）</a:t>
            </a: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en-US" altLang="zh-TW" sz="14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3.</a:t>
            </a:r>
            <a:r>
              <a:rPr lang="zh-TW" altLang="en-US" sz="14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 </a:t>
            </a:r>
            <a:r>
              <a:rPr lang="en-US" altLang="zh-TW" sz="14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Yelp / </a:t>
            </a:r>
            <a:r>
              <a:rPr lang="zh-TW" altLang="en-US" sz="14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對話式推薦公開資料集（例如 </a:t>
            </a:r>
            <a:r>
              <a:rPr lang="en-US" altLang="zh-TW" sz="1400" dirty="0" err="1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ReDial</a:t>
            </a:r>
            <a:r>
              <a:rPr lang="zh-TW" altLang="en-US" sz="14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）作為對話與評論文本來源</a:t>
            </a: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en-US" altLang="zh-TW" sz="1400" dirty="0">
                <a:latin typeface="Adobe 繁黑體 Std B" panose="020B0700000000000000" pitchFamily="34" charset="-128"/>
                <a:ea typeface="Adobe 繁黑體 Std B" panose="020B0700000000000000" pitchFamily="34" charset="-128"/>
                <a:hlinkClick r:id="rId3"/>
              </a:rPr>
              <a:t>https://arxiv.org/html/2404.11343v1</a:t>
            </a: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en-US" altLang="zh-TW" sz="1400" dirty="0">
                <a:latin typeface="Adobe 繁黑體 Std B" panose="020B0700000000000000" pitchFamily="34" charset="-128"/>
                <a:ea typeface="Adobe 繁黑體 Std B" panose="020B0700000000000000" pitchFamily="34" charset="-128"/>
                <a:hlinkClick r:id="rId4"/>
              </a:rPr>
              <a:t>https://github.com/D3Mlab/llm-convrec</a:t>
            </a: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en-US" altLang="zh-TW" sz="1400" dirty="0">
                <a:latin typeface="Adobe 繁黑體 Std B" panose="020B0700000000000000" pitchFamily="34" charset="-128"/>
                <a:ea typeface="Adobe 繁黑體 Std B" panose="020B0700000000000000" pitchFamily="34" charset="-128"/>
                <a:hlinkClick r:id="rId5"/>
              </a:rPr>
              <a:t>https://ssanner.github.io/papers/recsys24_pebol.pdf</a:t>
            </a: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en-US" altLang="zh-TW" sz="1400" dirty="0">
                <a:latin typeface="Adobe 繁黑體 Std B" panose="020B0700000000000000" pitchFamily="34" charset="-128"/>
                <a:ea typeface="Adobe 繁黑體 Std B" panose="020B0700000000000000" pitchFamily="34" charset="-128"/>
                <a:hlinkClick r:id="rId6"/>
              </a:rPr>
              <a:t>https://arxiv.org/abs/2404.11343</a:t>
            </a: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en-US" altLang="zh-TW" sz="1400" dirty="0">
                <a:latin typeface="Adobe 繁黑體 Std B" panose="020B0700000000000000" pitchFamily="34" charset="-128"/>
                <a:ea typeface="Adobe 繁黑體 Std B" panose="020B0700000000000000" pitchFamily="34" charset="-128"/>
                <a:hlinkClick r:id="rId7"/>
              </a:rPr>
              <a:t>https://arxiv.org/html/2510.01606v1</a:t>
            </a: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4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4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4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990600" lvl="2" indent="0" algn="just">
              <a:spcBef>
                <a:spcPts val="400"/>
              </a:spcBef>
              <a:buClr>
                <a:srgbClr val="00B0F0"/>
              </a:buClr>
              <a:buSzPts val="1400"/>
              <a:buNone/>
            </a:pP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990600" lvl="2" indent="0" algn="just">
              <a:spcBef>
                <a:spcPts val="400"/>
              </a:spcBef>
              <a:buClr>
                <a:srgbClr val="00B0F0"/>
              </a:buClr>
              <a:buSzPts val="1400"/>
              <a:buNone/>
            </a:pP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276350" lvl="2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4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990600" lvl="2" indent="0" algn="just">
              <a:spcBef>
                <a:spcPts val="400"/>
              </a:spcBef>
              <a:buClr>
                <a:srgbClr val="00B0F0"/>
              </a:buClr>
              <a:buSzPts val="1400"/>
              <a:buNone/>
            </a:pPr>
            <a:r>
              <a:rPr lang="en-US" altLang="zh-TW" sz="14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	</a:t>
            </a:r>
            <a:r>
              <a:rPr lang="en-US" altLang="zh-TW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	</a:t>
            </a:r>
            <a:endParaRPr lang="en-US" sz="1400" dirty="0">
              <a:solidFill>
                <a:srgbClr val="FF0000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sym typeface="PT Serif"/>
            </a:endParaRPr>
          </a:p>
        </p:txBody>
      </p:sp>
      <p:sp>
        <p:nvSpPr>
          <p:cNvPr id="64" name="Google Shape;64;p8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Poppins"/>
                <a:sym typeface="Poppins"/>
              </a:rPr>
              <a:t>Dataset</a:t>
            </a:r>
          </a:p>
        </p:txBody>
      </p:sp>
    </p:spTree>
    <p:extLst>
      <p:ext uri="{BB962C8B-B14F-4D97-AF65-F5344CB8AC3E}">
        <p14:creationId xmlns:p14="http://schemas.microsoft.com/office/powerpoint/2010/main" val="87156533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Poppins"/>
                <a:sym typeface="Poppins"/>
              </a:rPr>
              <a:t>Framework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Poppins"/>
              <a:sym typeface="Poppins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A0C586B-D3EA-4558-A5AF-457244EB40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354" y="1141218"/>
            <a:ext cx="5898587" cy="345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13583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Poppins"/>
                <a:ea typeface="Poppins"/>
                <a:cs typeface="Poppins"/>
                <a:sym typeface="Poppins"/>
              </a:rPr>
              <a:t>Overview</a:t>
            </a:r>
            <a:endParaRPr sz="20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>
            <a:off x="617100" y="970575"/>
            <a:ext cx="7909800" cy="4059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33400" lvl="1" indent="0">
              <a:spcBef>
                <a:spcPts val="600"/>
              </a:spcBef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相關論文研究現狀：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    </a:t>
            </a:r>
            <a:r>
              <a:rPr lang="en-US" altLang="zh-TW" sz="1600" dirty="0" err="1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ConTS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 (2020)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統一處理「問什麼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/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推薦什麼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/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何時問」基於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Thompson Sampling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優於 </a:t>
            </a:r>
            <a:r>
              <a:rPr lang="en-US" altLang="zh-TW" sz="1600" dirty="0" err="1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ConUCB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和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EAR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，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CRAG (2024)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首次整合協同過濾和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LLM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的對話式推薦系統使用檢索增強生成，但冷啟動仍需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5-10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輪對話且用戶可能第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3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輪流失。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>
              <a:spcBef>
                <a:spcPts val="600"/>
              </a:spcBef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發現問題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:</a:t>
            </a:r>
          </a:p>
          <a:p>
            <a:pPr marL="533400" lvl="1" indent="0">
              <a:spcBef>
                <a:spcPts val="600"/>
              </a:spcBef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   問題質量不一（重複或低價值），隱式反饋（停頓、語氣變化）未被利用，初期推薦準確度低導致用戶體驗差。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40870077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Poppins"/>
                <a:ea typeface="Poppins"/>
                <a:cs typeface="Poppins"/>
                <a:sym typeface="Poppins"/>
              </a:rPr>
              <a:t>Overview</a:t>
            </a:r>
            <a:endParaRPr sz="20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>
            <a:off x="617100" y="770400"/>
            <a:ext cx="7909800" cy="43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33400" lvl="1" indent="0">
              <a:spcBef>
                <a:spcPts val="600"/>
              </a:spcBef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>
              <a:spcBef>
                <a:spcPts val="600"/>
              </a:spcBef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提出的解決方法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:</a:t>
            </a:r>
          </a:p>
          <a:p>
            <a:pPr marL="533400" lvl="1" indent="0">
              <a:spcBef>
                <a:spcPts val="600"/>
              </a:spcBef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      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Thompson Sampling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動態生成問題池；信息增益排序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+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多樣性約束；隱式反饋捕捉（語氣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/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詳細度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/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停頓）；協同過濾快速插補。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>
              <a:spcBef>
                <a:spcPts val="600"/>
              </a:spcBef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>
              <a:spcBef>
                <a:spcPts val="600"/>
              </a:spcBef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研究貢獻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:</a:t>
            </a:r>
          </a:p>
          <a:p>
            <a:pPr marL="533400" lvl="1" indent="0">
              <a:spcBef>
                <a:spcPts val="600"/>
              </a:spcBef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   問題選擇信息論框架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+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隱式反饋模型；對話輪次↓至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2-3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輪、準確率↑至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65%+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、滿意度↑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30%+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、流失率↓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40%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。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30449882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Poppins"/>
                <a:ea typeface="Poppins"/>
                <a:cs typeface="Poppins"/>
                <a:sym typeface="Poppins"/>
              </a:rPr>
              <a:t>Reference</a:t>
            </a:r>
            <a:endParaRPr sz="20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>
            <a:off x="617100" y="768974"/>
            <a:ext cx="7909800" cy="437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  <a:hlinkClick r:id="rId3"/>
              </a:rPr>
              <a:t>https://arxiv.org/abs/2502.14137</a:t>
            </a: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  <a:hlinkClick r:id="rId4"/>
              </a:rPr>
              <a:t>https://github.com/D3Mlab/llm-convrec</a:t>
            </a: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68904067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Poppins"/>
                <a:ea typeface="Poppins"/>
                <a:cs typeface="Poppins"/>
                <a:sym typeface="Poppins"/>
              </a:rPr>
              <a:t>Overview of research topics</a:t>
            </a:r>
            <a:endParaRPr sz="2000" dirty="0"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A6F3B766-33C2-4A07-81F7-33A384BA5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5366130"/>
              </p:ext>
            </p:extLst>
          </p:nvPr>
        </p:nvGraphicFramePr>
        <p:xfrm>
          <a:off x="1283192" y="1198001"/>
          <a:ext cx="7009617" cy="3214686"/>
        </p:xfrm>
        <a:graphic>
          <a:graphicData uri="http://schemas.openxmlformats.org/drawingml/2006/table">
            <a:tbl>
              <a:tblPr/>
              <a:tblGrid>
                <a:gridCol w="2336539">
                  <a:extLst>
                    <a:ext uri="{9D8B030D-6E8A-4147-A177-3AD203B41FA5}">
                      <a16:colId xmlns:a16="http://schemas.microsoft.com/office/drawing/2014/main" val="2611381522"/>
                    </a:ext>
                  </a:extLst>
                </a:gridCol>
                <a:gridCol w="2336539">
                  <a:extLst>
                    <a:ext uri="{9D8B030D-6E8A-4147-A177-3AD203B41FA5}">
                      <a16:colId xmlns:a16="http://schemas.microsoft.com/office/drawing/2014/main" val="3520213205"/>
                    </a:ext>
                  </a:extLst>
                </a:gridCol>
                <a:gridCol w="2336539">
                  <a:extLst>
                    <a:ext uri="{9D8B030D-6E8A-4147-A177-3AD203B41FA5}">
                      <a16:colId xmlns:a16="http://schemas.microsoft.com/office/drawing/2014/main" val="1962019407"/>
                    </a:ext>
                  </a:extLst>
                </a:gridCol>
              </a:tblGrid>
              <a:tr h="297156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00" b="1" dirty="0">
                          <a:effectLst/>
                        </a:rPr>
                        <a:t>研究題目</a:t>
                      </a:r>
                    </a:p>
                  </a:txBody>
                  <a:tcPr marL="54028" marR="54028" marT="54028" marB="5402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00" b="1">
                          <a:effectLst/>
                        </a:rPr>
                        <a:t>研究方向</a:t>
                      </a:r>
                    </a:p>
                  </a:txBody>
                  <a:tcPr marL="54028" marR="54028" marT="54028" marB="5402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00" b="1">
                          <a:effectLst/>
                        </a:rPr>
                        <a:t>技術類型</a:t>
                      </a:r>
                    </a:p>
                  </a:txBody>
                  <a:tcPr marL="54028" marR="54028" marT="54028" marB="5402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3125050"/>
                  </a:ext>
                </a:extLst>
              </a:tr>
              <a:tr h="486255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>
                          <a:effectLst/>
                        </a:rPr>
                        <a:t>LLM</a:t>
                      </a:r>
                      <a:r>
                        <a:rPr lang="zh-TW" altLang="en-US" sz="1200">
                          <a:effectLst/>
                        </a:rPr>
                        <a:t>醫療診斷系統 </a:t>
                      </a:r>
                      <a:r>
                        <a:rPr lang="en-US" altLang="zh-TW" sz="1200">
                          <a:effectLst/>
                        </a:rPr>
                        <a:t>- </a:t>
                      </a:r>
                      <a:r>
                        <a:rPr lang="zh-TW" altLang="en-US" sz="1200">
                          <a:effectLst/>
                        </a:rPr>
                        <a:t>多語言與跨文化醫療知識整合</a:t>
                      </a:r>
                    </a:p>
                  </a:txBody>
                  <a:tcPr marL="54028" marR="54028" marT="54028" marB="5402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00">
                          <a:effectLst/>
                        </a:rPr>
                        <a:t>醫療診斷</a:t>
                      </a:r>
                    </a:p>
                  </a:txBody>
                  <a:tcPr marL="54028" marR="54028" marT="54028" marB="5402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LLM</a:t>
                      </a:r>
                    </a:p>
                  </a:txBody>
                  <a:tcPr marL="54028" marR="54028" marT="54028" marB="5402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1172294"/>
                  </a:ext>
                </a:extLst>
              </a:tr>
              <a:tr h="486255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00">
                          <a:effectLst/>
                        </a:rPr>
                        <a:t>多模態 </a:t>
                      </a:r>
                      <a:r>
                        <a:rPr lang="en-US" altLang="zh-TW" sz="1200">
                          <a:effectLst/>
                        </a:rPr>
                        <a:t>LLM - </a:t>
                      </a:r>
                      <a:r>
                        <a:rPr lang="zh-TW" altLang="en-US" sz="1200">
                          <a:effectLst/>
                        </a:rPr>
                        <a:t>輔助臨床診斷與個人化治療</a:t>
                      </a:r>
                    </a:p>
                  </a:txBody>
                  <a:tcPr marL="54028" marR="54028" marT="54028" marB="5402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00">
                          <a:effectLst/>
                        </a:rPr>
                        <a:t>醫療診斷</a:t>
                      </a:r>
                    </a:p>
                  </a:txBody>
                  <a:tcPr marL="54028" marR="54028" marT="54028" marB="5402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LLM</a:t>
                      </a:r>
                    </a:p>
                  </a:txBody>
                  <a:tcPr marL="54028" marR="54028" marT="54028" marB="5402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9487993"/>
                  </a:ext>
                </a:extLst>
              </a:tr>
              <a:tr h="486255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>
                          <a:effectLst/>
                        </a:rPr>
                        <a:t>LLM </a:t>
                      </a:r>
                      <a:r>
                        <a:rPr lang="zh-TW" altLang="en-US" sz="1200">
                          <a:effectLst/>
                        </a:rPr>
                        <a:t>驅動的運動員 </a:t>
                      </a:r>
                      <a:r>
                        <a:rPr lang="en-US" altLang="zh-TW" sz="1200">
                          <a:effectLst/>
                        </a:rPr>
                        <a:t>- </a:t>
                      </a:r>
                      <a:r>
                        <a:rPr lang="zh-TW" altLang="en-US" sz="1200">
                          <a:effectLst/>
                        </a:rPr>
                        <a:t>傷害預測與表現優化</a:t>
                      </a:r>
                    </a:p>
                  </a:txBody>
                  <a:tcPr marL="54028" marR="54028" marT="54028" marB="5402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00">
                          <a:effectLst/>
                        </a:rPr>
                        <a:t>運動科學</a:t>
                      </a:r>
                    </a:p>
                  </a:txBody>
                  <a:tcPr marL="54028" marR="54028" marT="54028" marB="5402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LLM</a:t>
                      </a:r>
                    </a:p>
                  </a:txBody>
                  <a:tcPr marL="54028" marR="54028" marT="54028" marB="5402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5821086"/>
                  </a:ext>
                </a:extLst>
              </a:tr>
              <a:tr h="486255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00">
                          <a:effectLst/>
                        </a:rPr>
                        <a:t>多智能體 </a:t>
                      </a:r>
                      <a:r>
                        <a:rPr lang="en-US" altLang="zh-TW" sz="1200">
                          <a:effectLst/>
                        </a:rPr>
                        <a:t>LLM </a:t>
                      </a:r>
                      <a:r>
                        <a:rPr lang="zh-TW" altLang="en-US" sz="1200">
                          <a:effectLst/>
                        </a:rPr>
                        <a:t>災害預警與應急響應協調系統</a:t>
                      </a:r>
                    </a:p>
                  </a:txBody>
                  <a:tcPr marL="54028" marR="54028" marT="54028" marB="5402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00">
                          <a:effectLst/>
                        </a:rPr>
                        <a:t>災害管理</a:t>
                      </a:r>
                    </a:p>
                  </a:txBody>
                  <a:tcPr marL="54028" marR="54028" marT="54028" marB="5402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LLM</a:t>
                      </a:r>
                    </a:p>
                  </a:txBody>
                  <a:tcPr marL="54028" marR="54028" marT="54028" marB="5402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5896495"/>
                  </a:ext>
                </a:extLst>
              </a:tr>
              <a:tr h="486255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00">
                          <a:effectLst/>
                        </a:rPr>
                        <a:t>協同過濾增強的 </a:t>
                      </a:r>
                      <a:r>
                        <a:rPr lang="en-US" altLang="zh-TW" sz="1200">
                          <a:effectLst/>
                        </a:rPr>
                        <a:t>LLM - </a:t>
                      </a:r>
                      <a:r>
                        <a:rPr lang="zh-TW" altLang="en-US" sz="1200">
                          <a:effectLst/>
                        </a:rPr>
                        <a:t>對話式推薦冷啟動</a:t>
                      </a:r>
                    </a:p>
                  </a:txBody>
                  <a:tcPr marL="54028" marR="54028" marT="54028" marB="5402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00">
                          <a:effectLst/>
                        </a:rPr>
                        <a:t>推薦系統</a:t>
                      </a:r>
                    </a:p>
                  </a:txBody>
                  <a:tcPr marL="54028" marR="54028" marT="54028" marB="5402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LLM</a:t>
                      </a:r>
                    </a:p>
                  </a:txBody>
                  <a:tcPr marL="54028" marR="54028" marT="54028" marB="5402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9831695"/>
                  </a:ext>
                </a:extLst>
              </a:tr>
              <a:tr h="486255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>
                          <a:effectLst/>
                        </a:rPr>
                        <a:t>GNN</a:t>
                      </a:r>
                      <a:r>
                        <a:rPr lang="zh-TW" altLang="en-US" sz="1200">
                          <a:effectLst/>
                        </a:rPr>
                        <a:t>動態群組推薦 </a:t>
                      </a:r>
                      <a:r>
                        <a:rPr lang="en-US" altLang="zh-TW" sz="1200">
                          <a:effectLst/>
                        </a:rPr>
                        <a:t>- </a:t>
                      </a:r>
                      <a:r>
                        <a:rPr lang="zh-TW" altLang="en-US" sz="1200">
                          <a:effectLst/>
                        </a:rPr>
                        <a:t>時序圖神經網路的群組推薦系統</a:t>
                      </a:r>
                    </a:p>
                  </a:txBody>
                  <a:tcPr marL="54028" marR="54028" marT="54028" marB="5402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00">
                          <a:effectLst/>
                        </a:rPr>
                        <a:t>推薦系統</a:t>
                      </a:r>
                    </a:p>
                  </a:txBody>
                  <a:tcPr marL="54028" marR="54028" marT="54028" marB="5402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</a:rPr>
                        <a:t>GNN</a:t>
                      </a:r>
                    </a:p>
                  </a:txBody>
                  <a:tcPr marL="54028" marR="54028" marT="54028" marB="5402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65951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654443"/>
      </p:ext>
    </p:extLst>
  </p:cSld>
  <p:clrMapOvr>
    <a:masterClrMapping/>
  </p:clrMapOvr>
</p:sld>
</file>

<file path=ppt/theme/theme1.xml><?xml version="1.0" encoding="utf-8"?>
<a:theme xmlns:a="http://schemas.openxmlformats.org/drawingml/2006/main" name="Beatrice template">
  <a:themeElements>
    <a:clrScheme name="Custom 347">
      <a:dk1>
        <a:srgbClr val="1D1D1B"/>
      </a:dk1>
      <a:lt1>
        <a:srgbClr val="F3EFEA"/>
      </a:lt1>
      <a:dk2>
        <a:srgbClr val="434343"/>
      </a:dk2>
      <a:lt2>
        <a:srgbClr val="FFFFFF"/>
      </a:lt2>
      <a:accent1>
        <a:srgbClr val="8F7B87"/>
      </a:accent1>
      <a:accent2>
        <a:srgbClr val="A797A1"/>
      </a:accent2>
      <a:accent3>
        <a:srgbClr val="C0B5BC"/>
      </a:accent3>
      <a:accent4>
        <a:srgbClr val="E4DDE1"/>
      </a:accent4>
      <a:accent5>
        <a:srgbClr val="EFECED"/>
      </a:accent5>
      <a:accent6>
        <a:srgbClr val="F3EFEA"/>
      </a:accent6>
      <a:hlink>
        <a:srgbClr val="1D1D1B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871</TotalTime>
  <Words>3096</Words>
  <Application>Microsoft Office PowerPoint</Application>
  <PresentationFormat>如螢幕大小 (16:9)</PresentationFormat>
  <Paragraphs>400</Paragraphs>
  <Slides>56</Slides>
  <Notes>56</Notes>
  <HiddenSlides>19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56</vt:i4>
      </vt:variant>
    </vt:vector>
  </HeadingPairs>
  <TitlesOfParts>
    <vt:vector size="63" baseType="lpstr">
      <vt:lpstr>微软雅黑</vt:lpstr>
      <vt:lpstr>Arial</vt:lpstr>
      <vt:lpstr>PT Serif</vt:lpstr>
      <vt:lpstr>Adobe 繁黑體 Std B</vt:lpstr>
      <vt:lpstr>Montserrat</vt:lpstr>
      <vt:lpstr>Poppins</vt:lpstr>
      <vt:lpstr>Beatrice template</vt:lpstr>
      <vt:lpstr>PowerPoint 簡報</vt:lpstr>
      <vt:lpstr>PowerPoint 簡報</vt:lpstr>
      <vt:lpstr>Research Background</vt:lpstr>
      <vt:lpstr>Research Question</vt:lpstr>
      <vt:lpstr>As-Is To-Be</vt:lpstr>
      <vt:lpstr>Dataset</vt:lpstr>
      <vt:lpstr>Framework</vt:lpstr>
      <vt:lpstr>Overview</vt:lpstr>
      <vt:lpstr>Overview</vt:lpstr>
      <vt:lpstr>Reference</vt:lpstr>
      <vt:lpstr>PowerPoint 簡報</vt:lpstr>
      <vt:lpstr>Research Background</vt:lpstr>
      <vt:lpstr>Research Question</vt:lpstr>
      <vt:lpstr>As-Is To-Be</vt:lpstr>
      <vt:lpstr>Dataset</vt:lpstr>
      <vt:lpstr>Framework</vt:lpstr>
      <vt:lpstr>Overview</vt:lpstr>
      <vt:lpstr>Overview</vt:lpstr>
      <vt:lpstr>Reference</vt:lpstr>
      <vt:lpstr>PowerPoint 簡報</vt:lpstr>
      <vt:lpstr>Research Background</vt:lpstr>
      <vt:lpstr>Research Question</vt:lpstr>
      <vt:lpstr>As-Is To-Be</vt:lpstr>
      <vt:lpstr>Dataset</vt:lpstr>
      <vt:lpstr>Framework</vt:lpstr>
      <vt:lpstr>Overview</vt:lpstr>
      <vt:lpstr>Overview</vt:lpstr>
      <vt:lpstr>Reference</vt:lpstr>
      <vt:lpstr>PowerPoint 簡報</vt:lpstr>
      <vt:lpstr>Research Background</vt:lpstr>
      <vt:lpstr>Research Question</vt:lpstr>
      <vt:lpstr>As-Is To-Be</vt:lpstr>
      <vt:lpstr>Dataset</vt:lpstr>
      <vt:lpstr>Framework</vt:lpstr>
      <vt:lpstr>Overview</vt:lpstr>
      <vt:lpstr>Overview</vt:lpstr>
      <vt:lpstr>Reference</vt:lpstr>
      <vt:lpstr>PowerPoint 簡報</vt:lpstr>
      <vt:lpstr>Research Background</vt:lpstr>
      <vt:lpstr>Research Question</vt:lpstr>
      <vt:lpstr>As-Is To-Be</vt:lpstr>
      <vt:lpstr>Dataset</vt:lpstr>
      <vt:lpstr>Framework</vt:lpstr>
      <vt:lpstr>Overview</vt:lpstr>
      <vt:lpstr>Overview</vt:lpstr>
      <vt:lpstr>Reference</vt:lpstr>
      <vt:lpstr>PowerPoint 簡報</vt:lpstr>
      <vt:lpstr>Research Background</vt:lpstr>
      <vt:lpstr>Research Question</vt:lpstr>
      <vt:lpstr>As-Is To-Be</vt:lpstr>
      <vt:lpstr>Dataset</vt:lpstr>
      <vt:lpstr>Framework</vt:lpstr>
      <vt:lpstr>Overview</vt:lpstr>
      <vt:lpstr>Overview</vt:lpstr>
      <vt:lpstr>Reference</vt:lpstr>
      <vt:lpstr>Overview of research topics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Tony Wu</dc:creator>
  <cp:lastModifiedBy>先正 陳</cp:lastModifiedBy>
  <cp:revision>68</cp:revision>
  <dcterms:modified xsi:type="dcterms:W3CDTF">2025-11-26T01:45:36Z</dcterms:modified>
</cp:coreProperties>
</file>