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82" r:id="rId12"/>
    <p:sldId id="283" r:id="rId13"/>
    <p:sldId id="268" r:id="rId14"/>
    <p:sldId id="269" r:id="rId15"/>
    <p:sldId id="274" r:id="rId16"/>
    <p:sldId id="275" r:id="rId17"/>
    <p:sldId id="284" r:id="rId18"/>
    <p:sldId id="276" r:id="rId19"/>
    <p:sldId id="277" r:id="rId20"/>
    <p:sldId id="278" r:id="rId21"/>
    <p:sldId id="279" r:id="rId22"/>
    <p:sldId id="280" r:id="rId23"/>
    <p:sldId id="281" r:id="rId24"/>
  </p:sldIdLst>
  <p:sldSz cx="9144000" cy="5143500" type="screen16x9"/>
  <p:notesSz cx="6858000" cy="9144000"/>
  <p:embeddedFontLst>
    <p:embeddedFont>
      <p:font typeface="Nunito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7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895b6b46be_0_1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895b6b46be_0_1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895b6b46be_0_1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895b6b46be_0_1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95b6b46be_0_13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95b6b46be_0_13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895b6b46be_0_1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895b6b46be_0_1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895b6b46be_0_1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895b6b46be_0_1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895b6b46be_0_13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895b6b46be_0_13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895b6b46be_0_1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895b6b46be_0_1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895b6b46be_0_13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895b6b46be_0_13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95b6b46be_0_1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95b6b46be_0_1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95b6b46be_0_1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95b6b46be_0_1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77215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895b6b46be_0_1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895b6b46be_0_1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02908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895b6b46be_0_1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895b6b46be_0_1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895b6b46be_0_14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895b6b46be_0_14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895b6b46be_0_15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895b6b46be_0_15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895b6b46be_0_14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895b6b46be_0_14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95b6b46be_0_1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95b6b46be_0_1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744821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895b6b46be_0_15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895b6b46be_0_15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895b6b46be_0_15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895b6b46be_0_15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895b6b46be_0_1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895b6b46be_0_1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895b6b46be_0_15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895b6b46be_0_15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895b6b46be_0_1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895b6b46be_0_1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895b6b46be_0_15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895b6b46be_0_15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>
                <a:solidFill>
                  <a:srgbClr val="0926A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2907A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457200" y="897731"/>
            <a:ext cx="8229600" cy="3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區段標題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2313" y="2180035"/>
            <a:ext cx="777240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457200" y="897731"/>
            <a:ext cx="4038600" cy="3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648200" y="897731"/>
            <a:ext cx="4038600" cy="3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457200" y="1151335"/>
            <a:ext cx="40401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4645025" y="1151335"/>
            <a:ext cx="40419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1792288" y="4025504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2762851" y="-1407918"/>
            <a:ext cx="361830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5400313" y="1218459"/>
            <a:ext cx="4536300" cy="20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203675" y="-766791"/>
            <a:ext cx="4536300" cy="60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4786313"/>
            <a:ext cx="9144000" cy="3573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0" y="-20241"/>
            <a:ext cx="9144000" cy="86430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457200" y="897731"/>
            <a:ext cx="8229600" cy="3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dt" idx="10"/>
          </p:nvPr>
        </p:nvSpPr>
        <p:spPr>
          <a:xfrm>
            <a:off x="457200" y="4683919"/>
            <a:ext cx="2133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ftr" idx="11"/>
          </p:nvPr>
        </p:nvSpPr>
        <p:spPr>
          <a:xfrm>
            <a:off x="3124200" y="4683919"/>
            <a:ext cx="28956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sldNum" idx="12"/>
          </p:nvPr>
        </p:nvSpPr>
        <p:spPr>
          <a:xfrm>
            <a:off x="2590800" y="4893469"/>
            <a:ext cx="2197200" cy="2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   </a:t>
            </a: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12" name="Google Shape;12;p1"/>
          <p:cNvSpPr/>
          <p:nvPr/>
        </p:nvSpPr>
        <p:spPr>
          <a:xfrm>
            <a:off x="0" y="4806554"/>
            <a:ext cx="9144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zh-TW" sz="1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zh-TW" sz="1200" b="0" i="1" u="none" strike="noStrike" cap="none">
                <a:solidFill>
                  <a:srgbClr val="2907A5"/>
                </a:solidFill>
                <a:latin typeface="Arial"/>
                <a:ea typeface="Arial"/>
                <a:cs typeface="Arial"/>
                <a:sym typeface="Arial"/>
              </a:rPr>
              <a:t>Institute of Information Management, NCTU                                                                                                          2012,</a:t>
            </a:r>
            <a:r>
              <a:rPr lang="zh-TW" sz="1200" b="0" i="0" u="none" strike="noStrike" cap="none">
                <a:solidFill>
                  <a:srgbClr val="2907A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zh-TW" sz="1200" b="0" i="1" u="none" strike="noStrike" cap="none">
                <a:solidFill>
                  <a:srgbClr val="2907A5"/>
                </a:solidFill>
                <a:latin typeface="Arial"/>
                <a:ea typeface="Arial"/>
                <a:cs typeface="Arial"/>
                <a:sym typeface="Arial"/>
              </a:rPr>
              <a:t>IEBI Lab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1" descr="logo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6513" y="4832747"/>
            <a:ext cx="282178" cy="283369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1"/>
          <p:cNvSpPr txBox="1">
            <a:spLocks noGrp="1"/>
          </p:cNvSpPr>
          <p:nvPr>
            <p:ph type="title"/>
          </p:nvPr>
        </p:nvSpPr>
        <p:spPr>
          <a:xfrm>
            <a:off x="468313" y="-20241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000" b="0" i="0" u="none" strike="noStrike" cap="none">
                <a:solidFill>
                  <a:srgbClr val="0926A3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ctrTitle"/>
          </p:nvPr>
        </p:nvSpPr>
        <p:spPr>
          <a:xfrm>
            <a:off x="824000" y="904725"/>
            <a:ext cx="8105700" cy="1872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600" dirty="0"/>
              <a:t>利用眼動追蹤數據與群體學習</a:t>
            </a:r>
            <a:br>
              <a:rPr lang="en-US" altLang="zh-TW" sz="3600" dirty="0"/>
            </a:br>
            <a:r>
              <a:rPr lang="zh-TW" altLang="en-US" sz="3600" dirty="0"/>
              <a:t>預測社群商務平台上的消費者意圖</a:t>
            </a:r>
            <a:endParaRPr sz="3600" dirty="0"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"/>
          </p:nvPr>
        </p:nvSpPr>
        <p:spPr>
          <a:xfrm>
            <a:off x="1629050" y="3206800"/>
            <a:ext cx="6991200" cy="69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論文出處:Decision Support Systems,1</a:t>
            </a:r>
            <a:r>
              <a:rPr lang="en-US" altLang="zh-TW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75</a:t>
            </a:r>
            <a:r>
              <a:rPr lang="zh-TW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,202</a:t>
            </a:r>
            <a:r>
              <a:rPr lang="en-US" altLang="zh-TW" sz="2000" dirty="0">
                <a:solidFill>
                  <a:srgbClr val="000000"/>
                </a:solidFill>
              </a:rPr>
              <a:t>3</a:t>
            </a:r>
            <a:r>
              <a:rPr lang="zh-TW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年</a:t>
            </a:r>
            <a:r>
              <a:rPr lang="en-US" altLang="zh-TW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lang="zh-TW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月</a:t>
            </a:r>
            <a:r>
              <a:rPr lang="en-US" altLang="zh-TW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zh-TW" sz="20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7日</a:t>
            </a: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20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3007325" y="3837350"/>
            <a:ext cx="3475500" cy="91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dirty="0">
                <a:latin typeface="Nunito"/>
                <a:ea typeface="Nunito"/>
                <a:cs typeface="Nunito"/>
                <a:sym typeface="Nunito"/>
              </a:rPr>
              <a:t>     報告人:陳先正</a:t>
            </a:r>
            <a:endParaRPr sz="2400" dirty="0"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400" dirty="0">
                <a:latin typeface="Nunito"/>
                <a:ea typeface="Nunito"/>
                <a:cs typeface="Nunito"/>
                <a:sym typeface="Nunito"/>
              </a:rPr>
              <a:t>日期:2025年1</a:t>
            </a:r>
            <a:r>
              <a:rPr lang="en-US" altLang="zh-TW" sz="2400" dirty="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zh-TW" sz="2400" dirty="0">
                <a:latin typeface="Nunito"/>
                <a:ea typeface="Nunito"/>
                <a:cs typeface="Nunito"/>
                <a:sym typeface="Nunito"/>
              </a:rPr>
              <a:t>月</a:t>
            </a:r>
            <a:r>
              <a:rPr lang="en-US" altLang="zh-TW" sz="2400" dirty="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zh-TW" sz="2400" dirty="0">
                <a:latin typeface="Nunito"/>
                <a:ea typeface="Nunito"/>
                <a:cs typeface="Nunito"/>
                <a:sym typeface="Nunito"/>
              </a:rPr>
              <a:t>號</a:t>
            </a:r>
            <a:endParaRPr sz="2400" dirty="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4"/>
          <p:cNvSpPr txBox="1">
            <a:spLocks noGrp="1"/>
          </p:cNvSpPr>
          <p:nvPr>
            <p:ph type="ctrTitle"/>
          </p:nvPr>
        </p:nvSpPr>
        <p:spPr>
          <a:xfrm>
            <a:off x="3780250" y="0"/>
            <a:ext cx="2003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目錄</a:t>
            </a:r>
            <a:endParaRPr sz="2650"/>
          </a:p>
        </p:txBody>
      </p:sp>
      <p:sp>
        <p:nvSpPr>
          <p:cNvPr id="96" name="Google Shape;96;p14"/>
          <p:cNvSpPr txBox="1">
            <a:spLocks noGrp="1"/>
          </p:cNvSpPr>
          <p:nvPr>
            <p:ph type="subTitle" idx="1"/>
          </p:nvPr>
        </p:nvSpPr>
        <p:spPr>
          <a:xfrm>
            <a:off x="630300" y="1239300"/>
            <a:ext cx="69912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419100" algn="l" rtl="0">
              <a:spcBef>
                <a:spcPts val="56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前言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文獻探討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系統架構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實驗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結果</a:t>
            </a:r>
            <a:r>
              <a:rPr lang="en-US" altLang="zh-TW" sz="3000" dirty="0"/>
              <a:t>&amp;</a:t>
            </a:r>
            <a:r>
              <a:rPr lang="zh-TW" altLang="en-US" sz="3000" dirty="0"/>
              <a:t>建議</a:t>
            </a:r>
            <a:endParaRPr sz="3000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zh-TW" sz="3000" dirty="0"/>
              <a:t>結論</a:t>
            </a:r>
            <a:endParaRPr sz="3000"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 txBox="1">
            <a:spLocks noGrp="1"/>
          </p:cNvSpPr>
          <p:nvPr>
            <p:ph type="ctrTitle"/>
          </p:nvPr>
        </p:nvSpPr>
        <p:spPr>
          <a:xfrm>
            <a:off x="3853125" y="1977525"/>
            <a:ext cx="1970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前言</a:t>
            </a:r>
            <a:endParaRPr sz="4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ctrTitle"/>
          </p:nvPr>
        </p:nvSpPr>
        <p:spPr>
          <a:xfrm>
            <a:off x="3780250" y="0"/>
            <a:ext cx="2003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前言</a:t>
            </a:r>
            <a:endParaRPr sz="2650"/>
          </a:p>
        </p:txBody>
      </p:sp>
      <p:sp>
        <p:nvSpPr>
          <p:cNvPr id="107" name="Google Shape;107;p16"/>
          <p:cNvSpPr txBox="1">
            <a:spLocks noGrp="1"/>
          </p:cNvSpPr>
          <p:nvPr>
            <p:ph type="subTitle" idx="1"/>
          </p:nvPr>
        </p:nvSpPr>
        <p:spPr>
          <a:xfrm>
            <a:off x="630300" y="1239300"/>
            <a:ext cx="83094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/>
              <a:t>當你在 </a:t>
            </a:r>
            <a:r>
              <a:rPr lang="en-US" altLang="zh-TW" sz="2000" dirty="0"/>
              <a:t>Amazon </a:t>
            </a:r>
            <a:r>
              <a:rPr lang="zh-TW" altLang="en-US" sz="2000" dirty="0"/>
              <a:t>或社群商務平台看商品頁面時，畫面同時塞滿圖片、價格、評價、評論和推薦商品。​</a:t>
            </a:r>
            <a:endParaRPr lang="en-US" altLang="zh-TW" sz="20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sz="20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/>
              <a:t>但我們其實不知道，你做選擇的那幾分鐘，注意力到底落在價格、評論，還是被下面的推薦拉走。​</a:t>
            </a:r>
            <a:endParaRPr lang="en-US" altLang="zh-TW" sz="20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sz="20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/>
              <a:t>這篇研究用眼動追蹤，直接記錄「你看哪裡、看多久」，來還原整個決策過程中的注意力變化。​</a:t>
            </a:r>
            <a:endParaRPr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ctrTitle"/>
          </p:nvPr>
        </p:nvSpPr>
        <p:spPr>
          <a:xfrm>
            <a:off x="3780250" y="0"/>
            <a:ext cx="2003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前言</a:t>
            </a:r>
            <a:endParaRPr sz="265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ubTitle" idx="1"/>
          </p:nvPr>
        </p:nvSpPr>
        <p:spPr>
          <a:xfrm>
            <a:off x="630300" y="1239300"/>
            <a:ext cx="83094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 dirty="0"/>
              <a:t>研究問題:</a:t>
            </a:r>
            <a:endParaRPr sz="2000"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2000" dirty="0"/>
              <a:t>   哪些資訊線索最能預測消費者在社群商務平台的商品選擇？</a:t>
            </a:r>
            <a:endParaRPr lang="en-US" altLang="zh-TW" sz="2000"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2000" dirty="0"/>
              <a:t>   資訊線索的重要性會如何隨決策過程時間推進而改變？</a:t>
            </a:r>
            <a:endParaRPr lang="en-US" altLang="zh-TW" sz="2000"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sz="2000" dirty="0"/>
              <a:t>研究動機:</a:t>
            </a:r>
            <a:endParaRPr sz="2000"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2000" dirty="0"/>
              <a:t>    以眼動資料彌補自陳法的侷限，結合機器學習直接從「怎麼看」與「看哪裡」來預測「會選</a:t>
            </a:r>
            <a:r>
              <a:rPr lang="en-US" altLang="zh-TW" sz="2000" dirty="0"/>
              <a:t>/</a:t>
            </a:r>
            <a:r>
              <a:rPr lang="zh-TW" altLang="en-US" sz="2000" dirty="0"/>
              <a:t>不會選」，並分析在決策早期、中期與後期，圖片、價格、評論、庫存等資訊線索的重要性如何變動，為介面與行銷設計提供可行依據。</a:t>
            </a:r>
            <a:endParaRPr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8"/>
          <p:cNvSpPr txBox="1">
            <a:spLocks noGrp="1"/>
          </p:cNvSpPr>
          <p:nvPr>
            <p:ph type="ctrTitle"/>
          </p:nvPr>
        </p:nvSpPr>
        <p:spPr>
          <a:xfrm>
            <a:off x="3253850" y="1977500"/>
            <a:ext cx="2729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文獻探討</a:t>
            </a:r>
            <a:endParaRPr sz="4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文獻探討</a:t>
            </a:r>
            <a:endParaRPr sz="2650"/>
          </a:p>
        </p:txBody>
      </p:sp>
      <p:sp>
        <p:nvSpPr>
          <p:cNvPr id="124" name="Google Shape;124;p19"/>
          <p:cNvSpPr txBox="1">
            <a:spLocks noGrp="1"/>
          </p:cNvSpPr>
          <p:nvPr>
            <p:ph type="subTitle" idx="1"/>
          </p:nvPr>
        </p:nvSpPr>
        <p:spPr>
          <a:xfrm>
            <a:off x="630300" y="1239300"/>
            <a:ext cx="8309400" cy="335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/>
              <a:t>理論基礎是「動態注意力理論」：注意力會隨時間在不同資訊間流動，眼動（看哪裡、停多久、怎麼掃）就是認知處理的即時指標。</a:t>
            </a:r>
            <a:endParaRPr lang="en-US" altLang="zh-TW" sz="2000" dirty="0"/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2000" dirty="0"/>
          </a:p>
          <a:p>
            <a:pPr marL="342900" lvl="0" indent="-34290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2000" dirty="0"/>
              <a:t> 過去研究發現畫面位置、評論正負向、資訊格式都會影響購買意圖，但較少用完整眼動軌跡搭配機器學習來「即時預測行為」和「追蹤不同時間點的線索重要性」。</a:t>
            </a:r>
            <a:endParaRPr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ctrTitle"/>
          </p:nvPr>
        </p:nvSpPr>
        <p:spPr>
          <a:xfrm>
            <a:off x="3253850" y="1977500"/>
            <a:ext cx="27297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系統架構</a:t>
            </a:r>
            <a:endParaRPr sz="4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1"/>
          </p:nvPr>
        </p:nvSpPr>
        <p:spPr>
          <a:xfrm>
            <a:off x="158575" y="848950"/>
            <a:ext cx="6485100" cy="3893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畫面怎麼切分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?</a:t>
            </a: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研究團隊把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Amazon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商品頁面切成四大類「關注區域（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AOI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）」：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商品資訊（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Product Information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）： 標題、主圖片、放大圖、價格、產品描述、技術規格等 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社會人氣（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Social Popularity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）： 星等評分、評論摘要、詳細正負評、客戶問答等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稀缺性（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Scarcity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）： 剩餘庫存數量、促銷倒數時間 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干擾推薦（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Distractions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）： 「常一起購買」「相關商品」「為你推薦」等各種推薦模組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sz="1100" b="1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61725F0-19ED-444A-99A7-CF8E85B1D9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428" y="3326400"/>
            <a:ext cx="2674572" cy="1415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142" name="Google Shape;142;p22"/>
          <p:cNvSpPr txBox="1">
            <a:spLocks noGrp="1"/>
          </p:cNvSpPr>
          <p:nvPr>
            <p:ph type="subTitle" idx="1"/>
          </p:nvPr>
        </p:nvSpPr>
        <p:spPr>
          <a:xfrm>
            <a:off x="294675" y="918900"/>
            <a:ext cx="5213575" cy="38731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眼動資料變成什麼特徵</a:t>
            </a:r>
            <a:r>
              <a:rPr lang="en-US" altLang="zh-TW" sz="1400" dirty="0">
                <a:solidFill>
                  <a:srgbClr val="131314"/>
                </a:solidFill>
                <a:highlight>
                  <a:srgbClr val="FFFFFF"/>
                </a:highlight>
              </a:rPr>
              <a:t>?</a:t>
            </a: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從眼動儀收集到的原始資料，會被轉換成以下特徵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:</a:t>
            </a: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瞳孔直徑：平均值、中位數、最大最小、標準差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zh-TW" altLang="en-US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凝視行為：停留時間長短、聚散程度、分布偏斜度 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zh-TW" altLang="en-US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掃視行為：向前掃視比例、掃視速度、長度、振幅、持續時間，還有這些數值的統計分布 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TW" altLang="en-US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事件統計：凝視次數、掃視次數、兩者的比例 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TW" altLang="en-US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認知指標：認知負荷指數、資訊處理指數 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zh-TW" altLang="en-US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AOI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停留時間：在每個區域停留多久（有做面積標準化，因為每個區域大小不同）</a:t>
            </a: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E107178-1F07-4D1A-B6A7-A145872E60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250" y="2027288"/>
            <a:ext cx="3635750" cy="276474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142" name="Google Shape;142;p22"/>
          <p:cNvSpPr txBox="1">
            <a:spLocks noGrp="1"/>
          </p:cNvSpPr>
          <p:nvPr>
            <p:ph type="subTitle" idx="1"/>
          </p:nvPr>
        </p:nvSpPr>
        <p:spPr>
          <a:xfrm>
            <a:off x="294675" y="918900"/>
            <a:ext cx="5342925" cy="37507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怎麼用模型預測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?</a:t>
            </a: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預測目標：某個商品會不會被選（二分類：選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vs.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不選）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模型組合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:</a:t>
            </a: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Support Vector Machine (SVM)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：適合小樣本高維度資料，用不同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kernel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處理非線性關係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Gaussian Process Models (GPM)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：類似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SVM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但用高斯分布來映射特徵空間 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Random Forest (RF)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：決策樹集成，可以算出每個特徵的重要程度，並選出前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10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個最關鍵特徵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然後把這三類模型的預測結果「加權平均」，權重依各模型在驗證階段的準確度決定，形成集成學習 （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Ensemble Learning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）架構。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驗證方式：用「留一受試者法（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Leave-one-participant-out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）」交叉驗證，每次訓練時拿掉一個人的資料來測試，輪流做完所有人，確保模型對新的人也有效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564965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系統架構</a:t>
            </a:r>
            <a:endParaRPr sz="2650"/>
          </a:p>
        </p:txBody>
      </p:sp>
      <p:sp>
        <p:nvSpPr>
          <p:cNvPr id="142" name="Google Shape;142;p22"/>
          <p:cNvSpPr txBox="1">
            <a:spLocks noGrp="1"/>
          </p:cNvSpPr>
          <p:nvPr>
            <p:ph type="subTitle" idx="1"/>
          </p:nvPr>
        </p:nvSpPr>
        <p:spPr>
          <a:xfrm>
            <a:off x="294675" y="918900"/>
            <a:ext cx="5342925" cy="37507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時間切片實驗</a:t>
            </a: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除了用「全程」眼動資料預測，研究還做了一個創新設計：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    從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100%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資料長度開始，逐步只用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75%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、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65%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、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55%…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一直到只用前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15%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的眼動資料（大約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1-2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分 鐘），看「多早就能準確預測選擇」。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1E0DDE1-D716-4F0D-A6E9-E684F5C4D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7139" y="2643880"/>
            <a:ext cx="3086861" cy="2025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9704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5"/>
          <p:cNvSpPr txBox="1">
            <a:spLocks noGrp="1"/>
          </p:cNvSpPr>
          <p:nvPr>
            <p:ph type="ctrTitle"/>
          </p:nvPr>
        </p:nvSpPr>
        <p:spPr>
          <a:xfrm>
            <a:off x="3473575" y="1977500"/>
            <a:ext cx="17910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實驗</a:t>
            </a:r>
            <a:endParaRPr sz="48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實驗</a:t>
            </a:r>
            <a:endParaRPr sz="2650"/>
          </a:p>
        </p:txBody>
      </p:sp>
      <p:sp>
        <p:nvSpPr>
          <p:cNvPr id="166" name="Google Shape;166;p26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800" b="1" dirty="0">
                <a:solidFill>
                  <a:srgbClr val="131314"/>
                </a:solidFill>
                <a:highlight>
                  <a:srgbClr val="FFFFFF"/>
                </a:highlight>
              </a:rPr>
              <a:t>實驗怎麼做的</a:t>
            </a:r>
            <a:r>
              <a:rPr lang="en-US" altLang="zh-TW" sz="1800" b="1" dirty="0">
                <a:solidFill>
                  <a:srgbClr val="131314"/>
                </a:solidFill>
                <a:highlight>
                  <a:srgbClr val="FFFFFF"/>
                </a:highlight>
              </a:rPr>
              <a:t>?</a:t>
            </a: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altLang="zh-TW" sz="18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作者做了兩個實驗來確保結果穩定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:</a:t>
            </a: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實驗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1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：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30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個人，看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12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個商品（兩兩成對），每次在兩個裡選一個，用固定式螢幕眼動儀（</a:t>
            </a:r>
            <a:r>
              <a:rPr lang="en-US" altLang="zh-TW" sz="1400" b="1" dirty="0" err="1">
                <a:solidFill>
                  <a:srgbClr val="131314"/>
                </a:solidFill>
                <a:highlight>
                  <a:srgbClr val="FFFFFF"/>
                </a:highlight>
              </a:rPr>
              <a:t>Tobii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 Pro X3-120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，每秒記錄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120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次） </a:t>
            </a:r>
            <a:endParaRPr lang="en-US" altLang="zh-TW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實驗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2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：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23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個人，每次在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3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個商品中選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1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個，戴眼動追蹤眼鏡在筆電上看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Amazon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頁面（每秒記 錄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60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次）</a:t>
            </a:r>
            <a:endParaRPr lang="en-US" altLang="zh-TW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zh-TW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兩個實驗用不同設備、不同比較方式，是為了確保結果不會只適用於特定情境。所有實驗都在光線可控 的實驗室進行，並做嚴格校正，確保眼睛位置誤差在可接受範圍（小於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2.5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度）</a:t>
            </a:r>
            <a:endParaRPr lang="en-US" altLang="zh-TW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1"/>
          <p:cNvSpPr txBox="1">
            <a:spLocks noGrp="1"/>
          </p:cNvSpPr>
          <p:nvPr>
            <p:ph type="ctrTitle"/>
          </p:nvPr>
        </p:nvSpPr>
        <p:spPr>
          <a:xfrm>
            <a:off x="2924275" y="1967525"/>
            <a:ext cx="35286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結果&amp;建議</a:t>
            </a:r>
            <a:endParaRPr sz="4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2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02" name="Google Shape;202;p32"/>
          <p:cNvSpPr txBox="1">
            <a:spLocks noGrp="1"/>
          </p:cNvSpPr>
          <p:nvPr>
            <p:ph type="subTitle" idx="1"/>
          </p:nvPr>
        </p:nvSpPr>
        <p:spPr>
          <a:xfrm>
            <a:off x="220825" y="1099650"/>
            <a:ext cx="4783175" cy="34939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預測效果很好</a:t>
            </a:r>
            <a:endParaRPr lang="en-US" altLang="zh-TW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用完整眼動資料時，集成模型的表現：</a:t>
            </a:r>
            <a:endParaRPr lang="en-US" altLang="zh-TW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訓練集：</a:t>
            </a:r>
            <a:r>
              <a:rPr lang="en-US" altLang="zh-TW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Precision 88.12%</a:t>
            </a:r>
            <a:r>
              <a:rPr lang="zh-TW" altLang="en-US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、</a:t>
            </a:r>
            <a:r>
              <a:rPr lang="en-US" altLang="zh-TW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Recall 87.25%</a:t>
            </a:r>
            <a:r>
              <a:rPr lang="zh-TW" altLang="en-US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、</a:t>
            </a:r>
            <a:r>
              <a:rPr lang="en-US" altLang="zh-TW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Accuracy 87.56% </a:t>
            </a: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測試集：</a:t>
            </a:r>
            <a:r>
              <a:rPr lang="en-US" altLang="zh-TW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Precision 83.33%</a:t>
            </a:r>
            <a:r>
              <a:rPr lang="zh-TW" altLang="en-US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、</a:t>
            </a:r>
            <a:r>
              <a:rPr lang="en-US" altLang="zh-TW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Recall 86.96%</a:t>
            </a:r>
            <a:r>
              <a:rPr lang="zh-TW" altLang="en-US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、</a:t>
            </a:r>
            <a:r>
              <a:rPr lang="en-US" altLang="zh-TW" sz="1200" b="1" dirty="0">
                <a:solidFill>
                  <a:srgbClr val="131314"/>
                </a:solidFill>
                <a:highlight>
                  <a:srgbClr val="FFFFFF"/>
                </a:highlight>
              </a:rPr>
              <a:t>Accuracy 85.42%</a:t>
            </a: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訓練和測試表現很接近，代表沒有過度擬合（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overfitting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），對新的受試者也有效。相比隨機猜測只有 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50% </a:t>
            </a: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準確率，這個模型明顯有實用價值</a:t>
            </a:r>
            <a:endParaRPr sz="1400" b="1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3A69647-CDED-425C-B8DE-0A16530173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200" y="990900"/>
            <a:ext cx="4312800" cy="127786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1A5C1164-E865-441D-AEB9-9DA6DCE927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600" y="2571750"/>
            <a:ext cx="2613118" cy="2190712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12" name="Google Shape;212;p33"/>
          <p:cNvSpPr txBox="1">
            <a:spLocks noGrp="1"/>
          </p:cNvSpPr>
          <p:nvPr>
            <p:ph type="subTitle" idx="1"/>
          </p:nvPr>
        </p:nvSpPr>
        <p:spPr>
          <a:xfrm>
            <a:off x="228025" y="984450"/>
            <a:ext cx="5203500" cy="29683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/>
              <a:t>用 </a:t>
            </a:r>
            <a:r>
              <a:rPr lang="en-US" altLang="zh-TW" sz="1200" dirty="0"/>
              <a:t>75% </a:t>
            </a:r>
            <a:r>
              <a:rPr lang="zh-TW" altLang="en-US" sz="1200" dirty="0"/>
              <a:t>資料：準確率幾乎沒降</a:t>
            </a:r>
            <a:endParaRPr lang="en-US" altLang="zh-TW" sz="1200" dirty="0"/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/>
              <a:t>用 </a:t>
            </a:r>
            <a:r>
              <a:rPr lang="en-US" altLang="zh-TW" sz="1200" dirty="0"/>
              <a:t>50% </a:t>
            </a:r>
            <a:r>
              <a:rPr lang="zh-TW" altLang="en-US" sz="1200" dirty="0"/>
              <a:t>資料：仍維持約 </a:t>
            </a:r>
            <a:r>
              <a:rPr lang="en-US" altLang="zh-TW" sz="1200" dirty="0"/>
              <a:t>80% </a:t>
            </a:r>
            <a:r>
              <a:rPr lang="zh-TW" altLang="en-US" sz="1200" dirty="0"/>
              <a:t>以上準確率</a:t>
            </a:r>
            <a:endParaRPr lang="en-US" altLang="zh-TW" sz="1200" dirty="0"/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/>
              <a:t>用 </a:t>
            </a:r>
            <a:r>
              <a:rPr lang="en-US" altLang="zh-TW" sz="1200" dirty="0"/>
              <a:t>35% </a:t>
            </a:r>
            <a:r>
              <a:rPr lang="zh-TW" altLang="en-US" sz="1200" dirty="0"/>
              <a:t>資料：準確率才開始明顯下滑</a:t>
            </a:r>
            <a:endParaRPr lang="en-US" altLang="zh-TW" sz="1200" dirty="0"/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/>
              <a:t>用 </a:t>
            </a:r>
            <a:r>
              <a:rPr lang="en-US" altLang="zh-TW" sz="1200" dirty="0"/>
              <a:t>25% </a:t>
            </a:r>
            <a:r>
              <a:rPr lang="zh-TW" altLang="en-US" sz="1200" dirty="0"/>
              <a:t>資料（約 </a:t>
            </a:r>
            <a:r>
              <a:rPr lang="en-US" altLang="zh-TW" sz="1200" dirty="0"/>
              <a:t>1-2 </a:t>
            </a:r>
            <a:r>
              <a:rPr lang="zh-TW" altLang="en-US" sz="1200" dirty="0"/>
              <a:t>分鐘）：仍有約 </a:t>
            </a:r>
            <a:r>
              <a:rPr lang="en-US" altLang="zh-TW" sz="1200" dirty="0"/>
              <a:t>76% </a:t>
            </a:r>
            <a:r>
              <a:rPr lang="zh-TW" altLang="en-US" sz="1200" dirty="0"/>
              <a:t>準確率</a:t>
            </a:r>
            <a:endParaRPr lang="en-US" altLang="zh-TW" sz="1200" b="1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98C5517-4627-4A5F-8535-07CD58FA4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737" y="2571750"/>
            <a:ext cx="7511025" cy="165516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A1B879D-EBB5-421A-83EA-381156DBD0F6}"/>
              </a:ext>
            </a:extLst>
          </p:cNvPr>
          <p:cNvSpPr txBox="1"/>
          <p:nvPr/>
        </p:nvSpPr>
        <p:spPr>
          <a:xfrm>
            <a:off x="3009600" y="4291950"/>
            <a:ext cx="312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顯示用不同時間長度資料的預測表現</a:t>
            </a:r>
          </a:p>
        </p:txBody>
      </p:sp>
    </p:spTree>
    <p:extLst>
      <p:ext uri="{BB962C8B-B14F-4D97-AF65-F5344CB8AC3E}">
        <p14:creationId xmlns:p14="http://schemas.microsoft.com/office/powerpoint/2010/main" val="32302489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結果</a:t>
            </a:r>
            <a:endParaRPr sz="2650"/>
          </a:p>
        </p:txBody>
      </p:sp>
      <p:sp>
        <p:nvSpPr>
          <p:cNvPr id="212" name="Google Shape;212;p33"/>
          <p:cNvSpPr txBox="1">
            <a:spLocks noGrp="1"/>
          </p:cNvSpPr>
          <p:nvPr>
            <p:ph type="subTitle" idx="1"/>
          </p:nvPr>
        </p:nvSpPr>
        <p:spPr>
          <a:xfrm>
            <a:off x="228025" y="984450"/>
            <a:ext cx="5203500" cy="29683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什麼特徵最重要</a:t>
            </a:r>
            <a:endParaRPr lang="en-US" altLang="zh-TW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     「看哪裡」的線索：價格區域停留時間、主圖片停留時間、評論摘要停留時間、推薦區停留時間、庫存</a:t>
            </a:r>
            <a:r>
              <a:rPr lang="en-US" altLang="zh-TW" sz="1400" dirty="0">
                <a:solidFill>
                  <a:srgbClr val="131314"/>
                </a:solidFill>
                <a:highlight>
                  <a:srgbClr val="FFFFFF"/>
                </a:highlight>
              </a:rPr>
              <a:t>/</a:t>
            </a: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稀缺性提示停留時間、產品描述停留時間</a:t>
            </a: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    「怎麼看」的線索：認知負荷指標（腦袋處理資訊的吃力程度） 、資訊處理指數、凝視停留時間長短、掃視路徑速度、掃視速度的分布偏度</a:t>
            </a: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這告訴我們：不只是「你看了哪些資訊」重要，「你用什麼節奏和方式看」也能透露你的決策傾向。</a:t>
            </a:r>
            <a:endParaRPr sz="1400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08E91AC-77CF-4875-BA0D-E52A5892FD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238" y="852058"/>
            <a:ext cx="3240762" cy="195594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FCD5FDD-C479-4B42-9B7E-37F23F189A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800" y="2852285"/>
            <a:ext cx="3067200" cy="189008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34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建議</a:t>
            </a:r>
            <a:endParaRPr sz="2650"/>
          </a:p>
        </p:txBody>
      </p:sp>
      <p:sp>
        <p:nvSpPr>
          <p:cNvPr id="222" name="Google Shape;222;p34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給平台和業者的建議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-</a:t>
            </a: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優先優化關鍵區域</a:t>
            </a:r>
            <a:r>
              <a:rPr lang="en-US" altLang="zh-TW" sz="1400" dirty="0">
                <a:solidFill>
                  <a:srgbClr val="131314"/>
                </a:solidFill>
                <a:highlight>
                  <a:srgbClr val="FFFFFF"/>
                </a:highlight>
              </a:rPr>
              <a:t>:</a:t>
            </a:r>
          </a:p>
          <a:p>
            <a:pPr marL="285750" lvl="0" indent="-2857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主圖片要高品質、清晰、能快速傳達產品特色</a:t>
            </a: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285750" lvl="0" indent="-2857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價格與促銷資訊要顯眼但不干擾</a:t>
            </a: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285750" lvl="0" indent="-2857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評論摘要要精煉且可信，別讓人找半天</a:t>
            </a: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285750" lvl="0" indent="-2857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庫存</a:t>
            </a:r>
            <a:r>
              <a:rPr lang="en-US" altLang="zh-TW" sz="1400" dirty="0">
                <a:solidFill>
                  <a:srgbClr val="131314"/>
                </a:solidFill>
                <a:highlight>
                  <a:srgbClr val="FFFFFF"/>
                </a:highlight>
              </a:rPr>
              <a:t>/</a:t>
            </a: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稀缺提示要適度強調但不過度製造焦慮</a:t>
            </a: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285750" lvl="0" indent="-2857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400" dirty="0">
                <a:solidFill>
                  <a:srgbClr val="131314"/>
                </a:solidFill>
                <a:highlight>
                  <a:srgbClr val="FFFFFF"/>
                </a:highlight>
              </a:rPr>
              <a:t>推薦模組要相關但不喧賓奪主</a:t>
            </a: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14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indent="0" algn="l"/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順著決策時間序設計</a:t>
            </a:r>
            <a:r>
              <a:rPr lang="en-US" altLang="zh-TW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-</a:t>
            </a:r>
            <a:r>
              <a:rPr lang="zh-TW" altLang="en-US" sz="1400" dirty="0"/>
              <a:t>不要一開始就把所有資訊塞滿畫面，而是：</a:t>
            </a:r>
            <a:endParaRPr lang="en-US" altLang="zh-TW" sz="1400" dirty="0"/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進入頁面先讓用戶看到「社會證據」（評價、熱銷）建立信任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中間階段清楚呈現「價格比較」和「庫存狀態」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最後提供「高品質圖片」和「重點摘要」助攻下單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</a:pPr>
            <a:endParaRPr lang="en-US" altLang="zh-TW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sz="1400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5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建議</a:t>
            </a:r>
            <a:endParaRPr sz="2650"/>
          </a:p>
        </p:txBody>
      </p:sp>
      <p:sp>
        <p:nvSpPr>
          <p:cNvPr id="228" name="Google Shape;228;p35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400" b="1" dirty="0">
                <a:solidFill>
                  <a:srgbClr val="131314"/>
                </a:solidFill>
                <a:highlight>
                  <a:srgbClr val="FFFFFF"/>
                </a:highlight>
              </a:rPr>
              <a:t>未來可能的應用</a:t>
            </a:r>
            <a:endParaRPr lang="en-US" altLang="zh-TW" sz="1400" b="1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隨著眼動追蹤技術普及（如 </a:t>
            </a:r>
            <a:r>
              <a:rPr lang="en-US" altLang="zh-TW" sz="1200" dirty="0">
                <a:solidFill>
                  <a:srgbClr val="131314"/>
                </a:solidFill>
                <a:highlight>
                  <a:srgbClr val="FFFFFF"/>
                </a:highlight>
              </a:rPr>
              <a:t>VR </a:t>
            </a: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裝置、前鏡頭眼動偵測），未來購物網站可以做「動態介面」：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偵測到你一直看價格 → 自動顯示優惠比較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偵測到你反覆看評論 → 展開更多評論細節</a:t>
            </a:r>
            <a:endParaRPr lang="en-US" altLang="zh-TW" sz="1200" dirty="0">
              <a:solidFill>
                <a:srgbClr val="131314"/>
              </a:solidFill>
              <a:highlight>
                <a:srgbClr val="FFFFFF"/>
              </a:highlight>
            </a:endParaRPr>
          </a:p>
          <a:p>
            <a:pPr marL="171450" lvl="0" indent="-171450" algn="l" rtl="0">
              <a:spcBef>
                <a:spcPts val="56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TW" altLang="en-US" sz="1200" dirty="0">
                <a:solidFill>
                  <a:srgbClr val="131314"/>
                </a:solidFill>
                <a:highlight>
                  <a:srgbClr val="FFFFFF"/>
                </a:highlight>
              </a:rPr>
              <a:t>偵測到認知負荷太高 → 簡化畫面或提供導引</a:t>
            </a:r>
            <a:endParaRPr sz="1200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6"/>
          <p:cNvSpPr txBox="1">
            <a:spLocks noGrp="1"/>
          </p:cNvSpPr>
          <p:nvPr>
            <p:ph type="ctrTitle"/>
          </p:nvPr>
        </p:nvSpPr>
        <p:spPr>
          <a:xfrm>
            <a:off x="3473575" y="1977500"/>
            <a:ext cx="17910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/>
              <a:t>結論</a:t>
            </a:r>
            <a:endParaRPr sz="48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7"/>
          <p:cNvSpPr txBox="1">
            <a:spLocks noGrp="1"/>
          </p:cNvSpPr>
          <p:nvPr>
            <p:ph type="ctrTitle"/>
          </p:nvPr>
        </p:nvSpPr>
        <p:spPr>
          <a:xfrm>
            <a:off x="3470650" y="0"/>
            <a:ext cx="2383200" cy="9189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結論</a:t>
            </a:r>
            <a:endParaRPr sz="2650"/>
          </a:p>
        </p:txBody>
      </p:sp>
      <p:sp>
        <p:nvSpPr>
          <p:cNvPr id="239" name="Google Shape;239;p37"/>
          <p:cNvSpPr txBox="1">
            <a:spLocks noGrp="1"/>
          </p:cNvSpPr>
          <p:nvPr>
            <p:ph type="subTitle" idx="1"/>
          </p:nvPr>
        </p:nvSpPr>
        <p:spPr>
          <a:xfrm>
            <a:off x="640275" y="918900"/>
            <a:ext cx="8309400" cy="3677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560"/>
              </a:spcBef>
              <a:spcAft>
                <a:spcPts val="0"/>
              </a:spcAft>
              <a:buNone/>
            </a:pPr>
            <a:r>
              <a:rPr lang="zh-TW" altLang="en-US" sz="1800" dirty="0">
                <a:solidFill>
                  <a:srgbClr val="131314"/>
                </a:solidFill>
                <a:highlight>
                  <a:srgbClr val="FFFFFF"/>
                </a:highlight>
              </a:rPr>
              <a:t>    研究證明「眼動＋機器學習」能高準度預測消費者選擇，並且在決策早期（前幾分鐘）就能做出可靠預測。在理論上，它把動態注意力理論和實證方法結合，說明了注意力如何在不同資訊間隨時間轉移。在實務上，它為介面設計提供明確指引：應該順著用戶自然的注意力流動（先信任→再比價→後確認）來優化關鍵區塊，而非平均強化所有資訊。</a:t>
            </a:r>
            <a:endParaRPr sz="1800" dirty="0">
              <a:solidFill>
                <a:srgbClr val="131314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8"/>
          <p:cNvSpPr txBox="1">
            <a:spLocks noGrp="1"/>
          </p:cNvSpPr>
          <p:nvPr>
            <p:ph type="ctrTitle"/>
          </p:nvPr>
        </p:nvSpPr>
        <p:spPr>
          <a:xfrm>
            <a:off x="2594675" y="1898700"/>
            <a:ext cx="4387500" cy="13461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4800">
                <a:solidFill>
                  <a:schemeClr val="dk1"/>
                </a:solidFill>
              </a:rPr>
              <a:t>Thank you</a:t>
            </a:r>
            <a:endParaRPr sz="4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AD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1516</Words>
  <Application>Microsoft Office PowerPoint</Application>
  <PresentationFormat>如螢幕大小 (16:9)</PresentationFormat>
  <Paragraphs>131</Paragraphs>
  <Slides>23</Slides>
  <Notes>23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23</vt:i4>
      </vt:variant>
    </vt:vector>
  </HeadingPairs>
  <TitlesOfParts>
    <vt:vector size="26" baseType="lpstr">
      <vt:lpstr>Arial</vt:lpstr>
      <vt:lpstr>Nunito</vt:lpstr>
      <vt:lpstr>SEAD</vt:lpstr>
      <vt:lpstr>利用眼動追蹤數據與群體學習 預測社群商務平台上的消費者意圖</vt:lpstr>
      <vt:lpstr>目錄</vt:lpstr>
      <vt:lpstr>前言</vt:lpstr>
      <vt:lpstr>前言</vt:lpstr>
      <vt:lpstr>前言</vt:lpstr>
      <vt:lpstr>文獻探討</vt:lpstr>
      <vt:lpstr>文獻探討</vt:lpstr>
      <vt:lpstr>系統架構</vt:lpstr>
      <vt:lpstr>系統架構</vt:lpstr>
      <vt:lpstr>系統架構</vt:lpstr>
      <vt:lpstr>系統架構</vt:lpstr>
      <vt:lpstr>系統架構</vt:lpstr>
      <vt:lpstr>實驗</vt:lpstr>
      <vt:lpstr>實驗</vt:lpstr>
      <vt:lpstr>結果&amp;建議</vt:lpstr>
      <vt:lpstr>結果</vt:lpstr>
      <vt:lpstr>結果</vt:lpstr>
      <vt:lpstr>結果</vt:lpstr>
      <vt:lpstr>建議</vt:lpstr>
      <vt:lpstr>建議</vt:lpstr>
      <vt:lpstr>結論</vt:lpstr>
      <vt:lpstr>結論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言論自由還是接觸自由緩解社交網路中惡意內容的策略     Freedom of speech or freedom of reach Strategies for mitigating malicious content in social networks</dc:title>
  <dc:creator>user</dc:creator>
  <cp:lastModifiedBy>先正 陳</cp:lastModifiedBy>
  <cp:revision>21</cp:revision>
  <dcterms:modified xsi:type="dcterms:W3CDTF">2025-11-28T19:32:54Z</dcterms:modified>
</cp:coreProperties>
</file>